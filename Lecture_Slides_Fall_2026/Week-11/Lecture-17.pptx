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80" r:id="rId2"/>
    <p:sldId id="710" r:id="rId3"/>
    <p:sldId id="709" r:id="rId4"/>
    <p:sldId id="711" r:id="rId5"/>
    <p:sldId id="665" r:id="rId6"/>
    <p:sldId id="698" r:id="rId7"/>
    <p:sldId id="699" r:id="rId8"/>
    <p:sldId id="700" r:id="rId9"/>
    <p:sldId id="697" r:id="rId10"/>
    <p:sldId id="666" r:id="rId11"/>
    <p:sldId id="667" r:id="rId12"/>
    <p:sldId id="668" r:id="rId13"/>
    <p:sldId id="669" r:id="rId14"/>
    <p:sldId id="670" r:id="rId15"/>
    <p:sldId id="671" r:id="rId16"/>
    <p:sldId id="672" r:id="rId17"/>
    <p:sldId id="673" r:id="rId18"/>
    <p:sldId id="674" r:id="rId19"/>
    <p:sldId id="675" r:id="rId20"/>
    <p:sldId id="676" r:id="rId21"/>
    <p:sldId id="677" r:id="rId22"/>
    <p:sldId id="678" r:id="rId23"/>
    <p:sldId id="679" r:id="rId24"/>
    <p:sldId id="680" r:id="rId25"/>
    <p:sldId id="681" r:id="rId26"/>
    <p:sldId id="683" r:id="rId27"/>
    <p:sldId id="684" r:id="rId28"/>
    <p:sldId id="685" r:id="rId29"/>
    <p:sldId id="686" r:id="rId30"/>
    <p:sldId id="687" r:id="rId31"/>
    <p:sldId id="688" r:id="rId32"/>
    <p:sldId id="689" r:id="rId33"/>
    <p:sldId id="691" r:id="rId34"/>
    <p:sldId id="692" r:id="rId35"/>
    <p:sldId id="693" r:id="rId36"/>
    <p:sldId id="694" r:id="rId37"/>
    <p:sldId id="695" r:id="rId38"/>
    <p:sldId id="696" r:id="rId39"/>
    <p:sldId id="702" r:id="rId40"/>
    <p:sldId id="703" r:id="rId41"/>
    <p:sldId id="704" r:id="rId42"/>
    <p:sldId id="705" r:id="rId43"/>
    <p:sldId id="706" r:id="rId44"/>
    <p:sldId id="707" r:id="rId45"/>
    <p:sldId id="708" r:id="rId46"/>
    <p:sldId id="372" r:id="rId47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710"/>
            <p14:sldId id="709"/>
            <p14:sldId id="711"/>
            <p14:sldId id="665"/>
            <p14:sldId id="698"/>
            <p14:sldId id="699"/>
            <p14:sldId id="700"/>
            <p14:sldId id="697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3"/>
            <p14:sldId id="684"/>
            <p14:sldId id="685"/>
            <p14:sldId id="686"/>
            <p14:sldId id="687"/>
            <p14:sldId id="688"/>
            <p14:sldId id="689"/>
            <p14:sldId id="691"/>
            <p14:sldId id="692"/>
            <p14:sldId id="693"/>
            <p14:sldId id="694"/>
            <p14:sldId id="695"/>
            <p14:sldId id="696"/>
            <p14:sldId id="702"/>
            <p14:sldId id="703"/>
            <p14:sldId id="704"/>
            <p14:sldId id="705"/>
            <p14:sldId id="706"/>
            <p14:sldId id="707"/>
            <p14:sldId id="708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7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5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Program Verification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5" y="1284843"/>
            <a:ext cx="4750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7312AB-1AA1-AF4B-A832-7D59C8ED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4818C29-CDB5-AA4D-A69E-C307B28FD23F}"/>
              </a:ext>
            </a:extLst>
          </p:cNvPr>
          <p:cNvSpPr/>
          <p:nvPr/>
        </p:nvSpPr>
        <p:spPr>
          <a:xfrm>
            <a:off x="2603351" y="2979868"/>
            <a:ext cx="4776395" cy="88212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Ariane 5 Rocket Disaster </a:t>
            </a:r>
          </a:p>
        </p:txBody>
      </p:sp>
    </p:spTree>
    <p:extLst>
      <p:ext uri="{BB962C8B-B14F-4D97-AF65-F5344CB8AC3E}">
        <p14:creationId xmlns:p14="http://schemas.microsoft.com/office/powerpoint/2010/main" val="201958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E276FC-C15E-AE47-A235-E885C231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9D971-143A-A04F-BEB1-5EE8729A96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0" t="24157" r="3281" b="7314"/>
          <a:stretch/>
        </p:blipFill>
        <p:spPr>
          <a:xfrm>
            <a:off x="666973" y="1366222"/>
            <a:ext cx="8020107" cy="46996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5DD80F-C6A0-BC4E-B1AE-17A24D7B65D5}"/>
              </a:ext>
            </a:extLst>
          </p:cNvPr>
          <p:cNvSpPr/>
          <p:nvPr/>
        </p:nvSpPr>
        <p:spPr>
          <a:xfrm>
            <a:off x="0" y="468861"/>
            <a:ext cx="42707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The Ariane 5 Rocket Disaster </a:t>
            </a:r>
          </a:p>
        </p:txBody>
      </p:sp>
    </p:spTree>
    <p:extLst>
      <p:ext uri="{BB962C8B-B14F-4D97-AF65-F5344CB8AC3E}">
        <p14:creationId xmlns:p14="http://schemas.microsoft.com/office/powerpoint/2010/main" val="372336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C9787-71EE-A24A-A7CC-D7E7FEB3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8513F26-3DE5-6247-93B9-94572FD18359}"/>
              </a:ext>
            </a:extLst>
          </p:cNvPr>
          <p:cNvSpPr/>
          <p:nvPr/>
        </p:nvSpPr>
        <p:spPr>
          <a:xfrm>
            <a:off x="2097013" y="2936837"/>
            <a:ext cx="6013525" cy="796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Program Testing vs Program Verification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3EC8E8-8A8C-C141-A526-13F42C52C85D}"/>
              </a:ext>
            </a:extLst>
          </p:cNvPr>
          <p:cNvSpPr/>
          <p:nvPr/>
        </p:nvSpPr>
        <p:spPr>
          <a:xfrm>
            <a:off x="370609" y="4554880"/>
            <a:ext cx="6625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"Testing can show the presence of errors, never their absence."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8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D8E702-E6B1-6448-A48A-4FCBAAD5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7DD0EC-90CD-5043-8519-B9503AD9F311}"/>
              </a:ext>
            </a:extLst>
          </p:cNvPr>
          <p:cNvSpPr/>
          <p:nvPr/>
        </p:nvSpPr>
        <p:spPr>
          <a:xfrm>
            <a:off x="2426395" y="3479476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semantic analysis </a:t>
            </a:r>
            <a:r>
              <a:rPr lang="en-US" dirty="0"/>
              <a:t>interprets statements and updates facts based on statements in the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6D1B38-A462-ED49-BFEB-168402903BA9}"/>
              </a:ext>
            </a:extLst>
          </p:cNvPr>
          <p:cNvSpPr/>
          <p:nvPr/>
        </p:nvSpPr>
        <p:spPr>
          <a:xfrm>
            <a:off x="985902" y="147976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Static analysis perform the analysis without running the program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BC1483-3D4D-0446-BA03-8B367E72D449}"/>
              </a:ext>
            </a:extLst>
          </p:cNvPr>
          <p:cNvSpPr/>
          <p:nvPr/>
        </p:nvSpPr>
        <p:spPr>
          <a:xfrm>
            <a:off x="2426395" y="259503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syntactic analysis </a:t>
            </a:r>
            <a:r>
              <a:rPr lang="en-US" dirty="0"/>
              <a:t>uses the code text but does not interpret statements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CB01D-3E94-5B43-B7DA-03BEA176F73B}"/>
              </a:ext>
            </a:extLst>
          </p:cNvPr>
          <p:cNvSpPr txBox="1"/>
          <p:nvPr/>
        </p:nvSpPr>
        <p:spPr>
          <a:xfrm>
            <a:off x="300625" y="460464"/>
            <a:ext cx="330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20368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BA0D6A-6799-B847-A313-4390F48CB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AE5B85-A51A-E94A-B4CE-81761ECFC14F}"/>
              </a:ext>
            </a:extLst>
          </p:cNvPr>
          <p:cNvSpPr/>
          <p:nvPr/>
        </p:nvSpPr>
        <p:spPr>
          <a:xfrm>
            <a:off x="2043113" y="474070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Flow Graphs (DFGs)</a:t>
            </a:r>
            <a:r>
              <a:rPr lang="en-US" dirty="0"/>
              <a:t> – trace how data moves through the program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F06595-1FD6-B24D-8202-A752C9365388}"/>
              </a:ext>
            </a:extLst>
          </p:cNvPr>
          <p:cNvSpPr/>
          <p:nvPr/>
        </p:nvSpPr>
        <p:spPr>
          <a:xfrm>
            <a:off x="692305" y="148696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Static analysis tools parse the code and build internal representations such as: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BFA21F-4C9D-0B47-9244-F5202382CCC6}"/>
              </a:ext>
            </a:extLst>
          </p:cNvPr>
          <p:cNvSpPr/>
          <p:nvPr/>
        </p:nvSpPr>
        <p:spPr>
          <a:xfrm>
            <a:off x="2043113" y="278436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Abstract Syntax Trees (ASTs)</a:t>
            </a:r>
            <a:r>
              <a:rPr lang="en-US" dirty="0"/>
              <a:t> – represent the structure of the code.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582930-7558-234A-B941-336EEF0204F8}"/>
              </a:ext>
            </a:extLst>
          </p:cNvPr>
          <p:cNvSpPr/>
          <p:nvPr/>
        </p:nvSpPr>
        <p:spPr>
          <a:xfrm>
            <a:off x="2043113" y="375368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Control Flow Graphs (CFGs)</a:t>
            </a:r>
            <a:r>
              <a:rPr lang="en-US" dirty="0"/>
              <a:t> – show the order in which statements execute.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B6853-8CC9-9B4F-88D5-894E01B4239A}"/>
              </a:ext>
            </a:extLst>
          </p:cNvPr>
          <p:cNvSpPr txBox="1"/>
          <p:nvPr/>
        </p:nvSpPr>
        <p:spPr>
          <a:xfrm>
            <a:off x="300625" y="460464"/>
            <a:ext cx="330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89719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97A3C-4E45-C24A-B15C-849A402E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4615CC-A2F1-E44E-819E-DD084018DFE3}"/>
              </a:ext>
            </a:extLst>
          </p:cNvPr>
          <p:cNvSpPr/>
          <p:nvPr/>
        </p:nvSpPr>
        <p:spPr>
          <a:xfrm>
            <a:off x="826120" y="3889437"/>
            <a:ext cx="4953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Could this code ever divide by zero?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90D571-045F-F447-9DFC-96BB9259A997}"/>
              </a:ext>
            </a:extLst>
          </p:cNvPr>
          <p:cNvSpPr/>
          <p:nvPr/>
        </p:nvSpPr>
        <p:spPr>
          <a:xfrm>
            <a:off x="300625" y="123639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Imagine you want to analyze a program without running it, to figure out things like: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0E6A12-3040-7348-9AFC-F6BABC805134}"/>
              </a:ext>
            </a:extLst>
          </p:cNvPr>
          <p:cNvSpPr/>
          <p:nvPr/>
        </p:nvSpPr>
        <p:spPr>
          <a:xfrm>
            <a:off x="871192" y="2514693"/>
            <a:ext cx="34355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Could a variable be null?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29B407-F9DB-3244-AFA7-BE7E7B95A751}"/>
              </a:ext>
            </a:extLst>
          </p:cNvPr>
          <p:cNvSpPr/>
          <p:nvPr/>
        </p:nvSpPr>
        <p:spPr>
          <a:xfrm>
            <a:off x="871192" y="3202065"/>
            <a:ext cx="28167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Is it always positive?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E2ED2-30E5-E740-B100-DF844C065122}"/>
              </a:ext>
            </a:extLst>
          </p:cNvPr>
          <p:cNvSpPr txBox="1"/>
          <p:nvPr/>
        </p:nvSpPr>
        <p:spPr>
          <a:xfrm>
            <a:off x="300625" y="460464"/>
            <a:ext cx="330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Static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0C9292-CF9B-B44D-B950-B3AF7F6152B8}"/>
              </a:ext>
            </a:extLst>
          </p:cNvPr>
          <p:cNvSpPr/>
          <p:nvPr/>
        </p:nvSpPr>
        <p:spPr>
          <a:xfrm>
            <a:off x="2588970" y="4926979"/>
            <a:ext cx="65012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But instead of tracking </a:t>
            </a:r>
            <a:r>
              <a:rPr lang="en-US" b="1" u="sng" dirty="0"/>
              <a:t>real values</a:t>
            </a:r>
            <a:r>
              <a:rPr lang="en-US" u="sng" dirty="0"/>
              <a:t>, </a:t>
            </a:r>
            <a:r>
              <a:rPr lang="en-US" dirty="0"/>
              <a:t>you track </a:t>
            </a:r>
            <a:r>
              <a:rPr lang="en-US" b="1" u="sng" dirty="0"/>
              <a:t>abstract values</a:t>
            </a:r>
            <a:r>
              <a:rPr lang="en-US" u="sng" dirty="0"/>
              <a:t> </a:t>
            </a:r>
            <a:r>
              <a:rPr lang="en-US" dirty="0"/>
              <a:t>things like "positive", "zero", "negative", or "unknown"</a:t>
            </a:r>
          </a:p>
        </p:txBody>
      </p:sp>
      <p:sp>
        <p:nvSpPr>
          <p:cNvPr id="9" name="Cloud Callout 8">
            <a:extLst>
              <a:ext uri="{FF2B5EF4-FFF2-40B4-BE49-F238E27FC236}">
                <a16:creationId xmlns:a16="http://schemas.microsoft.com/office/drawing/2014/main" id="{D7AD5E9A-A89B-AD45-977D-DB60653193D6}"/>
              </a:ext>
            </a:extLst>
          </p:cNvPr>
          <p:cNvSpPr/>
          <p:nvPr/>
        </p:nvSpPr>
        <p:spPr>
          <a:xfrm>
            <a:off x="6110868" y="2164523"/>
            <a:ext cx="3114095" cy="1268374"/>
          </a:xfrm>
          <a:prstGeom prst="cloudCallout">
            <a:avLst>
              <a:gd name="adj1" fmla="val -56612"/>
              <a:gd name="adj2" fmla="val 1159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Abstract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72869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AAD3E1-BE23-2748-9BD3-2DE29B560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495A80-1A9A-5044-9732-4A085BB1F5AA}"/>
              </a:ext>
            </a:extLst>
          </p:cNvPr>
          <p:cNvSpPr/>
          <p:nvPr/>
        </p:nvSpPr>
        <p:spPr>
          <a:xfrm>
            <a:off x="3569448" y="4409160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And how to merge values from different paths.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C5FD2-353F-4A41-B86B-8DB4460641A8}"/>
              </a:ext>
            </a:extLst>
          </p:cNvPr>
          <p:cNvSpPr/>
          <p:nvPr/>
        </p:nvSpPr>
        <p:spPr>
          <a:xfrm>
            <a:off x="1205262" y="1205442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To organize and combine all these abstract values. </a:t>
            </a:r>
            <a:r>
              <a:rPr lang="en-US" sz="2400" dirty="0" err="1"/>
              <a:t>Thats</a:t>
            </a:r>
            <a:r>
              <a:rPr lang="en-US" sz="2400" dirty="0"/>
              <a:t> where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lattices</a:t>
            </a:r>
            <a:r>
              <a:rPr lang="en-US" sz="2400" dirty="0"/>
              <a:t> come in.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DEE5FF-5A4C-854E-8962-97C84160F631}"/>
              </a:ext>
            </a:extLst>
          </p:cNvPr>
          <p:cNvSpPr/>
          <p:nvPr/>
        </p:nvSpPr>
        <p:spPr>
          <a:xfrm>
            <a:off x="2275778" y="2598426"/>
            <a:ext cx="4153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lattice</a:t>
            </a:r>
            <a:r>
              <a:rPr lang="en-US" dirty="0"/>
              <a:t> is just a structure that tells you: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F6C2-6137-E348-AE11-B1F6E41CF756}"/>
              </a:ext>
            </a:extLst>
          </p:cNvPr>
          <p:cNvSpPr/>
          <p:nvPr/>
        </p:nvSpPr>
        <p:spPr>
          <a:xfrm>
            <a:off x="3569448" y="3244334"/>
            <a:ext cx="3310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values are possible,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53FCD-C018-CA49-AE9B-60C1E2682FF7}"/>
              </a:ext>
            </a:extLst>
          </p:cNvPr>
          <p:cNvSpPr/>
          <p:nvPr/>
        </p:nvSpPr>
        <p:spPr>
          <a:xfrm>
            <a:off x="3569448" y="3798964"/>
            <a:ext cx="50722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Which are more general or more specific,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D5E3B-F6E2-2E4D-BC3E-6E87FD4DCF5B}"/>
              </a:ext>
            </a:extLst>
          </p:cNvPr>
          <p:cNvSpPr txBox="1"/>
          <p:nvPr/>
        </p:nvSpPr>
        <p:spPr>
          <a:xfrm>
            <a:off x="207928" y="405646"/>
            <a:ext cx="6947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Static Analysis (Abstract Interpretation)</a:t>
            </a:r>
          </a:p>
        </p:txBody>
      </p:sp>
    </p:spTree>
    <p:extLst>
      <p:ext uri="{BB962C8B-B14F-4D97-AF65-F5344CB8AC3E}">
        <p14:creationId xmlns:p14="http://schemas.microsoft.com/office/powerpoint/2010/main" val="158334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840686-52F8-3E41-A08E-93883C7C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B153A5-D48D-BD4D-B61E-EF16F98821A0}"/>
              </a:ext>
            </a:extLst>
          </p:cNvPr>
          <p:cNvSpPr/>
          <p:nvPr/>
        </p:nvSpPr>
        <p:spPr>
          <a:xfrm>
            <a:off x="244511" y="3916970"/>
            <a:ext cx="37030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may report </a:t>
            </a:r>
            <a:r>
              <a:rPr lang="en-US" b="1" dirty="0">
                <a:solidFill>
                  <a:srgbClr val="C00000"/>
                </a:solidFill>
              </a:rPr>
              <a:t>false positives </a:t>
            </a:r>
            <a:r>
              <a:rPr lang="en-US" dirty="0"/>
              <a:t>(things that aren't actual bugs) but wont miss actual problems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6B831-C46E-4C44-BB0F-E1A036F5E523}"/>
              </a:ext>
            </a:extLst>
          </p:cNvPr>
          <p:cNvSpPr/>
          <p:nvPr/>
        </p:nvSpPr>
        <p:spPr>
          <a:xfrm>
            <a:off x="244511" y="2253657"/>
            <a:ext cx="43943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sound static analysis will not miss any real issues  it reports everything that </a:t>
            </a:r>
            <a:r>
              <a:rPr lang="en-US" i="1" dirty="0"/>
              <a:t>could possibly happen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A122F-3302-3740-B548-736549B1686A}"/>
              </a:ext>
            </a:extLst>
          </p:cNvPr>
          <p:cNvSpPr/>
          <p:nvPr/>
        </p:nvSpPr>
        <p:spPr>
          <a:xfrm>
            <a:off x="5465140" y="391696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But it may miss some actual bugs (</a:t>
            </a:r>
            <a:r>
              <a:rPr lang="en-US" b="1" dirty="0">
                <a:solidFill>
                  <a:srgbClr val="C00000"/>
                </a:solidFill>
              </a:rPr>
              <a:t>false negatives</a:t>
            </a:r>
            <a:r>
              <a:rPr lang="en-US" dirty="0"/>
              <a:t>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635BA-B193-8C4E-A4C3-9C853A5D2814}"/>
              </a:ext>
            </a:extLst>
          </p:cNvPr>
          <p:cNvSpPr/>
          <p:nvPr/>
        </p:nvSpPr>
        <p:spPr>
          <a:xfrm>
            <a:off x="5465140" y="2258843"/>
            <a:ext cx="39829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complete static analysis will never report anything that </a:t>
            </a:r>
            <a:r>
              <a:rPr lang="en-US" dirty="0" err="1"/>
              <a:t>isnt</a:t>
            </a:r>
            <a:r>
              <a:rPr lang="en-US" dirty="0"/>
              <a:t> a real issue so it produces no false positives.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784A0D-0C2B-D440-9231-CE75754CA599}"/>
              </a:ext>
            </a:extLst>
          </p:cNvPr>
          <p:cNvSpPr/>
          <p:nvPr/>
        </p:nvSpPr>
        <p:spPr>
          <a:xfrm>
            <a:off x="401444" y="1293541"/>
            <a:ext cx="2542478" cy="5352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Soundness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E91707E-9CFB-734F-9261-0702FB878300}"/>
              </a:ext>
            </a:extLst>
          </p:cNvPr>
          <p:cNvSpPr/>
          <p:nvPr/>
        </p:nvSpPr>
        <p:spPr>
          <a:xfrm>
            <a:off x="6185381" y="1293540"/>
            <a:ext cx="2542478" cy="5352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Completeness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4D273-3C1D-BE4A-A2F0-C4C4E1659CFE}"/>
              </a:ext>
            </a:extLst>
          </p:cNvPr>
          <p:cNvSpPr txBox="1"/>
          <p:nvPr/>
        </p:nvSpPr>
        <p:spPr>
          <a:xfrm>
            <a:off x="300625" y="460464"/>
            <a:ext cx="330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76900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85D19D-BD4C-DD48-B62C-369A3197A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74C4CD9-44FA-B64B-9939-4F95965572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964" y="1905000"/>
            <a:ext cx="7611011" cy="37711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954AC5-5F33-3541-9176-174E2135A91B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32369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51A29D-D54E-1B41-B6DE-D12867F6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7D06B05-8270-2A41-AC08-DA3038DA87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812" y="1899091"/>
            <a:ext cx="7584995" cy="391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4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225EB3-AC9B-AB47-86E1-3C62D517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AAE718D-EDE9-1D4E-8540-136B16F021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9242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3E0AF4-8DE9-1E48-8205-BB541F521B27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(1)</a:t>
            </a:r>
          </a:p>
        </p:txBody>
      </p:sp>
    </p:spTree>
    <p:extLst>
      <p:ext uri="{BB962C8B-B14F-4D97-AF65-F5344CB8AC3E}">
        <p14:creationId xmlns:p14="http://schemas.microsoft.com/office/powerpoint/2010/main" val="158048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D45B9-B1C0-6440-8AA8-2B0DD8F6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D87FEB1-D932-DE48-93D4-540B4D6E5C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9242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D43B36-0AA9-C646-A9DE-A5D7C0C122E9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(2)</a:t>
            </a:r>
          </a:p>
        </p:txBody>
      </p:sp>
    </p:spTree>
    <p:extLst>
      <p:ext uri="{BB962C8B-B14F-4D97-AF65-F5344CB8AC3E}">
        <p14:creationId xmlns:p14="http://schemas.microsoft.com/office/powerpoint/2010/main" val="79941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CD8ED9-7E05-7B45-86BC-6C9E89A2B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1DE1F9C-6915-894F-9790-4CFB542204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9242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3BB5E2-C1BE-624A-A347-185F39C3EDA0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(3)</a:t>
            </a:r>
          </a:p>
        </p:txBody>
      </p:sp>
    </p:spTree>
    <p:extLst>
      <p:ext uri="{BB962C8B-B14F-4D97-AF65-F5344CB8AC3E}">
        <p14:creationId xmlns:p14="http://schemas.microsoft.com/office/powerpoint/2010/main" val="212289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AE8142-836E-6149-934D-C1A38EC5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E427D44-ED07-7449-8364-EFF512162F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600" cy="3895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42A154-13AF-6A4D-A406-5583BCE9C904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(4)</a:t>
            </a:r>
          </a:p>
        </p:txBody>
      </p:sp>
    </p:spTree>
    <p:extLst>
      <p:ext uri="{BB962C8B-B14F-4D97-AF65-F5344CB8AC3E}">
        <p14:creationId xmlns:p14="http://schemas.microsoft.com/office/powerpoint/2010/main" val="276805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EDBFE3-1779-0E4F-BB4E-D1C83E12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38F879B-5FBF-2D44-A378-41785A1E76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9147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43D472-E0D7-4B43-AA5B-40C3FAF75F84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(5)</a:t>
            </a:r>
          </a:p>
        </p:txBody>
      </p:sp>
    </p:spTree>
    <p:extLst>
      <p:ext uri="{BB962C8B-B14F-4D97-AF65-F5344CB8AC3E}">
        <p14:creationId xmlns:p14="http://schemas.microsoft.com/office/powerpoint/2010/main" val="95949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CFB3A-64E1-294D-BDA1-2C814822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520D42C-E955-864A-940F-7D3002244B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9147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5B8F10-7B87-5441-AB53-DDF96ADF694D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(6)</a:t>
            </a:r>
          </a:p>
        </p:txBody>
      </p:sp>
    </p:spTree>
    <p:extLst>
      <p:ext uri="{BB962C8B-B14F-4D97-AF65-F5344CB8AC3E}">
        <p14:creationId xmlns:p14="http://schemas.microsoft.com/office/powerpoint/2010/main" val="274188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6EBA61-83F8-1D4D-AECD-30774DC6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8D47BE9-AFF2-B246-99D4-77A3FA8B3B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9147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C30882-C99A-B64F-8F91-2FD7151576C0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(7)</a:t>
            </a:r>
          </a:p>
        </p:txBody>
      </p:sp>
    </p:spTree>
    <p:extLst>
      <p:ext uri="{BB962C8B-B14F-4D97-AF65-F5344CB8AC3E}">
        <p14:creationId xmlns:p14="http://schemas.microsoft.com/office/powerpoint/2010/main" val="358078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FB94E9-ADF4-CA45-BDE1-1D5CCAEC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C5216AB-06DC-334C-AFAC-2B5E6C6633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7052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647E62-FB38-8643-A805-5D9F8B95FA74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(8)</a:t>
            </a:r>
          </a:p>
        </p:txBody>
      </p:sp>
    </p:spTree>
    <p:extLst>
      <p:ext uri="{BB962C8B-B14F-4D97-AF65-F5344CB8AC3E}">
        <p14:creationId xmlns:p14="http://schemas.microsoft.com/office/powerpoint/2010/main" val="411529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175D82-A86F-8D4B-B0C7-A197E2DC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E7CC14E-DE94-384B-B34F-9CFB57844F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7052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5BE138-B1AF-DD4A-9712-4CA82ECC27DC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(9)</a:t>
            </a:r>
          </a:p>
        </p:txBody>
      </p:sp>
    </p:spTree>
    <p:extLst>
      <p:ext uri="{BB962C8B-B14F-4D97-AF65-F5344CB8AC3E}">
        <p14:creationId xmlns:p14="http://schemas.microsoft.com/office/powerpoint/2010/main" val="3535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9785AB-3CA7-B04B-9B9E-EB7A6D9E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53FFEB0-445B-484D-B5D4-5867A687C5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7052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0FD366-9D3A-2643-9518-E8B18BCB8612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(10)</a:t>
            </a:r>
          </a:p>
        </p:txBody>
      </p:sp>
    </p:spTree>
    <p:extLst>
      <p:ext uri="{BB962C8B-B14F-4D97-AF65-F5344CB8AC3E}">
        <p14:creationId xmlns:p14="http://schemas.microsoft.com/office/powerpoint/2010/main" val="96575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206D57-CC35-0643-A003-C5D02E06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DC60697-14F5-0F47-BD2B-E152683D1D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809750"/>
            <a:ext cx="7848599" cy="35718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7D45F6-D4B0-5D45-9A6F-BDD0F0A82A60}"/>
              </a:ext>
            </a:extLst>
          </p:cNvPr>
          <p:cNvSpPr txBox="1"/>
          <p:nvPr/>
        </p:nvSpPr>
        <p:spPr>
          <a:xfrm>
            <a:off x="490654" y="401444"/>
            <a:ext cx="32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Sign Analysis (11)</a:t>
            </a:r>
          </a:p>
        </p:txBody>
      </p:sp>
    </p:spTree>
    <p:extLst>
      <p:ext uri="{BB962C8B-B14F-4D97-AF65-F5344CB8AC3E}">
        <p14:creationId xmlns:p14="http://schemas.microsoft.com/office/powerpoint/2010/main" val="50674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B323DA-1FA6-2C44-987B-D4299A21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27610B5-484D-8A41-B4EF-E66A95DA0831}"/>
              </a:ext>
            </a:extLst>
          </p:cNvPr>
          <p:cNvSpPr txBox="1"/>
          <p:nvPr/>
        </p:nvSpPr>
        <p:spPr>
          <a:xfrm>
            <a:off x="713134" y="1882775"/>
            <a:ext cx="5835015" cy="2216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25"/>
              </a:spcBef>
              <a:buClr>
                <a:srgbClr val="97999D"/>
              </a:buClr>
              <a:buChar char="•"/>
              <a:tabLst>
                <a:tab pos="238760" algn="l"/>
                <a:tab pos="1458595" algn="l"/>
              </a:tabLst>
            </a:pPr>
            <a:r>
              <a:rPr sz="1850" spc="-65" dirty="0">
                <a:latin typeface="Verdana"/>
                <a:cs typeface="Verdana"/>
              </a:rPr>
              <a:t>Properties: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50" dirty="0">
                <a:latin typeface="Verdana"/>
                <a:cs typeface="Verdana"/>
              </a:rPr>
              <a:t>true</a:t>
            </a:r>
            <a:r>
              <a:rPr sz="1850" spc="-130" dirty="0">
                <a:latin typeface="Verdana"/>
                <a:cs typeface="Verdana"/>
              </a:rPr>
              <a:t> </a:t>
            </a:r>
            <a:r>
              <a:rPr sz="1850" spc="-125" dirty="0">
                <a:latin typeface="Verdana"/>
                <a:cs typeface="Verdana"/>
              </a:rPr>
              <a:t>for</a:t>
            </a:r>
            <a:r>
              <a:rPr sz="1850" spc="-130" dirty="0">
                <a:latin typeface="Verdana"/>
                <a:cs typeface="Verdana"/>
              </a:rPr>
              <a:t> </a:t>
            </a:r>
            <a:r>
              <a:rPr lang="en-US" sz="1850" b="1" spc="-305" dirty="0">
                <a:solidFill>
                  <a:schemeClr val="accent6">
                    <a:lumMod val="50000"/>
                  </a:schemeClr>
                </a:solidFill>
                <a:latin typeface="Verdana"/>
                <a:cs typeface="Verdana"/>
              </a:rPr>
              <a:t>every</a:t>
            </a:r>
            <a:r>
              <a:rPr sz="1850" b="1" spc="-114" dirty="0">
                <a:latin typeface="Verdana"/>
                <a:cs typeface="Verdana"/>
              </a:rPr>
              <a:t> </a:t>
            </a:r>
            <a:r>
              <a:rPr sz="1850" spc="-114" dirty="0">
                <a:latin typeface="Verdana"/>
                <a:cs typeface="Verdana"/>
              </a:rPr>
              <a:t>possible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25" dirty="0">
                <a:latin typeface="Verdana"/>
                <a:cs typeface="Verdana"/>
              </a:rPr>
              <a:t>execution</a:t>
            </a:r>
            <a:endParaRPr sz="1850" dirty="0">
              <a:latin typeface="Verdana"/>
              <a:cs typeface="Verdana"/>
            </a:endParaRPr>
          </a:p>
          <a:p>
            <a:pPr marL="714375" lvl="1" indent="-226060">
              <a:lnSpc>
                <a:spcPct val="100000"/>
              </a:lnSpc>
              <a:spcBef>
                <a:spcPts val="1530"/>
              </a:spcBef>
              <a:buClr>
                <a:srgbClr val="97999D"/>
              </a:buClr>
              <a:buChar char="•"/>
              <a:tabLst>
                <a:tab pos="714375" algn="l"/>
              </a:tabLst>
            </a:pPr>
            <a:r>
              <a:rPr sz="1850" spc="-215" dirty="0">
                <a:latin typeface="Verdana"/>
                <a:cs typeface="Verdana"/>
              </a:rPr>
              <a:t>Safety:</a:t>
            </a:r>
            <a:r>
              <a:rPr sz="1850" spc="-110" dirty="0">
                <a:latin typeface="Verdana"/>
                <a:cs typeface="Verdana"/>
              </a:rPr>
              <a:t> </a:t>
            </a:r>
            <a:r>
              <a:rPr sz="1850" spc="-125" dirty="0">
                <a:latin typeface="Verdana"/>
                <a:cs typeface="Verdana"/>
              </a:rPr>
              <a:t>nothing</a:t>
            </a:r>
            <a:r>
              <a:rPr sz="1850" spc="-105" dirty="0">
                <a:latin typeface="Verdana"/>
                <a:cs typeface="Verdana"/>
              </a:rPr>
              <a:t> </a:t>
            </a:r>
            <a:r>
              <a:rPr sz="1850" spc="-165" dirty="0">
                <a:latin typeface="Verdana"/>
                <a:cs typeface="Verdana"/>
              </a:rPr>
              <a:t>bad</a:t>
            </a:r>
            <a:r>
              <a:rPr sz="1850" spc="-105" dirty="0">
                <a:latin typeface="Verdana"/>
                <a:cs typeface="Verdana"/>
              </a:rPr>
              <a:t> </a:t>
            </a:r>
            <a:r>
              <a:rPr sz="1850" spc="-165" dirty="0">
                <a:latin typeface="Verdana"/>
                <a:cs typeface="Verdana"/>
              </a:rPr>
              <a:t>happens</a:t>
            </a:r>
            <a:r>
              <a:rPr sz="1850" spc="-110" dirty="0">
                <a:latin typeface="Verdana"/>
                <a:cs typeface="Verdana"/>
              </a:rPr>
              <a:t> </a:t>
            </a:r>
            <a:r>
              <a:rPr sz="1850" spc="-229" dirty="0">
                <a:latin typeface="Verdana"/>
                <a:cs typeface="Verdana"/>
              </a:rPr>
              <a:t>(e.g.,</a:t>
            </a:r>
            <a:r>
              <a:rPr sz="1850" spc="-270" dirty="0">
                <a:latin typeface="Verdana"/>
                <a:cs typeface="Verdana"/>
              </a:rPr>
              <a:t> </a:t>
            </a:r>
            <a:r>
              <a:rPr sz="1850" spc="-130" dirty="0">
                <a:latin typeface="Verdana"/>
                <a:cs typeface="Verdana"/>
              </a:rPr>
              <a:t>buffer</a:t>
            </a:r>
            <a:r>
              <a:rPr sz="1850" spc="-105" dirty="0">
                <a:latin typeface="Verdana"/>
                <a:cs typeface="Verdana"/>
              </a:rPr>
              <a:t> </a:t>
            </a:r>
            <a:r>
              <a:rPr sz="1850" spc="-140" dirty="0">
                <a:latin typeface="Verdana"/>
                <a:cs typeface="Verdana"/>
              </a:rPr>
              <a:t>overﬂow)</a:t>
            </a:r>
            <a:endParaRPr sz="1850" dirty="0">
              <a:latin typeface="Verdana"/>
              <a:cs typeface="Verdana"/>
            </a:endParaRPr>
          </a:p>
          <a:p>
            <a:pPr marL="714375" lvl="1" indent="-226060">
              <a:lnSpc>
                <a:spcPct val="100000"/>
              </a:lnSpc>
              <a:spcBef>
                <a:spcPts val="1530"/>
              </a:spcBef>
              <a:buClr>
                <a:srgbClr val="97999D"/>
              </a:buClr>
              <a:buChar char="•"/>
              <a:tabLst>
                <a:tab pos="714375" algn="l"/>
              </a:tabLst>
            </a:pPr>
            <a:r>
              <a:rPr sz="1850" spc="-175" dirty="0">
                <a:latin typeface="Verdana"/>
                <a:cs typeface="Verdana"/>
              </a:rPr>
              <a:t>Liveness:</a:t>
            </a:r>
            <a:r>
              <a:rPr sz="1850" spc="-120" dirty="0">
                <a:latin typeface="Verdana"/>
                <a:cs typeface="Verdana"/>
              </a:rPr>
              <a:t> </a:t>
            </a:r>
            <a:r>
              <a:rPr sz="1850" spc="-150" dirty="0">
                <a:latin typeface="Verdana"/>
                <a:cs typeface="Verdana"/>
              </a:rPr>
              <a:t>something</a:t>
            </a:r>
            <a:r>
              <a:rPr sz="1850" spc="-114" dirty="0">
                <a:latin typeface="Verdana"/>
                <a:cs typeface="Verdana"/>
              </a:rPr>
              <a:t> </a:t>
            </a:r>
            <a:r>
              <a:rPr sz="1850" spc="-140" dirty="0">
                <a:latin typeface="Verdana"/>
                <a:cs typeface="Verdana"/>
              </a:rPr>
              <a:t>good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b="1" spc="-254" dirty="0">
                <a:solidFill>
                  <a:schemeClr val="accent6">
                    <a:lumMod val="50000"/>
                  </a:schemeClr>
                </a:solidFill>
                <a:latin typeface="Verdana"/>
                <a:cs typeface="Verdana"/>
              </a:rPr>
              <a:t>eventually</a:t>
            </a:r>
            <a:r>
              <a:rPr sz="1850" b="1" spc="-10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happens</a:t>
            </a:r>
            <a:endParaRPr sz="1850" dirty="0">
              <a:latin typeface="Verdana"/>
              <a:cs typeface="Verdana"/>
            </a:endParaRPr>
          </a:p>
          <a:p>
            <a:pPr marL="238760" indent="-226060">
              <a:lnSpc>
                <a:spcPct val="100000"/>
              </a:lnSpc>
              <a:spcBef>
                <a:spcPts val="1530"/>
              </a:spcBef>
              <a:buClr>
                <a:srgbClr val="97999D"/>
              </a:buClr>
              <a:buChar char="•"/>
              <a:tabLst>
                <a:tab pos="238760" algn="l"/>
              </a:tabLst>
            </a:pPr>
            <a:r>
              <a:rPr sz="1850" spc="-180" dirty="0">
                <a:latin typeface="Verdana"/>
                <a:cs typeface="Verdana"/>
              </a:rPr>
              <a:t>Program</a:t>
            </a:r>
            <a:r>
              <a:rPr sz="1850" spc="-130" dirty="0">
                <a:latin typeface="Verdana"/>
                <a:cs typeface="Verdana"/>
              </a:rPr>
              <a:t> </a:t>
            </a:r>
            <a:r>
              <a:rPr sz="1850" spc="-135" dirty="0">
                <a:latin typeface="Verdana"/>
                <a:cs typeface="Verdana"/>
              </a:rPr>
              <a:t>veriﬁcation</a:t>
            </a:r>
            <a:r>
              <a:rPr sz="1850" spc="-100" dirty="0">
                <a:latin typeface="Verdana"/>
                <a:cs typeface="Verdana"/>
              </a:rPr>
              <a:t> </a:t>
            </a:r>
            <a:r>
              <a:rPr sz="1850" spc="-85" dirty="0">
                <a:latin typeface="Verdana"/>
                <a:cs typeface="Verdana"/>
              </a:rPr>
              <a:t>in</a:t>
            </a:r>
            <a:r>
              <a:rPr sz="1850" spc="-9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security</a:t>
            </a:r>
            <a:endParaRPr sz="1850" dirty="0">
              <a:latin typeface="Verdana"/>
              <a:cs typeface="Verdana"/>
            </a:endParaRPr>
          </a:p>
          <a:p>
            <a:pPr marL="714375" lvl="1" indent="-226060">
              <a:lnSpc>
                <a:spcPct val="100000"/>
              </a:lnSpc>
              <a:spcBef>
                <a:spcPts val="1530"/>
              </a:spcBef>
              <a:buClr>
                <a:srgbClr val="97999D"/>
              </a:buClr>
              <a:buChar char="•"/>
              <a:tabLst>
                <a:tab pos="714375" algn="l"/>
              </a:tabLst>
            </a:pPr>
            <a:r>
              <a:rPr sz="1850" spc="-150" dirty="0">
                <a:latin typeface="Verdana"/>
                <a:cs typeface="Verdana"/>
              </a:rPr>
              <a:t>How</a:t>
            </a:r>
            <a:r>
              <a:rPr sz="1850" spc="-175" dirty="0">
                <a:latin typeface="Verdana"/>
                <a:cs typeface="Verdana"/>
              </a:rPr>
              <a:t> </a:t>
            </a:r>
            <a:r>
              <a:rPr sz="1850" spc="-125" dirty="0">
                <a:latin typeface="Verdana"/>
                <a:cs typeface="Verdana"/>
              </a:rPr>
              <a:t>to </a:t>
            </a:r>
            <a:r>
              <a:rPr sz="1850" spc="-170" dirty="0">
                <a:latin typeface="Verdana"/>
                <a:cs typeface="Verdana"/>
              </a:rPr>
              <a:t>prove</a:t>
            </a:r>
            <a:r>
              <a:rPr sz="1850" spc="-120" dirty="0">
                <a:latin typeface="Verdana"/>
                <a:cs typeface="Verdana"/>
              </a:rPr>
              <a:t> </a:t>
            </a:r>
            <a:r>
              <a:rPr sz="1850" spc="-160" dirty="0">
                <a:latin typeface="Verdana"/>
                <a:cs typeface="Verdana"/>
              </a:rPr>
              <a:t>safety</a:t>
            </a:r>
            <a:r>
              <a:rPr sz="1850" spc="-200" dirty="0">
                <a:latin typeface="Verdana"/>
                <a:cs typeface="Verdana"/>
              </a:rPr>
              <a:t> </a:t>
            </a:r>
            <a:r>
              <a:rPr sz="1850" spc="-25" dirty="0">
                <a:latin typeface="Verdana"/>
                <a:cs typeface="Verdana"/>
              </a:rPr>
              <a:t>properties</a:t>
            </a:r>
            <a:endParaRPr sz="1850" dirty="0">
              <a:latin typeface="Verdana"/>
              <a:cs typeface="V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9E97B-8C9C-C44B-B4BF-023862861DDF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Program Verification</a:t>
            </a:r>
          </a:p>
        </p:txBody>
      </p:sp>
    </p:spTree>
    <p:extLst>
      <p:ext uri="{BB962C8B-B14F-4D97-AF65-F5344CB8AC3E}">
        <p14:creationId xmlns:p14="http://schemas.microsoft.com/office/powerpoint/2010/main" val="292468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7E599-3E3B-9F44-8ED7-45ED98D74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142D5-501D-2043-9848-D4FC12A9C3E5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Program Verification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CF4BEE8-B9F7-3A40-9D2B-C8E79FB9FC00}"/>
              </a:ext>
            </a:extLst>
          </p:cNvPr>
          <p:cNvSpPr txBox="1"/>
          <p:nvPr/>
        </p:nvSpPr>
        <p:spPr>
          <a:xfrm>
            <a:off x="713134" y="1882775"/>
            <a:ext cx="8014970" cy="3168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25"/>
              </a:spcBef>
              <a:buClr>
                <a:srgbClr val="97999D"/>
              </a:buClr>
              <a:buChar char="•"/>
              <a:tabLst>
                <a:tab pos="238760" algn="l"/>
              </a:tabLst>
            </a:pPr>
            <a:r>
              <a:rPr sz="1850" spc="-190" dirty="0">
                <a:latin typeface="Verdana"/>
                <a:cs typeface="Verdana"/>
              </a:rPr>
              <a:t>Approach:</a:t>
            </a:r>
            <a:r>
              <a:rPr sz="1850" spc="-85" dirty="0">
                <a:latin typeface="Verdana"/>
                <a:cs typeface="Verdana"/>
              </a:rPr>
              <a:t> </a:t>
            </a:r>
            <a:r>
              <a:rPr sz="1850" spc="-90" dirty="0">
                <a:latin typeface="Verdana"/>
                <a:cs typeface="Verdana"/>
              </a:rPr>
              <a:t>build</a:t>
            </a:r>
            <a:r>
              <a:rPr sz="1850" spc="-80" dirty="0">
                <a:latin typeface="Verdana"/>
                <a:cs typeface="Verdana"/>
              </a:rPr>
              <a:t> </a:t>
            </a:r>
            <a:r>
              <a:rPr sz="1850" spc="-155" dirty="0">
                <a:latin typeface="Verdana"/>
                <a:cs typeface="Verdana"/>
              </a:rPr>
              <a:t>up</a:t>
            </a:r>
            <a:r>
              <a:rPr sz="1850" spc="-80" dirty="0">
                <a:latin typeface="Verdana"/>
                <a:cs typeface="Verdana"/>
              </a:rPr>
              <a:t> </a:t>
            </a:r>
            <a:r>
              <a:rPr sz="1850" spc="-160" dirty="0">
                <a:latin typeface="Verdana"/>
                <a:cs typeface="Verdana"/>
              </a:rPr>
              <a:t>conﬁdence</a:t>
            </a:r>
            <a:r>
              <a:rPr sz="1850" spc="-85" dirty="0">
                <a:latin typeface="Verdana"/>
                <a:cs typeface="Verdana"/>
              </a:rPr>
              <a:t> </a:t>
            </a:r>
            <a:r>
              <a:rPr sz="1850" spc="-140" dirty="0">
                <a:latin typeface="Verdana"/>
                <a:cs typeface="Verdana"/>
              </a:rPr>
              <a:t>on</a:t>
            </a:r>
            <a:r>
              <a:rPr sz="1850" spc="-80" dirty="0">
                <a:latin typeface="Verdana"/>
                <a:cs typeface="Verdana"/>
              </a:rPr>
              <a:t> </a:t>
            </a:r>
            <a:r>
              <a:rPr sz="1850" spc="-195" dirty="0">
                <a:latin typeface="Verdana"/>
                <a:cs typeface="Verdana"/>
              </a:rPr>
              <a:t>a</a:t>
            </a:r>
            <a:r>
              <a:rPr sz="1850" spc="-80" dirty="0">
                <a:latin typeface="Verdana"/>
                <a:cs typeface="Verdana"/>
              </a:rPr>
              <a:t> </a:t>
            </a:r>
            <a:r>
              <a:rPr sz="1850" spc="-120" dirty="0">
                <a:latin typeface="Verdana"/>
                <a:cs typeface="Verdana"/>
              </a:rPr>
              <a:t>function-</a:t>
            </a:r>
            <a:r>
              <a:rPr sz="1850" spc="-210" dirty="0">
                <a:latin typeface="Verdana"/>
                <a:cs typeface="Verdana"/>
              </a:rPr>
              <a:t>by-</a:t>
            </a:r>
            <a:r>
              <a:rPr sz="1850" spc="-135" dirty="0">
                <a:latin typeface="Verdana"/>
                <a:cs typeface="Verdana"/>
              </a:rPr>
              <a:t>function/module-</a:t>
            </a:r>
            <a:r>
              <a:rPr sz="1850" spc="-200" dirty="0">
                <a:latin typeface="Verdana"/>
                <a:cs typeface="Verdana"/>
              </a:rPr>
              <a:t>by-</a:t>
            </a:r>
            <a:r>
              <a:rPr sz="1850" spc="-90" dirty="0">
                <a:latin typeface="Verdana"/>
                <a:cs typeface="Verdana"/>
              </a:rPr>
              <a:t>module</a:t>
            </a:r>
            <a:endParaRPr sz="1850" dirty="0">
              <a:latin typeface="Verdana"/>
              <a:cs typeface="Verdana"/>
            </a:endParaRPr>
          </a:p>
          <a:p>
            <a:pPr marL="238760">
              <a:lnSpc>
                <a:spcPct val="100000"/>
              </a:lnSpc>
              <a:spcBef>
                <a:spcPts val="1530"/>
              </a:spcBef>
            </a:pPr>
            <a:r>
              <a:rPr sz="1850" spc="-10" dirty="0">
                <a:latin typeface="Verdana"/>
                <a:cs typeface="Verdana"/>
              </a:rPr>
              <a:t>basis</a:t>
            </a:r>
            <a:endParaRPr sz="1850" dirty="0">
              <a:latin typeface="Verdana"/>
              <a:cs typeface="Verdana"/>
            </a:endParaRPr>
          </a:p>
          <a:p>
            <a:pPr marL="238760" indent="-226060">
              <a:lnSpc>
                <a:spcPct val="100000"/>
              </a:lnSpc>
              <a:spcBef>
                <a:spcPts val="1530"/>
              </a:spcBef>
              <a:buClr>
                <a:srgbClr val="97999D"/>
              </a:buClr>
              <a:buChar char="•"/>
              <a:tabLst>
                <a:tab pos="238760" algn="l"/>
              </a:tabLst>
            </a:pPr>
            <a:r>
              <a:rPr sz="1850" spc="-125" dirty="0">
                <a:latin typeface="Verdana"/>
                <a:cs typeface="Verdana"/>
              </a:rPr>
              <a:t>Modularity</a:t>
            </a:r>
            <a:r>
              <a:rPr sz="1850" spc="-190" dirty="0">
                <a:latin typeface="Verdana"/>
                <a:cs typeface="Verdana"/>
              </a:rPr>
              <a:t> </a:t>
            </a:r>
            <a:r>
              <a:rPr sz="1850" spc="-150" dirty="0">
                <a:latin typeface="Verdana"/>
                <a:cs typeface="Verdana"/>
              </a:rPr>
              <a:t>provides</a:t>
            </a:r>
            <a:r>
              <a:rPr sz="1850" spc="-114" dirty="0">
                <a:latin typeface="Verdana"/>
                <a:cs typeface="Verdana"/>
              </a:rPr>
              <a:t> </a:t>
            </a:r>
            <a:r>
              <a:rPr sz="1850" b="1" spc="-280" dirty="0">
                <a:solidFill>
                  <a:schemeClr val="accent6">
                    <a:lumMod val="50000"/>
                  </a:schemeClr>
                </a:solidFill>
                <a:latin typeface="Verdana"/>
                <a:cs typeface="Verdana"/>
              </a:rPr>
              <a:t>boundaries</a:t>
            </a:r>
            <a:r>
              <a:rPr sz="1850" b="1" spc="-95" dirty="0">
                <a:latin typeface="Verdana"/>
                <a:cs typeface="Verdana"/>
              </a:rPr>
              <a:t> </a:t>
            </a:r>
            <a:r>
              <a:rPr sz="1850" spc="-125" dirty="0">
                <a:latin typeface="Verdana"/>
                <a:cs typeface="Verdana"/>
              </a:rPr>
              <a:t>for</a:t>
            </a:r>
            <a:r>
              <a:rPr sz="1850" spc="-110" dirty="0">
                <a:latin typeface="Verdana"/>
                <a:cs typeface="Verdana"/>
              </a:rPr>
              <a:t> </a:t>
            </a:r>
            <a:r>
              <a:rPr sz="1850" spc="-150" dirty="0">
                <a:latin typeface="Verdana"/>
                <a:cs typeface="Verdana"/>
              </a:rPr>
              <a:t>our</a:t>
            </a:r>
            <a:r>
              <a:rPr sz="1850" spc="-114" dirty="0">
                <a:latin typeface="Verdana"/>
                <a:cs typeface="Verdana"/>
              </a:rPr>
              <a:t> </a:t>
            </a:r>
            <a:r>
              <a:rPr sz="1850" spc="-20" dirty="0">
                <a:latin typeface="Verdana"/>
                <a:cs typeface="Verdana"/>
              </a:rPr>
              <a:t>reasoning</a:t>
            </a:r>
            <a:endParaRPr sz="1850" dirty="0">
              <a:latin typeface="Verdana"/>
              <a:cs typeface="Verdana"/>
            </a:endParaRPr>
          </a:p>
          <a:p>
            <a:pPr marL="714375" lvl="1" indent="-226060">
              <a:lnSpc>
                <a:spcPct val="100000"/>
              </a:lnSpc>
              <a:spcBef>
                <a:spcPts val="1530"/>
              </a:spcBef>
              <a:buClr>
                <a:srgbClr val="97999D"/>
              </a:buClr>
              <a:buFont typeface="Verdana"/>
              <a:buChar char="•"/>
              <a:tabLst>
                <a:tab pos="714375" algn="l"/>
              </a:tabLst>
            </a:pPr>
            <a:r>
              <a:rPr sz="1850" b="1" spc="-275" dirty="0">
                <a:solidFill>
                  <a:schemeClr val="accent6">
                    <a:lumMod val="50000"/>
                  </a:schemeClr>
                </a:solidFill>
                <a:latin typeface="Verdana"/>
                <a:cs typeface="Verdana"/>
              </a:rPr>
              <a:t>Preconditions</a:t>
            </a:r>
            <a:r>
              <a:rPr sz="1850" spc="-275" dirty="0">
                <a:latin typeface="Verdana"/>
                <a:cs typeface="Verdana"/>
              </a:rPr>
              <a:t>: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50" dirty="0">
                <a:latin typeface="Verdana"/>
                <a:cs typeface="Verdana"/>
              </a:rPr>
              <a:t>what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85" dirty="0">
                <a:latin typeface="Verdana"/>
                <a:cs typeface="Verdana"/>
              </a:rPr>
              <a:t>must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05" dirty="0">
                <a:latin typeface="Verdana"/>
                <a:cs typeface="Verdana"/>
              </a:rPr>
              <a:t>hold</a:t>
            </a:r>
            <a:r>
              <a:rPr sz="1850" spc="-125" dirty="0">
                <a:latin typeface="Verdana"/>
                <a:cs typeface="Verdana"/>
              </a:rPr>
              <a:t> for </a:t>
            </a:r>
            <a:r>
              <a:rPr sz="1850" spc="-114" dirty="0">
                <a:latin typeface="Verdana"/>
                <a:cs typeface="Verdana"/>
              </a:rPr>
              <a:t>function</a:t>
            </a:r>
            <a:r>
              <a:rPr sz="1850" spc="-125" dirty="0">
                <a:latin typeface="Verdana"/>
                <a:cs typeface="Verdana"/>
              </a:rPr>
              <a:t> to </a:t>
            </a:r>
            <a:r>
              <a:rPr sz="1850" spc="-155" dirty="0">
                <a:latin typeface="Verdana"/>
                <a:cs typeface="Verdana"/>
              </a:rPr>
              <a:t>operate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correctly</a:t>
            </a:r>
            <a:endParaRPr sz="1850" dirty="0">
              <a:latin typeface="Verdana"/>
              <a:cs typeface="Verdana"/>
            </a:endParaRPr>
          </a:p>
          <a:p>
            <a:pPr marL="714375" lvl="1" indent="-226060">
              <a:lnSpc>
                <a:spcPct val="100000"/>
              </a:lnSpc>
              <a:spcBef>
                <a:spcPts val="1530"/>
              </a:spcBef>
              <a:buClr>
                <a:srgbClr val="97999D"/>
              </a:buClr>
              <a:buFont typeface="Verdana"/>
              <a:buChar char="•"/>
              <a:tabLst>
                <a:tab pos="714375" algn="l"/>
              </a:tabLst>
            </a:pPr>
            <a:r>
              <a:rPr sz="1850" b="1" spc="-275" dirty="0">
                <a:solidFill>
                  <a:schemeClr val="accent6">
                    <a:lumMod val="50000"/>
                  </a:schemeClr>
                </a:solidFill>
                <a:latin typeface="Verdana"/>
                <a:cs typeface="Verdana"/>
              </a:rPr>
              <a:t>Postconditions</a:t>
            </a:r>
            <a:r>
              <a:rPr sz="1850" spc="-275" dirty="0">
                <a:latin typeface="Verdana"/>
                <a:cs typeface="Verdana"/>
              </a:rPr>
              <a:t>:</a:t>
            </a:r>
            <a:r>
              <a:rPr sz="1850" spc="-120" dirty="0">
                <a:latin typeface="Verdana"/>
                <a:cs typeface="Verdana"/>
              </a:rPr>
              <a:t> </a:t>
            </a:r>
            <a:r>
              <a:rPr sz="1850" spc="-150" dirty="0">
                <a:latin typeface="Verdana"/>
                <a:cs typeface="Verdana"/>
              </a:rPr>
              <a:t>what</a:t>
            </a:r>
            <a:r>
              <a:rPr sz="1850" spc="-120" dirty="0">
                <a:latin typeface="Verdana"/>
                <a:cs typeface="Verdana"/>
              </a:rPr>
              <a:t> holds</a:t>
            </a:r>
            <a:r>
              <a:rPr sz="1850" spc="-114" dirty="0">
                <a:latin typeface="Verdana"/>
                <a:cs typeface="Verdana"/>
              </a:rPr>
              <a:t> </a:t>
            </a:r>
            <a:r>
              <a:rPr sz="1850" spc="-145" dirty="0">
                <a:latin typeface="Verdana"/>
                <a:cs typeface="Verdana"/>
              </a:rPr>
              <a:t>after</a:t>
            </a:r>
            <a:r>
              <a:rPr sz="1850" spc="-120" dirty="0">
                <a:latin typeface="Verdana"/>
                <a:cs typeface="Verdana"/>
              </a:rPr>
              <a:t> </a:t>
            </a:r>
            <a:r>
              <a:rPr sz="1850" spc="-114" dirty="0">
                <a:latin typeface="Verdana"/>
                <a:cs typeface="Verdana"/>
              </a:rPr>
              <a:t>function </a:t>
            </a:r>
            <a:r>
              <a:rPr sz="1850" spc="-20" dirty="0">
                <a:latin typeface="Verdana"/>
                <a:cs typeface="Verdana"/>
              </a:rPr>
              <a:t>completes</a:t>
            </a:r>
            <a:endParaRPr sz="1850" dirty="0">
              <a:latin typeface="Verdana"/>
              <a:cs typeface="Verdana"/>
            </a:endParaRPr>
          </a:p>
          <a:p>
            <a:pPr marL="238760" indent="-226060">
              <a:lnSpc>
                <a:spcPct val="100000"/>
              </a:lnSpc>
              <a:spcBef>
                <a:spcPts val="1530"/>
              </a:spcBef>
              <a:buClr>
                <a:srgbClr val="97999D"/>
              </a:buClr>
              <a:buChar char="•"/>
              <a:tabLst>
                <a:tab pos="238760" algn="l"/>
                <a:tab pos="3011170" algn="l"/>
                <a:tab pos="3969385" algn="l"/>
              </a:tabLst>
            </a:pPr>
            <a:r>
              <a:rPr sz="1850" spc="-150" dirty="0">
                <a:latin typeface="Verdana"/>
                <a:cs typeface="Verdana"/>
              </a:rPr>
              <a:t>These</a:t>
            </a:r>
            <a:r>
              <a:rPr sz="1850" spc="-100" dirty="0">
                <a:latin typeface="Verdana"/>
                <a:cs typeface="Verdana"/>
              </a:rPr>
              <a:t> </a:t>
            </a:r>
            <a:r>
              <a:rPr sz="1850" spc="-120" dirty="0">
                <a:latin typeface="Verdana"/>
                <a:cs typeface="Verdana"/>
              </a:rPr>
              <a:t>basically</a:t>
            </a:r>
            <a:r>
              <a:rPr sz="1850" spc="-180" dirty="0">
                <a:latin typeface="Verdana"/>
                <a:cs typeface="Verdana"/>
              </a:rPr>
              <a:t> </a:t>
            </a:r>
            <a:r>
              <a:rPr sz="1850" spc="-140" dirty="0">
                <a:latin typeface="Verdana"/>
                <a:cs typeface="Verdana"/>
              </a:rPr>
              <a:t>describe</a:t>
            </a:r>
            <a:r>
              <a:rPr sz="1850" spc="-100" dirty="0">
                <a:latin typeface="Verdana"/>
                <a:cs typeface="Verdana"/>
              </a:rPr>
              <a:t> </a:t>
            </a:r>
            <a:r>
              <a:rPr sz="1850" spc="-50" dirty="0">
                <a:latin typeface="Verdana"/>
                <a:cs typeface="Verdana"/>
              </a:rPr>
              <a:t>a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contract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25" dirty="0">
                <a:latin typeface="Verdana"/>
                <a:cs typeface="Verdana"/>
              </a:rPr>
              <a:t>for</a:t>
            </a:r>
            <a:r>
              <a:rPr sz="1850" spc="-135" dirty="0">
                <a:latin typeface="Verdana"/>
                <a:cs typeface="Verdana"/>
              </a:rPr>
              <a:t> using the </a:t>
            </a:r>
            <a:r>
              <a:rPr sz="1850" spc="-10" dirty="0">
                <a:latin typeface="Verdana"/>
                <a:cs typeface="Verdana"/>
              </a:rPr>
              <a:t>module</a:t>
            </a:r>
            <a:endParaRPr sz="1850" dirty="0">
              <a:latin typeface="Verdana"/>
              <a:cs typeface="Verdana"/>
            </a:endParaRPr>
          </a:p>
          <a:p>
            <a:pPr marL="714375" lvl="1" indent="-226060">
              <a:lnSpc>
                <a:spcPct val="100000"/>
              </a:lnSpc>
              <a:spcBef>
                <a:spcPts val="1530"/>
              </a:spcBef>
              <a:buClr>
                <a:srgbClr val="97999D"/>
              </a:buClr>
              <a:buChar char="•"/>
              <a:tabLst>
                <a:tab pos="714375" algn="l"/>
              </a:tabLst>
            </a:pPr>
            <a:r>
              <a:rPr sz="1850" spc="-125" dirty="0">
                <a:latin typeface="Verdana"/>
                <a:cs typeface="Verdana"/>
              </a:rPr>
              <a:t>Most</a:t>
            </a:r>
            <a:r>
              <a:rPr sz="1850" spc="-130" dirty="0">
                <a:latin typeface="Verdana"/>
                <a:cs typeface="Verdana"/>
              </a:rPr>
              <a:t> </a:t>
            </a:r>
            <a:r>
              <a:rPr sz="1850" spc="-135" dirty="0">
                <a:latin typeface="Verdana"/>
                <a:cs typeface="Verdana"/>
              </a:rPr>
              <a:t>basic</a:t>
            </a:r>
            <a:r>
              <a:rPr sz="1850" spc="-170" dirty="0">
                <a:latin typeface="Verdana"/>
                <a:cs typeface="Verdana"/>
              </a:rPr>
              <a:t> </a:t>
            </a:r>
            <a:r>
              <a:rPr sz="1850" spc="-145" dirty="0">
                <a:latin typeface="Verdana"/>
                <a:cs typeface="Verdana"/>
              </a:rPr>
              <a:t>contract?</a:t>
            </a:r>
            <a:r>
              <a:rPr sz="1850" spc="-190" dirty="0">
                <a:latin typeface="Verdana"/>
                <a:cs typeface="Verdana"/>
              </a:rPr>
              <a:t> </a:t>
            </a:r>
            <a:r>
              <a:rPr sz="1850" spc="-175" dirty="0">
                <a:latin typeface="Verdana"/>
                <a:cs typeface="Verdana"/>
              </a:rPr>
              <a:t>Argument</a:t>
            </a:r>
            <a:r>
              <a:rPr sz="1850" spc="-130" dirty="0">
                <a:latin typeface="Verdana"/>
                <a:cs typeface="Verdana"/>
              </a:rPr>
              <a:t> </a:t>
            </a:r>
            <a:r>
              <a:rPr sz="1850" spc="-180" dirty="0">
                <a:latin typeface="Verdana"/>
                <a:cs typeface="Verdana"/>
              </a:rPr>
              <a:t>number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65" dirty="0">
                <a:latin typeface="Verdana"/>
                <a:cs typeface="Verdana"/>
              </a:rPr>
              <a:t>and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types</a:t>
            </a:r>
            <a:endParaRPr sz="185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064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7A9C4E-6618-C543-90A0-678CC962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A66ED92-4407-9243-B6E1-69FA2CF290D1}"/>
              </a:ext>
            </a:extLst>
          </p:cNvPr>
          <p:cNvSpPr txBox="1"/>
          <p:nvPr/>
        </p:nvSpPr>
        <p:spPr>
          <a:xfrm>
            <a:off x="713134" y="1882775"/>
            <a:ext cx="6416675" cy="208839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25"/>
              </a:spcBef>
              <a:buClr>
                <a:srgbClr val="97999D"/>
              </a:buClr>
              <a:buChar char="•"/>
              <a:tabLst>
                <a:tab pos="238760" algn="l"/>
              </a:tabLst>
            </a:pPr>
            <a:r>
              <a:rPr sz="1850" spc="-180" dirty="0">
                <a:latin typeface="Verdana"/>
                <a:cs typeface="Verdana"/>
              </a:rPr>
              <a:t>Memory</a:t>
            </a:r>
            <a:r>
              <a:rPr sz="1850" spc="-175" dirty="0">
                <a:latin typeface="Verdana"/>
                <a:cs typeface="Verdana"/>
              </a:rPr>
              <a:t> </a:t>
            </a:r>
            <a:r>
              <a:rPr sz="1850" spc="-165" dirty="0">
                <a:latin typeface="Verdana"/>
                <a:cs typeface="Verdana"/>
              </a:rPr>
              <a:t>access/dereference</a:t>
            </a:r>
            <a:r>
              <a:rPr sz="1850" spc="-95" dirty="0">
                <a:latin typeface="Verdana"/>
                <a:cs typeface="Verdana"/>
              </a:rPr>
              <a:t> </a:t>
            </a:r>
            <a:r>
              <a:rPr sz="1850" spc="-190" dirty="0">
                <a:latin typeface="Verdana"/>
                <a:cs typeface="Verdana"/>
              </a:rPr>
              <a:t>as</a:t>
            </a:r>
            <a:r>
              <a:rPr sz="1850" spc="-95" dirty="0">
                <a:latin typeface="Verdana"/>
                <a:cs typeface="Verdana"/>
              </a:rPr>
              <a:t> </a:t>
            </a:r>
            <a:r>
              <a:rPr sz="1850" spc="-195" dirty="0">
                <a:latin typeface="Verdana"/>
                <a:cs typeface="Verdana"/>
              </a:rPr>
              <a:t>a</a:t>
            </a:r>
            <a:r>
              <a:rPr sz="1850" spc="-9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function</a:t>
            </a:r>
            <a:endParaRPr sz="18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Clr>
                <a:srgbClr val="97999D"/>
              </a:buClr>
              <a:buFont typeface="Verdana"/>
              <a:buChar char="•"/>
            </a:pPr>
            <a:endParaRPr sz="1850" dirty="0">
              <a:latin typeface="Verdana"/>
              <a:cs typeface="Verdana"/>
            </a:endParaRPr>
          </a:p>
          <a:p>
            <a:pPr marR="3072130" algn="ctr">
              <a:lnSpc>
                <a:spcPct val="100000"/>
              </a:lnSpc>
            </a:pPr>
            <a:r>
              <a:rPr sz="1500" dirty="0">
                <a:latin typeface="Courier New"/>
                <a:cs typeface="Courier New"/>
              </a:rPr>
              <a:t>byte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deref(byte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*p)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{</a:t>
            </a:r>
            <a:endParaRPr sz="1500" dirty="0">
              <a:latin typeface="Courier New"/>
              <a:cs typeface="Courier New"/>
            </a:endParaRPr>
          </a:p>
          <a:p>
            <a:pPr marR="3072130" algn="ctr">
              <a:lnSpc>
                <a:spcPct val="100000"/>
              </a:lnSpc>
              <a:spcBef>
                <a:spcPts val="300"/>
              </a:spcBef>
            </a:pPr>
            <a:r>
              <a:rPr lang="en-US" sz="1500" b="1" spc="-25" dirty="0">
                <a:solidFill>
                  <a:schemeClr val="accent6">
                    <a:lumMod val="50000"/>
                  </a:schemeClr>
                </a:solidFill>
                <a:latin typeface="Courier New"/>
                <a:cs typeface="Courier New"/>
              </a:rPr>
              <a:t>Return </a:t>
            </a:r>
            <a:r>
              <a:rPr sz="1500" spc="-25" dirty="0">
                <a:latin typeface="Courier New"/>
                <a:cs typeface="Courier New"/>
              </a:rPr>
              <a:t>*p;</a:t>
            </a:r>
            <a:endParaRPr sz="1500" dirty="0">
              <a:latin typeface="Courier New"/>
              <a:cs typeface="Courier New"/>
            </a:endParaRPr>
          </a:p>
          <a:p>
            <a:pPr marR="5358130" algn="ctr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latin typeface="Courier New"/>
                <a:cs typeface="Courier New"/>
              </a:rPr>
              <a:t>}</a:t>
            </a:r>
            <a:endParaRPr sz="15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500" dirty="0">
              <a:latin typeface="Courier New"/>
              <a:cs typeface="Courier New"/>
            </a:endParaRPr>
          </a:p>
          <a:p>
            <a:pPr marL="238760" indent="-226060">
              <a:lnSpc>
                <a:spcPct val="100000"/>
              </a:lnSpc>
              <a:buClr>
                <a:srgbClr val="97999D"/>
              </a:buClr>
              <a:buChar char="•"/>
              <a:tabLst>
                <a:tab pos="238760" algn="l"/>
              </a:tabLst>
            </a:pPr>
            <a:r>
              <a:rPr sz="1850" spc="-180" dirty="0">
                <a:latin typeface="Verdana"/>
                <a:cs typeface="Verdana"/>
              </a:rPr>
              <a:t>What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95" dirty="0">
                <a:latin typeface="Verdana"/>
                <a:cs typeface="Verdana"/>
              </a:rPr>
              <a:t>is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35" dirty="0">
                <a:latin typeface="Verdana"/>
                <a:cs typeface="Verdana"/>
              </a:rPr>
              <a:t>the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30" dirty="0">
                <a:latin typeface="Verdana"/>
                <a:cs typeface="Verdana"/>
              </a:rPr>
              <a:t>precondition</a:t>
            </a:r>
            <a:r>
              <a:rPr sz="1850" spc="-120" dirty="0">
                <a:latin typeface="Verdana"/>
                <a:cs typeface="Verdana"/>
              </a:rPr>
              <a:t> </a:t>
            </a:r>
            <a:r>
              <a:rPr sz="1850" spc="-125" dirty="0">
                <a:latin typeface="Verdana"/>
                <a:cs typeface="Verdana"/>
              </a:rPr>
              <a:t>for </a:t>
            </a:r>
            <a:r>
              <a:rPr sz="1850" spc="-135" dirty="0">
                <a:latin typeface="Verdana"/>
                <a:cs typeface="Verdana"/>
              </a:rPr>
              <a:t>the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55" dirty="0">
                <a:latin typeface="Verdana"/>
                <a:cs typeface="Verdana"/>
              </a:rPr>
              <a:t>correctness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110" dirty="0">
                <a:latin typeface="Verdana"/>
                <a:cs typeface="Verdana"/>
              </a:rPr>
              <a:t>of</a:t>
            </a:r>
            <a:r>
              <a:rPr sz="1850" spc="-120" dirty="0">
                <a:latin typeface="Verdana"/>
                <a:cs typeface="Verdana"/>
              </a:rPr>
              <a:t> </a:t>
            </a:r>
            <a:r>
              <a:rPr sz="1850" spc="-110" dirty="0">
                <a:latin typeface="Verdana"/>
                <a:cs typeface="Verdana"/>
              </a:rPr>
              <a:t>this</a:t>
            </a:r>
            <a:r>
              <a:rPr sz="1850" spc="-125" dirty="0">
                <a:latin typeface="Verdana"/>
                <a:cs typeface="Verdana"/>
              </a:rPr>
              <a:t> </a:t>
            </a:r>
            <a:r>
              <a:rPr sz="1850" spc="-95" dirty="0">
                <a:latin typeface="Verdana"/>
                <a:cs typeface="Verdana"/>
              </a:rPr>
              <a:t>function?</a:t>
            </a:r>
            <a:endParaRPr sz="1850" dirty="0">
              <a:latin typeface="Verdana"/>
              <a:cs typeface="V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BB1DB-82F5-384A-9D17-06A5716C1021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77312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28017D-FDA4-594A-8AAF-5E36DFEF0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20DC4E50-75CC-8F4B-A055-C4405A5A23E3}"/>
              </a:ext>
            </a:extLst>
          </p:cNvPr>
          <p:cNvSpPr txBox="1"/>
          <p:nvPr/>
        </p:nvSpPr>
        <p:spPr>
          <a:xfrm>
            <a:off x="713133" y="1882775"/>
            <a:ext cx="8274749" cy="28039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25"/>
              </a:spcBef>
              <a:buClr>
                <a:srgbClr val="97999D"/>
              </a:buClr>
              <a:buChar char="•"/>
              <a:tabLst>
                <a:tab pos="238760" algn="l"/>
              </a:tabLst>
            </a:pPr>
            <a:r>
              <a:rPr sz="2000" spc="-150" dirty="0">
                <a:latin typeface="Verdana"/>
                <a:cs typeface="Verdana"/>
              </a:rPr>
              <a:t>How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25" dirty="0">
                <a:latin typeface="Verdana"/>
                <a:cs typeface="Verdana"/>
              </a:rPr>
              <a:t>to </a:t>
            </a:r>
            <a:r>
              <a:rPr sz="2000" spc="-130" dirty="0">
                <a:latin typeface="Verdana"/>
                <a:cs typeface="Verdana"/>
              </a:rPr>
              <a:t>proof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the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following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function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30" dirty="0">
                <a:latin typeface="Verdana"/>
                <a:cs typeface="Verdana"/>
              </a:rPr>
              <a:t>won't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85" dirty="0">
                <a:latin typeface="Verdana"/>
                <a:cs typeface="Verdana"/>
              </a:rPr>
              <a:t>have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30" dirty="0">
                <a:latin typeface="Verdana"/>
                <a:cs typeface="Verdana"/>
              </a:rPr>
              <a:t>buffer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25" dirty="0">
                <a:latin typeface="Verdana"/>
                <a:cs typeface="Verdana"/>
              </a:rPr>
              <a:t>overﬂow?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000" dirty="0">
              <a:latin typeface="Verdana"/>
              <a:cs typeface="Verdana"/>
            </a:endParaRPr>
          </a:p>
          <a:p>
            <a:pPr marL="695960" marR="3118485" indent="-228600">
              <a:lnSpc>
                <a:spcPct val="116700"/>
              </a:lnSpc>
            </a:pPr>
            <a:r>
              <a:rPr sz="2000" dirty="0">
                <a:solidFill>
                  <a:srgbClr val="8F2000"/>
                </a:solidFill>
                <a:latin typeface="Courier New"/>
                <a:cs typeface="Courier New"/>
              </a:rPr>
              <a:t>int</a:t>
            </a:r>
            <a:r>
              <a:rPr sz="2000" spc="-5" dirty="0">
                <a:solidFill>
                  <a:srgbClr val="8F2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sum(</a:t>
            </a:r>
            <a:r>
              <a:rPr sz="2000" dirty="0">
                <a:solidFill>
                  <a:srgbClr val="8F2000"/>
                </a:solidFill>
                <a:latin typeface="Courier New"/>
                <a:cs typeface="Courier New"/>
              </a:rPr>
              <a:t>int</a:t>
            </a:r>
            <a:r>
              <a:rPr sz="2000" spc="-5" dirty="0">
                <a:solidFill>
                  <a:srgbClr val="8F2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a[],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8F2000"/>
                </a:solidFill>
                <a:latin typeface="Courier New"/>
                <a:cs typeface="Courier New"/>
              </a:rPr>
              <a:t>size_t</a:t>
            </a:r>
            <a:r>
              <a:rPr sz="2000" spc="-5" dirty="0">
                <a:solidFill>
                  <a:srgbClr val="8F2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n)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8F2000"/>
                </a:solidFill>
                <a:latin typeface="Courier New"/>
                <a:cs typeface="Courier New"/>
              </a:rPr>
              <a:t>int</a:t>
            </a:r>
            <a:r>
              <a:rPr sz="2000" spc="-5" dirty="0">
                <a:solidFill>
                  <a:srgbClr val="8F2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total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40A06F"/>
                </a:solidFill>
                <a:latin typeface="Courier New"/>
                <a:cs typeface="Courier New"/>
              </a:rPr>
              <a:t>0</a:t>
            </a:r>
            <a:r>
              <a:rPr sz="2000" spc="-25" dirty="0">
                <a:latin typeface="Courier New"/>
                <a:cs typeface="Courier New"/>
              </a:rPr>
              <a:t>;</a:t>
            </a:r>
            <a:endParaRPr lang="en-US" sz="2000" spc="-25" dirty="0">
              <a:latin typeface="Courier New"/>
              <a:cs typeface="Courier New"/>
            </a:endParaRPr>
          </a:p>
          <a:p>
            <a:pPr marL="695960" marR="3118485" indent="-228600">
              <a:lnSpc>
                <a:spcPct val="116700"/>
              </a:lnSpc>
            </a:pPr>
            <a:r>
              <a:rPr lang="en-US" sz="2000" spc="-25" dirty="0">
                <a:latin typeface="Courier New"/>
                <a:cs typeface="Courier New"/>
              </a:rPr>
              <a:t>  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ourier New"/>
                <a:cs typeface="Courier New"/>
              </a:rPr>
              <a:t>for</a:t>
            </a:r>
            <a:r>
              <a:rPr sz="2000" dirty="0"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8F2000"/>
                </a:solidFill>
                <a:latin typeface="Courier New"/>
                <a:cs typeface="Courier New"/>
              </a:rPr>
              <a:t>size_t</a:t>
            </a:r>
            <a:r>
              <a:rPr sz="2000" spc="-5" dirty="0">
                <a:solidFill>
                  <a:srgbClr val="8F2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i=</a:t>
            </a:r>
            <a:r>
              <a:rPr sz="2000" dirty="0">
                <a:solidFill>
                  <a:srgbClr val="40A06F"/>
                </a:solidFill>
                <a:latin typeface="Courier New"/>
                <a:cs typeface="Courier New"/>
              </a:rPr>
              <a:t>0</a:t>
            </a:r>
            <a:r>
              <a:rPr sz="2000" dirty="0">
                <a:latin typeface="Courier New"/>
                <a:cs typeface="Courier New"/>
              </a:rPr>
              <a:t>;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i&lt;n;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i++) </a:t>
            </a:r>
            <a:r>
              <a:rPr sz="2000" dirty="0">
                <a:latin typeface="Courier New"/>
                <a:cs typeface="Courier New"/>
              </a:rPr>
              <a:t>total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+=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a[</a:t>
            </a:r>
            <a:r>
              <a:rPr sz="2000" spc="-10" dirty="0" err="1">
                <a:latin typeface="Courier New"/>
                <a:cs typeface="Courier New"/>
              </a:rPr>
              <a:t>i</a:t>
            </a:r>
            <a:r>
              <a:rPr sz="2000" spc="-10" dirty="0">
                <a:latin typeface="Courier New"/>
                <a:cs typeface="Courier New"/>
              </a:rPr>
              <a:t>];</a:t>
            </a:r>
            <a:endParaRPr lang="en-US" sz="2000" dirty="0">
              <a:latin typeface="Courier New"/>
              <a:cs typeface="Courier New"/>
            </a:endParaRPr>
          </a:p>
          <a:p>
            <a:pPr marL="695960" marR="3118485" indent="-228600">
              <a:lnSpc>
                <a:spcPct val="116700"/>
              </a:lnSpc>
            </a:pPr>
            <a:r>
              <a:rPr lang="en-US" sz="2000" spc="-10" dirty="0">
                <a:latin typeface="Courier New"/>
                <a:cs typeface="Courier New"/>
              </a:rPr>
              <a:t>    </a:t>
            </a:r>
            <a:r>
              <a:rPr lang="en-US" sz="2000" spc="-10" dirty="0">
                <a:solidFill>
                  <a:schemeClr val="accent6">
                    <a:lumMod val="50000"/>
                  </a:schemeClr>
                </a:solidFill>
                <a:latin typeface="Courier New"/>
                <a:cs typeface="Courier New"/>
              </a:rPr>
              <a:t>return</a:t>
            </a:r>
            <a:r>
              <a:rPr lang="en-US" sz="2000" spc="-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total;</a:t>
            </a:r>
            <a:endParaRPr sz="2000" dirty="0">
              <a:latin typeface="Courier New"/>
              <a:cs typeface="Courier New"/>
            </a:endParaRPr>
          </a:p>
          <a:p>
            <a:pPr marL="467359">
              <a:lnSpc>
                <a:spcPct val="100000"/>
              </a:lnSpc>
              <a:spcBef>
                <a:spcPts val="300"/>
              </a:spcBef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5105F-897E-064E-B761-9D722D7DF9A7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94443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49C398-B325-9943-866D-DD4F95B2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CF1DFFC-BC2F-3941-9CC5-5162A8FD1B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4986271" cy="30283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E3B5CD-7727-4846-B461-F315F378B8B2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1667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BAD111-A7EC-2645-9A84-86512C167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C40768F-7EAB-CE48-B02C-B4D9D2D744A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4986271" cy="30283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E084D1-34EF-9149-AE26-5312451ADF3A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25383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D8465B-FD8E-ED4B-AD7C-381C1FE6E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075549E-2134-9F4F-A0CF-C6391A2516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4986271" cy="30283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92F747-5340-324C-9A97-74DE2BD42635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0535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FC26F6-F443-9C4B-B40E-6074E971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5300FFB-6B2F-3443-B8D0-26C9D1D4569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4986271" cy="33142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87C58E-7A54-5F46-BCE3-D2015F84A219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80361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2CD045-A9C3-6940-BB95-3D5E6833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A27F244-70E1-F54A-8956-020051EEA3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5578661" cy="3552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32274E-AA60-6A4D-98F7-4CFA6C8EC9C6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87989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BF0558-6AD0-8F44-B365-63F991A7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E39C1BA-A9CB-8D4E-AF3A-09CC94947E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5578661" cy="3552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E14E6E-623C-D141-B98F-F0F832681786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98305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48A832-0F86-0F4B-82ED-16C3DC34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CD9D406-EBD9-0140-ABC3-9AEA6F7279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811" y="1809750"/>
            <a:ext cx="5468814" cy="22664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3C0B3C-3B30-7540-BB20-03ACA39BB004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55760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D0CF20-26FE-D147-B57E-D3370125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FC965C2-2BE2-A840-AE04-0FC0AD26B8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5578661" cy="3542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8A988A-CCAF-AA47-AC77-A78E83D99B4E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96792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02DB50-5E62-AC43-8635-087B8C6F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FDFA7D9-1AC7-784E-99AB-F4ED0AF5C2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5578661" cy="3542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001FC8-D84B-B946-9CF4-1C4EC6716D51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82595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9803DB-027D-8E48-AA18-A2677BB1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0793329-56F3-3C4F-9763-CE9084ADA5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5578661" cy="3542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A12E89-2B5A-5F4C-94AF-61599A6665B2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05036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5B0CF8-5C71-0646-88B6-F6BB6F13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4BDE21A-6D5B-6649-A3A2-8526628FBB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887" y="1809750"/>
            <a:ext cx="5574738" cy="3525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89EE62-4EEF-064C-AE9B-52CB1B62E265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31526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8FF136-601A-DC4B-BA24-E6A88BDEA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6B46E5C-3AD8-7844-AAB1-C531A796D65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5062772" cy="3542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F5C19A-D6C1-5646-8AAB-B64F54565B5F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72823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5ADC68-55E9-324A-978A-63533B25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CFD6100-4BB6-7D45-A432-4BC02EBC0E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964" y="1809750"/>
            <a:ext cx="5847394" cy="38091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BE7A13-5740-1E41-B742-9FC0A48140E4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96180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4CA2C-E095-2945-A795-D764CC98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6B6202C-CD65-4740-9E60-D5F6ED73C5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1848" y="1809750"/>
            <a:ext cx="5841509" cy="3720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9C2776-ECD6-B444-9A6D-2704A6BC8031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1144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3DD976-A97F-714F-8D9A-CE9CF851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54F9CE2-CDE1-ED4A-82D3-B07DD440AD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811" y="1809750"/>
            <a:ext cx="5737547" cy="25660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87287A-4892-1B4A-AAD3-F0265C232364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2317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2EDF19-21C5-C24D-A0CB-94771B5A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CA0EB14-16D9-C241-BDAC-2F94576F5B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118" y="1809750"/>
            <a:ext cx="5855240" cy="34456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353DA5-CF7D-5244-8326-8E7B7DD9D051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29484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00DB95-F4F4-BA42-92D8-62FECA74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E48F7E7-630E-8B44-9B3B-D9CC4CF84A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118" y="1809750"/>
            <a:ext cx="5855240" cy="34829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BC40B4-6D16-9A47-A078-844945CB1267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54478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EDC3F2-878D-4D40-823B-D76A6F87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B1B9A4B-8B08-844F-ABC1-179030F036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694" y="1809750"/>
            <a:ext cx="5884663" cy="3486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CFE408-30B4-8D49-B55E-AE10C1FF51E1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4400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26D3A-2A6F-D14E-A1C3-520EE4762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4DD603A-EDF5-7049-9E7E-F6F2D4A23B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194" y="1809750"/>
            <a:ext cx="5590430" cy="34456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AB76D2-F7D2-5843-94AD-33F35E0B6126}"/>
              </a:ext>
            </a:extLst>
          </p:cNvPr>
          <p:cNvSpPr txBox="1"/>
          <p:nvPr/>
        </p:nvSpPr>
        <p:spPr>
          <a:xfrm>
            <a:off x="222480" y="423746"/>
            <a:ext cx="419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39014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46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3343752</TotalTime>
  <Words>647</Words>
  <Application>Microsoft Macintosh PowerPoint</Application>
  <PresentationFormat>A4 Paper (210x297 mm)</PresentationFormat>
  <Paragraphs>155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Adobe Gothic Std B</vt:lpstr>
      <vt:lpstr>等线</vt:lpstr>
      <vt:lpstr>等线</vt:lpstr>
      <vt:lpstr>等线 Light</vt:lpstr>
      <vt:lpstr>SimSun</vt:lpstr>
      <vt:lpstr>Arial</vt:lpstr>
      <vt:lpstr>Calibri</vt:lpstr>
      <vt:lpstr>Courier New</vt:lpstr>
      <vt:lpstr>Times New Roman</vt:lpstr>
      <vt:lpstr>Verdana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823</cp:revision>
  <cp:lastPrinted>2025-01-23T10:52:12Z</cp:lastPrinted>
  <dcterms:created xsi:type="dcterms:W3CDTF">2018-07-17T04:46:00Z</dcterms:created>
  <dcterms:modified xsi:type="dcterms:W3CDTF">2026-04-13T09:21:31Z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