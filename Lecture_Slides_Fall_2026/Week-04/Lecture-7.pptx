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80" r:id="rId2"/>
    <p:sldId id="565" r:id="rId3"/>
    <p:sldId id="583" r:id="rId4"/>
    <p:sldId id="566" r:id="rId5"/>
    <p:sldId id="580" r:id="rId6"/>
    <p:sldId id="581" r:id="rId7"/>
    <p:sldId id="582" r:id="rId8"/>
    <p:sldId id="567" r:id="rId9"/>
    <p:sldId id="568" r:id="rId10"/>
    <p:sldId id="569" r:id="rId11"/>
    <p:sldId id="570" r:id="rId12"/>
    <p:sldId id="586" r:id="rId13"/>
    <p:sldId id="571" r:id="rId14"/>
    <p:sldId id="572" r:id="rId15"/>
    <p:sldId id="573" r:id="rId16"/>
    <p:sldId id="574" r:id="rId17"/>
    <p:sldId id="575" r:id="rId18"/>
    <p:sldId id="576" r:id="rId19"/>
    <p:sldId id="585" r:id="rId20"/>
    <p:sldId id="577" r:id="rId21"/>
    <p:sldId id="578" r:id="rId22"/>
    <p:sldId id="579" r:id="rId23"/>
    <p:sldId id="561" r:id="rId24"/>
    <p:sldId id="526" r:id="rId25"/>
    <p:sldId id="560" r:id="rId26"/>
    <p:sldId id="372" r:id="rId27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565"/>
            <p14:sldId id="583"/>
            <p14:sldId id="566"/>
            <p14:sldId id="580"/>
            <p14:sldId id="581"/>
            <p14:sldId id="582"/>
            <p14:sldId id="567"/>
            <p14:sldId id="568"/>
            <p14:sldId id="569"/>
            <p14:sldId id="570"/>
            <p14:sldId id="586"/>
            <p14:sldId id="571"/>
            <p14:sldId id="572"/>
            <p14:sldId id="573"/>
            <p14:sldId id="574"/>
            <p14:sldId id="575"/>
            <p14:sldId id="576"/>
            <p14:sldId id="585"/>
            <p14:sldId id="577"/>
            <p14:sldId id="578"/>
            <p14:sldId id="579"/>
            <p14:sldId id="561"/>
            <p14:sldId id="526"/>
            <p14:sldId id="560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17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r>
              <a:rPr lang="en-US" b="1" dirty="0"/>
              <a:t>Secure Design Requirements </a:t>
            </a:r>
            <a:endParaRPr lang="en-US" dirty="0"/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Dr. Zubair Ahmad</a:t>
            </a: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Engineering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430657-AFB0-6049-B6F1-FE7D30471FC5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8872F-BF6A-AA4F-A9EA-FCAC979DE0C1}"/>
              </a:ext>
            </a:extLst>
          </p:cNvPr>
          <p:cNvSpPr/>
          <p:nvPr/>
        </p:nvSpPr>
        <p:spPr>
          <a:xfrm>
            <a:off x="3800184" y="3244334"/>
            <a:ext cx="30682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GaramondPro"/>
              </a:rPr>
              <a:t>Insecure design issues </a:t>
            </a:r>
            <a:endParaRPr lang="en-US" sz="2400" b="1" dirty="0"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9B90E3CE-B908-E042-982D-3253F4FB02AA}"/>
              </a:ext>
            </a:extLst>
          </p:cNvPr>
          <p:cNvSpPr/>
          <p:nvPr/>
        </p:nvSpPr>
        <p:spPr>
          <a:xfrm>
            <a:off x="6868397" y="1522922"/>
            <a:ext cx="2123088" cy="1047240"/>
          </a:xfrm>
          <a:prstGeom prst="wedgeRoundRectCallout">
            <a:avLst>
              <a:gd name="adj1" fmla="val -65137"/>
              <a:gd name="adj2" fmla="val 8379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Improper implementation of least privilege</a:t>
            </a:r>
            <a:endParaRPr lang="en-US" dirty="0"/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A10043D8-8A33-EA4C-BF9F-F59C22FE3FB9}"/>
              </a:ext>
            </a:extLst>
          </p:cNvPr>
          <p:cNvSpPr/>
          <p:nvPr/>
        </p:nvSpPr>
        <p:spPr>
          <a:xfrm>
            <a:off x="1042817" y="1522922"/>
            <a:ext cx="1761893" cy="1047240"/>
          </a:xfrm>
          <a:prstGeom prst="wedgeRoundRectCallout">
            <a:avLst>
              <a:gd name="adj1" fmla="val 113344"/>
              <a:gd name="adj2" fmla="val 9018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Software fails insecurely, </a:t>
            </a:r>
            <a:endParaRPr lang="en-US" dirty="0">
              <a:latin typeface="ArialMT"/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D576B306-8DC9-A143-909B-4BA2F411315E}"/>
              </a:ext>
            </a:extLst>
          </p:cNvPr>
          <p:cNvSpPr/>
          <p:nvPr/>
        </p:nvSpPr>
        <p:spPr>
          <a:xfrm>
            <a:off x="6996113" y="4745048"/>
            <a:ext cx="1761893" cy="1047240"/>
          </a:xfrm>
          <a:prstGeom prst="wedgeRoundRectCallout">
            <a:avLst>
              <a:gd name="adj1" fmla="val -73998"/>
              <a:gd name="adj2" fmla="val -1227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Weak input validation. </a:t>
            </a:r>
            <a:endParaRPr lang="en-US" dirty="0">
              <a:latin typeface="ArialMT"/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1D226603-D1CA-8740-845A-B03E07F88DC2}"/>
              </a:ext>
            </a:extLst>
          </p:cNvPr>
          <p:cNvSpPr/>
          <p:nvPr/>
        </p:nvSpPr>
        <p:spPr>
          <a:xfrm>
            <a:off x="730583" y="4745048"/>
            <a:ext cx="1761893" cy="1047240"/>
          </a:xfrm>
          <a:prstGeom prst="wedgeRoundRectCallout">
            <a:avLst>
              <a:gd name="adj1" fmla="val 137395"/>
              <a:gd name="adj2" fmla="val -12703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improper error handling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84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9774C9-94D3-BA44-9265-F764399D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3" name="Picture 1" descr="page34image166577168">
            <a:extLst>
              <a:ext uri="{FF2B5EF4-FFF2-40B4-BE49-F238E27FC236}">
                <a16:creationId xmlns:a16="http://schemas.microsoft.com/office/drawing/2014/main" id="{F1FC558B-689E-5049-938D-402F4FBD5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765" y="1333318"/>
            <a:ext cx="6879100" cy="476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567DF5BA-0631-274F-80DD-1CD85860FF52}"/>
              </a:ext>
            </a:extLst>
          </p:cNvPr>
          <p:cNvSpPr/>
          <p:nvPr/>
        </p:nvSpPr>
        <p:spPr>
          <a:xfrm>
            <a:off x="334536" y="4148254"/>
            <a:ext cx="1446229" cy="7359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AAA01C-ECE8-0148-BF23-0C960C82D2EB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50032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8872F-BF6A-AA4F-A9EA-FCAC979DE0C1}"/>
              </a:ext>
            </a:extLst>
          </p:cNvPr>
          <p:cNvSpPr/>
          <p:nvPr/>
        </p:nvSpPr>
        <p:spPr>
          <a:xfrm>
            <a:off x="566330" y="1348627"/>
            <a:ext cx="22749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Least Privilege </a:t>
            </a:r>
            <a:endParaRPr lang="en-US" sz="2400" dirty="0"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C412E3-F4F9-3144-B7E1-E09D02763ABF}"/>
              </a:ext>
            </a:extLst>
          </p:cNvPr>
          <p:cNvSpPr/>
          <p:nvPr/>
        </p:nvSpPr>
        <p:spPr>
          <a:xfrm>
            <a:off x="566330" y="2156346"/>
            <a:ext cx="1910170" cy="631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Need-to-know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713ED-C110-D547-8A9E-5A232ED3BF9B}"/>
              </a:ext>
            </a:extLst>
          </p:cNvPr>
          <p:cNvSpPr/>
          <p:nvPr/>
        </p:nvSpPr>
        <p:spPr>
          <a:xfrm>
            <a:off x="508258" y="4394169"/>
            <a:ext cx="2447884" cy="631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Modular programming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D6360C-1BD6-D24C-A362-BFE2AE04DE7D}"/>
              </a:ext>
            </a:extLst>
          </p:cNvPr>
          <p:cNvSpPr/>
          <p:nvPr/>
        </p:nvSpPr>
        <p:spPr>
          <a:xfrm>
            <a:off x="3534377" y="2156346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Limits the disclosure of sensitive information to only those who have been authorized to receive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E69BF7-3B5C-D947-890C-01421085509C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929522-C253-9247-B013-0572A17B6C9F}"/>
              </a:ext>
            </a:extLst>
          </p:cNvPr>
          <p:cNvSpPr/>
          <p:nvPr/>
        </p:nvSpPr>
        <p:spPr>
          <a:xfrm>
            <a:off x="3534377" y="4248234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software design approach that breaks a system into </a:t>
            </a:r>
            <a:r>
              <a:rPr lang="en-US" b="1" dirty="0"/>
              <a:t>smaller, reusable modules</a:t>
            </a:r>
            <a:r>
              <a:rPr lang="en-US" dirty="0"/>
              <a:t> instead of writing one large program</a:t>
            </a:r>
          </a:p>
        </p:txBody>
      </p:sp>
    </p:spTree>
    <p:extLst>
      <p:ext uri="{BB962C8B-B14F-4D97-AF65-F5344CB8AC3E}">
        <p14:creationId xmlns:p14="http://schemas.microsoft.com/office/powerpoint/2010/main" val="1380046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8872F-BF6A-AA4F-A9EA-FCAC979DE0C1}"/>
              </a:ext>
            </a:extLst>
          </p:cNvPr>
          <p:cNvSpPr/>
          <p:nvPr/>
        </p:nvSpPr>
        <p:spPr>
          <a:xfrm>
            <a:off x="566330" y="1348627"/>
            <a:ext cx="22749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Least Privilege </a:t>
            </a:r>
            <a:endParaRPr lang="en-US" sz="2400" dirty="0"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713ED-C110-D547-8A9E-5A232ED3BF9B}"/>
              </a:ext>
            </a:extLst>
          </p:cNvPr>
          <p:cNvSpPr/>
          <p:nvPr/>
        </p:nvSpPr>
        <p:spPr>
          <a:xfrm>
            <a:off x="566329" y="2144624"/>
            <a:ext cx="2803171" cy="631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Modular programming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78FCAC-BDF4-2A4C-A92B-317B18380300}"/>
              </a:ext>
            </a:extLst>
          </p:cNvPr>
          <p:cNvSpPr/>
          <p:nvPr/>
        </p:nvSpPr>
        <p:spPr>
          <a:xfrm>
            <a:off x="1159727" y="5330283"/>
            <a:ext cx="2430966" cy="512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High Cohesion</a:t>
            </a:r>
            <a:r>
              <a:rPr lang="en-US" dirty="0"/>
              <a:t> 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30EC6B7-F7A5-EC4D-8E58-915615BC6D3E}"/>
              </a:ext>
            </a:extLst>
          </p:cNvPr>
          <p:cNvSpPr/>
          <p:nvPr/>
        </p:nvSpPr>
        <p:spPr>
          <a:xfrm>
            <a:off x="4850390" y="5283662"/>
            <a:ext cx="2430966" cy="512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Loose Coupling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EDB4F0-FA6E-3B42-9BDB-4EB2EB81AA21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96A95A-830A-924D-8E0A-B3616A0DD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339" y="1348627"/>
            <a:ext cx="4456052" cy="328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4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78FCAC-BDF4-2A4C-A92B-317B18380300}"/>
              </a:ext>
            </a:extLst>
          </p:cNvPr>
          <p:cNvSpPr/>
          <p:nvPr/>
        </p:nvSpPr>
        <p:spPr>
          <a:xfrm>
            <a:off x="1416562" y="2154594"/>
            <a:ext cx="2430966" cy="512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High Cohesion</a:t>
            </a: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DE4DB-6D60-884A-8C7D-307D6A94249D}"/>
              </a:ext>
            </a:extLst>
          </p:cNvPr>
          <p:cNvSpPr/>
          <p:nvPr/>
        </p:nvSpPr>
        <p:spPr>
          <a:xfrm>
            <a:off x="2840316" y="2950861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Each module </a:t>
            </a:r>
            <a:r>
              <a:rPr lang="en-US" b="1" dirty="0"/>
              <a:t>does one thing well</a:t>
            </a:r>
            <a:r>
              <a:rPr lang="en-US" dirty="0"/>
              <a:t> and is </a:t>
            </a:r>
            <a:r>
              <a:rPr lang="en-US" b="1" dirty="0"/>
              <a:t>strongly related to its purpose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119E5A-A867-3946-8CDB-C7E71A7CA163}"/>
              </a:ext>
            </a:extLst>
          </p:cNvPr>
          <p:cNvSpPr/>
          <p:nvPr/>
        </p:nvSpPr>
        <p:spPr>
          <a:xfrm>
            <a:off x="3346033" y="4124273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module for </a:t>
            </a:r>
            <a:r>
              <a:rPr lang="en-US" b="1" dirty="0"/>
              <a:t>user authentication</a:t>
            </a:r>
            <a:r>
              <a:rPr lang="en-US" dirty="0"/>
              <a:t> should handle login/logout but NOT database management.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75C3DA-7E1E-324C-8D93-7E96CFF460C5}"/>
              </a:ext>
            </a:extLst>
          </p:cNvPr>
          <p:cNvSpPr/>
          <p:nvPr/>
        </p:nvSpPr>
        <p:spPr>
          <a:xfrm>
            <a:off x="564792" y="4336025"/>
            <a:ext cx="1703540" cy="4998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Example??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93B4B8-17D1-0E4C-A9B0-6CF15E7B3DC2}"/>
              </a:ext>
            </a:extLst>
          </p:cNvPr>
          <p:cNvSpPr/>
          <p:nvPr/>
        </p:nvSpPr>
        <p:spPr>
          <a:xfrm>
            <a:off x="-62250" y="1400961"/>
            <a:ext cx="30771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AGaramondPro"/>
              </a:rPr>
              <a:t>Modular programming</a:t>
            </a:r>
            <a:endParaRPr lang="en-US" sz="2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FEED00-6B16-4A41-B7E1-F170031CA14F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5211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78FCAC-BDF4-2A4C-A92B-317B18380300}"/>
              </a:ext>
            </a:extLst>
          </p:cNvPr>
          <p:cNvSpPr/>
          <p:nvPr/>
        </p:nvSpPr>
        <p:spPr>
          <a:xfrm>
            <a:off x="1416562" y="2154594"/>
            <a:ext cx="2430966" cy="512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Loose Coupling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DE4DB-6D60-884A-8C7D-307D6A94249D}"/>
              </a:ext>
            </a:extLst>
          </p:cNvPr>
          <p:cNvSpPr/>
          <p:nvPr/>
        </p:nvSpPr>
        <p:spPr>
          <a:xfrm>
            <a:off x="2840316" y="2950861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Modules </a:t>
            </a:r>
            <a:r>
              <a:rPr lang="en-US" b="1" dirty="0"/>
              <a:t>interact with each other as little as possible</a:t>
            </a:r>
            <a:r>
              <a:rPr lang="en-US" dirty="0"/>
              <a:t> and communicate through well-defined interfaces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119E5A-A867-3946-8CDB-C7E71A7CA163}"/>
              </a:ext>
            </a:extLst>
          </p:cNvPr>
          <p:cNvSpPr/>
          <p:nvPr/>
        </p:nvSpPr>
        <p:spPr>
          <a:xfrm>
            <a:off x="3346033" y="4124273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payment processing module should work independently without needing to know how the shopping cart module is implemented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75C3DA-7E1E-324C-8D93-7E96CFF460C5}"/>
              </a:ext>
            </a:extLst>
          </p:cNvPr>
          <p:cNvSpPr/>
          <p:nvPr/>
        </p:nvSpPr>
        <p:spPr>
          <a:xfrm>
            <a:off x="564792" y="4336025"/>
            <a:ext cx="1703540" cy="4998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Example??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93B4B8-17D1-0E4C-A9B0-6CF15E7B3DC2}"/>
              </a:ext>
            </a:extLst>
          </p:cNvPr>
          <p:cNvSpPr/>
          <p:nvPr/>
        </p:nvSpPr>
        <p:spPr>
          <a:xfrm>
            <a:off x="-62250" y="1400961"/>
            <a:ext cx="30771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AGaramondPro"/>
              </a:rPr>
              <a:t>Modular programming</a:t>
            </a:r>
            <a:endParaRPr lang="en-US" sz="2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88A5C3-60DD-0142-8DB0-278D49FB692B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613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8872F-BF6A-AA4F-A9EA-FCAC979DE0C1}"/>
              </a:ext>
            </a:extLst>
          </p:cNvPr>
          <p:cNvSpPr/>
          <p:nvPr/>
        </p:nvSpPr>
        <p:spPr>
          <a:xfrm>
            <a:off x="566330" y="1348627"/>
            <a:ext cx="3124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Separation of Duties 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A00F45-7935-4B44-8E74-DE297B498103}"/>
              </a:ext>
            </a:extLst>
          </p:cNvPr>
          <p:cNvSpPr/>
          <p:nvPr/>
        </p:nvSpPr>
        <p:spPr>
          <a:xfrm>
            <a:off x="1371028" y="2159617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Software functionality into two or more conditions, all of which need to be satisfied before an operation can be completed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4F681B-7233-424C-9995-E736FDD82D87}"/>
              </a:ext>
            </a:extLst>
          </p:cNvPr>
          <p:cNvSpPr/>
          <p:nvPr/>
        </p:nvSpPr>
        <p:spPr>
          <a:xfrm>
            <a:off x="1371027" y="3920096"/>
            <a:ext cx="71262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Software</a:t>
            </a:r>
            <a:r>
              <a:rPr lang="en-US" b="1" dirty="0">
                <a:latin typeface="AGaramondPro"/>
              </a:rPr>
              <a:t> Deployment</a:t>
            </a:r>
            <a:r>
              <a:rPr lang="en-US" dirty="0">
                <a:latin typeface="AGaramondPro"/>
              </a:rPr>
              <a:t>, </a:t>
            </a:r>
            <a:r>
              <a:rPr lang="en-US" b="1" dirty="0">
                <a:latin typeface="AGaramondPro"/>
              </a:rPr>
              <a:t>Operations</a:t>
            </a:r>
            <a:r>
              <a:rPr lang="en-US" dirty="0">
                <a:latin typeface="AGaramondPro"/>
              </a:rPr>
              <a:t>, </a:t>
            </a:r>
            <a:r>
              <a:rPr lang="en-US" b="1" dirty="0">
                <a:latin typeface="AGaramondPro"/>
              </a:rPr>
              <a:t>Maintenance</a:t>
            </a:r>
            <a:r>
              <a:rPr lang="en-US" dirty="0">
                <a:latin typeface="AGaramondPro"/>
              </a:rPr>
              <a:t>, and </a:t>
            </a:r>
            <a:r>
              <a:rPr lang="en-US" b="1" dirty="0">
                <a:latin typeface="AGaramondPro"/>
              </a:rPr>
              <a:t>Disposal</a:t>
            </a:r>
            <a:r>
              <a:rPr lang="en-US" dirty="0">
                <a:latin typeface="AGaramondPro"/>
              </a:rPr>
              <a:t> chapter.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77BBF1-44FB-D446-99AD-6C197A472334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2085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8872F-BF6A-AA4F-A9EA-FCAC979DE0C1}"/>
              </a:ext>
            </a:extLst>
          </p:cNvPr>
          <p:cNvSpPr/>
          <p:nvPr/>
        </p:nvSpPr>
        <p:spPr>
          <a:xfrm>
            <a:off x="566330" y="1348627"/>
            <a:ext cx="26901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Defense in Depth </a:t>
            </a:r>
            <a:endParaRPr lang="en-US" sz="2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5C225D-9951-3A4D-AF34-3A2FF984B9E5}"/>
              </a:ext>
            </a:extLst>
          </p:cNvPr>
          <p:cNvSpPr/>
          <p:nvPr/>
        </p:nvSpPr>
        <p:spPr>
          <a:xfrm>
            <a:off x="4515339" y="1216002"/>
            <a:ext cx="4259766" cy="7269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Not putting all the eggs in one basket 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886E35B4-7AF0-5941-BB5C-6113003DE3DD}"/>
              </a:ext>
            </a:extLst>
          </p:cNvPr>
          <p:cNvSpPr/>
          <p:nvPr/>
        </p:nvSpPr>
        <p:spPr>
          <a:xfrm>
            <a:off x="3256489" y="1348627"/>
            <a:ext cx="980973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82BAFF-769F-D44B-9124-44786D4F8E51}"/>
              </a:ext>
            </a:extLst>
          </p:cNvPr>
          <p:cNvSpPr/>
          <p:nvPr/>
        </p:nvSpPr>
        <p:spPr>
          <a:xfrm>
            <a:off x="1760962" y="228139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Use of Input Validation &amp; Prepared Statements to Prevent Injection Attacks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9AF0B2-1EBC-7A45-AA0A-CA3CF45890AA}"/>
              </a:ext>
            </a:extLst>
          </p:cNvPr>
          <p:cNvSpPr/>
          <p:nvPr/>
        </p:nvSpPr>
        <p:spPr>
          <a:xfrm>
            <a:off x="1760962" y="3355946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Defending Against Cross-Site Scripting (XSS) with Output Encoding &amp; Validation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B81C31-2DDE-CD4C-B678-59F8F95454C9}"/>
              </a:ext>
            </a:extLst>
          </p:cNvPr>
          <p:cNvSpPr/>
          <p:nvPr/>
        </p:nvSpPr>
        <p:spPr>
          <a:xfrm>
            <a:off x="1760962" y="4430498"/>
            <a:ext cx="3499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Security Zones for Access Control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840DE4-6CD2-7945-8D8A-46F45F3EC3FA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0068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9EE1-5617-064D-89BE-EB21339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8872F-BF6A-AA4F-A9EA-FCAC979DE0C1}"/>
              </a:ext>
            </a:extLst>
          </p:cNvPr>
          <p:cNvSpPr/>
          <p:nvPr/>
        </p:nvSpPr>
        <p:spPr>
          <a:xfrm>
            <a:off x="566330" y="1348627"/>
            <a:ext cx="17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Fail Secure </a:t>
            </a:r>
            <a:endParaRPr lang="en-US" sz="2400" dirty="0">
              <a:effectLst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5C225D-9951-3A4D-AF34-3A2FF984B9E5}"/>
              </a:ext>
            </a:extLst>
          </p:cNvPr>
          <p:cNvSpPr/>
          <p:nvPr/>
        </p:nvSpPr>
        <p:spPr>
          <a:xfrm>
            <a:off x="4644195" y="1126259"/>
            <a:ext cx="4259766" cy="7269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when attacked and is rapidly </a:t>
            </a:r>
            <a:r>
              <a:rPr lang="en-US" i="1" dirty="0"/>
              <a:t>recoverable </a:t>
            </a:r>
            <a:r>
              <a:rPr lang="en-US" dirty="0"/>
              <a:t>into a normal business </a:t>
            </a:r>
            <a:endParaRPr lang="en-US" dirty="0">
              <a:effectLst/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886E35B4-7AF0-5941-BB5C-6113003DE3DD}"/>
              </a:ext>
            </a:extLst>
          </p:cNvPr>
          <p:cNvSpPr/>
          <p:nvPr/>
        </p:nvSpPr>
        <p:spPr>
          <a:xfrm>
            <a:off x="3256489" y="1348627"/>
            <a:ext cx="980973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25BD9D-1B37-664E-8C01-1B5592557F39}"/>
              </a:ext>
            </a:extLst>
          </p:cNvPr>
          <p:cNvSpPr/>
          <p:nvPr/>
        </p:nvSpPr>
        <p:spPr>
          <a:xfrm>
            <a:off x="1760962" y="2060324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user is denied access by default and the account is locked out after the maximum number (clipping level) of access attempts is tried </a:t>
            </a:r>
            <a:endParaRPr lang="en-US" dirty="0">
              <a:latin typeface="ArialM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7AE062-7113-A447-84AE-F4D1DD51E11B}"/>
              </a:ext>
            </a:extLst>
          </p:cNvPr>
          <p:cNvSpPr/>
          <p:nvPr/>
        </p:nvSpPr>
        <p:spPr>
          <a:xfrm>
            <a:off x="1760962" y="4299583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Not designing the software to ignore the error and resume next operation </a:t>
            </a:r>
            <a:endParaRPr lang="en-US" dirty="0">
              <a:latin typeface="ArialM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6A7EFE-C44F-774A-B99C-73ADC2B27944}"/>
              </a:ext>
            </a:extLst>
          </p:cNvPr>
          <p:cNvSpPr/>
          <p:nvPr/>
        </p:nvSpPr>
        <p:spPr>
          <a:xfrm>
            <a:off x="1760962" y="3318453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Errors and exceptions are explicitly handled and the error messages are non-verbose in nature </a:t>
            </a:r>
            <a:endParaRPr lang="en-US" dirty="0">
              <a:latin typeface="ArialM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9199FD-5AC7-3D40-9277-3CC5CC752514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pic>
        <p:nvPicPr>
          <p:cNvPr id="8193" name="Picture 1" descr="page209image51400976">
            <a:extLst>
              <a:ext uri="{FF2B5EF4-FFF2-40B4-BE49-F238E27FC236}">
                <a16:creationId xmlns:a16="http://schemas.microsoft.com/office/drawing/2014/main" id="{3D38921A-ABA6-5747-BEFA-99CFF06E3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419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page209image51542448">
            <a:extLst>
              <a:ext uri="{FF2B5EF4-FFF2-40B4-BE49-F238E27FC236}">
                <a16:creationId xmlns:a16="http://schemas.microsoft.com/office/drawing/2014/main" id="{AAE0AD20-BF53-3F49-981C-B7D0FEB1A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11600" cy="204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51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4" grpId="0"/>
      <p:bldP spid="6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893B56-863A-FF4E-8252-88EA2093C10B}"/>
              </a:ext>
            </a:extLst>
          </p:cNvPr>
          <p:cNvSpPr/>
          <p:nvPr/>
        </p:nvSpPr>
        <p:spPr>
          <a:xfrm>
            <a:off x="3157538" y="1889889"/>
            <a:ext cx="4953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 Explicit</a:t>
            </a:r>
          </a:p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objNetwork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strDrive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strRemotePath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strDrive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"J:"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strRemotePath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"\\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FinServer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\Software"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Error Resume Next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objNetwork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CreateObject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WScript.Network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objNetwork.MapNetworkDrive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strDrive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strRemotePath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Wscript.Quit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17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Fail Secure </a:t>
            </a:r>
            <a:endParaRPr lang="en-US" sz="2400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2C5939-0616-FC44-95F2-B9F6E3C3C592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0473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893B56-863A-FF4E-8252-88EA2093C10B}"/>
              </a:ext>
            </a:extLst>
          </p:cNvPr>
          <p:cNvSpPr/>
          <p:nvPr/>
        </p:nvSpPr>
        <p:spPr>
          <a:xfrm>
            <a:off x="3332903" y="1237297"/>
            <a:ext cx="4953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 Explicit</a:t>
            </a:r>
          </a:p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Dim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objNetwork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strDrive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strRemotePath</a:t>
            </a:r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strDrive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"J:"</a:t>
            </a:r>
          </a:p>
          <a:p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strRemotePath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"\\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FinServer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\Software"</a:t>
            </a:r>
          </a:p>
          <a:p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objNetwork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CreateObject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WScript.Network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objNetwork.MapNetworkDrive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strDrive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strRemotePath</a:t>
            </a:r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Err.Number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&lt;&gt; 0 Then</a:t>
            </a:r>
          </a:p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WScript.Echo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"Error: " &amp;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Err.Description</a:t>
            </a:r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Err.Clear</a:t>
            </a:r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 If</a:t>
            </a:r>
          </a:p>
          <a:p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Wscript.Quit</a:t>
            </a:r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17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Fail Secure </a:t>
            </a:r>
            <a:endParaRPr lang="en-US" sz="2400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2C5939-0616-FC44-95F2-B9F6E3C3C592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1184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37401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Economy of Mechanisms </a:t>
            </a:r>
            <a:endParaRPr lang="en-US" sz="2400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B6156F8-1E26-494E-8EBA-8EAB51626B99}"/>
              </a:ext>
            </a:extLst>
          </p:cNvPr>
          <p:cNvSpPr/>
          <p:nvPr/>
        </p:nvSpPr>
        <p:spPr>
          <a:xfrm>
            <a:off x="4672876" y="139702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003C7E-4603-DC46-BB49-E5CFC0B52BD1}"/>
              </a:ext>
            </a:extLst>
          </p:cNvPr>
          <p:cNvSpPr/>
          <p:nvPr/>
        </p:nvSpPr>
        <p:spPr>
          <a:xfrm>
            <a:off x="6017704" y="1202437"/>
            <a:ext cx="3002583" cy="8738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“bells-and-whistles”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30BD6F-79EB-C247-8C7A-9424DB47C34E}"/>
              </a:ext>
            </a:extLst>
          </p:cNvPr>
          <p:cNvSpPr/>
          <p:nvPr/>
        </p:nvSpPr>
        <p:spPr>
          <a:xfrm>
            <a:off x="2043113" y="2493023"/>
            <a:ext cx="4953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AGaramondPro"/>
              </a:rPr>
              <a:t>Unnecessary functionality or unneeded security mechanisms should be avoided. </a:t>
            </a:r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97ACC4-AEB2-3B43-8B9C-DEE09227FEE6}"/>
              </a:ext>
            </a:extLst>
          </p:cNvPr>
          <p:cNvSpPr/>
          <p:nvPr/>
        </p:nvSpPr>
        <p:spPr>
          <a:xfrm>
            <a:off x="2043113" y="3627608"/>
            <a:ext cx="22398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GaramondPro"/>
              </a:rPr>
              <a:t>Strive for simplicity </a:t>
            </a:r>
            <a:endParaRPr lang="en-U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DE0029-D0F2-DD4D-B69D-F9A57295095A}"/>
              </a:ext>
            </a:extLst>
          </p:cNvPr>
          <p:cNvSpPr/>
          <p:nvPr/>
        </p:nvSpPr>
        <p:spPr>
          <a:xfrm>
            <a:off x="2043113" y="4409298"/>
            <a:ext cx="36829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GaramondPro"/>
              </a:rPr>
              <a:t>Strive for operational ease of use </a:t>
            </a: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F8BFB1-AED4-EE49-BEA8-E392499A9C0B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5310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31341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Complete Mediation </a:t>
            </a:r>
            <a:endParaRPr lang="en-US" sz="2400" dirty="0"/>
          </a:p>
        </p:txBody>
      </p:sp>
      <p:pic>
        <p:nvPicPr>
          <p:cNvPr id="11265" name="Picture 1" descr="page211image51806416">
            <a:extLst>
              <a:ext uri="{FF2B5EF4-FFF2-40B4-BE49-F238E27FC236}">
                <a16:creationId xmlns:a16="http://schemas.microsoft.com/office/drawing/2014/main" id="{B3D200A8-95CE-2F44-80E6-8895B59FC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949" y="1579459"/>
            <a:ext cx="3284214" cy="37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loud Callout 2">
            <a:extLst>
              <a:ext uri="{FF2B5EF4-FFF2-40B4-BE49-F238E27FC236}">
                <a16:creationId xmlns:a16="http://schemas.microsoft.com/office/drawing/2014/main" id="{56DFF4B4-14A5-A84A-B6F5-31D77B98C350}"/>
              </a:ext>
            </a:extLst>
          </p:cNvPr>
          <p:cNvSpPr/>
          <p:nvPr/>
        </p:nvSpPr>
        <p:spPr>
          <a:xfrm>
            <a:off x="1115122" y="2720898"/>
            <a:ext cx="3166946" cy="178419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Whats</a:t>
            </a:r>
            <a:r>
              <a:rPr lang="en-US" sz="2000" b="1" dirty="0"/>
              <a:t> wrong in this picture?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338AB7-F67E-9047-B9C5-49B1DB9AEEB6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104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31341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Complete Mediation 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82A911-1AB9-FC4C-ADE3-0DEA6990922F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982DE2-C575-9447-90DB-9FE1E7B3B472}"/>
              </a:ext>
            </a:extLst>
          </p:cNvPr>
          <p:cNvSpPr/>
          <p:nvPr/>
        </p:nvSpPr>
        <p:spPr>
          <a:xfrm>
            <a:off x="2521105" y="2159617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Not checking access rights each time a subject requests access to objects violates the principle of complete mediation 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D425B-0292-9949-B874-AA4653B63626}"/>
              </a:ext>
            </a:extLst>
          </p:cNvPr>
          <p:cNvSpPr/>
          <p:nvPr/>
        </p:nvSpPr>
        <p:spPr>
          <a:xfrm>
            <a:off x="2521105" y="3458957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complete mediation design principle also addresses the failure to protect alternate path vulnerability 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ADCBDC-37F6-DB4B-A52D-E84352E07C0C}"/>
              </a:ext>
            </a:extLst>
          </p:cNvPr>
          <p:cNvSpPr/>
          <p:nvPr/>
        </p:nvSpPr>
        <p:spPr>
          <a:xfrm>
            <a:off x="2521105" y="472298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Complete mediation also augments the protection against the </a:t>
            </a:r>
            <a:r>
              <a:rPr lang="en-US" i="1" dirty="0">
                <a:latin typeface="AGaramondPro"/>
              </a:rPr>
              <a:t>weakest link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5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2079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Open Design </a:t>
            </a: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DC9D46-DBA0-DD4F-AB43-02652BF06242}"/>
              </a:ext>
            </a:extLst>
          </p:cNvPr>
          <p:cNvSpPr/>
          <p:nvPr/>
        </p:nvSpPr>
        <p:spPr>
          <a:xfrm>
            <a:off x="1606037" y="215961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security of your software should not be dependent on the </a:t>
            </a:r>
            <a:r>
              <a:rPr lang="en-US" i="1" dirty="0">
                <a:latin typeface="AGaramondPro"/>
              </a:rPr>
              <a:t>secrecy of the design </a:t>
            </a:r>
            <a:endParaRPr lang="en-US" dirty="0">
              <a:latin typeface="ArialM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C4F6C7-3C13-7D43-BA82-7E7CFB261392}"/>
              </a:ext>
            </a:extLst>
          </p:cNvPr>
          <p:cNvSpPr/>
          <p:nvPr/>
        </p:nvSpPr>
        <p:spPr>
          <a:xfrm>
            <a:off x="1606037" y="3193519"/>
            <a:ext cx="45628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GaramondPro"/>
              </a:rPr>
              <a:t>Security through obscurity </a:t>
            </a:r>
            <a:r>
              <a:rPr lang="en-US" dirty="0">
                <a:latin typeface="AGaramondPro"/>
              </a:rPr>
              <a:t>should be avoided </a:t>
            </a:r>
            <a:endParaRPr lang="en-US" dirty="0">
              <a:latin typeface="ArialM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674FC4-32ED-9F45-9211-F83E75119DE7}"/>
              </a:ext>
            </a:extLst>
          </p:cNvPr>
          <p:cNvSpPr/>
          <p:nvPr/>
        </p:nvSpPr>
        <p:spPr>
          <a:xfrm>
            <a:off x="1566102" y="392916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design of protection mechanisms should be open for scrutiny by members of the community </a:t>
            </a:r>
            <a:endParaRPr lang="en-US" dirty="0">
              <a:latin typeface="ArialMT"/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DBD269A-123F-EF4E-BEE0-4028AFE05DA1}"/>
              </a:ext>
            </a:extLst>
          </p:cNvPr>
          <p:cNvSpPr/>
          <p:nvPr/>
        </p:nvSpPr>
        <p:spPr>
          <a:xfrm>
            <a:off x="2814778" y="1386873"/>
            <a:ext cx="1093344" cy="541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65E134-ABE4-2948-8FF5-21E5EBB8B3CC}"/>
              </a:ext>
            </a:extLst>
          </p:cNvPr>
          <p:cNvSpPr/>
          <p:nvPr/>
        </p:nvSpPr>
        <p:spPr>
          <a:xfrm>
            <a:off x="4244089" y="1441586"/>
            <a:ext cx="1924800" cy="4616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The Opposite??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57B08A-C9EA-8B43-BA3F-1044817C14CD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3980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40575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Psychological Acceptability </a:t>
            </a:r>
            <a:endParaRPr lang="en-US" sz="2400" dirty="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DBD269A-123F-EF4E-BEE0-4028AFE05DA1}"/>
              </a:ext>
            </a:extLst>
          </p:cNvPr>
          <p:cNvSpPr/>
          <p:nvPr/>
        </p:nvSpPr>
        <p:spPr>
          <a:xfrm>
            <a:off x="4483504" y="1317626"/>
            <a:ext cx="1227825" cy="5801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65E134-ABE4-2948-8FF5-21E5EBB8B3CC}"/>
              </a:ext>
            </a:extLst>
          </p:cNvPr>
          <p:cNvSpPr/>
          <p:nvPr/>
        </p:nvSpPr>
        <p:spPr>
          <a:xfrm>
            <a:off x="6162036" y="1169431"/>
            <a:ext cx="2445306" cy="8571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When user feel that security is usually very complex </a:t>
            </a:r>
          </a:p>
        </p:txBody>
      </p:sp>
      <p:pic>
        <p:nvPicPr>
          <p:cNvPr id="14339" name="Picture 3" descr="page215image51832368">
            <a:extLst>
              <a:ext uri="{FF2B5EF4-FFF2-40B4-BE49-F238E27FC236}">
                <a16:creationId xmlns:a16="http://schemas.microsoft.com/office/drawing/2014/main" id="{ECD5D07E-C4D2-DF43-900A-137E6C9E7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290" y="2128764"/>
            <a:ext cx="6531122" cy="150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5A189D0-4C2D-584C-8DEB-ABB5A598C871}"/>
              </a:ext>
            </a:extLst>
          </p:cNvPr>
          <p:cNvSpPr/>
          <p:nvPr/>
        </p:nvSpPr>
        <p:spPr>
          <a:xfrm>
            <a:off x="1923764" y="4070306"/>
            <a:ext cx="4953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aramondPro"/>
              </a:rPr>
              <a:t>are easy to use, </a:t>
            </a:r>
            <a:endParaRPr lang="en-US" sz="2000" b="1" dirty="0">
              <a:latin typeface="Arial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aramondPro"/>
              </a:rPr>
              <a:t>do not affect accessibility, and </a:t>
            </a:r>
            <a:endParaRPr lang="en-US" sz="2000" b="1" dirty="0">
              <a:latin typeface="Arial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aramondPro"/>
              </a:rPr>
              <a:t>are transparent to the user </a:t>
            </a:r>
            <a:endParaRPr lang="en-US" sz="2000" b="1" dirty="0">
              <a:latin typeface="ArialM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289197-2BAE-B142-B25D-CD5B6048940E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221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2116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Weakest Link </a:t>
            </a:r>
            <a:endParaRPr lang="en-US" sz="2400" dirty="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DBD269A-123F-EF4E-BEE0-4028AFE05DA1}"/>
              </a:ext>
            </a:extLst>
          </p:cNvPr>
          <p:cNvSpPr/>
          <p:nvPr/>
        </p:nvSpPr>
        <p:spPr>
          <a:xfrm>
            <a:off x="3194500" y="1348627"/>
            <a:ext cx="1227825" cy="5801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65E134-ABE4-2948-8FF5-21E5EBB8B3CC}"/>
              </a:ext>
            </a:extLst>
          </p:cNvPr>
          <p:cNvSpPr/>
          <p:nvPr/>
        </p:nvSpPr>
        <p:spPr>
          <a:xfrm>
            <a:off x="4934210" y="1169431"/>
            <a:ext cx="3673132" cy="8571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“</a:t>
            </a:r>
            <a:r>
              <a:rPr lang="en-US" b="1" i="1" dirty="0"/>
              <a:t>A chain is only as strong as its weakest links.” </a:t>
            </a:r>
            <a:endParaRPr 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207F4F-1EEF-9644-B761-7D631958B91B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263DEA6D-71BD-A242-AD08-298D8F2ACB6F}"/>
              </a:ext>
            </a:extLst>
          </p:cNvPr>
          <p:cNvSpPr/>
          <p:nvPr/>
        </p:nvSpPr>
        <p:spPr>
          <a:xfrm>
            <a:off x="3194500" y="3792862"/>
            <a:ext cx="1227825" cy="5801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2BF2DE6-B610-7F45-AB49-6699D6D9E50B}"/>
              </a:ext>
            </a:extLst>
          </p:cNvPr>
          <p:cNvSpPr/>
          <p:nvPr/>
        </p:nvSpPr>
        <p:spPr>
          <a:xfrm>
            <a:off x="4934210" y="3613666"/>
            <a:ext cx="3673132" cy="8571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“</a:t>
            </a:r>
            <a:r>
              <a:rPr lang="en-US" i="1" dirty="0">
                <a:latin typeface="AGaramondPro"/>
              </a:rPr>
              <a:t>A chain is only as weak as its strongest links.</a:t>
            </a:r>
            <a:r>
              <a:rPr lang="en-US" dirty="0">
                <a:latin typeface="AGaramondPro"/>
              </a:rPr>
              <a:t>” 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5A767B-C560-5D4D-A784-88FD04FC24EB}"/>
              </a:ext>
            </a:extLst>
          </p:cNvPr>
          <p:cNvSpPr/>
          <p:nvPr/>
        </p:nvSpPr>
        <p:spPr>
          <a:xfrm>
            <a:off x="1030377" y="4906880"/>
            <a:ext cx="32860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GaramondPro"/>
              </a:rPr>
              <a:t>“Single Point of Failure” </a:t>
            </a:r>
            <a:endParaRPr lang="en-US" sz="24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5D6300-178D-A148-A475-2C35BDDAE387}"/>
              </a:ext>
            </a:extLst>
          </p:cNvPr>
          <p:cNvSpPr/>
          <p:nvPr/>
        </p:nvSpPr>
        <p:spPr>
          <a:xfrm>
            <a:off x="2334583" y="551319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Software must be architected so that there is no single source of complete compromise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206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4" grpId="0" animBg="1"/>
      <p:bldP spid="15" grpId="0" animBg="1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4844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Leveraging Existing Components </a:t>
            </a:r>
            <a:endParaRPr lang="en-US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207F4F-1EEF-9644-B761-7D631958B91B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F07B83-A2C5-454D-BF0B-A6D8EDD8A405}"/>
              </a:ext>
            </a:extLst>
          </p:cNvPr>
          <p:cNvSpPr/>
          <p:nvPr/>
        </p:nvSpPr>
        <p:spPr>
          <a:xfrm>
            <a:off x="1785125" y="2159617"/>
            <a:ext cx="4953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AGaramondPro"/>
              </a:rPr>
              <a:t>Service Oriented Architecture (SOA) is prevalent in today’s computing environment 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BE502C-5040-4E46-809E-16643CCBC874}"/>
              </a:ext>
            </a:extLst>
          </p:cNvPr>
          <p:cNvSpPr/>
          <p:nvPr/>
        </p:nvSpPr>
        <p:spPr>
          <a:xfrm>
            <a:off x="1785125" y="3162711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Avoid custom implementations of cryptographic functionality are also determined often to be the weakest link.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C97DFF-9FE4-274C-9694-5A563036DB25}"/>
              </a:ext>
            </a:extLst>
          </p:cNvPr>
          <p:cNvSpPr/>
          <p:nvPr/>
        </p:nvSpPr>
        <p:spPr>
          <a:xfrm>
            <a:off x="1785125" y="462240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attack surface is not increased, and  no newer vulnerabilities are introduced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5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25490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Interface Design </a:t>
            </a:r>
            <a:endParaRPr lang="en-US" sz="24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65E134-ABE4-2948-8FF5-21E5EBB8B3CC}"/>
              </a:ext>
            </a:extLst>
          </p:cNvPr>
          <p:cNvSpPr/>
          <p:nvPr/>
        </p:nvSpPr>
        <p:spPr>
          <a:xfrm>
            <a:off x="1511143" y="1894082"/>
            <a:ext cx="2336385" cy="722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User Interface 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2041B2-B3DF-C54D-8BED-27ED97E07E6E}"/>
              </a:ext>
            </a:extLst>
          </p:cNvPr>
          <p:cNvSpPr/>
          <p:nvPr/>
        </p:nvSpPr>
        <p:spPr>
          <a:xfrm>
            <a:off x="2683676" y="300117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Abstractions using user interfaces are also a good defense against insider threats </a:t>
            </a:r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037D9CC-1939-3A4F-B297-979B7A733FCB}"/>
              </a:ext>
            </a:extLst>
          </p:cNvPr>
          <p:cNvSpPr/>
          <p:nvPr/>
        </p:nvSpPr>
        <p:spPr>
          <a:xfrm>
            <a:off x="1511143" y="3937887"/>
            <a:ext cx="4306751" cy="8215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MyriadPro"/>
              </a:rPr>
              <a:t>Application Programming Interfaces (API) 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09CE26-4C65-3541-A3E3-F0F58A986ABA}"/>
              </a:ext>
            </a:extLst>
          </p:cNvPr>
          <p:cNvSpPr/>
          <p:nvPr/>
        </p:nvSpPr>
        <p:spPr>
          <a:xfrm>
            <a:off x="2753160" y="5058906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communication of one software component with another 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B8793E-F925-8641-8F24-F9925ADBEF6F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0910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/>
      <p:bldP spid="13" grpId="0" animBg="1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25490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Interface Design </a:t>
            </a:r>
            <a:endParaRPr lang="en-US" sz="24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65E134-ABE4-2948-8FF5-21E5EBB8B3CC}"/>
              </a:ext>
            </a:extLst>
          </p:cNvPr>
          <p:cNvSpPr/>
          <p:nvPr/>
        </p:nvSpPr>
        <p:spPr>
          <a:xfrm>
            <a:off x="1511143" y="1810292"/>
            <a:ext cx="2793228" cy="8064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Out-of-Band Interface </a:t>
            </a:r>
            <a:endParaRPr lang="en-US" dirty="0">
              <a:effectLst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037D9CC-1939-3A4F-B297-979B7A733FCB}"/>
              </a:ext>
            </a:extLst>
          </p:cNvPr>
          <p:cNvSpPr/>
          <p:nvPr/>
        </p:nvSpPr>
        <p:spPr>
          <a:xfrm>
            <a:off x="1511143" y="3264069"/>
            <a:ext cx="1990340" cy="7312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Log Interfaces 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3E5867-5DE0-4944-A54B-8DB89BE1E847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2263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57FA2-BAEF-C14E-9864-914AB7A7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0E53F-9F36-914C-AE55-4650F658ED01}"/>
              </a:ext>
            </a:extLst>
          </p:cNvPr>
          <p:cNvSpPr/>
          <p:nvPr/>
        </p:nvSpPr>
        <p:spPr>
          <a:xfrm>
            <a:off x="566330" y="1348627"/>
            <a:ext cx="26164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Interconnectivity 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1252F8-55D2-3E42-9827-300CFF6DAF96}"/>
              </a:ext>
            </a:extLst>
          </p:cNvPr>
          <p:cNvSpPr/>
          <p:nvPr/>
        </p:nvSpPr>
        <p:spPr>
          <a:xfrm>
            <a:off x="2043113" y="213824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Upstream and downstream compatibility of software should be explicitly designed 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5AC0D1-6BF4-AA48-A1B0-52AD7E7F2347}"/>
              </a:ext>
            </a:extLst>
          </p:cNvPr>
          <p:cNvSpPr/>
          <p:nvPr/>
        </p:nvSpPr>
        <p:spPr>
          <a:xfrm>
            <a:off x="2043113" y="3124999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Interconnectivity is not only observed in software applications, but in devices as well. 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2C9602-4BC0-634C-BFBB-A707465754EB}"/>
              </a:ext>
            </a:extLst>
          </p:cNvPr>
          <p:cNvSpPr/>
          <p:nvPr/>
        </p:nvSpPr>
        <p:spPr>
          <a:xfrm>
            <a:off x="0" y="476082"/>
            <a:ext cx="4515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Secure Design Requirements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1887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1FF49C-7D8D-2543-B900-EB16002BE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44BC34-9729-1546-AD5D-2992931B4064}"/>
              </a:ext>
            </a:extLst>
          </p:cNvPr>
          <p:cNvSpPr/>
          <p:nvPr/>
        </p:nvSpPr>
        <p:spPr>
          <a:xfrm>
            <a:off x="248499" y="545739"/>
            <a:ext cx="53935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MyriadPro"/>
              </a:rPr>
              <a:t>Balancing Secure Design Principles 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C8541F-A022-7743-83C9-E1F6E0327227}"/>
              </a:ext>
            </a:extLst>
          </p:cNvPr>
          <p:cNvSpPr/>
          <p:nvPr/>
        </p:nvSpPr>
        <p:spPr>
          <a:xfrm>
            <a:off x="1115122" y="2462628"/>
            <a:ext cx="74295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GaramondPro"/>
              </a:rPr>
              <a:t>“SSO can heighten user experience and increase psychological acceptability, it contradicts the principle of complete mediation and so a business decision is necessary to determine the extent to which SSO is designed into the software or to determine that it is not even an option to consider "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50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AB887-2F04-C74A-A6FE-9AA546B5C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44C1A4-C4A1-5A4D-B7A7-C5B698BBCE4D}"/>
              </a:ext>
            </a:extLst>
          </p:cNvPr>
          <p:cNvSpPr txBox="1"/>
          <p:nvPr/>
        </p:nvSpPr>
        <p:spPr>
          <a:xfrm>
            <a:off x="388307" y="413359"/>
            <a:ext cx="328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Invited Talk!!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F89536-78CF-C64F-A88D-77EE98BDC023}"/>
              </a:ext>
            </a:extLst>
          </p:cNvPr>
          <p:cNvSpPr txBox="1"/>
          <p:nvPr/>
        </p:nvSpPr>
        <p:spPr>
          <a:xfrm>
            <a:off x="2154477" y="3000195"/>
            <a:ext cx="5661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Lets move to MLH2 (NAB) for the invited talk</a:t>
            </a:r>
          </a:p>
        </p:txBody>
      </p:sp>
    </p:spTree>
    <p:extLst>
      <p:ext uri="{BB962C8B-B14F-4D97-AF65-F5344CB8AC3E}">
        <p14:creationId xmlns:p14="http://schemas.microsoft.com/office/powerpoint/2010/main" val="373377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796ECD-8ACA-4B48-9EE4-6227CCE3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E3F08-13B1-0A47-9F53-06642A080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581" y="1020119"/>
            <a:ext cx="5486400" cy="533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72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26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2221955</TotalTime>
  <Words>877</Words>
  <Application>Microsoft Macintosh PowerPoint</Application>
  <PresentationFormat>A4 Paper (210x297 mm)</PresentationFormat>
  <Paragraphs>174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Adobe Gothic Std B</vt:lpstr>
      <vt:lpstr>AGaramondPro</vt:lpstr>
      <vt:lpstr>ArialMT</vt:lpstr>
      <vt:lpstr>等线</vt:lpstr>
      <vt:lpstr>等线</vt:lpstr>
      <vt:lpstr>等线 Light</vt:lpstr>
      <vt:lpstr>MyriadPro</vt:lpstr>
      <vt:lpstr>SimSun</vt:lpstr>
      <vt:lpstr>Arial</vt:lpstr>
      <vt:lpstr>Calibri</vt:lpstr>
      <vt:lpstr>Consolas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758</cp:revision>
  <cp:lastPrinted>2025-01-23T10:52:12Z</cp:lastPrinted>
  <dcterms:created xsi:type="dcterms:W3CDTF">2018-07-17T04:46:00Z</dcterms:created>
  <dcterms:modified xsi:type="dcterms:W3CDTF">2026-02-09T09:32:56Z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