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80" r:id="rId2"/>
    <p:sldId id="565" r:id="rId3"/>
    <p:sldId id="583" r:id="rId4"/>
    <p:sldId id="566" r:id="rId5"/>
    <p:sldId id="580" r:id="rId6"/>
    <p:sldId id="581" r:id="rId7"/>
    <p:sldId id="582" r:id="rId8"/>
    <p:sldId id="567" r:id="rId9"/>
    <p:sldId id="587" r:id="rId10"/>
    <p:sldId id="568" r:id="rId11"/>
    <p:sldId id="569" r:id="rId12"/>
    <p:sldId id="570" r:id="rId13"/>
    <p:sldId id="586" r:id="rId14"/>
    <p:sldId id="571" r:id="rId15"/>
    <p:sldId id="572" r:id="rId16"/>
    <p:sldId id="573" r:id="rId17"/>
    <p:sldId id="574" r:id="rId18"/>
    <p:sldId id="588" r:id="rId19"/>
    <p:sldId id="589" r:id="rId20"/>
    <p:sldId id="575" r:id="rId21"/>
    <p:sldId id="576" r:id="rId22"/>
    <p:sldId id="585" r:id="rId23"/>
    <p:sldId id="577" r:id="rId24"/>
    <p:sldId id="590" r:id="rId25"/>
    <p:sldId id="578" r:id="rId26"/>
    <p:sldId id="561" r:id="rId27"/>
    <p:sldId id="591" r:id="rId28"/>
    <p:sldId id="592" r:id="rId29"/>
    <p:sldId id="593" r:id="rId30"/>
    <p:sldId id="372" r:id="rId31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565"/>
            <p14:sldId id="583"/>
            <p14:sldId id="566"/>
            <p14:sldId id="580"/>
            <p14:sldId id="581"/>
            <p14:sldId id="582"/>
            <p14:sldId id="567"/>
            <p14:sldId id="587"/>
            <p14:sldId id="568"/>
            <p14:sldId id="569"/>
            <p14:sldId id="570"/>
            <p14:sldId id="586"/>
            <p14:sldId id="571"/>
            <p14:sldId id="572"/>
            <p14:sldId id="573"/>
            <p14:sldId id="574"/>
            <p14:sldId id="588"/>
            <p14:sldId id="589"/>
            <p14:sldId id="575"/>
            <p14:sldId id="576"/>
            <p14:sldId id="585"/>
            <p14:sldId id="577"/>
            <p14:sldId id="590"/>
            <p14:sldId id="578"/>
            <p14:sldId id="561"/>
            <p14:sldId id="591"/>
            <p14:sldId id="592"/>
            <p14:sldId id="593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5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         Secure Design Requirements 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5" y="1284843"/>
            <a:ext cx="523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30657-AFB0-6049-B6F1-FE7D30471FC5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3800184" y="3244334"/>
            <a:ext cx="3068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GaramondPro"/>
              </a:rPr>
              <a:t>Insecure design issues </a:t>
            </a:r>
            <a:endParaRPr lang="en-US" sz="2400" b="1" dirty="0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9B90E3CE-B908-E042-982D-3253F4FB02AA}"/>
              </a:ext>
            </a:extLst>
          </p:cNvPr>
          <p:cNvSpPr/>
          <p:nvPr/>
        </p:nvSpPr>
        <p:spPr>
          <a:xfrm>
            <a:off x="6868397" y="1522922"/>
            <a:ext cx="2123088" cy="1047240"/>
          </a:xfrm>
          <a:prstGeom prst="wedgeRoundRectCallout">
            <a:avLst>
              <a:gd name="adj1" fmla="val -65137"/>
              <a:gd name="adj2" fmla="val 837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Improper implementation of least privilege</a:t>
            </a:r>
            <a:endParaRPr lang="en-US" dirty="0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10043D8-8A33-EA4C-BF9F-F59C22FE3FB9}"/>
              </a:ext>
            </a:extLst>
          </p:cNvPr>
          <p:cNvSpPr/>
          <p:nvPr/>
        </p:nvSpPr>
        <p:spPr>
          <a:xfrm>
            <a:off x="1042817" y="1522922"/>
            <a:ext cx="1761893" cy="1047240"/>
          </a:xfrm>
          <a:prstGeom prst="wedgeRoundRectCallout">
            <a:avLst>
              <a:gd name="adj1" fmla="val 113344"/>
              <a:gd name="adj2" fmla="val 9018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Software fails insecurely, </a:t>
            </a:r>
            <a:endParaRPr lang="en-US" dirty="0">
              <a:latin typeface="ArialMT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D576B306-8DC9-A143-909B-4BA2F411315E}"/>
              </a:ext>
            </a:extLst>
          </p:cNvPr>
          <p:cNvSpPr/>
          <p:nvPr/>
        </p:nvSpPr>
        <p:spPr>
          <a:xfrm>
            <a:off x="6996113" y="4745048"/>
            <a:ext cx="1761893" cy="1047240"/>
          </a:xfrm>
          <a:prstGeom prst="wedgeRoundRectCallout">
            <a:avLst>
              <a:gd name="adj1" fmla="val -73998"/>
              <a:gd name="adj2" fmla="val -1227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Weak input validation. </a:t>
            </a:r>
            <a:endParaRPr lang="en-US" dirty="0">
              <a:latin typeface="ArialMT"/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1D226603-D1CA-8740-845A-B03E07F88DC2}"/>
              </a:ext>
            </a:extLst>
          </p:cNvPr>
          <p:cNvSpPr/>
          <p:nvPr/>
        </p:nvSpPr>
        <p:spPr>
          <a:xfrm>
            <a:off x="730583" y="4745048"/>
            <a:ext cx="1761893" cy="1047240"/>
          </a:xfrm>
          <a:prstGeom prst="wedgeRoundRectCallout">
            <a:avLst>
              <a:gd name="adj1" fmla="val 137395"/>
              <a:gd name="adj2" fmla="val -1270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improper error handling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84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9774C9-94D3-BA44-9265-F764399D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3" name="Picture 1" descr="page34image166577168">
            <a:extLst>
              <a:ext uri="{FF2B5EF4-FFF2-40B4-BE49-F238E27FC236}">
                <a16:creationId xmlns:a16="http://schemas.microsoft.com/office/drawing/2014/main" id="{F1FC558B-689E-5049-938D-402F4FBD5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765" y="1333318"/>
            <a:ext cx="6879100" cy="476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567DF5BA-0631-274F-80DD-1CD85860FF52}"/>
              </a:ext>
            </a:extLst>
          </p:cNvPr>
          <p:cNvSpPr/>
          <p:nvPr/>
        </p:nvSpPr>
        <p:spPr>
          <a:xfrm>
            <a:off x="334536" y="4148254"/>
            <a:ext cx="1446229" cy="7359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AA01C-ECE8-0148-BF23-0C960C82D2E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0032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2274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Least Privilege </a:t>
            </a:r>
            <a:endParaRPr lang="en-US" sz="2400" dirty="0"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C412E3-F4F9-3144-B7E1-E09D02763ABF}"/>
              </a:ext>
            </a:extLst>
          </p:cNvPr>
          <p:cNvSpPr/>
          <p:nvPr/>
        </p:nvSpPr>
        <p:spPr>
          <a:xfrm>
            <a:off x="566330" y="2156346"/>
            <a:ext cx="1910170" cy="631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Need-to-know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713ED-C110-D547-8A9E-5A232ED3BF9B}"/>
              </a:ext>
            </a:extLst>
          </p:cNvPr>
          <p:cNvSpPr/>
          <p:nvPr/>
        </p:nvSpPr>
        <p:spPr>
          <a:xfrm>
            <a:off x="508258" y="4394169"/>
            <a:ext cx="2447884" cy="631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Modular programming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D6360C-1BD6-D24C-A362-BFE2AE04DE7D}"/>
              </a:ext>
            </a:extLst>
          </p:cNvPr>
          <p:cNvSpPr/>
          <p:nvPr/>
        </p:nvSpPr>
        <p:spPr>
          <a:xfrm>
            <a:off x="3534377" y="215634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Limits the disclosure of sensitive information to only those who have been authorized to receive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69BF7-3B5C-D947-890C-01421085509C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29522-C253-9247-B013-0572A17B6C9F}"/>
              </a:ext>
            </a:extLst>
          </p:cNvPr>
          <p:cNvSpPr/>
          <p:nvPr/>
        </p:nvSpPr>
        <p:spPr>
          <a:xfrm>
            <a:off x="3534377" y="4248234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software design approach that breaks a system into </a:t>
            </a:r>
            <a:r>
              <a:rPr lang="en-US" b="1" dirty="0"/>
              <a:t>smaller, reusable modules</a:t>
            </a:r>
            <a:r>
              <a:rPr lang="en-US" dirty="0"/>
              <a:t> instead of writing one large program</a:t>
            </a:r>
          </a:p>
        </p:txBody>
      </p:sp>
    </p:spTree>
    <p:extLst>
      <p:ext uri="{BB962C8B-B14F-4D97-AF65-F5344CB8AC3E}">
        <p14:creationId xmlns:p14="http://schemas.microsoft.com/office/powerpoint/2010/main" val="138004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2274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Least Privilege </a:t>
            </a:r>
            <a:endParaRPr lang="en-US" sz="2400" dirty="0"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713ED-C110-D547-8A9E-5A232ED3BF9B}"/>
              </a:ext>
            </a:extLst>
          </p:cNvPr>
          <p:cNvSpPr/>
          <p:nvPr/>
        </p:nvSpPr>
        <p:spPr>
          <a:xfrm>
            <a:off x="566329" y="2144624"/>
            <a:ext cx="2803171" cy="631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Modular programming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78FCAC-BDF4-2A4C-A92B-317B18380300}"/>
              </a:ext>
            </a:extLst>
          </p:cNvPr>
          <p:cNvSpPr/>
          <p:nvPr/>
        </p:nvSpPr>
        <p:spPr>
          <a:xfrm>
            <a:off x="1159727" y="5330283"/>
            <a:ext cx="2430966" cy="512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 Cohesion</a:t>
            </a:r>
            <a:r>
              <a:rPr lang="en-US" dirty="0"/>
              <a:t>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30EC6B7-F7A5-EC4D-8E58-915615BC6D3E}"/>
              </a:ext>
            </a:extLst>
          </p:cNvPr>
          <p:cNvSpPr/>
          <p:nvPr/>
        </p:nvSpPr>
        <p:spPr>
          <a:xfrm>
            <a:off x="4850390" y="5283662"/>
            <a:ext cx="2430966" cy="512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Loose Coupling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EDB4F0-FA6E-3B42-9BDB-4EB2EB81AA21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6A95A-830A-924D-8E0A-B3616A0DD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339" y="1348627"/>
            <a:ext cx="4456052" cy="328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4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78FCAC-BDF4-2A4C-A92B-317B18380300}"/>
              </a:ext>
            </a:extLst>
          </p:cNvPr>
          <p:cNvSpPr/>
          <p:nvPr/>
        </p:nvSpPr>
        <p:spPr>
          <a:xfrm>
            <a:off x="1416562" y="2154594"/>
            <a:ext cx="2430966" cy="512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 Cohesion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DE4DB-6D60-884A-8C7D-307D6A94249D}"/>
              </a:ext>
            </a:extLst>
          </p:cNvPr>
          <p:cNvSpPr/>
          <p:nvPr/>
        </p:nvSpPr>
        <p:spPr>
          <a:xfrm>
            <a:off x="2840316" y="2950861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Each module does one thing well and is strongly related to its purpose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19E5A-A867-3946-8CDB-C7E71A7CA163}"/>
              </a:ext>
            </a:extLst>
          </p:cNvPr>
          <p:cNvSpPr/>
          <p:nvPr/>
        </p:nvSpPr>
        <p:spPr>
          <a:xfrm>
            <a:off x="3346033" y="412427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module for user authentication should handle login/logout but NOT database management.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75C3DA-7E1E-324C-8D93-7E96CFF460C5}"/>
              </a:ext>
            </a:extLst>
          </p:cNvPr>
          <p:cNvSpPr/>
          <p:nvPr/>
        </p:nvSpPr>
        <p:spPr>
          <a:xfrm>
            <a:off x="564792" y="4336025"/>
            <a:ext cx="1703540" cy="4998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Example??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93B4B8-17D1-0E4C-A9B0-6CF15E7B3DC2}"/>
              </a:ext>
            </a:extLst>
          </p:cNvPr>
          <p:cNvSpPr/>
          <p:nvPr/>
        </p:nvSpPr>
        <p:spPr>
          <a:xfrm>
            <a:off x="-62250" y="1400961"/>
            <a:ext cx="3077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AGaramondPro"/>
              </a:rPr>
              <a:t>Modular programming</a:t>
            </a:r>
            <a:endParaRPr lang="en-US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FEED00-6B16-4A41-B7E1-F170031CA14F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5211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78FCAC-BDF4-2A4C-A92B-317B18380300}"/>
              </a:ext>
            </a:extLst>
          </p:cNvPr>
          <p:cNvSpPr/>
          <p:nvPr/>
        </p:nvSpPr>
        <p:spPr>
          <a:xfrm>
            <a:off x="1416562" y="2154594"/>
            <a:ext cx="2430966" cy="512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Loose Coupling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DE4DB-6D60-884A-8C7D-307D6A94249D}"/>
              </a:ext>
            </a:extLst>
          </p:cNvPr>
          <p:cNvSpPr/>
          <p:nvPr/>
        </p:nvSpPr>
        <p:spPr>
          <a:xfrm>
            <a:off x="2840316" y="295086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Modules interact with each other as little as possible and communicate through well-defined interfaces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19E5A-A867-3946-8CDB-C7E71A7CA163}"/>
              </a:ext>
            </a:extLst>
          </p:cNvPr>
          <p:cNvSpPr/>
          <p:nvPr/>
        </p:nvSpPr>
        <p:spPr>
          <a:xfrm>
            <a:off x="3346033" y="4124273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payment processing module should work independently without needing to know how the shopping cart module is implemented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75C3DA-7E1E-324C-8D93-7E96CFF460C5}"/>
              </a:ext>
            </a:extLst>
          </p:cNvPr>
          <p:cNvSpPr/>
          <p:nvPr/>
        </p:nvSpPr>
        <p:spPr>
          <a:xfrm>
            <a:off x="564792" y="4336025"/>
            <a:ext cx="1703540" cy="4998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Example??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93B4B8-17D1-0E4C-A9B0-6CF15E7B3DC2}"/>
              </a:ext>
            </a:extLst>
          </p:cNvPr>
          <p:cNvSpPr/>
          <p:nvPr/>
        </p:nvSpPr>
        <p:spPr>
          <a:xfrm>
            <a:off x="-62250" y="1400961"/>
            <a:ext cx="3077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AGaramondPro"/>
              </a:rPr>
              <a:t>Modular programming</a:t>
            </a:r>
            <a:endParaRPr lang="en-US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88A5C3-60DD-0142-8DB0-278D49FB692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613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Separation of Duties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A00F45-7935-4B44-8E74-DE297B498103}"/>
              </a:ext>
            </a:extLst>
          </p:cNvPr>
          <p:cNvSpPr/>
          <p:nvPr/>
        </p:nvSpPr>
        <p:spPr>
          <a:xfrm>
            <a:off x="693296" y="1853173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Software functionality into two or more conditions, all of which need to be satisfied before an operation can be completed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4F681B-7233-424C-9995-E736FDD82D87}"/>
              </a:ext>
            </a:extLst>
          </p:cNvPr>
          <p:cNvSpPr/>
          <p:nvPr/>
        </p:nvSpPr>
        <p:spPr>
          <a:xfrm>
            <a:off x="822387" y="3102515"/>
            <a:ext cx="71262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Software</a:t>
            </a:r>
            <a:r>
              <a:rPr lang="en-US" b="1" dirty="0">
                <a:latin typeface="AGaramondPro"/>
              </a:rPr>
              <a:t> Deployment</a:t>
            </a:r>
            <a:r>
              <a:rPr lang="en-US" dirty="0">
                <a:latin typeface="AGaramondPro"/>
              </a:rPr>
              <a:t>, </a:t>
            </a:r>
            <a:r>
              <a:rPr lang="en-US" b="1" dirty="0">
                <a:latin typeface="AGaramondPro"/>
              </a:rPr>
              <a:t>Operations</a:t>
            </a:r>
            <a:r>
              <a:rPr lang="en-US" dirty="0">
                <a:latin typeface="AGaramondPro"/>
              </a:rPr>
              <a:t>, </a:t>
            </a:r>
            <a:r>
              <a:rPr lang="en-US" b="1" dirty="0">
                <a:latin typeface="AGaramondPro"/>
              </a:rPr>
              <a:t>Maintenance</a:t>
            </a:r>
            <a:r>
              <a:rPr lang="en-US" dirty="0">
                <a:latin typeface="AGaramondPro"/>
              </a:rPr>
              <a:t>, and </a:t>
            </a:r>
            <a:r>
              <a:rPr lang="en-US" b="1" dirty="0">
                <a:latin typeface="AGaramondPro"/>
              </a:rPr>
              <a:t>Disposal</a:t>
            </a:r>
            <a:r>
              <a:rPr lang="en-US" dirty="0">
                <a:latin typeface="AGaramondPro"/>
              </a:rPr>
              <a:t> chapter.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77BBF1-44FB-D446-99AD-6C197A472334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5CC6C0-921A-BB4B-AF57-FBC78E272B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70" b="11289"/>
          <a:stretch/>
        </p:blipFill>
        <p:spPr>
          <a:xfrm>
            <a:off x="3341626" y="4015086"/>
            <a:ext cx="5715000" cy="16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5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Separation of Duties </a:t>
            </a:r>
            <a:endParaRPr lang="en-US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77BBF1-44FB-D446-99AD-6C197A472334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A724D0-7ACC-E84E-AEB5-C8E7F139DA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1" b="76195"/>
          <a:stretch/>
        </p:blipFill>
        <p:spPr>
          <a:xfrm>
            <a:off x="5185186" y="1176488"/>
            <a:ext cx="3868868" cy="11609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19F88D-3DEA-D144-8858-869E3D5B6E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28" t="58174"/>
          <a:stretch/>
        </p:blipFill>
        <p:spPr>
          <a:xfrm>
            <a:off x="5269305" y="4207398"/>
            <a:ext cx="3815080" cy="20397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7786DA-2D25-1342-AC42-3B4176FE83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63" t="22518" r="-2131" b="58169"/>
          <a:stretch/>
        </p:blipFill>
        <p:spPr>
          <a:xfrm>
            <a:off x="5540188" y="2323652"/>
            <a:ext cx="3684775" cy="941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4C03ED-C04D-DA48-B05E-9491456F50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60" t="40343" b="40344"/>
          <a:stretch/>
        </p:blipFill>
        <p:spPr>
          <a:xfrm>
            <a:off x="5472971" y="3265525"/>
            <a:ext cx="3611414" cy="94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8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26901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Defense in Depth </a:t>
            </a:r>
            <a:endParaRPr lang="en-US" sz="2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5C225D-9951-3A4D-AF34-3A2FF984B9E5}"/>
              </a:ext>
            </a:extLst>
          </p:cNvPr>
          <p:cNvSpPr/>
          <p:nvPr/>
        </p:nvSpPr>
        <p:spPr>
          <a:xfrm>
            <a:off x="4515339" y="1216002"/>
            <a:ext cx="4259766" cy="7269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Not putting all the eggs in one basket 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86E35B4-7AF0-5941-BB5C-6113003DE3DD}"/>
              </a:ext>
            </a:extLst>
          </p:cNvPr>
          <p:cNvSpPr/>
          <p:nvPr/>
        </p:nvSpPr>
        <p:spPr>
          <a:xfrm>
            <a:off x="3256489" y="1348627"/>
            <a:ext cx="98097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2BAFF-769F-D44B-9124-44786D4F8E51}"/>
              </a:ext>
            </a:extLst>
          </p:cNvPr>
          <p:cNvSpPr/>
          <p:nvPr/>
        </p:nvSpPr>
        <p:spPr>
          <a:xfrm>
            <a:off x="1760962" y="228139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Use of Input Validation &amp; Prepared Statements to Prevent Injection Attacks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9AF0B2-1EBC-7A45-AA0A-CA3CF45890AA}"/>
              </a:ext>
            </a:extLst>
          </p:cNvPr>
          <p:cNvSpPr/>
          <p:nvPr/>
        </p:nvSpPr>
        <p:spPr>
          <a:xfrm>
            <a:off x="1760962" y="335594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Defending Against Cross-Site Scripting (XSS) with Output Encoding &amp;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B81C31-2DDE-CD4C-B678-59F8F95454C9}"/>
              </a:ext>
            </a:extLst>
          </p:cNvPr>
          <p:cNvSpPr/>
          <p:nvPr/>
        </p:nvSpPr>
        <p:spPr>
          <a:xfrm>
            <a:off x="1760962" y="4430498"/>
            <a:ext cx="3499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Security Zones for Access Control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40DE4-6CD2-7945-8D8A-46F45F3EC3FA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068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Fail Secure </a:t>
            </a:r>
            <a:endParaRPr lang="en-US" sz="2400" dirty="0">
              <a:effectLst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5C225D-9951-3A4D-AF34-3A2FF984B9E5}"/>
              </a:ext>
            </a:extLst>
          </p:cNvPr>
          <p:cNvSpPr/>
          <p:nvPr/>
        </p:nvSpPr>
        <p:spPr>
          <a:xfrm>
            <a:off x="4644195" y="1126259"/>
            <a:ext cx="4259766" cy="7269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when attacked and is rapidly </a:t>
            </a:r>
            <a:r>
              <a:rPr lang="en-US" i="1" dirty="0"/>
              <a:t>recoverable </a:t>
            </a:r>
            <a:r>
              <a:rPr lang="en-US" dirty="0"/>
              <a:t>into a normal business </a:t>
            </a:r>
            <a:endParaRPr lang="en-US" dirty="0">
              <a:effectLst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86E35B4-7AF0-5941-BB5C-6113003DE3DD}"/>
              </a:ext>
            </a:extLst>
          </p:cNvPr>
          <p:cNvSpPr/>
          <p:nvPr/>
        </p:nvSpPr>
        <p:spPr>
          <a:xfrm>
            <a:off x="3256489" y="1348627"/>
            <a:ext cx="98097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25BD9D-1B37-664E-8C01-1B5592557F39}"/>
              </a:ext>
            </a:extLst>
          </p:cNvPr>
          <p:cNvSpPr/>
          <p:nvPr/>
        </p:nvSpPr>
        <p:spPr>
          <a:xfrm>
            <a:off x="779989" y="209236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user is denied access by default and the account is locked out after the maximum number (clipping level) of access attempts is tried </a:t>
            </a:r>
            <a:endParaRPr lang="en-US" dirty="0">
              <a:latin typeface="Arial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7AE062-7113-A447-84AE-F4D1DD51E11B}"/>
              </a:ext>
            </a:extLst>
          </p:cNvPr>
          <p:cNvSpPr/>
          <p:nvPr/>
        </p:nvSpPr>
        <p:spPr>
          <a:xfrm>
            <a:off x="779989" y="417104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Not designing the software to ignore the error and resume next operation </a:t>
            </a:r>
            <a:endParaRPr lang="en-US" dirty="0">
              <a:latin typeface="ArialM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6A7EFE-C44F-774A-B99C-73ADC2B27944}"/>
              </a:ext>
            </a:extLst>
          </p:cNvPr>
          <p:cNvSpPr/>
          <p:nvPr/>
        </p:nvSpPr>
        <p:spPr>
          <a:xfrm>
            <a:off x="779989" y="325487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Errors and exceptions are explicitly handled and the error messages are non-verbose in nature </a:t>
            </a:r>
            <a:endParaRPr lang="en-US" dirty="0">
              <a:latin typeface="ArialM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9199FD-5AC7-3D40-9277-3CC5CC752514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pic>
        <p:nvPicPr>
          <p:cNvPr id="8193" name="Picture 1" descr="page209image51400976">
            <a:extLst>
              <a:ext uri="{FF2B5EF4-FFF2-40B4-BE49-F238E27FC236}">
                <a16:creationId xmlns:a16="http://schemas.microsoft.com/office/drawing/2014/main" id="{3D38921A-ABA6-5747-BEFA-99CFF06E3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1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98C73C-CE10-9A4B-A28D-6DBDF7426825}"/>
              </a:ext>
            </a:extLst>
          </p:cNvPr>
          <p:cNvSpPr/>
          <p:nvPr/>
        </p:nvSpPr>
        <p:spPr>
          <a:xfrm>
            <a:off x="6748463" y="2071355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Secure by Design, </a:t>
            </a:r>
            <a:endParaRPr lang="en-US" dirty="0"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C9325-287E-694C-864C-2CD7013EE9B1}"/>
              </a:ext>
            </a:extLst>
          </p:cNvPr>
          <p:cNvSpPr/>
          <p:nvPr/>
        </p:nvSpPr>
        <p:spPr>
          <a:xfrm>
            <a:off x="6774078" y="2531619"/>
            <a:ext cx="1833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GaramondPro"/>
              </a:rPr>
              <a:t>Secure by Default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AFC09-0933-F94D-A728-4F24B69897B9}"/>
              </a:ext>
            </a:extLst>
          </p:cNvPr>
          <p:cNvSpPr/>
          <p:nvPr/>
        </p:nvSpPr>
        <p:spPr>
          <a:xfrm>
            <a:off x="6774078" y="2980998"/>
            <a:ext cx="2355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GaramondPro"/>
              </a:rPr>
              <a:t>Secure by Deployment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1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4" grpId="0"/>
      <p:bldP spid="6" grpId="0"/>
      <p:bldP spid="12" grpId="0"/>
      <p:bldP spid="3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893B56-863A-FF4E-8252-88EA2093C10B}"/>
              </a:ext>
            </a:extLst>
          </p:cNvPr>
          <p:cNvSpPr/>
          <p:nvPr/>
        </p:nvSpPr>
        <p:spPr>
          <a:xfrm>
            <a:off x="3157538" y="1889889"/>
            <a:ext cx="4953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 Explicit</a:t>
            </a:r>
          </a:p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objNetwork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"J:"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"\\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FinServer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\Software"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Error Resume Next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objNetwork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CreateObject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WScript.Network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objNetwork.MapNetworkDrive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Wscript.Quit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Fail Secure </a:t>
            </a:r>
            <a:endParaRPr lang="en-US" sz="2400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2C5939-0616-FC44-95F2-B9F6E3C3C592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0473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893B56-863A-FF4E-8252-88EA2093C10B}"/>
              </a:ext>
            </a:extLst>
          </p:cNvPr>
          <p:cNvSpPr/>
          <p:nvPr/>
        </p:nvSpPr>
        <p:spPr>
          <a:xfrm>
            <a:off x="3332903" y="1237297"/>
            <a:ext cx="4953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 Explicit</a:t>
            </a: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Dim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objNetwork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"J:"</a:t>
            </a:r>
          </a:p>
          <a:p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"\\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FinServer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\Software"</a:t>
            </a:r>
          </a:p>
          <a:p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objNetwork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CreateObject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WScript.Network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objNetwork.MapNetworkDrive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Err.Number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&lt;&gt; 0 Then</a:t>
            </a: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WScript.Echo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"Error: " &amp;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Err.Description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Err.Clear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If</a:t>
            </a:r>
          </a:p>
          <a:p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Wscript.Quit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Fail Secure </a:t>
            </a:r>
            <a:endParaRPr lang="en-US" sz="2400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2C5939-0616-FC44-95F2-B9F6E3C3C592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1184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37401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Economy of Mechanisms </a:t>
            </a:r>
            <a:endParaRPr lang="en-US" sz="2400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B6156F8-1E26-494E-8EBA-8EAB51626B99}"/>
              </a:ext>
            </a:extLst>
          </p:cNvPr>
          <p:cNvSpPr/>
          <p:nvPr/>
        </p:nvSpPr>
        <p:spPr>
          <a:xfrm>
            <a:off x="4672876" y="139702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003C7E-4603-DC46-BB49-E5CFC0B52BD1}"/>
              </a:ext>
            </a:extLst>
          </p:cNvPr>
          <p:cNvSpPr/>
          <p:nvPr/>
        </p:nvSpPr>
        <p:spPr>
          <a:xfrm>
            <a:off x="6017704" y="1202437"/>
            <a:ext cx="3002583" cy="8738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“bells-and-whistles”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30BD6F-79EB-C247-8C7A-9424DB47C34E}"/>
              </a:ext>
            </a:extLst>
          </p:cNvPr>
          <p:cNvSpPr/>
          <p:nvPr/>
        </p:nvSpPr>
        <p:spPr>
          <a:xfrm>
            <a:off x="2043113" y="2493023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AGaramondPro"/>
              </a:rPr>
              <a:t>Unnecessary functionality or unneeded security mechanisms should be avoided. 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97ACC4-AEB2-3B43-8B9C-DEE09227FEE6}"/>
              </a:ext>
            </a:extLst>
          </p:cNvPr>
          <p:cNvSpPr/>
          <p:nvPr/>
        </p:nvSpPr>
        <p:spPr>
          <a:xfrm>
            <a:off x="2043113" y="3627608"/>
            <a:ext cx="22398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GaramondPro"/>
              </a:rPr>
              <a:t>Strive for simplicity </a:t>
            </a:r>
            <a:endParaRPr lang="en-U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DE0029-D0F2-DD4D-B69D-F9A57295095A}"/>
              </a:ext>
            </a:extLst>
          </p:cNvPr>
          <p:cNvSpPr/>
          <p:nvPr/>
        </p:nvSpPr>
        <p:spPr>
          <a:xfrm>
            <a:off x="2043113" y="4409298"/>
            <a:ext cx="36829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GaramondPro"/>
              </a:rPr>
              <a:t>Strive for operational ease of use 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F8BFB1-AED4-EE49-BEA8-E392499A9C0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310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31341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Complete Mediation </a:t>
            </a:r>
            <a:endParaRPr lang="en-US" sz="2400" dirty="0"/>
          </a:p>
        </p:txBody>
      </p:sp>
      <p:pic>
        <p:nvPicPr>
          <p:cNvPr id="11265" name="Picture 1" descr="page211image51806416">
            <a:extLst>
              <a:ext uri="{FF2B5EF4-FFF2-40B4-BE49-F238E27FC236}">
                <a16:creationId xmlns:a16="http://schemas.microsoft.com/office/drawing/2014/main" id="{B3D200A8-95CE-2F44-80E6-8895B59FC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949" y="1579459"/>
            <a:ext cx="3284214" cy="37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loud Callout 2">
            <a:extLst>
              <a:ext uri="{FF2B5EF4-FFF2-40B4-BE49-F238E27FC236}">
                <a16:creationId xmlns:a16="http://schemas.microsoft.com/office/drawing/2014/main" id="{56DFF4B4-14A5-A84A-B6F5-31D77B98C350}"/>
              </a:ext>
            </a:extLst>
          </p:cNvPr>
          <p:cNvSpPr/>
          <p:nvPr/>
        </p:nvSpPr>
        <p:spPr>
          <a:xfrm>
            <a:off x="1115122" y="2720898"/>
            <a:ext cx="3166946" cy="178419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Whats</a:t>
            </a:r>
            <a:r>
              <a:rPr lang="en-US" sz="2000" b="1" dirty="0"/>
              <a:t> wrong in this picture?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338AB7-F67E-9047-B9C5-49B1DB9AEEB6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104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31341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Complete Mediation 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82A911-1AB9-FC4C-ADE3-0DEA6990922F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982DE2-C575-9447-90DB-9FE1E7B3B472}"/>
              </a:ext>
            </a:extLst>
          </p:cNvPr>
          <p:cNvSpPr/>
          <p:nvPr/>
        </p:nvSpPr>
        <p:spPr>
          <a:xfrm>
            <a:off x="2521105" y="2159617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Not checking access rights each time a subject requests access to objects violates the principle of complete mediation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D425B-0292-9949-B874-AA4653B63626}"/>
              </a:ext>
            </a:extLst>
          </p:cNvPr>
          <p:cNvSpPr/>
          <p:nvPr/>
        </p:nvSpPr>
        <p:spPr>
          <a:xfrm>
            <a:off x="2521105" y="3458957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complete mediation design principle also addresses the failure to protect alternate path vulnerability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ADCBDC-37F6-DB4B-A52D-E84352E07C0C}"/>
              </a:ext>
            </a:extLst>
          </p:cNvPr>
          <p:cNvSpPr/>
          <p:nvPr/>
        </p:nvSpPr>
        <p:spPr>
          <a:xfrm>
            <a:off x="2521105" y="472298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Complete mediation also augments the protection against the </a:t>
            </a:r>
            <a:r>
              <a:rPr lang="en-US" i="1" dirty="0">
                <a:latin typeface="AGaramondPro"/>
              </a:rPr>
              <a:t>weakest link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5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079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Open Design </a:t>
            </a:r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57B08A-C9EA-8B43-BA3F-1044817C14CD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E868D4-B90E-8242-A71E-8B4D8626A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663" y="1579459"/>
            <a:ext cx="2400300" cy="3581400"/>
          </a:xfrm>
          <a:prstGeom prst="rect">
            <a:avLst/>
          </a:prstGeom>
        </p:spPr>
      </p:pic>
      <p:sp>
        <p:nvSpPr>
          <p:cNvPr id="13" name="Cloud Callout 12">
            <a:extLst>
              <a:ext uri="{FF2B5EF4-FFF2-40B4-BE49-F238E27FC236}">
                <a16:creationId xmlns:a16="http://schemas.microsoft.com/office/drawing/2014/main" id="{6A2B1483-2E79-AA49-8AA3-6DA18F6EDEAF}"/>
              </a:ext>
            </a:extLst>
          </p:cNvPr>
          <p:cNvSpPr/>
          <p:nvPr/>
        </p:nvSpPr>
        <p:spPr>
          <a:xfrm>
            <a:off x="2449069" y="1935590"/>
            <a:ext cx="3661273" cy="178419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000" b="1" i="1" dirty="0" err="1">
                <a:solidFill>
                  <a:schemeClr val="bg1"/>
                </a:solidFill>
                <a:latin typeface="AGaramondPro"/>
              </a:rPr>
              <a:t>Kerckhoff’s</a:t>
            </a:r>
            <a:r>
              <a:rPr lang="en-US" sz="2000" b="1" i="1" dirty="0">
                <a:solidFill>
                  <a:schemeClr val="bg1"/>
                </a:solidFill>
                <a:latin typeface="AGaramondPro"/>
              </a:rPr>
              <a:t> principle 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FEC597-29BB-FF4C-ABE9-EE7209F5FDC3}"/>
              </a:ext>
            </a:extLst>
          </p:cNvPr>
          <p:cNvSpPr/>
          <p:nvPr/>
        </p:nvSpPr>
        <p:spPr>
          <a:xfrm>
            <a:off x="566330" y="4302510"/>
            <a:ext cx="58344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All information about the crypto system is public knowledge except the key, and the security of the crypto system against cryptanalysis attacks is dependent on the secrecy of the key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80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079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Open Design 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C9D46-DBA0-DD4F-AB43-02652BF06242}"/>
              </a:ext>
            </a:extLst>
          </p:cNvPr>
          <p:cNvSpPr/>
          <p:nvPr/>
        </p:nvSpPr>
        <p:spPr>
          <a:xfrm>
            <a:off x="1606037" y="215961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security of your software should not be dependent on the </a:t>
            </a:r>
            <a:r>
              <a:rPr lang="en-US" i="1" dirty="0">
                <a:latin typeface="AGaramondPro"/>
              </a:rPr>
              <a:t>secrecy of the design </a:t>
            </a:r>
            <a:endParaRPr lang="en-US" dirty="0">
              <a:latin typeface="Arial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C4F6C7-3C13-7D43-BA82-7E7CFB261392}"/>
              </a:ext>
            </a:extLst>
          </p:cNvPr>
          <p:cNvSpPr/>
          <p:nvPr/>
        </p:nvSpPr>
        <p:spPr>
          <a:xfrm>
            <a:off x="1606037" y="3193519"/>
            <a:ext cx="45628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GaramondPro"/>
              </a:rPr>
              <a:t>Security through obscurity </a:t>
            </a:r>
            <a:r>
              <a:rPr lang="en-US" dirty="0">
                <a:latin typeface="AGaramondPro"/>
              </a:rPr>
              <a:t>should be avoided </a:t>
            </a:r>
            <a:endParaRPr lang="en-US" dirty="0">
              <a:latin typeface="ArialM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674FC4-32ED-9F45-9211-F83E75119DE7}"/>
              </a:ext>
            </a:extLst>
          </p:cNvPr>
          <p:cNvSpPr/>
          <p:nvPr/>
        </p:nvSpPr>
        <p:spPr>
          <a:xfrm>
            <a:off x="1566102" y="392916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design of protection mechanisms should be open for scrutiny by members of the community </a:t>
            </a:r>
            <a:endParaRPr lang="en-US" dirty="0">
              <a:latin typeface="ArialMT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DBD269A-123F-EF4E-BEE0-4028AFE05DA1}"/>
              </a:ext>
            </a:extLst>
          </p:cNvPr>
          <p:cNvSpPr/>
          <p:nvPr/>
        </p:nvSpPr>
        <p:spPr>
          <a:xfrm>
            <a:off x="2814778" y="1386873"/>
            <a:ext cx="1093344" cy="541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4244089" y="1441586"/>
            <a:ext cx="1924800" cy="461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The Opposite??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57B08A-C9EA-8B43-BA3F-1044817C14CD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4223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38232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MyriadPro"/>
              </a:rPr>
              <a:t>Least Common Mechanisms </a:t>
            </a:r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57B08A-C9EA-8B43-BA3F-1044817C14CD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E1E415-9DEC-3844-AC76-C317515DEC2B}"/>
              </a:ext>
            </a:extLst>
          </p:cNvPr>
          <p:cNvSpPr/>
          <p:nvPr/>
        </p:nvSpPr>
        <p:spPr>
          <a:xfrm>
            <a:off x="2257668" y="2159617"/>
            <a:ext cx="63956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The security principle by which mechanisms common to more than one user or process are designed not to be shared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1143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40575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Psychological Acceptability </a:t>
            </a:r>
            <a:endParaRPr lang="en-US" sz="2400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DBD269A-123F-EF4E-BEE0-4028AFE05DA1}"/>
              </a:ext>
            </a:extLst>
          </p:cNvPr>
          <p:cNvSpPr/>
          <p:nvPr/>
        </p:nvSpPr>
        <p:spPr>
          <a:xfrm>
            <a:off x="4483504" y="1317626"/>
            <a:ext cx="1227825" cy="580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6162036" y="1169431"/>
            <a:ext cx="2445306" cy="8571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When user feel that security is usually very complex </a:t>
            </a:r>
          </a:p>
        </p:txBody>
      </p:sp>
      <p:pic>
        <p:nvPicPr>
          <p:cNvPr id="14339" name="Picture 3" descr="page215image51832368">
            <a:extLst>
              <a:ext uri="{FF2B5EF4-FFF2-40B4-BE49-F238E27FC236}">
                <a16:creationId xmlns:a16="http://schemas.microsoft.com/office/drawing/2014/main" id="{ECD5D07E-C4D2-DF43-900A-137E6C9E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290" y="2128764"/>
            <a:ext cx="6531122" cy="150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5A189D0-4C2D-584C-8DEB-ABB5A598C871}"/>
              </a:ext>
            </a:extLst>
          </p:cNvPr>
          <p:cNvSpPr/>
          <p:nvPr/>
        </p:nvSpPr>
        <p:spPr>
          <a:xfrm>
            <a:off x="1923764" y="4070306"/>
            <a:ext cx="4953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aramondPro"/>
              </a:rPr>
              <a:t>are easy to use, </a:t>
            </a:r>
            <a:endParaRPr lang="en-US" sz="2000" b="1" dirty="0"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aramondPro"/>
              </a:rPr>
              <a:t>do not affect accessibility, and </a:t>
            </a:r>
            <a:endParaRPr lang="en-US" sz="2000" b="1" dirty="0"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aramondPro"/>
              </a:rPr>
              <a:t>are transparent to the user </a:t>
            </a:r>
            <a:endParaRPr lang="en-US" sz="2000" b="1" dirty="0">
              <a:latin typeface="ArialM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289197-2BAE-B142-B25D-CD5B6048940E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221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Weakest Link </a:t>
            </a:r>
            <a:endParaRPr lang="en-US" sz="2400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DBD269A-123F-EF4E-BEE0-4028AFE05DA1}"/>
              </a:ext>
            </a:extLst>
          </p:cNvPr>
          <p:cNvSpPr/>
          <p:nvPr/>
        </p:nvSpPr>
        <p:spPr>
          <a:xfrm>
            <a:off x="3194500" y="1348627"/>
            <a:ext cx="1227825" cy="580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4934210" y="1169431"/>
            <a:ext cx="3673132" cy="8571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“</a:t>
            </a:r>
            <a:r>
              <a:rPr lang="en-US" b="1" i="1" dirty="0"/>
              <a:t>A chain is only as strong as its weakest links.” 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207F4F-1EEF-9644-B761-7D631958B91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5A767B-C560-5D4D-A784-88FD04FC24EB}"/>
              </a:ext>
            </a:extLst>
          </p:cNvPr>
          <p:cNvSpPr/>
          <p:nvPr/>
        </p:nvSpPr>
        <p:spPr>
          <a:xfrm>
            <a:off x="1030377" y="4906880"/>
            <a:ext cx="32860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GaramondPro"/>
              </a:rPr>
              <a:t>“Single Point of Failure” </a:t>
            </a:r>
            <a:endParaRPr lang="en-US" sz="24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5D6300-178D-A148-A475-2C35BDDAE387}"/>
              </a:ext>
            </a:extLst>
          </p:cNvPr>
          <p:cNvSpPr/>
          <p:nvPr/>
        </p:nvSpPr>
        <p:spPr>
          <a:xfrm>
            <a:off x="2334583" y="551319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Software must be architected so that there is no single source of complete compromise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0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4844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Leveraging Existing Components </a:t>
            </a:r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207F4F-1EEF-9644-B761-7D631958B91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F07B83-A2C5-454D-BF0B-A6D8EDD8A405}"/>
              </a:ext>
            </a:extLst>
          </p:cNvPr>
          <p:cNvSpPr/>
          <p:nvPr/>
        </p:nvSpPr>
        <p:spPr>
          <a:xfrm>
            <a:off x="1785125" y="2159617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AGaramondPro"/>
              </a:rPr>
              <a:t>Service Oriented Architecture (SOA) is prevalent in today’s computing environment 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BE502C-5040-4E46-809E-16643CCBC874}"/>
              </a:ext>
            </a:extLst>
          </p:cNvPr>
          <p:cNvSpPr/>
          <p:nvPr/>
        </p:nvSpPr>
        <p:spPr>
          <a:xfrm>
            <a:off x="1785125" y="316271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Avoid custom implementations of cryptographic functionality are also determined often to be the weakest link.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C97DFF-9FE4-274C-9694-5A563036DB25}"/>
              </a:ext>
            </a:extLst>
          </p:cNvPr>
          <p:cNvSpPr/>
          <p:nvPr/>
        </p:nvSpPr>
        <p:spPr>
          <a:xfrm>
            <a:off x="1785125" y="462240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attack surface is not increased, and  no newer vulnerabilities are introduced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5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549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Interface Design </a:t>
            </a:r>
            <a:endParaRPr lang="en-US" sz="2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1511143" y="1894082"/>
            <a:ext cx="2336385" cy="722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User Interface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2041B2-B3DF-C54D-8BED-27ED97E07E6E}"/>
              </a:ext>
            </a:extLst>
          </p:cNvPr>
          <p:cNvSpPr/>
          <p:nvPr/>
        </p:nvSpPr>
        <p:spPr>
          <a:xfrm>
            <a:off x="2683676" y="300117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Abstractions using user interfaces are also a good defense against insider threats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B8793E-F925-8641-8F24-F9925ADBEF6F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A11086AA-57CE-3D4C-803D-19A284E592D0}"/>
              </a:ext>
            </a:extLst>
          </p:cNvPr>
          <p:cNvSpPr/>
          <p:nvPr/>
        </p:nvSpPr>
        <p:spPr>
          <a:xfrm>
            <a:off x="4761963" y="3989625"/>
            <a:ext cx="4855373" cy="178419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The Clark and Wilson security model </a:t>
            </a:r>
          </a:p>
        </p:txBody>
      </p:sp>
    </p:spTree>
    <p:extLst>
      <p:ext uri="{BB962C8B-B14F-4D97-AF65-F5344CB8AC3E}">
        <p14:creationId xmlns:p14="http://schemas.microsoft.com/office/powerpoint/2010/main" val="240910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549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Interface Design </a:t>
            </a:r>
            <a:endParaRPr lang="en-US" sz="24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037D9CC-1939-3A4F-B297-979B7A733FCB}"/>
              </a:ext>
            </a:extLst>
          </p:cNvPr>
          <p:cNvSpPr/>
          <p:nvPr/>
        </p:nvSpPr>
        <p:spPr>
          <a:xfrm>
            <a:off x="1242202" y="2431817"/>
            <a:ext cx="4306751" cy="8215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MyriadPro"/>
              </a:rPr>
              <a:t>Application Programming Interfaces (API)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B8793E-F925-8641-8F24-F9925ADBEF6F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103BCD-7278-5F4D-AE3F-514AE8CC0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30" y="3253364"/>
            <a:ext cx="3606358" cy="199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7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549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Interface Design </a:t>
            </a:r>
            <a:endParaRPr lang="en-US" sz="2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1511143" y="1810292"/>
            <a:ext cx="2793228" cy="8064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Out-of-Band Interface </a:t>
            </a:r>
            <a:endParaRPr lang="en-US" dirty="0">
              <a:effectLst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037D9CC-1939-3A4F-B297-979B7A733FCB}"/>
              </a:ext>
            </a:extLst>
          </p:cNvPr>
          <p:cNvSpPr/>
          <p:nvPr/>
        </p:nvSpPr>
        <p:spPr>
          <a:xfrm>
            <a:off x="1511143" y="3264069"/>
            <a:ext cx="1990340" cy="7312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Log Interfaces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3E5867-5DE0-4944-A54B-8DB89BE1E847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D826C9-E26E-4448-BE44-05FFC818F8A0}"/>
              </a:ext>
            </a:extLst>
          </p:cNvPr>
          <p:cNvSpPr/>
          <p:nvPr/>
        </p:nvSpPr>
        <p:spPr>
          <a:xfrm>
            <a:off x="1414925" y="4863450"/>
            <a:ext cx="4173116" cy="7312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MyriadPro"/>
              </a:rPr>
              <a:t>Security Management Interfaces (SMI)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63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1FF49C-7D8D-2543-B900-EB16002B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44BC34-9729-1546-AD5D-2992931B4064}"/>
              </a:ext>
            </a:extLst>
          </p:cNvPr>
          <p:cNvSpPr/>
          <p:nvPr/>
        </p:nvSpPr>
        <p:spPr>
          <a:xfrm>
            <a:off x="248499" y="545739"/>
            <a:ext cx="53935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MyriadPro"/>
              </a:rPr>
              <a:t>Balancing Secure Design Principles 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C8541F-A022-7743-83C9-E1F6E0327227}"/>
              </a:ext>
            </a:extLst>
          </p:cNvPr>
          <p:cNvSpPr/>
          <p:nvPr/>
        </p:nvSpPr>
        <p:spPr>
          <a:xfrm>
            <a:off x="1115122" y="2462628"/>
            <a:ext cx="74295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AGaramondPro"/>
              </a:rPr>
              <a:t>“SSO can heighten user experience and increase psychological acceptability, it contradicts the principle of complete mediation and so a business decision is necessary to determine the extent to which SSO is designed into the software or to determine that it is not even an option to consider "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50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4A25E3-BB95-6A45-8AFB-29A84851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CF080D-52B6-5D44-9693-D310BB81BD33}"/>
              </a:ext>
            </a:extLst>
          </p:cNvPr>
          <p:cNvSpPr/>
          <p:nvPr/>
        </p:nvSpPr>
        <p:spPr>
          <a:xfrm>
            <a:off x="248499" y="545739"/>
            <a:ext cx="27964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MyriadPro"/>
              </a:rPr>
              <a:t>Design Processes 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1127B9-C390-F142-A26F-E872DD0D8677}"/>
              </a:ext>
            </a:extLst>
          </p:cNvPr>
          <p:cNvSpPr/>
          <p:nvPr/>
        </p:nvSpPr>
        <p:spPr>
          <a:xfrm>
            <a:off x="1398202" y="1473071"/>
            <a:ext cx="64076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When you are designing software with security in mind, certain security processes need to be established and completed 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4C7E78-F304-8940-9937-CFD45BE42766}"/>
              </a:ext>
            </a:extLst>
          </p:cNvPr>
          <p:cNvSpPr/>
          <p:nvPr/>
        </p:nvSpPr>
        <p:spPr>
          <a:xfrm>
            <a:off x="1546593" y="2628761"/>
            <a:ext cx="3055434" cy="558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Attack surface evaluation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FEECBC-DE0A-C849-8066-8717B464EFEB}"/>
              </a:ext>
            </a:extLst>
          </p:cNvPr>
          <p:cNvSpPr/>
          <p:nvPr/>
        </p:nvSpPr>
        <p:spPr>
          <a:xfrm>
            <a:off x="1646702" y="359154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measure of its exposure of being exploited by a threat agent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4A25E3-BB95-6A45-8AFB-29A84851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CF080D-52B6-5D44-9693-D310BB81BD33}"/>
              </a:ext>
            </a:extLst>
          </p:cNvPr>
          <p:cNvSpPr/>
          <p:nvPr/>
        </p:nvSpPr>
        <p:spPr>
          <a:xfrm>
            <a:off x="248499" y="545739"/>
            <a:ext cx="27964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MyriadPro"/>
              </a:rPr>
              <a:t>Design Processes </a:t>
            </a:r>
            <a:endParaRPr lang="en-US" sz="28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EE69C1-3BFA-5446-817A-1FB0F81781BE}"/>
              </a:ext>
            </a:extLst>
          </p:cNvPr>
          <p:cNvSpPr/>
          <p:nvPr/>
        </p:nvSpPr>
        <p:spPr>
          <a:xfrm>
            <a:off x="395927" y="1134147"/>
            <a:ext cx="4065609" cy="558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Relative attack surface quotient </a:t>
            </a:r>
            <a:r>
              <a:rPr lang="en-US" b="1" dirty="0">
                <a:latin typeface="AGaramondPro"/>
              </a:rPr>
              <a:t>(RASQ) 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94F2C7-D737-BD4D-A1CC-DAB3A0E82809}"/>
              </a:ext>
            </a:extLst>
          </p:cNvPr>
          <p:cNvSpPr/>
          <p:nvPr/>
        </p:nvSpPr>
        <p:spPr>
          <a:xfrm>
            <a:off x="4655174" y="180486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Microsoft Cyber Security Program Manager Michael  Howard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683747-EF0D-8C48-8E78-FDA0A5F05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57" y="2748743"/>
            <a:ext cx="5813097" cy="2781050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3585C5-ECA3-874F-9534-49BAF722AACC}"/>
              </a:ext>
            </a:extLst>
          </p:cNvPr>
          <p:cNvSpPr/>
          <p:nvPr/>
        </p:nvSpPr>
        <p:spPr>
          <a:xfrm>
            <a:off x="5840391" y="3978266"/>
            <a:ext cx="4065609" cy="558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Not Isolation, But </a:t>
            </a:r>
            <a:r>
              <a:rPr lang="en-US" b="1" i="1" dirty="0" err="1">
                <a:latin typeface="AGaramondPro"/>
              </a:rPr>
              <a:t>Comparsion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317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4A25E3-BB95-6A45-8AFB-29A84851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CF080D-52B6-5D44-9693-D310BB81BD33}"/>
              </a:ext>
            </a:extLst>
          </p:cNvPr>
          <p:cNvSpPr/>
          <p:nvPr/>
        </p:nvSpPr>
        <p:spPr>
          <a:xfrm>
            <a:off x="248499" y="545739"/>
            <a:ext cx="27964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MyriadPro"/>
              </a:rPr>
              <a:t>Design Processes </a:t>
            </a:r>
            <a:endParaRPr lang="en-US" sz="28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EE69C1-3BFA-5446-817A-1FB0F81781BE}"/>
              </a:ext>
            </a:extLst>
          </p:cNvPr>
          <p:cNvSpPr/>
          <p:nvPr/>
        </p:nvSpPr>
        <p:spPr>
          <a:xfrm>
            <a:off x="707899" y="1486533"/>
            <a:ext cx="4065609" cy="558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Relative attack surface quotient </a:t>
            </a:r>
            <a:r>
              <a:rPr lang="en-US" b="1" dirty="0">
                <a:latin typeface="AGaramondPro"/>
              </a:rPr>
              <a:t>(RASQ) 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D886A8-D688-DE46-88D8-08065BCA60F4}"/>
              </a:ext>
            </a:extLst>
          </p:cNvPr>
          <p:cNvSpPr/>
          <p:nvPr/>
        </p:nvSpPr>
        <p:spPr>
          <a:xfrm>
            <a:off x="1646702" y="3676042"/>
            <a:ext cx="79210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The relative </a:t>
            </a:r>
            <a:r>
              <a:rPr lang="en-US" dirty="0" err="1">
                <a:latin typeface="AGaramondPro"/>
              </a:rPr>
              <a:t>attackability</a:t>
            </a:r>
            <a:r>
              <a:rPr lang="en-US" dirty="0">
                <a:latin typeface="AGaramondPro"/>
              </a:rPr>
              <a:t>” or likely opportunities for attack against software in comparison to a baseline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7624F-0350-ED43-B08D-0C685BDE50B6}"/>
              </a:ext>
            </a:extLst>
          </p:cNvPr>
          <p:cNvSpPr/>
          <p:nvPr/>
        </p:nvSpPr>
        <p:spPr>
          <a:xfrm>
            <a:off x="1646702" y="2462779"/>
            <a:ext cx="7486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</a:t>
            </a:r>
            <a:r>
              <a:rPr lang="en-US" dirty="0" err="1"/>
              <a:t>doesnt</a:t>
            </a:r>
            <a:r>
              <a:rPr lang="en-US" dirty="0"/>
              <a:t> say “Is this system secure?”</a:t>
            </a:r>
            <a:br>
              <a:rPr lang="en-US" dirty="0"/>
            </a:br>
            <a:r>
              <a:rPr lang="en-US" dirty="0"/>
              <a:t>It says        “Which one is more exposed to attacks  and by how much?”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638596E-488B-A547-9085-8DDB03D29131}"/>
              </a:ext>
            </a:extLst>
          </p:cNvPr>
          <p:cNvSpPr/>
          <p:nvPr/>
        </p:nvSpPr>
        <p:spPr>
          <a:xfrm>
            <a:off x="2161975" y="5297076"/>
            <a:ext cx="5594289" cy="558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“More doors in a house mean more places to lock.”</a:t>
            </a:r>
          </a:p>
        </p:txBody>
      </p:sp>
    </p:spTree>
    <p:extLst>
      <p:ext uri="{BB962C8B-B14F-4D97-AF65-F5344CB8AC3E}">
        <p14:creationId xmlns:p14="http://schemas.microsoft.com/office/powerpoint/2010/main" val="99492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4" grpId="0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2223183</TotalTime>
  <Words>1031</Words>
  <Application>Microsoft Macintosh PowerPoint</Application>
  <PresentationFormat>A4 Paper (210x297 mm)</PresentationFormat>
  <Paragraphs>199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Adobe Gothic Std B</vt:lpstr>
      <vt:lpstr>AGaramondPro</vt:lpstr>
      <vt:lpstr>ArialMT</vt:lpstr>
      <vt:lpstr>DengXian</vt:lpstr>
      <vt:lpstr>DengXian</vt:lpstr>
      <vt:lpstr>等线 Light</vt:lpstr>
      <vt:lpstr>MyriadPro</vt:lpstr>
      <vt:lpstr>SimSun</vt:lpstr>
      <vt:lpstr>Arial</vt:lpstr>
      <vt:lpstr>Calibri</vt:lpstr>
      <vt:lpstr>Consolas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773</cp:revision>
  <cp:lastPrinted>2025-01-23T10:52:12Z</cp:lastPrinted>
  <dcterms:created xsi:type="dcterms:W3CDTF">2018-07-17T04:46:00Z</dcterms:created>
  <dcterms:modified xsi:type="dcterms:W3CDTF">2026-02-10T10:24:03Z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