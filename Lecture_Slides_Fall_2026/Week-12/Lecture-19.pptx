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80" r:id="rId2"/>
    <p:sldId id="747" r:id="rId3"/>
    <p:sldId id="748" r:id="rId4"/>
    <p:sldId id="752" r:id="rId5"/>
    <p:sldId id="728" r:id="rId6"/>
    <p:sldId id="729" r:id="rId7"/>
    <p:sldId id="730" r:id="rId8"/>
    <p:sldId id="737" r:id="rId9"/>
    <p:sldId id="749" r:id="rId10"/>
    <p:sldId id="750" r:id="rId11"/>
    <p:sldId id="731" r:id="rId12"/>
    <p:sldId id="751" r:id="rId13"/>
    <p:sldId id="732" r:id="rId14"/>
    <p:sldId id="733" r:id="rId15"/>
    <p:sldId id="734" r:id="rId16"/>
    <p:sldId id="735" r:id="rId17"/>
    <p:sldId id="736" r:id="rId18"/>
    <p:sldId id="738" r:id="rId19"/>
    <p:sldId id="739" r:id="rId20"/>
    <p:sldId id="740" r:id="rId21"/>
    <p:sldId id="741" r:id="rId22"/>
    <p:sldId id="742" r:id="rId23"/>
    <p:sldId id="743" r:id="rId24"/>
    <p:sldId id="744" r:id="rId25"/>
    <p:sldId id="745" r:id="rId26"/>
    <p:sldId id="746" r:id="rId27"/>
    <p:sldId id="372" r:id="rId28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747"/>
            <p14:sldId id="748"/>
            <p14:sldId id="752"/>
            <p14:sldId id="728"/>
            <p14:sldId id="729"/>
            <p14:sldId id="730"/>
            <p14:sldId id="737"/>
            <p14:sldId id="749"/>
            <p14:sldId id="750"/>
            <p14:sldId id="731"/>
            <p14:sldId id="751"/>
            <p14:sldId id="732"/>
            <p14:sldId id="733"/>
            <p14:sldId id="734"/>
            <p14:sldId id="735"/>
            <p14:sldId id="736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566" autoAdjust="0"/>
    <p:restoredTop sz="92895" autoAdjust="0"/>
  </p:normalViewPr>
  <p:slideViewPr>
    <p:cSldViewPr snapToGrid="0">
      <p:cViewPr varScale="1">
        <p:scale>
          <a:sx n="57" d="100"/>
          <a:sy n="57" d="100"/>
        </p:scale>
        <p:origin x="200" y="176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r.com/" TargetMode="External"/><Relationship Id="rId2" Type="http://schemas.openxmlformats.org/officeDocument/2006/relationships/hyperlink" Target="http://www.foo.com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5312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spc="-40" dirty="0">
              <a:latin typeface="Lato"/>
              <a:cs typeface="Lato"/>
            </a:endParaRPr>
          </a:p>
          <a:p>
            <a:pPr algn="ctr">
              <a:buNone/>
            </a:pPr>
            <a:r>
              <a:rPr lang="en-US" b="1" spc="-40" dirty="0">
                <a:solidFill>
                  <a:schemeClr val="bg2">
                    <a:lumMod val="50000"/>
                  </a:schemeClr>
                </a:solidFill>
                <a:latin typeface="Lato"/>
                <a:cs typeface="Lato"/>
              </a:rPr>
              <a:t>Dynamic Taint Analysis: A Case/Research Study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Lato"/>
              <a:cs typeface="Lato"/>
            </a:endParaRPr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5" y="1284843"/>
            <a:ext cx="4933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0E521-21A3-C540-A06F-B47FD1A6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8B7AA-EF96-FE48-85DA-03F101A59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1892300"/>
            <a:ext cx="5080000" cy="307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4CB5EC-4FA5-384F-A8B0-DF409478D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2" y="1298271"/>
            <a:ext cx="844550" cy="844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81A569-3B19-BF41-86E3-A887A03A51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2" y="4965700"/>
            <a:ext cx="1320800" cy="10644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55FF4E-9FC0-EA43-8A79-F18BA6DA40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801" y="1298271"/>
            <a:ext cx="1995814" cy="11214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3623E7-935D-E842-87E7-A2C422D896E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3" t="13117" r="19616" b="26883"/>
          <a:stretch/>
        </p:blipFill>
        <p:spPr>
          <a:xfrm>
            <a:off x="7493000" y="4595012"/>
            <a:ext cx="1923615" cy="14402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F626D4-AD84-FA4A-AD45-5E69B8C4F6E2}"/>
              </a:ext>
            </a:extLst>
          </p:cNvPr>
          <p:cNvSpPr txBox="1"/>
          <p:nvPr/>
        </p:nvSpPr>
        <p:spPr>
          <a:xfrm>
            <a:off x="0" y="4657923"/>
            <a:ext cx="3344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Courier" pitchFamily="2" charset="0"/>
              </a:rPr>
              <a:t>document.cookie</a:t>
            </a:r>
            <a:r>
              <a:rPr lang="en-US" sz="1400" b="1" dirty="0">
                <a:latin typeface="Courier" pitchFamily="2" charset="0"/>
              </a:rPr>
              <a:t>(read, write)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FF238-585A-2944-8B50-0D439BAEA181}"/>
              </a:ext>
            </a:extLst>
          </p:cNvPr>
          <p:cNvSpPr txBox="1"/>
          <p:nvPr/>
        </p:nvSpPr>
        <p:spPr>
          <a:xfrm>
            <a:off x="1672225" y="1540701"/>
            <a:ext cx="133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&gt; 50%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FA91EC-B89C-3A44-B8D5-883C77D1246F}"/>
              </a:ext>
            </a:extLst>
          </p:cNvPr>
          <p:cNvSpPr txBox="1"/>
          <p:nvPr/>
        </p:nvSpPr>
        <p:spPr>
          <a:xfrm>
            <a:off x="7208468" y="4071792"/>
            <a:ext cx="3344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Courier" pitchFamily="2" charset="0"/>
              </a:rPr>
              <a:t>localstorage.getitem</a:t>
            </a:r>
            <a:endParaRPr lang="en-US" sz="1400" b="1" dirty="0">
              <a:latin typeface="Courier" pitchFamily="2" charset="0"/>
            </a:endParaRPr>
          </a:p>
          <a:p>
            <a:r>
              <a:rPr lang="en-US" sz="1400" b="1" dirty="0" err="1">
                <a:latin typeface="Courier" pitchFamily="2" charset="0"/>
              </a:rPr>
              <a:t>localstorage.setitem</a:t>
            </a:r>
            <a:endParaRPr lang="en-US" sz="1400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5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B27F77-533A-5B44-A2F2-90990822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30BC2-5415-A743-B273-C2E51B7F29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98"/>
          <a:stretch/>
        </p:blipFill>
        <p:spPr>
          <a:xfrm>
            <a:off x="1335011" y="1007908"/>
            <a:ext cx="4166839" cy="5036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617CCF-601E-CB4A-893F-43105B6147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87" r="22050"/>
          <a:stretch/>
        </p:blipFill>
        <p:spPr>
          <a:xfrm>
            <a:off x="5501850" y="1007908"/>
            <a:ext cx="1494263" cy="5036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3B2B8-84E6-1E41-959B-9A8FD85E1F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83"/>
          <a:stretch/>
        </p:blipFill>
        <p:spPr>
          <a:xfrm>
            <a:off x="6996113" y="1007908"/>
            <a:ext cx="1542585" cy="503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4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37DC8B-BA57-C444-84CD-A7B71EFA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A1907-6866-BC49-A1FD-AD28A4EE6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85" y="1465254"/>
            <a:ext cx="7496153" cy="40336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AC52EF-628B-A942-980D-952B32A4832D}"/>
              </a:ext>
            </a:extLst>
          </p:cNvPr>
          <p:cNvSpPr/>
          <p:nvPr/>
        </p:nvSpPr>
        <p:spPr>
          <a:xfrm>
            <a:off x="256943" y="470963"/>
            <a:ext cx="65913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-40" dirty="0"/>
              <a:t>How Web </a:t>
            </a:r>
            <a:r>
              <a:rPr lang="en-US" sz="2800" b="1" dirty="0"/>
              <a:t>Storage</a:t>
            </a:r>
            <a:r>
              <a:rPr lang="en-US" sz="2800" b="1" spc="-434" dirty="0"/>
              <a:t> </a:t>
            </a:r>
            <a:r>
              <a:rPr lang="en-US" sz="2800" b="1" spc="40" dirty="0"/>
              <a:t>look like in Chrome?</a:t>
            </a:r>
            <a:endParaRPr lang="en-US" sz="28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783AD8-949C-304D-B4B1-674B3F31A997}"/>
              </a:ext>
            </a:extLst>
          </p:cNvPr>
          <p:cNvSpPr/>
          <p:nvPr/>
        </p:nvSpPr>
        <p:spPr>
          <a:xfrm>
            <a:off x="1344705" y="2173045"/>
            <a:ext cx="978946" cy="559398"/>
          </a:xfrm>
          <a:prstGeom prst="ellipse">
            <a:avLst/>
          </a:prstGeom>
          <a:solidFill>
            <a:schemeClr val="bg1">
              <a:alpha val="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5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F2F8D2-E494-D948-BBA2-A6F883C3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E007C0-C923-964C-9151-F82F61E27F52}"/>
              </a:ext>
            </a:extLst>
          </p:cNvPr>
          <p:cNvSpPr/>
          <p:nvPr/>
        </p:nvSpPr>
        <p:spPr>
          <a:xfrm>
            <a:off x="513885" y="1128612"/>
            <a:ext cx="4953000" cy="6591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11785" indent="-299720">
              <a:lnSpc>
                <a:spcPct val="100000"/>
              </a:lnSpc>
              <a:spcBef>
                <a:spcPts val="195"/>
              </a:spcBef>
              <a:buChar char="-"/>
              <a:tabLst>
                <a:tab pos="311150" algn="l"/>
                <a:tab pos="312420" algn="l"/>
              </a:tabLst>
            </a:pP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Only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accessible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via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JavaScript</a:t>
            </a:r>
            <a:endParaRPr lang="en-US" dirty="0">
              <a:latin typeface="Lato"/>
              <a:cs typeface="Lato"/>
            </a:endParaRPr>
          </a:p>
          <a:p>
            <a:pPr marL="311785" indent="-299720">
              <a:lnSpc>
                <a:spcPct val="100000"/>
              </a:lnSpc>
              <a:spcBef>
                <a:spcPts val="95"/>
              </a:spcBef>
              <a:buChar char="-"/>
              <a:tabLst>
                <a:tab pos="311150" algn="l"/>
                <a:tab pos="312420" algn="l"/>
              </a:tabLst>
            </a:pP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Key-value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store</a:t>
            </a:r>
            <a:r>
              <a:rPr lang="en-US" spc="-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model</a:t>
            </a:r>
            <a:endParaRPr lang="en-US" dirty="0">
              <a:latin typeface="Lato"/>
              <a:cs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C1C55E-E436-7043-9CDE-9862F200FE20}"/>
              </a:ext>
            </a:extLst>
          </p:cNvPr>
          <p:cNvSpPr/>
          <p:nvPr/>
        </p:nvSpPr>
        <p:spPr>
          <a:xfrm>
            <a:off x="513885" y="1867207"/>
            <a:ext cx="5786707" cy="659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4005" indent="-281940">
              <a:lnSpc>
                <a:spcPct val="100000"/>
              </a:lnSpc>
              <a:spcBef>
                <a:spcPts val="170"/>
              </a:spcBef>
              <a:buFont typeface="Lato"/>
              <a:buChar char="-"/>
              <a:tabLst>
                <a:tab pos="294005" algn="l"/>
                <a:tab pos="294640" algn="l"/>
              </a:tabLst>
            </a:pPr>
            <a:r>
              <a:rPr lang="en-US" spc="-5" dirty="0" err="1">
                <a:solidFill>
                  <a:srgbClr val="424242"/>
                </a:solidFill>
                <a:latin typeface="Courier New"/>
                <a:cs typeface="Courier New"/>
              </a:rPr>
              <a:t>getItem</a:t>
            </a:r>
            <a:r>
              <a:rPr lang="en-US" spc="-5" dirty="0">
                <a:solidFill>
                  <a:srgbClr val="424242"/>
                </a:solidFill>
                <a:latin typeface="Courier New"/>
                <a:cs typeface="Courier New"/>
              </a:rPr>
              <a:t>(k)</a:t>
            </a:r>
            <a:r>
              <a:rPr lang="en-US" spc="-49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gets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value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associated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with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key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Courier New"/>
                <a:cs typeface="Courier New"/>
              </a:rPr>
              <a:t>k</a:t>
            </a:r>
            <a:endParaRPr lang="en-US" dirty="0">
              <a:latin typeface="Courier New"/>
              <a:cs typeface="Courier New"/>
            </a:endParaRPr>
          </a:p>
          <a:p>
            <a:pPr marL="294005" indent="-281940">
              <a:lnSpc>
                <a:spcPct val="100000"/>
              </a:lnSpc>
              <a:spcBef>
                <a:spcPts val="70"/>
              </a:spcBef>
              <a:buFont typeface="Lato"/>
              <a:buChar char="-"/>
              <a:tabLst>
                <a:tab pos="294005" algn="l"/>
                <a:tab pos="294640" algn="l"/>
              </a:tabLst>
            </a:pPr>
            <a:r>
              <a:rPr lang="en-US" spc="-5" dirty="0" err="1">
                <a:solidFill>
                  <a:srgbClr val="424242"/>
                </a:solidFill>
                <a:latin typeface="Courier New"/>
                <a:cs typeface="Courier New"/>
              </a:rPr>
              <a:t>setItem</a:t>
            </a:r>
            <a:r>
              <a:rPr lang="en-US" spc="-5" dirty="0">
                <a:solidFill>
                  <a:srgbClr val="424242"/>
                </a:solidFill>
                <a:latin typeface="Courier New"/>
                <a:cs typeface="Courier New"/>
              </a:rPr>
              <a:t>(</a:t>
            </a:r>
            <a:r>
              <a:rPr lang="en-US" spc="-5" dirty="0" err="1">
                <a:solidFill>
                  <a:srgbClr val="424242"/>
                </a:solidFill>
                <a:latin typeface="Courier New"/>
                <a:cs typeface="Courier New"/>
              </a:rPr>
              <a:t>k,v</a:t>
            </a:r>
            <a:r>
              <a:rPr lang="en-US" spc="-5" dirty="0">
                <a:solidFill>
                  <a:srgbClr val="424242"/>
                </a:solidFill>
                <a:latin typeface="Courier New"/>
                <a:cs typeface="Courier New"/>
              </a:rPr>
              <a:t>)</a:t>
            </a:r>
            <a:r>
              <a:rPr lang="en-US" spc="-49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stores</a:t>
            </a:r>
            <a:r>
              <a:rPr lang="en-US" spc="-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string</a:t>
            </a:r>
            <a:r>
              <a:rPr lang="en-US" spc="-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Courier New"/>
                <a:cs typeface="Courier New"/>
              </a:rPr>
              <a:t>v</a:t>
            </a:r>
            <a:r>
              <a:rPr lang="en-US" spc="-49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bound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to</a:t>
            </a:r>
            <a:r>
              <a:rPr lang="en-US" spc="-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pc="-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key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Courier New"/>
                <a:cs typeface="Courier New"/>
              </a:rPr>
              <a:t>k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6F7A68-8908-B344-A76B-CD3B5E416AE4}"/>
              </a:ext>
            </a:extLst>
          </p:cNvPr>
          <p:cNvSpPr/>
          <p:nvPr/>
        </p:nvSpPr>
        <p:spPr>
          <a:xfrm>
            <a:off x="792988" y="2638308"/>
            <a:ext cx="2362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1150" algn="l"/>
              </a:tabLst>
            </a:pPr>
            <a:r>
              <a:rPr lang="en-US" spc="-40" dirty="0">
                <a:solidFill>
                  <a:srgbClr val="424242"/>
                </a:solidFill>
                <a:latin typeface="Lato"/>
                <a:cs typeface="Lato"/>
              </a:rPr>
              <a:t>-	</a:t>
            </a:r>
            <a:r>
              <a:rPr lang="en-US" spc="-55" dirty="0">
                <a:solidFill>
                  <a:srgbClr val="424242"/>
                </a:solidFill>
                <a:latin typeface="Lato"/>
                <a:cs typeface="Lato"/>
              </a:rPr>
              <a:t>Two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types </a:t>
            </a:r>
            <a:r>
              <a:rPr lang="en-US" spc="-20" dirty="0">
                <a:solidFill>
                  <a:srgbClr val="424242"/>
                </a:solidFill>
                <a:latin typeface="Lato"/>
                <a:cs typeface="Lato"/>
              </a:rPr>
              <a:t>of</a:t>
            </a:r>
            <a:r>
              <a:rPr lang="en-US" spc="-2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storage</a:t>
            </a:r>
            <a:endParaRPr lang="en-US" dirty="0">
              <a:latin typeface="Lato"/>
              <a:cs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670F4C-B6F8-6646-A40B-8F7BFC021DC7}"/>
              </a:ext>
            </a:extLst>
          </p:cNvPr>
          <p:cNvSpPr/>
          <p:nvPr/>
        </p:nvSpPr>
        <p:spPr>
          <a:xfrm>
            <a:off x="82875" y="3119586"/>
            <a:ext cx="4953000" cy="1318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68985" indent="-281940">
              <a:lnSpc>
                <a:spcPct val="100000"/>
              </a:lnSpc>
              <a:spcBef>
                <a:spcPts val="100"/>
              </a:spcBef>
              <a:buFont typeface="Lato"/>
              <a:buChar char="-"/>
              <a:tabLst>
                <a:tab pos="768350" algn="l"/>
                <a:tab pos="768985" algn="l"/>
              </a:tabLst>
            </a:pPr>
            <a:r>
              <a:rPr lang="en-US" spc="-5" dirty="0" err="1">
                <a:solidFill>
                  <a:srgbClr val="424242"/>
                </a:solidFill>
                <a:latin typeface="Courier New"/>
                <a:cs typeface="Courier New"/>
              </a:rPr>
              <a:t>localStorage</a:t>
            </a:r>
            <a:r>
              <a:rPr lang="en-US" spc="-49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persists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data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indeﬁnitely</a:t>
            </a:r>
            <a:endParaRPr lang="en-US" dirty="0">
              <a:latin typeface="Lato"/>
              <a:cs typeface="Lato"/>
            </a:endParaRPr>
          </a:p>
          <a:p>
            <a:pPr marL="768985" indent="-281940">
              <a:lnSpc>
                <a:spcPct val="100000"/>
              </a:lnSpc>
              <a:spcBef>
                <a:spcPts val="70"/>
              </a:spcBef>
              <a:buFont typeface="Lato"/>
              <a:buChar char="-"/>
              <a:tabLst>
                <a:tab pos="768350" algn="l"/>
                <a:tab pos="768985" algn="l"/>
              </a:tabLst>
            </a:pPr>
            <a:r>
              <a:rPr lang="en-US" spc="-5" dirty="0" err="1">
                <a:solidFill>
                  <a:srgbClr val="424242"/>
                </a:solidFill>
                <a:latin typeface="Courier New"/>
                <a:cs typeface="Courier New"/>
              </a:rPr>
              <a:t>sessionStorage</a:t>
            </a:r>
            <a:r>
              <a:rPr lang="en-US" spc="-495" dirty="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maintains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data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until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browser</a:t>
            </a:r>
            <a:r>
              <a:rPr lang="en-US" spc="-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is</a:t>
            </a:r>
            <a:r>
              <a:rPr lang="en-US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closed</a:t>
            </a:r>
            <a:endParaRPr lang="en-US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311150" algn="l"/>
              </a:tabLst>
            </a:pPr>
            <a:r>
              <a:rPr lang="en-US" sz="2400" spc="-40" dirty="0">
                <a:solidFill>
                  <a:srgbClr val="424242"/>
                </a:solidFill>
                <a:latin typeface="Lato"/>
                <a:cs typeface="Lato"/>
              </a:rPr>
              <a:t>-	</a:t>
            </a:r>
            <a:r>
              <a:rPr lang="en-US" sz="2400" spc="5" dirty="0">
                <a:solidFill>
                  <a:srgbClr val="424242"/>
                </a:solidFill>
                <a:latin typeface="Lato"/>
                <a:cs typeface="Lato"/>
              </a:rPr>
              <a:t>Protected</a:t>
            </a:r>
            <a:r>
              <a:rPr lang="en-US" sz="2400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2400" spc="-15" dirty="0">
                <a:solidFill>
                  <a:srgbClr val="424242"/>
                </a:solidFill>
                <a:latin typeface="Lato"/>
                <a:cs typeface="Lato"/>
              </a:rPr>
              <a:t>by</a:t>
            </a:r>
            <a:r>
              <a:rPr lang="en-US" sz="24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2400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z="24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2400" u="sng" spc="-5" dirty="0">
                <a:solidFill>
                  <a:srgbClr val="424242"/>
                </a:solidFill>
                <a:latin typeface="Lato"/>
                <a:cs typeface="Lato"/>
              </a:rPr>
              <a:t>Same</a:t>
            </a:r>
            <a:r>
              <a:rPr lang="en-US" sz="2400" u="sng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2400" u="sng" spc="15" dirty="0">
                <a:solidFill>
                  <a:srgbClr val="424242"/>
                </a:solidFill>
                <a:latin typeface="Lato"/>
                <a:cs typeface="Lato"/>
              </a:rPr>
              <a:t>Origin</a:t>
            </a:r>
            <a:r>
              <a:rPr lang="en-US" sz="2400" u="sng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2400" u="sng" dirty="0">
                <a:solidFill>
                  <a:srgbClr val="424242"/>
                </a:solidFill>
                <a:latin typeface="Lato"/>
                <a:cs typeface="Lato"/>
              </a:rPr>
              <a:t>Policy</a:t>
            </a:r>
            <a:endParaRPr lang="en-US" sz="2400" u="sng" dirty="0">
              <a:latin typeface="Lato"/>
              <a:cs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F84FCB-DDE1-6D4C-86B5-B1D9E5DD698B}"/>
              </a:ext>
            </a:extLst>
          </p:cNvPr>
          <p:cNvSpPr/>
          <p:nvPr/>
        </p:nvSpPr>
        <p:spPr>
          <a:xfrm>
            <a:off x="3933107" y="4750258"/>
            <a:ext cx="83548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>
              <a:lnSpc>
                <a:spcPct val="100000"/>
              </a:lnSpc>
              <a:spcBef>
                <a:spcPts val="625"/>
              </a:spcBef>
            </a:pPr>
            <a:r>
              <a:rPr lang="en-US" spc="-5" dirty="0" err="1">
                <a:latin typeface="Courier New"/>
                <a:cs typeface="Courier New"/>
              </a:rPr>
              <a:t>sessionStorage.setItem</a:t>
            </a:r>
            <a:r>
              <a:rPr lang="en-US" spc="-5" dirty="0">
                <a:latin typeface="Courier New"/>
                <a:cs typeface="Courier New"/>
              </a:rPr>
              <a:t>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'name'</a:t>
            </a:r>
            <a:r>
              <a:rPr lang="en-US" spc="-5" dirty="0">
                <a:latin typeface="Courier New"/>
                <a:cs typeface="Courier New"/>
              </a:rPr>
              <a:t>, 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-5" dirty="0" err="1">
                <a:solidFill>
                  <a:srgbClr val="FF0000"/>
                </a:solidFill>
                <a:latin typeface="Courier New"/>
                <a:cs typeface="Courier New"/>
              </a:rPr>
              <a:t>alice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-5" dirty="0">
                <a:latin typeface="Courier New"/>
                <a:cs typeface="Courier New"/>
              </a:rPr>
              <a:t>);</a:t>
            </a:r>
            <a:endParaRPr lang="en-US" dirty="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lang="en-US" b="1" spc="-5" dirty="0" err="1">
                <a:latin typeface="Courier New"/>
                <a:cs typeface="Courier New"/>
              </a:rPr>
              <a:t>var</a:t>
            </a:r>
            <a:r>
              <a:rPr lang="en-US" b="1" spc="-5" dirty="0">
                <a:latin typeface="Courier New"/>
                <a:cs typeface="Courier New"/>
              </a:rPr>
              <a:t> </a:t>
            </a:r>
            <a:r>
              <a:rPr lang="en-US" spc="-5" dirty="0">
                <a:latin typeface="Courier New"/>
                <a:cs typeface="Courier New"/>
              </a:rPr>
              <a:t>n =</a:t>
            </a:r>
            <a:r>
              <a:rPr lang="en-US" spc="-10" dirty="0">
                <a:latin typeface="Courier New"/>
                <a:cs typeface="Courier New"/>
              </a:rPr>
              <a:t> </a:t>
            </a:r>
            <a:r>
              <a:rPr lang="en-US" spc="-5" dirty="0" err="1">
                <a:latin typeface="Courier New"/>
                <a:cs typeface="Courier New"/>
              </a:rPr>
              <a:t>sessionStorage.getItem</a:t>
            </a:r>
            <a:r>
              <a:rPr lang="en-US" spc="-5" dirty="0">
                <a:latin typeface="Courier New"/>
                <a:cs typeface="Courier New"/>
              </a:rPr>
              <a:t>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'name'</a:t>
            </a:r>
            <a:r>
              <a:rPr lang="en-US" spc="-5" dirty="0">
                <a:latin typeface="Courier New"/>
                <a:cs typeface="Courier New"/>
              </a:rPr>
              <a:t>);  </a:t>
            </a:r>
          </a:p>
          <a:p>
            <a:pPr marL="85725">
              <a:lnSpc>
                <a:spcPct val="100000"/>
              </a:lnSpc>
            </a:pPr>
            <a:r>
              <a:rPr lang="en-US" spc="-5" dirty="0" err="1">
                <a:latin typeface="Courier New"/>
                <a:cs typeface="Courier New"/>
              </a:rPr>
              <a:t>console.log</a:t>
            </a:r>
            <a:r>
              <a:rPr lang="en-US" spc="-5" dirty="0">
                <a:latin typeface="Courier New"/>
                <a:cs typeface="Courier New"/>
              </a:rPr>
              <a:t>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"My name is " </a:t>
            </a:r>
            <a:r>
              <a:rPr lang="en-US" spc="-5" dirty="0">
                <a:latin typeface="Courier New"/>
                <a:cs typeface="Courier New"/>
              </a:rPr>
              <a:t>+</a:t>
            </a:r>
            <a:r>
              <a:rPr lang="en-US" spc="25" dirty="0">
                <a:latin typeface="Courier New"/>
                <a:cs typeface="Courier New"/>
              </a:rPr>
              <a:t> </a:t>
            </a:r>
            <a:r>
              <a:rPr lang="en-US" spc="-5" dirty="0">
                <a:latin typeface="Courier New"/>
                <a:cs typeface="Courier New"/>
              </a:rPr>
              <a:t>n);</a:t>
            </a:r>
            <a:endParaRPr lang="en-US" dirty="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lang="en-US" spc="-5" dirty="0">
                <a:solidFill>
                  <a:srgbClr val="38751C"/>
                </a:solidFill>
                <a:latin typeface="Courier New"/>
                <a:cs typeface="Courier New"/>
              </a:rPr>
              <a:t>// Output: My name is </a:t>
            </a:r>
            <a:r>
              <a:rPr lang="en-US" spc="-5" dirty="0" err="1">
                <a:solidFill>
                  <a:srgbClr val="38751C"/>
                </a:solidFill>
                <a:latin typeface="Courier New"/>
                <a:cs typeface="Courier New"/>
              </a:rPr>
              <a:t>alice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69EA3-D08D-0249-8531-6C82661A23CE}"/>
              </a:ext>
            </a:extLst>
          </p:cNvPr>
          <p:cNvSpPr/>
          <p:nvPr/>
        </p:nvSpPr>
        <p:spPr>
          <a:xfrm>
            <a:off x="256943" y="470963"/>
            <a:ext cx="28986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-40" dirty="0"/>
              <a:t>Web </a:t>
            </a:r>
            <a:r>
              <a:rPr lang="en-US" sz="2800" b="1" dirty="0"/>
              <a:t>Storage</a:t>
            </a:r>
            <a:r>
              <a:rPr lang="en-US" sz="2800" b="1" spc="-434" dirty="0"/>
              <a:t> </a:t>
            </a:r>
            <a:r>
              <a:rPr lang="en-US" sz="2800" b="1" spc="40" dirty="0"/>
              <a:t>API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4956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E7B94-196A-EF4F-96E1-9CCE9DE1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C9BE5-4669-694D-96B0-E3ECFB2CB88C}"/>
              </a:ext>
            </a:extLst>
          </p:cNvPr>
          <p:cNvSpPr/>
          <p:nvPr/>
        </p:nvSpPr>
        <p:spPr>
          <a:xfrm>
            <a:off x="985902" y="1370643"/>
            <a:ext cx="7429500" cy="3749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>
              <a:lnSpc>
                <a:spcPct val="100000"/>
              </a:lnSpc>
              <a:spcBef>
                <a:spcPts val="1215"/>
              </a:spcBef>
            </a:pPr>
            <a:r>
              <a:rPr lang="en-US" i="1" spc="-25" dirty="0">
                <a:solidFill>
                  <a:srgbClr val="424242"/>
                </a:solidFill>
                <a:latin typeface="Lato"/>
                <a:cs typeface="Lato"/>
              </a:rPr>
              <a:t>“Web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-20" dirty="0">
                <a:solidFill>
                  <a:srgbClr val="424242"/>
                </a:solidFill>
                <a:latin typeface="Lato"/>
                <a:cs typeface="Lato"/>
              </a:rPr>
              <a:t>Storage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dirty="0">
                <a:solidFill>
                  <a:srgbClr val="424242"/>
                </a:solidFill>
                <a:latin typeface="Lato"/>
                <a:cs typeface="Lato"/>
              </a:rPr>
              <a:t>is</a:t>
            </a:r>
            <a:r>
              <a:rPr lang="en-US" i="1" spc="-7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-5" dirty="0">
                <a:solidFill>
                  <a:srgbClr val="424242"/>
                </a:solidFill>
                <a:latin typeface="Lato"/>
                <a:cs typeface="Lato"/>
              </a:rPr>
              <a:t>only</a:t>
            </a:r>
            <a:r>
              <a:rPr lang="en-US" i="1" spc="-7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-10" dirty="0">
                <a:solidFill>
                  <a:srgbClr val="424242"/>
                </a:solidFill>
                <a:latin typeface="Lato"/>
                <a:cs typeface="Lato"/>
              </a:rPr>
              <a:t>accessible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5" dirty="0">
                <a:solidFill>
                  <a:srgbClr val="424242"/>
                </a:solidFill>
                <a:latin typeface="Lato"/>
                <a:cs typeface="Lato"/>
              </a:rPr>
              <a:t>via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-20" dirty="0">
                <a:solidFill>
                  <a:srgbClr val="424242"/>
                </a:solidFill>
                <a:latin typeface="Lato"/>
                <a:cs typeface="Lato"/>
              </a:rPr>
              <a:t>JavaScript.”</a:t>
            </a:r>
            <a:endParaRPr lang="en-US" dirty="0">
              <a:latin typeface="Lato"/>
              <a:cs typeface="Lato"/>
            </a:endParaRPr>
          </a:p>
          <a:p>
            <a:pPr marL="25400" marR="1136650">
              <a:lnSpc>
                <a:spcPct val="156500"/>
              </a:lnSpc>
            </a:pP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most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practical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monitoring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strategy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for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information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ﬂow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control.  </a:t>
            </a:r>
            <a:r>
              <a:rPr lang="en-US" spc="35" dirty="0">
                <a:solidFill>
                  <a:srgbClr val="424242"/>
                </a:solidFill>
                <a:latin typeface="Lato"/>
                <a:cs typeface="Lato"/>
              </a:rPr>
              <a:t>It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detects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only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explicit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ﬂows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</a:p>
          <a:p>
            <a:pPr marL="25400" marR="1136650">
              <a:lnSpc>
                <a:spcPct val="156500"/>
              </a:lnSpc>
            </a:pP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Each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value/variable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is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annotated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with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20" dirty="0">
                <a:solidFill>
                  <a:srgbClr val="424242"/>
                </a:solidFill>
                <a:latin typeface="Lato"/>
                <a:cs typeface="Lato"/>
              </a:rPr>
              <a:t>its</a:t>
            </a:r>
            <a:r>
              <a:rPr lang="en-US" spc="-12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b="1" spc="15" dirty="0">
                <a:solidFill>
                  <a:srgbClr val="424242"/>
                </a:solidFill>
                <a:latin typeface="Lato"/>
                <a:cs typeface="Lato"/>
              </a:rPr>
              <a:t>taint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,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which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is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20" dirty="0">
                <a:solidFill>
                  <a:srgbClr val="424242"/>
                </a:solidFill>
                <a:latin typeface="Lato"/>
                <a:cs typeface="Lato"/>
              </a:rPr>
              <a:t>a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set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of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labels.</a:t>
            </a:r>
            <a:endParaRPr lang="en-US" dirty="0">
              <a:latin typeface="Lato"/>
              <a:cs typeface="Lato"/>
            </a:endParaRPr>
          </a:p>
          <a:p>
            <a:pPr marL="25400" marR="1136650">
              <a:lnSpc>
                <a:spcPct val="156500"/>
              </a:lnSpc>
            </a:pPr>
            <a:r>
              <a:rPr lang="en-US" sz="1400" spc="-5" dirty="0">
                <a:solidFill>
                  <a:srgbClr val="1F2123"/>
                </a:solidFill>
                <a:latin typeface="Lato"/>
                <a:cs typeface="Courier New"/>
              </a:rPr>
              <a:t>	</a:t>
            </a:r>
            <a:r>
              <a:rPr lang="en-US" sz="1400" spc="-5" dirty="0" err="1">
                <a:solidFill>
                  <a:srgbClr val="1F2123"/>
                </a:solidFill>
                <a:latin typeface="Courier New"/>
                <a:cs typeface="Courier New"/>
              </a:rPr>
              <a:t>localStorage.getItem</a:t>
            </a:r>
            <a:r>
              <a:rPr lang="en-US" sz="1400" spc="-5" dirty="0">
                <a:solidFill>
                  <a:srgbClr val="1F2123"/>
                </a:solidFill>
                <a:latin typeface="Courier New"/>
                <a:cs typeface="Courier New"/>
              </a:rPr>
              <a:t>(</a:t>
            </a:r>
            <a:r>
              <a:rPr lang="en-US" sz="1200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z="1400" spc="-5" dirty="0">
                <a:solidFill>
                  <a:srgbClr val="FF0000"/>
                </a:solidFill>
                <a:latin typeface="Courier New"/>
                <a:cs typeface="Courier New"/>
              </a:rPr>
              <a:t>secret</a:t>
            </a:r>
            <a:r>
              <a:rPr lang="en-US" sz="1200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z="1400" spc="-5" dirty="0">
                <a:solidFill>
                  <a:srgbClr val="1F2123"/>
                </a:solidFill>
                <a:latin typeface="Courier New"/>
                <a:cs typeface="Courier New"/>
              </a:rPr>
              <a:t>) </a:t>
            </a:r>
            <a:r>
              <a:rPr lang="en-US" spc="15" dirty="0">
                <a:solidFill>
                  <a:srgbClr val="1F2121"/>
                </a:solidFill>
                <a:latin typeface="Arial"/>
                <a:cs typeface="Arial"/>
              </a:rPr>
              <a:t>→</a:t>
            </a:r>
            <a:r>
              <a:rPr lang="en-US" spc="310" dirty="0">
                <a:solidFill>
                  <a:srgbClr val="1F2121"/>
                </a:solidFill>
                <a:latin typeface="Arial"/>
                <a:cs typeface="Arial"/>
              </a:rPr>
              <a:t> </a:t>
            </a:r>
            <a:r>
              <a:rPr lang="en-US" sz="1200" spc="20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z="1400" spc="20" dirty="0">
                <a:solidFill>
                  <a:srgbClr val="FF0000"/>
                </a:solidFill>
                <a:latin typeface="Courier New"/>
                <a:cs typeface="Courier New"/>
              </a:rPr>
              <a:t>foo</a:t>
            </a:r>
            <a:r>
              <a:rPr lang="en-US" sz="1200" spc="20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30" baseline="30303" dirty="0">
                <a:solidFill>
                  <a:srgbClr val="1F2123"/>
                </a:solidFill>
                <a:latin typeface="RobotoRegular"/>
                <a:cs typeface="RobotoRegular"/>
              </a:rPr>
              <a:t>{</a:t>
            </a:r>
            <a:r>
              <a:rPr lang="en-US" spc="30" baseline="30303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pc="30" baseline="30303" dirty="0">
                <a:solidFill>
                  <a:srgbClr val="1F2123"/>
                </a:solidFill>
                <a:latin typeface="RobotoRegular"/>
                <a:cs typeface="RobotoRegular"/>
              </a:rPr>
              <a:t>}</a:t>
            </a:r>
            <a:endParaRPr lang="en-US" baseline="30303" dirty="0">
              <a:latin typeface="RobotoRegular"/>
              <a:cs typeface="RobotoRegular"/>
            </a:endParaRPr>
          </a:p>
          <a:p>
            <a:pPr marL="482600" indent="-302260">
              <a:lnSpc>
                <a:spcPts val="1945"/>
              </a:lnSpc>
              <a:spcBef>
                <a:spcPts val="1115"/>
              </a:spcBef>
              <a:buChar char="-"/>
              <a:tabLst>
                <a:tab pos="481965" algn="l"/>
                <a:tab pos="482600" algn="l"/>
              </a:tabLst>
            </a:pP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A</a:t>
            </a:r>
            <a:r>
              <a:rPr lang="en-US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b="1" spc="25" dirty="0">
                <a:solidFill>
                  <a:srgbClr val="424242"/>
                </a:solidFill>
                <a:latin typeface="Lato"/>
                <a:cs typeface="Lato"/>
              </a:rPr>
              <a:t>label</a:t>
            </a:r>
            <a:r>
              <a:rPr lang="en-US" b="1" spc="-7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is</a:t>
            </a:r>
            <a:r>
              <a:rPr lang="en-US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20" dirty="0">
                <a:solidFill>
                  <a:srgbClr val="424242"/>
                </a:solidFill>
                <a:latin typeface="Lato"/>
                <a:cs typeface="Lato"/>
              </a:rPr>
              <a:t>a</a:t>
            </a:r>
            <a:r>
              <a:rPr lang="en-US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25" dirty="0">
                <a:solidFill>
                  <a:srgbClr val="424242"/>
                </a:solidFill>
                <a:latin typeface="Lato"/>
                <a:cs typeface="Lato"/>
              </a:rPr>
              <a:t>triple</a:t>
            </a:r>
            <a:r>
              <a:rPr lang="en-US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-10" dirty="0">
                <a:solidFill>
                  <a:srgbClr val="424242"/>
                </a:solidFill>
                <a:latin typeface="Lato"/>
                <a:cs typeface="Lato"/>
              </a:rPr>
              <a:t>(</a:t>
            </a:r>
            <a:r>
              <a:rPr lang="en-US" i="1" spc="-10" dirty="0" err="1">
                <a:solidFill>
                  <a:srgbClr val="424242"/>
                </a:solidFill>
                <a:latin typeface="Lato"/>
                <a:cs typeface="Lato"/>
              </a:rPr>
              <a:t>type,location,extra</a:t>
            </a:r>
            <a:r>
              <a:rPr lang="en-US" i="1" spc="-10" dirty="0">
                <a:solidFill>
                  <a:srgbClr val="424242"/>
                </a:solidFill>
                <a:latin typeface="Lato"/>
                <a:cs typeface="Lato"/>
              </a:rPr>
              <a:t>)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and</a:t>
            </a:r>
            <a:r>
              <a:rPr lang="en-US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represents</a:t>
            </a:r>
            <a:r>
              <a:rPr lang="en-US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an</a:t>
            </a:r>
            <a:r>
              <a:rPr lang="en-US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0" dirty="0">
                <a:solidFill>
                  <a:srgbClr val="424242"/>
                </a:solidFill>
                <a:latin typeface="Lato"/>
                <a:cs typeface="Lato"/>
              </a:rPr>
              <a:t>executed</a:t>
            </a:r>
            <a:r>
              <a:rPr lang="en-US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instruction</a:t>
            </a:r>
          </a:p>
          <a:p>
            <a:pPr marL="482600" indent="-302260">
              <a:lnSpc>
                <a:spcPts val="1945"/>
              </a:lnSpc>
              <a:spcBef>
                <a:spcPts val="1115"/>
              </a:spcBef>
              <a:buChar char="-"/>
              <a:tabLst>
                <a:tab pos="481965" algn="l"/>
                <a:tab pos="482600" algn="l"/>
              </a:tabLst>
            </a:pPr>
            <a:endParaRPr lang="en-US" dirty="0">
              <a:latin typeface="Lato"/>
              <a:cs typeface="Lato"/>
            </a:endParaRPr>
          </a:p>
          <a:p>
            <a:pPr marL="654050">
              <a:lnSpc>
                <a:spcPts val="1525"/>
              </a:lnSpc>
              <a:tabLst>
                <a:tab pos="939165" algn="l"/>
              </a:tabLst>
            </a:pPr>
            <a:r>
              <a:rPr lang="en-US" sz="1400" spc="-35" dirty="0">
                <a:solidFill>
                  <a:srgbClr val="424242"/>
                </a:solidFill>
                <a:latin typeface="Lato"/>
                <a:cs typeface="Lato"/>
              </a:rPr>
              <a:t>-	</a:t>
            </a:r>
            <a:r>
              <a:rPr lang="en-US" sz="1400" spc="-25" dirty="0">
                <a:solidFill>
                  <a:srgbClr val="424242"/>
                </a:solidFill>
                <a:latin typeface="Lato"/>
                <a:cs typeface="Lato"/>
              </a:rPr>
              <a:t>e.g.,</a:t>
            </a:r>
            <a:r>
              <a:rPr lang="en-US" sz="1400" spc="-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400" spc="225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400" spc="-75" dirty="0">
                <a:solidFill>
                  <a:srgbClr val="1F2123"/>
                </a:solidFill>
                <a:latin typeface="FreeSerif"/>
                <a:cs typeface="FreeSerif"/>
              </a:rPr>
              <a:t> </a:t>
            </a:r>
            <a:r>
              <a:rPr lang="en-US" sz="1400" spc="-5" dirty="0">
                <a:solidFill>
                  <a:srgbClr val="1F2123"/>
                </a:solidFill>
                <a:latin typeface="Lato"/>
                <a:cs typeface="Lato"/>
              </a:rPr>
              <a:t>=</a:t>
            </a:r>
            <a:r>
              <a:rPr lang="en-US" sz="1400" spc="-8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1400" i="1" spc="-20" dirty="0">
                <a:solidFill>
                  <a:srgbClr val="1F2123"/>
                </a:solidFill>
                <a:latin typeface="Lato"/>
                <a:cs typeface="Lato"/>
              </a:rPr>
              <a:t>(“</a:t>
            </a:r>
            <a:r>
              <a:rPr lang="en-US" sz="1400" i="1" spc="-20" dirty="0" err="1">
                <a:solidFill>
                  <a:srgbClr val="1F2123"/>
                </a:solidFill>
                <a:latin typeface="Lato"/>
                <a:cs typeface="Lato"/>
              </a:rPr>
              <a:t>getItem</a:t>
            </a:r>
            <a:r>
              <a:rPr lang="en-US" sz="1400" i="1" spc="-20" dirty="0">
                <a:solidFill>
                  <a:srgbClr val="1F2123"/>
                </a:solidFill>
                <a:latin typeface="Lato"/>
                <a:cs typeface="Lato"/>
              </a:rPr>
              <a:t>”,</a:t>
            </a:r>
            <a:r>
              <a:rPr lang="en-US" sz="1400" i="1" spc="-55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1400" i="1" spc="-35" dirty="0">
                <a:solidFill>
                  <a:srgbClr val="1F2123"/>
                </a:solidFill>
                <a:latin typeface="Lato"/>
                <a:cs typeface="Lato"/>
              </a:rPr>
              <a:t>“https://</a:t>
            </a:r>
            <a:r>
              <a:rPr lang="en-US" sz="1400" i="1" spc="-35" dirty="0" err="1">
                <a:solidFill>
                  <a:srgbClr val="1F2123"/>
                </a:solidFill>
                <a:latin typeface="Lato"/>
                <a:cs typeface="Lato"/>
              </a:rPr>
              <a:t>www.foo.com</a:t>
            </a:r>
            <a:r>
              <a:rPr lang="en-US" sz="1400" i="1" spc="-35" dirty="0">
                <a:solidFill>
                  <a:srgbClr val="1F2123"/>
                </a:solidFill>
                <a:latin typeface="Lato"/>
                <a:cs typeface="Lato"/>
              </a:rPr>
              <a:t>/script.js:40:16”,</a:t>
            </a:r>
            <a:r>
              <a:rPr lang="en-US" sz="1400" i="1" spc="-55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1400" i="1" spc="-25" dirty="0">
                <a:solidFill>
                  <a:srgbClr val="1F2123"/>
                </a:solidFill>
                <a:latin typeface="Lato"/>
                <a:cs typeface="Lato"/>
              </a:rPr>
              <a:t>[“</a:t>
            </a:r>
            <a:r>
              <a:rPr lang="en-US" sz="1400" i="1" spc="-25" dirty="0" err="1">
                <a:solidFill>
                  <a:srgbClr val="1F2123"/>
                </a:solidFill>
                <a:latin typeface="Lato"/>
                <a:cs typeface="Lato"/>
              </a:rPr>
              <a:t>localStorage</a:t>
            </a:r>
            <a:r>
              <a:rPr lang="en-US" sz="1400" i="1" spc="-25" dirty="0">
                <a:solidFill>
                  <a:srgbClr val="1F2123"/>
                </a:solidFill>
                <a:latin typeface="Lato"/>
                <a:cs typeface="Lato"/>
              </a:rPr>
              <a:t>”,</a:t>
            </a:r>
            <a:r>
              <a:rPr lang="en-US" sz="1400" i="1" spc="-55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1400" i="1" spc="-20" dirty="0">
                <a:solidFill>
                  <a:srgbClr val="1F2123"/>
                </a:solidFill>
                <a:latin typeface="Lato"/>
                <a:cs typeface="Lato"/>
              </a:rPr>
              <a:t>“secret”])</a:t>
            </a:r>
            <a:endParaRPr lang="en-US" sz="1400" dirty="0">
              <a:latin typeface="Lato"/>
              <a:cs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6ECB1-D3E5-C946-AA6B-D763DFE61313}"/>
              </a:ext>
            </a:extLst>
          </p:cNvPr>
          <p:cNvSpPr/>
          <p:nvPr/>
        </p:nvSpPr>
        <p:spPr>
          <a:xfrm>
            <a:off x="248680" y="501134"/>
            <a:ext cx="23817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-60" dirty="0"/>
              <a:t>Taint</a:t>
            </a:r>
            <a:r>
              <a:rPr lang="en-US" sz="2800" b="1" spc="-265" dirty="0"/>
              <a:t> </a:t>
            </a:r>
            <a:r>
              <a:rPr lang="en-US" sz="2800" b="1" spc="20" dirty="0"/>
              <a:t>tracking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0191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ECE804-19E0-C245-87FD-2EB56ACE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0058E-5534-2D49-B74C-CDB61A993198}"/>
              </a:ext>
            </a:extLst>
          </p:cNvPr>
          <p:cNvSpPr/>
          <p:nvPr/>
        </p:nvSpPr>
        <p:spPr>
          <a:xfrm>
            <a:off x="568829" y="1528434"/>
            <a:ext cx="8656134" cy="246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240" indent="-307975">
              <a:lnSpc>
                <a:spcPct val="100000"/>
              </a:lnSpc>
              <a:spcBef>
                <a:spcPts val="420"/>
              </a:spcBef>
              <a:buChar char="-"/>
              <a:tabLst>
                <a:tab pos="396240" algn="l"/>
                <a:tab pos="396875" algn="l"/>
              </a:tabLst>
            </a:pP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A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b="1" spc="5" dirty="0">
                <a:solidFill>
                  <a:srgbClr val="424242"/>
                </a:solidFill>
                <a:latin typeface="Lato"/>
                <a:cs typeface="Lato"/>
              </a:rPr>
              <a:t>source</a:t>
            </a:r>
            <a:r>
              <a:rPr lang="en-US" b="1" spc="-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generates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a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tainted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value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0" dirty="0">
                <a:solidFill>
                  <a:srgbClr val="424242"/>
                </a:solidFill>
                <a:latin typeface="Lato"/>
                <a:cs typeface="Lato"/>
              </a:rPr>
              <a:t>(i.e.,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whose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set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25" dirty="0">
                <a:solidFill>
                  <a:srgbClr val="424242"/>
                </a:solidFill>
                <a:latin typeface="Lato"/>
                <a:cs typeface="Lato"/>
              </a:rPr>
              <a:t>of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labels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is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not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empty)</a:t>
            </a:r>
            <a:endParaRPr lang="en-US" dirty="0">
              <a:latin typeface="Lato"/>
              <a:cs typeface="Lato"/>
            </a:endParaRPr>
          </a:p>
          <a:p>
            <a:pPr marL="853440" lvl="1" indent="-290830">
              <a:lnSpc>
                <a:spcPct val="100000"/>
              </a:lnSpc>
              <a:spcBef>
                <a:spcPts val="325"/>
              </a:spcBef>
              <a:buChar char="-"/>
              <a:tabLst>
                <a:tab pos="853440" algn="l"/>
                <a:tab pos="854075" algn="l"/>
              </a:tabLst>
            </a:pPr>
            <a:r>
              <a:rPr lang="en-US" sz="1400" spc="-25" dirty="0">
                <a:solidFill>
                  <a:srgbClr val="424242"/>
                </a:solidFill>
                <a:latin typeface="Lato"/>
                <a:cs typeface="Lato"/>
              </a:rPr>
              <a:t>e.g., </a:t>
            </a:r>
            <a:r>
              <a:rPr lang="en-US" sz="1400" spc="-5" dirty="0" err="1">
                <a:solidFill>
                  <a:srgbClr val="1F2123"/>
                </a:solidFill>
                <a:latin typeface="Courier New"/>
                <a:cs typeface="Courier New"/>
              </a:rPr>
              <a:t>localStorage.getItem</a:t>
            </a:r>
            <a:r>
              <a:rPr lang="en-US" sz="1400" spc="-5" dirty="0">
                <a:solidFill>
                  <a:srgbClr val="1F2123"/>
                </a:solidFill>
                <a:latin typeface="Courier New"/>
                <a:cs typeface="Courier New"/>
              </a:rPr>
              <a:t>(</a:t>
            </a:r>
            <a:r>
              <a:rPr lang="en-US" sz="1400" spc="-5" dirty="0">
                <a:solidFill>
                  <a:srgbClr val="FF0000"/>
                </a:solidFill>
                <a:latin typeface="Courier New"/>
                <a:cs typeface="Courier New"/>
              </a:rPr>
              <a:t>'secret'</a:t>
            </a:r>
            <a:r>
              <a:rPr lang="en-US" sz="1400" spc="-5" dirty="0">
                <a:solidFill>
                  <a:srgbClr val="1F2123"/>
                </a:solidFill>
                <a:latin typeface="Courier New"/>
                <a:cs typeface="Courier New"/>
              </a:rPr>
              <a:t>) </a:t>
            </a:r>
            <a:r>
              <a:rPr lang="en-US" dirty="0">
                <a:solidFill>
                  <a:srgbClr val="1F2121"/>
                </a:solidFill>
                <a:latin typeface="Arial"/>
                <a:cs typeface="Arial"/>
              </a:rPr>
              <a:t>→</a:t>
            </a:r>
            <a:r>
              <a:rPr lang="en-US" spc="275" dirty="0">
                <a:solidFill>
                  <a:srgbClr val="1F2121"/>
                </a:solidFill>
                <a:latin typeface="Arial"/>
                <a:cs typeface="Arial"/>
              </a:rPr>
              <a:t> </a:t>
            </a:r>
            <a:r>
              <a:rPr lang="en-US" sz="1400" spc="20" dirty="0">
                <a:solidFill>
                  <a:srgbClr val="FF0000"/>
                </a:solidFill>
                <a:latin typeface="Courier New"/>
                <a:cs typeface="Courier New"/>
              </a:rPr>
              <a:t>'foo'</a:t>
            </a:r>
            <a:r>
              <a:rPr lang="en-US" sz="1350" spc="30" baseline="30864" dirty="0">
                <a:solidFill>
                  <a:srgbClr val="1F2123"/>
                </a:solidFill>
                <a:latin typeface="RobotoRegular"/>
                <a:cs typeface="RobotoRegular"/>
              </a:rPr>
              <a:t>{</a:t>
            </a:r>
            <a:r>
              <a:rPr lang="en-US" sz="1350" spc="30" baseline="30864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350" spc="30" baseline="30864" dirty="0">
                <a:solidFill>
                  <a:srgbClr val="1F2123"/>
                </a:solidFill>
                <a:latin typeface="RobotoRegular"/>
                <a:cs typeface="RobotoRegular"/>
              </a:rPr>
              <a:t>}</a:t>
            </a:r>
            <a:endParaRPr lang="en-US" sz="1350" baseline="30864" dirty="0">
              <a:latin typeface="RobotoRegular"/>
              <a:cs typeface="RobotoRegular"/>
            </a:endParaRPr>
          </a:p>
          <a:p>
            <a:pPr marL="396240" indent="-307975">
              <a:lnSpc>
                <a:spcPct val="100000"/>
              </a:lnSpc>
              <a:spcBef>
                <a:spcPts val="325"/>
              </a:spcBef>
              <a:buChar char="-"/>
              <a:tabLst>
                <a:tab pos="396240" algn="l"/>
                <a:tab pos="396875" algn="l"/>
              </a:tabLst>
            </a:pP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pc="-12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taint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b="1" spc="5" dirty="0">
                <a:solidFill>
                  <a:srgbClr val="424242"/>
                </a:solidFill>
                <a:latin typeface="Lato"/>
                <a:cs typeface="Lato"/>
              </a:rPr>
              <a:t>propagates</a:t>
            </a:r>
            <a:r>
              <a:rPr lang="en-US" b="1" spc="-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through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data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dependencies</a:t>
            </a:r>
            <a:endParaRPr lang="en-US" dirty="0">
              <a:latin typeface="Lato"/>
              <a:cs typeface="Lato"/>
            </a:endParaRPr>
          </a:p>
          <a:p>
            <a:pPr marL="853440" lvl="1" indent="-290830">
              <a:lnSpc>
                <a:spcPct val="100000"/>
              </a:lnSpc>
              <a:spcBef>
                <a:spcPts val="325"/>
              </a:spcBef>
              <a:buChar char="-"/>
              <a:tabLst>
                <a:tab pos="853440" algn="l"/>
                <a:tab pos="854075" algn="l"/>
              </a:tabLst>
            </a:pPr>
            <a:r>
              <a:rPr lang="en-US" sz="1400" spc="-25" dirty="0">
                <a:solidFill>
                  <a:srgbClr val="424242"/>
                </a:solidFill>
                <a:latin typeface="Lato"/>
                <a:cs typeface="Lato"/>
              </a:rPr>
              <a:t>e.g., </a:t>
            </a:r>
            <a:r>
              <a:rPr lang="en-US" sz="1400" spc="20" dirty="0">
                <a:solidFill>
                  <a:srgbClr val="FF0000"/>
                </a:solidFill>
                <a:latin typeface="Courier New"/>
                <a:cs typeface="Courier New"/>
              </a:rPr>
              <a:t>'foo'</a:t>
            </a:r>
            <a:r>
              <a:rPr lang="en-US" sz="1350" spc="30" baseline="30864" dirty="0">
                <a:solidFill>
                  <a:srgbClr val="1F2123"/>
                </a:solidFill>
                <a:latin typeface="RobotoRegular"/>
                <a:cs typeface="RobotoRegular"/>
              </a:rPr>
              <a:t>{</a:t>
            </a:r>
            <a:r>
              <a:rPr lang="en-US" sz="1350" spc="30" baseline="30864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350" spc="30" baseline="30864" dirty="0">
                <a:solidFill>
                  <a:srgbClr val="1F2123"/>
                </a:solidFill>
                <a:latin typeface="RobotoRegular"/>
                <a:cs typeface="RobotoRegular"/>
              </a:rPr>
              <a:t>} </a:t>
            </a:r>
            <a:r>
              <a:rPr lang="en-US" sz="1400" spc="-5" dirty="0">
                <a:solidFill>
                  <a:srgbClr val="1F2123"/>
                </a:solidFill>
                <a:latin typeface="Courier New"/>
                <a:cs typeface="Courier New"/>
              </a:rPr>
              <a:t>+ </a:t>
            </a:r>
            <a:r>
              <a:rPr lang="en-US" sz="1400" spc="-5" dirty="0">
                <a:solidFill>
                  <a:srgbClr val="FF0000"/>
                </a:solidFill>
                <a:latin typeface="Courier New"/>
                <a:cs typeface="Courier New"/>
              </a:rPr>
              <a:t>' is the secret </a:t>
            </a:r>
            <a:r>
              <a:rPr lang="en-US" sz="1400" spc="15" dirty="0">
                <a:solidFill>
                  <a:srgbClr val="FF0000"/>
                </a:solidFill>
                <a:latin typeface="Courier New"/>
                <a:cs typeface="Courier New"/>
              </a:rPr>
              <a:t>word'</a:t>
            </a:r>
            <a:r>
              <a:rPr lang="en-US" sz="1350" spc="22" baseline="30864" dirty="0">
                <a:solidFill>
                  <a:srgbClr val="1F2123"/>
                </a:solidFill>
                <a:latin typeface="RobotoRegular"/>
                <a:cs typeface="RobotoRegular"/>
              </a:rPr>
              <a:t>{</a:t>
            </a:r>
            <a:r>
              <a:rPr lang="en-US" sz="1350" spc="22" baseline="30864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350" spc="22" baseline="30864" dirty="0">
                <a:solidFill>
                  <a:srgbClr val="1F2123"/>
                </a:solidFill>
                <a:latin typeface="RobotoRegular"/>
                <a:cs typeface="RobotoRegular"/>
              </a:rPr>
              <a:t>’} </a:t>
            </a:r>
            <a:r>
              <a:rPr lang="en-US" dirty="0">
                <a:solidFill>
                  <a:srgbClr val="1F2121"/>
                </a:solidFill>
                <a:latin typeface="Arial"/>
                <a:cs typeface="Arial"/>
              </a:rPr>
              <a:t>→ </a:t>
            </a:r>
            <a:r>
              <a:rPr lang="en-US" sz="1400" spc="-5" dirty="0">
                <a:solidFill>
                  <a:srgbClr val="FF0000"/>
                </a:solidFill>
                <a:latin typeface="Courier New"/>
                <a:cs typeface="Courier New"/>
              </a:rPr>
              <a:t>'foo is the secret</a:t>
            </a:r>
            <a:r>
              <a:rPr lang="en-US" sz="1400" spc="-3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en-US" sz="1400" spc="30" dirty="0">
                <a:solidFill>
                  <a:srgbClr val="FF0000"/>
                </a:solidFill>
                <a:latin typeface="Courier New"/>
                <a:cs typeface="Courier New"/>
              </a:rPr>
              <a:t>word'</a:t>
            </a:r>
            <a:r>
              <a:rPr lang="en-US" sz="1350" spc="44" baseline="30864" dirty="0">
                <a:solidFill>
                  <a:srgbClr val="1F2123"/>
                </a:solidFill>
                <a:latin typeface="RobotoRegular"/>
                <a:cs typeface="RobotoRegular"/>
              </a:rPr>
              <a:t>{</a:t>
            </a:r>
            <a:r>
              <a:rPr lang="en-US" sz="1350" spc="44" baseline="30864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350" spc="44" baseline="30864" dirty="0">
                <a:solidFill>
                  <a:srgbClr val="1F2123"/>
                </a:solidFill>
                <a:latin typeface="RobotoRegular"/>
                <a:cs typeface="RobotoRegular"/>
              </a:rPr>
              <a:t>,</a:t>
            </a:r>
            <a:r>
              <a:rPr lang="en-US" sz="1350" spc="44" baseline="30864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350" spc="44" baseline="30864" dirty="0">
                <a:solidFill>
                  <a:srgbClr val="1F2123"/>
                </a:solidFill>
                <a:latin typeface="RobotoRegular"/>
                <a:cs typeface="RobotoRegular"/>
              </a:rPr>
              <a:t>’}</a:t>
            </a:r>
            <a:endParaRPr lang="en-US" sz="1350" baseline="30864" dirty="0">
              <a:latin typeface="RobotoRegular"/>
              <a:cs typeface="RobotoRegular"/>
            </a:endParaRPr>
          </a:p>
          <a:p>
            <a:pPr marL="396240" marR="30480" indent="-307975">
              <a:lnSpc>
                <a:spcPct val="114999"/>
              </a:lnSpc>
              <a:buChar char="-"/>
              <a:tabLst>
                <a:tab pos="396240" algn="l"/>
                <a:tab pos="396875" algn="l"/>
              </a:tabLst>
            </a:pP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When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a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value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with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taint </a:t>
            </a:r>
            <a:r>
              <a:rPr lang="en-US" i="1" spc="-25" dirty="0">
                <a:solidFill>
                  <a:srgbClr val="424242"/>
                </a:solidFill>
                <a:latin typeface="Lato"/>
                <a:cs typeface="Lato"/>
              </a:rPr>
              <a:t>t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reaches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a </a:t>
            </a:r>
            <a:r>
              <a:rPr lang="en-US" b="1" spc="15" dirty="0">
                <a:solidFill>
                  <a:srgbClr val="424242"/>
                </a:solidFill>
                <a:latin typeface="Lato"/>
                <a:cs typeface="Lato"/>
              </a:rPr>
              <a:t>sink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with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label </a:t>
            </a:r>
            <a:r>
              <a:rPr lang="en-US" i="1" spc="-25" dirty="0">
                <a:solidFill>
                  <a:srgbClr val="424242"/>
                </a:solidFill>
                <a:latin typeface="Lato"/>
                <a:cs typeface="Lato"/>
              </a:rPr>
              <a:t>s</a:t>
            </a:r>
            <a:r>
              <a:rPr lang="en-US" spc="-25" dirty="0">
                <a:solidFill>
                  <a:srgbClr val="424242"/>
                </a:solidFill>
                <a:latin typeface="Lato"/>
                <a:cs typeface="Lato"/>
              </a:rPr>
              <a:t>,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the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monitor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logs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the  information</a:t>
            </a:r>
            <a:r>
              <a:rPr lang="en-US" spc="-12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20" dirty="0">
                <a:solidFill>
                  <a:srgbClr val="424242"/>
                </a:solidFill>
                <a:latin typeface="Lato"/>
                <a:cs typeface="Lato"/>
              </a:rPr>
              <a:t>ﬂow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as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a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25" dirty="0">
                <a:solidFill>
                  <a:srgbClr val="424242"/>
                </a:solidFill>
                <a:latin typeface="Lato"/>
                <a:cs typeface="Lato"/>
              </a:rPr>
              <a:t>pair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dirty="0">
                <a:solidFill>
                  <a:srgbClr val="424242"/>
                </a:solidFill>
                <a:latin typeface="Lato"/>
                <a:cs typeface="Lato"/>
              </a:rPr>
              <a:t>(</a:t>
            </a:r>
            <a:r>
              <a:rPr lang="en-US" i="1" dirty="0" err="1">
                <a:solidFill>
                  <a:srgbClr val="424242"/>
                </a:solidFill>
                <a:latin typeface="Lato"/>
                <a:cs typeface="Lato"/>
              </a:rPr>
              <a:t>t,s</a:t>
            </a:r>
            <a:r>
              <a:rPr lang="en-US" i="1" dirty="0">
                <a:solidFill>
                  <a:srgbClr val="424242"/>
                </a:solidFill>
                <a:latin typeface="Lato"/>
                <a:cs typeface="Lato"/>
              </a:rPr>
              <a:t>)</a:t>
            </a:r>
            <a:endParaRPr lang="en-US" dirty="0">
              <a:latin typeface="Lato"/>
              <a:cs typeface="Lato"/>
            </a:endParaRPr>
          </a:p>
          <a:p>
            <a:pPr marL="853440" lvl="1" indent="-290830">
              <a:lnSpc>
                <a:spcPct val="100000"/>
              </a:lnSpc>
              <a:spcBef>
                <a:spcPts val="340"/>
              </a:spcBef>
              <a:buChar char="-"/>
              <a:tabLst>
                <a:tab pos="853440" algn="l"/>
                <a:tab pos="854075" algn="l"/>
              </a:tabLst>
            </a:pPr>
            <a:r>
              <a:rPr lang="en-US" sz="1400" spc="-25" dirty="0">
                <a:solidFill>
                  <a:srgbClr val="424242"/>
                </a:solidFill>
                <a:latin typeface="Lato"/>
                <a:cs typeface="Lato"/>
              </a:rPr>
              <a:t>e.g., </a:t>
            </a:r>
            <a:r>
              <a:rPr lang="en-US" sz="1400" spc="-5" dirty="0" err="1">
                <a:latin typeface="Courier New"/>
                <a:cs typeface="Courier New"/>
              </a:rPr>
              <a:t>sendToThirdPartySite</a:t>
            </a:r>
            <a:r>
              <a:rPr lang="en-US" sz="1400" spc="-5" dirty="0">
                <a:latin typeface="Courier New"/>
                <a:cs typeface="Courier New"/>
              </a:rPr>
              <a:t>(</a:t>
            </a:r>
            <a:r>
              <a:rPr lang="en-US" sz="1400" spc="-5" dirty="0">
                <a:solidFill>
                  <a:srgbClr val="FF0000"/>
                </a:solidFill>
                <a:latin typeface="Courier New"/>
                <a:cs typeface="Courier New"/>
              </a:rPr>
              <a:t>'foo is the secret</a:t>
            </a:r>
            <a:r>
              <a:rPr lang="en-US" sz="14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en-US" sz="1400" spc="25" dirty="0">
                <a:solidFill>
                  <a:srgbClr val="FF0000"/>
                </a:solidFill>
                <a:latin typeface="Courier New"/>
                <a:cs typeface="Courier New"/>
              </a:rPr>
              <a:t>word'</a:t>
            </a:r>
            <a:r>
              <a:rPr lang="en-US" sz="1350" spc="37" baseline="30864" dirty="0">
                <a:solidFill>
                  <a:srgbClr val="1F2123"/>
                </a:solidFill>
                <a:latin typeface="RobotoRegular"/>
                <a:cs typeface="RobotoRegular"/>
              </a:rPr>
              <a:t>{</a:t>
            </a:r>
            <a:r>
              <a:rPr lang="en-US" sz="1350" spc="37" baseline="30864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350" spc="37" baseline="30864" dirty="0">
                <a:solidFill>
                  <a:srgbClr val="1F2123"/>
                </a:solidFill>
                <a:latin typeface="RobotoRegular"/>
                <a:cs typeface="RobotoRegular"/>
              </a:rPr>
              <a:t>,</a:t>
            </a:r>
            <a:r>
              <a:rPr lang="en-US" sz="1350" spc="37" baseline="30864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350" spc="37" baseline="30864" dirty="0">
                <a:solidFill>
                  <a:srgbClr val="1F2123"/>
                </a:solidFill>
                <a:latin typeface="RobotoRegular"/>
                <a:cs typeface="RobotoRegular"/>
              </a:rPr>
              <a:t>’}</a:t>
            </a:r>
            <a:r>
              <a:rPr lang="en-US" sz="1400" spc="25" dirty="0">
                <a:latin typeface="Courier New"/>
                <a:cs typeface="Courier New"/>
              </a:rPr>
              <a:t>)</a:t>
            </a:r>
            <a:endParaRPr lang="en-US" sz="1400" dirty="0">
              <a:latin typeface="Courier New"/>
              <a:cs typeface="Courier New"/>
            </a:endParaRPr>
          </a:p>
          <a:p>
            <a:pPr marL="853440" lvl="1" indent="-290830">
              <a:lnSpc>
                <a:spcPct val="100000"/>
              </a:lnSpc>
              <a:spcBef>
                <a:spcPts val="250"/>
              </a:spcBef>
              <a:buChar char="-"/>
              <a:tabLst>
                <a:tab pos="853440" algn="l"/>
                <a:tab pos="854075" algn="l"/>
              </a:tabLst>
            </a:pPr>
            <a:r>
              <a:rPr lang="en-US" sz="1400" spc="-5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z="1400" spc="-9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400" spc="5" dirty="0">
                <a:solidFill>
                  <a:srgbClr val="424242"/>
                </a:solidFill>
                <a:latin typeface="Lato"/>
                <a:cs typeface="Lato"/>
              </a:rPr>
              <a:t>monitor</a:t>
            </a:r>
            <a:r>
              <a:rPr lang="en-US" sz="1400" spc="-9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400" dirty="0">
                <a:solidFill>
                  <a:srgbClr val="424242"/>
                </a:solidFill>
                <a:latin typeface="Lato"/>
                <a:cs typeface="Lato"/>
              </a:rPr>
              <a:t>logs</a:t>
            </a:r>
            <a:r>
              <a:rPr lang="en-US" sz="1400" spc="-9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400" i="1" spc="-5" dirty="0">
                <a:solidFill>
                  <a:srgbClr val="1F2123"/>
                </a:solidFill>
                <a:latin typeface="Lato"/>
                <a:cs typeface="Lato"/>
              </a:rPr>
              <a:t>(</a:t>
            </a:r>
            <a:r>
              <a:rPr lang="en-US" sz="1400" spc="-5" dirty="0">
                <a:solidFill>
                  <a:srgbClr val="1F2123"/>
                </a:solidFill>
                <a:latin typeface="Lato"/>
                <a:cs typeface="Lato"/>
              </a:rPr>
              <a:t>{</a:t>
            </a:r>
            <a:r>
              <a:rPr lang="en-US" sz="1400" spc="-5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400" spc="-5" dirty="0">
                <a:solidFill>
                  <a:srgbClr val="1F2123"/>
                </a:solidFill>
                <a:latin typeface="Lato"/>
                <a:cs typeface="Lato"/>
              </a:rPr>
              <a:t>,</a:t>
            </a:r>
            <a:r>
              <a:rPr lang="en-US" sz="1400" spc="-5" dirty="0">
                <a:solidFill>
                  <a:srgbClr val="1F2123"/>
                </a:solidFill>
                <a:latin typeface="FreeSerif"/>
                <a:cs typeface="FreeSerif"/>
              </a:rPr>
              <a:t>𝜏</a:t>
            </a:r>
            <a:r>
              <a:rPr lang="en-US" sz="1400" spc="-5" dirty="0">
                <a:solidFill>
                  <a:srgbClr val="1F2123"/>
                </a:solidFill>
                <a:latin typeface="Lato"/>
                <a:cs typeface="Lato"/>
              </a:rPr>
              <a:t>’}</a:t>
            </a:r>
            <a:r>
              <a:rPr lang="en-US" sz="1400" i="1" spc="-5" dirty="0">
                <a:solidFill>
                  <a:srgbClr val="1F2123"/>
                </a:solidFill>
                <a:latin typeface="Lato"/>
                <a:cs typeface="Lato"/>
              </a:rPr>
              <a:t>,(“</a:t>
            </a:r>
            <a:r>
              <a:rPr lang="en-US" sz="1400" i="1" spc="-5" dirty="0" err="1">
                <a:solidFill>
                  <a:srgbClr val="1F2123"/>
                </a:solidFill>
                <a:latin typeface="Lato"/>
                <a:cs typeface="Lato"/>
              </a:rPr>
              <a:t>sendToThirdPartySite</a:t>
            </a:r>
            <a:r>
              <a:rPr lang="en-US" sz="1400" i="1" spc="-5" dirty="0">
                <a:solidFill>
                  <a:srgbClr val="1F2123"/>
                </a:solidFill>
                <a:latin typeface="Lato"/>
                <a:cs typeface="Lato"/>
              </a:rPr>
              <a:t>”,</a:t>
            </a:r>
            <a:r>
              <a:rPr lang="en-US" sz="1400" i="1" spc="-6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1400" i="1" spc="5" dirty="0">
                <a:solidFill>
                  <a:srgbClr val="1F2123"/>
                </a:solidFill>
                <a:latin typeface="Lato"/>
                <a:cs typeface="Lato"/>
              </a:rPr>
              <a:t>…))</a:t>
            </a:r>
            <a:endParaRPr lang="en-US" sz="1400" dirty="0">
              <a:latin typeface="Lato"/>
              <a:cs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5F6D44-A91E-FB4F-8A10-E512FE0D89E1}"/>
              </a:ext>
            </a:extLst>
          </p:cNvPr>
          <p:cNvSpPr/>
          <p:nvPr/>
        </p:nvSpPr>
        <p:spPr>
          <a:xfrm>
            <a:off x="248680" y="501134"/>
            <a:ext cx="23817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-60" dirty="0"/>
              <a:t>Taint</a:t>
            </a:r>
            <a:r>
              <a:rPr lang="en-US" sz="2800" b="1" spc="-265" dirty="0"/>
              <a:t> </a:t>
            </a:r>
            <a:r>
              <a:rPr lang="en-US" sz="2800" b="1" spc="20" dirty="0"/>
              <a:t>tracking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1044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AF33C4-45A3-564B-85DB-CA24AE9B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3304BFD-3545-F845-B850-0810B5975F0F}"/>
              </a:ext>
            </a:extLst>
          </p:cNvPr>
          <p:cNvSpPr txBox="1"/>
          <p:nvPr/>
        </p:nvSpPr>
        <p:spPr>
          <a:xfrm>
            <a:off x="1292734" y="3414980"/>
            <a:ext cx="2726690" cy="979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100" b="1" dirty="0">
              <a:latin typeface="Times New Roman"/>
              <a:cs typeface="Times New Roman"/>
            </a:endParaRPr>
          </a:p>
          <a:p>
            <a:pPr marL="141605" marR="132715" indent="-635" algn="ctr">
              <a:lnSpc>
                <a:spcPts val="1650"/>
              </a:lnSpc>
            </a:pPr>
            <a:r>
              <a:rPr sz="1400" b="1" spc="-5" dirty="0">
                <a:latin typeface="Courier New"/>
                <a:cs typeface="Courier New"/>
              </a:rPr>
              <a:t>document.cookie  XMLHttpRequest </a:t>
            </a:r>
            <a:r>
              <a:rPr sz="1400" b="1" spc="5" dirty="0">
                <a:latin typeface="Lato"/>
                <a:cs typeface="Lato"/>
              </a:rPr>
              <a:t>(output) </a:t>
            </a:r>
            <a:r>
              <a:rPr sz="1400" b="1" spc="-5" dirty="0" err="1">
                <a:latin typeface="Courier New"/>
                <a:cs typeface="Courier New"/>
              </a:rPr>
              <a:t>src</a:t>
            </a:r>
            <a:r>
              <a:rPr sz="1400" b="1" spc="-585" dirty="0">
                <a:latin typeface="Courier New"/>
                <a:cs typeface="Courier New"/>
              </a:rPr>
              <a:t> </a:t>
            </a:r>
            <a:r>
              <a:rPr sz="1400" b="1" spc="15" dirty="0">
                <a:latin typeface="Lato"/>
                <a:cs typeface="Lato"/>
              </a:rPr>
              <a:t>attribute</a:t>
            </a:r>
            <a:r>
              <a:rPr sz="1400" b="1" spc="-95" dirty="0">
                <a:latin typeface="Lato"/>
                <a:cs typeface="Lato"/>
              </a:rPr>
              <a:t> </a:t>
            </a:r>
            <a:r>
              <a:rPr sz="1400" b="1" spc="-20" dirty="0">
                <a:latin typeface="Lato"/>
                <a:cs typeface="Lato"/>
              </a:rPr>
              <a:t>of</a:t>
            </a:r>
            <a:r>
              <a:rPr sz="1400" b="1" spc="-100" dirty="0">
                <a:latin typeface="Lato"/>
                <a:cs typeface="Lato"/>
              </a:rPr>
              <a:t> </a:t>
            </a:r>
            <a:r>
              <a:rPr sz="1400" b="1" spc="-10" dirty="0">
                <a:latin typeface="Lato"/>
                <a:cs typeface="Lato"/>
              </a:rPr>
              <a:t>HTML</a:t>
            </a:r>
            <a:r>
              <a:rPr sz="1400" b="1" spc="-95" dirty="0">
                <a:latin typeface="Lato"/>
                <a:cs typeface="Lato"/>
              </a:rPr>
              <a:t> </a:t>
            </a:r>
            <a:r>
              <a:rPr sz="1400" b="1" dirty="0">
                <a:latin typeface="Lato"/>
                <a:cs typeface="Lato"/>
              </a:rPr>
              <a:t>element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27DE1C19-2526-1B46-81E5-667B7D65C9F0}"/>
              </a:ext>
            </a:extLst>
          </p:cNvPr>
          <p:cNvSpPr txBox="1"/>
          <p:nvPr/>
        </p:nvSpPr>
        <p:spPr>
          <a:xfrm>
            <a:off x="5748144" y="3746523"/>
            <a:ext cx="2726690" cy="5956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vert="horz" wrap="square" lIns="0" tIns="158115" rIns="0" bIns="0" rtlCol="0">
            <a:spAutoFit/>
          </a:bodyPr>
          <a:lstStyle/>
          <a:p>
            <a:pPr marL="189865" marR="180975" indent="106045">
              <a:lnSpc>
                <a:spcPts val="1650"/>
              </a:lnSpc>
              <a:spcBef>
                <a:spcPts val="1245"/>
              </a:spcBef>
            </a:pPr>
            <a:r>
              <a:rPr sz="1400" b="1" spc="-5" dirty="0">
                <a:latin typeface="Courier New"/>
                <a:cs typeface="Courier New"/>
              </a:rPr>
              <a:t>localStorage.setItem  sessionStorage.setItem</a:t>
            </a:r>
            <a:endParaRPr sz="1400" b="1" dirty="0">
              <a:latin typeface="Courier New"/>
              <a:cs typeface="Courier New"/>
            </a:endParaRPr>
          </a:p>
        </p:txBody>
      </p:sp>
      <p:grpSp>
        <p:nvGrpSpPr>
          <p:cNvPr id="5" name="object 6">
            <a:extLst>
              <a:ext uri="{FF2B5EF4-FFF2-40B4-BE49-F238E27FC236}">
                <a16:creationId xmlns:a16="http://schemas.microsoft.com/office/drawing/2014/main" id="{E692F4F1-25BA-9D40-B5A6-6C855E9581FE}"/>
              </a:ext>
            </a:extLst>
          </p:cNvPr>
          <p:cNvGrpSpPr/>
          <p:nvPr/>
        </p:nvGrpSpPr>
        <p:grpSpPr>
          <a:xfrm>
            <a:off x="2615044" y="2668544"/>
            <a:ext cx="82550" cy="733425"/>
            <a:chOff x="2615044" y="2668544"/>
            <a:chExt cx="82550" cy="733425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275D224-36C4-2E46-8D3A-89269F41B591}"/>
                </a:ext>
              </a:extLst>
            </p:cNvPr>
            <p:cNvSpPr/>
            <p:nvPr/>
          </p:nvSpPr>
          <p:spPr>
            <a:xfrm>
              <a:off x="2656044" y="2668544"/>
              <a:ext cx="0" cy="636905"/>
            </a:xfrm>
            <a:custGeom>
              <a:avLst/>
              <a:gdLst/>
              <a:ahLst/>
              <a:cxnLst/>
              <a:rect l="l" t="t" r="r" b="b"/>
              <a:pathLst>
                <a:path h="636904">
                  <a:moveTo>
                    <a:pt x="0" y="0"/>
                  </a:moveTo>
                  <a:lnTo>
                    <a:pt x="0" y="636898"/>
                  </a:lnTo>
                </a:path>
              </a:pathLst>
            </a:custGeom>
            <a:ln w="19049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4A346B39-02E2-504E-97DB-37BACD969D61}"/>
                </a:ext>
              </a:extLst>
            </p:cNvPr>
            <p:cNvSpPr/>
            <p:nvPr/>
          </p:nvSpPr>
          <p:spPr>
            <a:xfrm>
              <a:off x="2615044" y="3295918"/>
              <a:ext cx="81999" cy="105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10">
            <a:extLst>
              <a:ext uri="{FF2B5EF4-FFF2-40B4-BE49-F238E27FC236}">
                <a16:creationId xmlns:a16="http://schemas.microsoft.com/office/drawing/2014/main" id="{44CD71FD-899A-6D4E-B562-ABE51CB60D62}"/>
              </a:ext>
            </a:extLst>
          </p:cNvPr>
          <p:cNvGrpSpPr/>
          <p:nvPr/>
        </p:nvGrpSpPr>
        <p:grpSpPr>
          <a:xfrm>
            <a:off x="6977871" y="2981954"/>
            <a:ext cx="82550" cy="733425"/>
            <a:chOff x="6936836" y="3388543"/>
            <a:chExt cx="82550" cy="733425"/>
          </a:xfrm>
        </p:grpSpPr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80B2F5FE-DF2C-8A4E-94FD-18A02F19B5CA}"/>
                </a:ext>
              </a:extLst>
            </p:cNvPr>
            <p:cNvSpPr/>
            <p:nvPr/>
          </p:nvSpPr>
          <p:spPr>
            <a:xfrm>
              <a:off x="6977836" y="3388543"/>
              <a:ext cx="0" cy="636905"/>
            </a:xfrm>
            <a:custGeom>
              <a:avLst/>
              <a:gdLst/>
              <a:ahLst/>
              <a:cxnLst/>
              <a:rect l="l" t="t" r="r" b="b"/>
              <a:pathLst>
                <a:path h="636904">
                  <a:moveTo>
                    <a:pt x="0" y="0"/>
                  </a:moveTo>
                  <a:lnTo>
                    <a:pt x="0" y="636898"/>
                  </a:lnTo>
                </a:path>
              </a:pathLst>
            </a:custGeom>
            <a:ln w="19049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6C1AEA91-D1FD-5043-B0BF-7CDA032EF90B}"/>
                </a:ext>
              </a:extLst>
            </p:cNvPr>
            <p:cNvSpPr/>
            <p:nvPr/>
          </p:nvSpPr>
          <p:spPr>
            <a:xfrm>
              <a:off x="6936836" y="4015916"/>
              <a:ext cx="81999" cy="105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3">
            <a:extLst>
              <a:ext uri="{FF2B5EF4-FFF2-40B4-BE49-F238E27FC236}">
                <a16:creationId xmlns:a16="http://schemas.microsoft.com/office/drawing/2014/main" id="{B3AF0A6B-B00B-3C44-B32B-22F799C0DB2A}"/>
              </a:ext>
            </a:extLst>
          </p:cNvPr>
          <p:cNvSpPr txBox="1"/>
          <p:nvPr/>
        </p:nvSpPr>
        <p:spPr>
          <a:xfrm>
            <a:off x="4609372" y="2357674"/>
            <a:ext cx="821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3B77D8"/>
                </a:solidFill>
                <a:latin typeface="Lato"/>
                <a:cs typeface="Lato"/>
              </a:rPr>
              <a:t>SOU</a:t>
            </a:r>
            <a:r>
              <a:rPr sz="1400" spc="-40" dirty="0">
                <a:solidFill>
                  <a:srgbClr val="3B77D8"/>
                </a:solidFill>
                <a:latin typeface="Lato"/>
                <a:cs typeface="Lato"/>
              </a:rPr>
              <a:t>R</a:t>
            </a:r>
            <a:r>
              <a:rPr sz="1400" dirty="0">
                <a:solidFill>
                  <a:srgbClr val="3B77D8"/>
                </a:solidFill>
                <a:latin typeface="Lato"/>
                <a:cs typeface="Lato"/>
              </a:rPr>
              <a:t>CES</a:t>
            </a:r>
            <a:endParaRPr sz="1400" dirty="0">
              <a:latin typeface="Lato"/>
              <a:cs typeface="Lato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A2677E5D-A9D4-D24A-BB43-E784558FAF23}"/>
              </a:ext>
            </a:extLst>
          </p:cNvPr>
          <p:cNvSpPr txBox="1"/>
          <p:nvPr/>
        </p:nvSpPr>
        <p:spPr>
          <a:xfrm>
            <a:off x="4732382" y="4060370"/>
            <a:ext cx="5245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Lato"/>
                <a:cs typeface="Lato"/>
              </a:rPr>
              <a:t>SINKS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075D42-92BC-0847-A7EB-9433AECC7230}"/>
              </a:ext>
            </a:extLst>
          </p:cNvPr>
          <p:cNvSpPr/>
          <p:nvPr/>
        </p:nvSpPr>
        <p:spPr>
          <a:xfrm>
            <a:off x="1260148" y="2044515"/>
            <a:ext cx="2971800" cy="7468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9865" marR="180975" lvl="0" indent="106045">
              <a:lnSpc>
                <a:spcPts val="1650"/>
              </a:lnSpc>
              <a:spcBef>
                <a:spcPts val="1245"/>
              </a:spcBef>
            </a:pPr>
            <a:endParaRPr lang="it-IT" sz="1400" b="1" spc="-5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89865" marR="180975" lvl="0" indent="106045">
              <a:lnSpc>
                <a:spcPts val="1650"/>
              </a:lnSpc>
              <a:spcBef>
                <a:spcPts val="1245"/>
              </a:spcBef>
            </a:pPr>
            <a:r>
              <a:rPr lang="it-IT" sz="1400" b="1" spc="-5" dirty="0" err="1">
                <a:solidFill>
                  <a:schemeClr val="bg1"/>
                </a:solidFill>
                <a:latin typeface="Courier New"/>
                <a:cs typeface="Courier New"/>
              </a:rPr>
              <a:t>localStorage.getItem</a:t>
            </a:r>
            <a:r>
              <a:rPr lang="it-IT" sz="1400" b="1" spc="-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lang="it-IT" sz="1400" b="1" spc="-5" dirty="0" err="1">
                <a:solidFill>
                  <a:schemeClr val="bg1"/>
                </a:solidFill>
                <a:latin typeface="Courier New"/>
                <a:cs typeface="Courier New"/>
              </a:rPr>
              <a:t>sessionStorage.getItem</a:t>
            </a:r>
            <a:endParaRPr lang="it-IT" sz="1400" b="1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algn="ctr"/>
            <a:endParaRPr lang="it-IT" b="1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402EA36-D760-554C-9E49-0B06D77E2267}"/>
              </a:ext>
            </a:extLst>
          </p:cNvPr>
          <p:cNvSpPr/>
          <p:nvPr/>
        </p:nvSpPr>
        <p:spPr>
          <a:xfrm>
            <a:off x="5807851" y="1889523"/>
            <a:ext cx="2607276" cy="10632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265" marR="334645" lvl="0" algn="ctr">
              <a:lnSpc>
                <a:spcPts val="1650"/>
              </a:lnSpc>
            </a:pPr>
            <a:r>
              <a:rPr lang="it-IT" sz="1400" b="1" spc="-5" dirty="0" err="1">
                <a:solidFill>
                  <a:srgbClr val="F7F9F9"/>
                </a:solidFill>
                <a:latin typeface="Courier New"/>
                <a:cs typeface="Courier New"/>
              </a:rPr>
              <a:t>document.cookie</a:t>
            </a:r>
            <a:r>
              <a:rPr lang="it-IT" sz="1400" b="1" spc="-5" dirty="0">
                <a:solidFill>
                  <a:srgbClr val="F7F9F9"/>
                </a:solidFill>
                <a:latin typeface="Courier New"/>
                <a:cs typeface="Courier New"/>
              </a:rPr>
              <a:t>  </a:t>
            </a:r>
            <a:r>
              <a:rPr lang="it-IT" sz="1400" b="1" spc="-5" dirty="0" err="1">
                <a:solidFill>
                  <a:srgbClr val="F7F9F9"/>
                </a:solidFill>
                <a:latin typeface="Courier New"/>
                <a:cs typeface="Courier New"/>
              </a:rPr>
              <a:t>document.URL</a:t>
            </a:r>
            <a:r>
              <a:rPr lang="it-IT" sz="1400" b="1" spc="-5" dirty="0">
                <a:solidFill>
                  <a:srgbClr val="F7F9F9"/>
                </a:solidFill>
                <a:latin typeface="Lato"/>
                <a:cs typeface="Lato"/>
              </a:rPr>
              <a:t>, </a:t>
            </a:r>
            <a:r>
              <a:rPr lang="it-IT" sz="1400" b="1" spc="-35" dirty="0">
                <a:solidFill>
                  <a:srgbClr val="F7F9F9"/>
                </a:solidFill>
                <a:latin typeface="Lato"/>
                <a:cs typeface="Lato"/>
              </a:rPr>
              <a:t>… </a:t>
            </a:r>
            <a:r>
              <a:rPr lang="it-IT" sz="1400" b="1" spc="-5" dirty="0" err="1">
                <a:solidFill>
                  <a:srgbClr val="F7F9F9"/>
                </a:solidFill>
                <a:latin typeface="Courier New"/>
                <a:cs typeface="Courier New"/>
              </a:rPr>
              <a:t>XMLHttpRequest</a:t>
            </a:r>
            <a:r>
              <a:rPr lang="it-IT" sz="1400" b="1" spc="-600" dirty="0">
                <a:solidFill>
                  <a:srgbClr val="F7F9F9"/>
                </a:solidFill>
                <a:latin typeface="Courier New"/>
                <a:cs typeface="Courier New"/>
              </a:rPr>
              <a:t> </a:t>
            </a:r>
            <a:r>
              <a:rPr lang="it-IT" sz="1400" b="1" spc="15" dirty="0">
                <a:solidFill>
                  <a:srgbClr val="F7F9F9"/>
                </a:solidFill>
                <a:latin typeface="Lato"/>
                <a:cs typeface="Lato"/>
              </a:rPr>
              <a:t>(input)</a:t>
            </a:r>
            <a:endParaRPr lang="it-IT" sz="1400" b="1" dirty="0">
              <a:solidFill>
                <a:prstClr val="black"/>
              </a:solidFill>
              <a:latin typeface="Lato"/>
              <a:cs typeface="Lato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C97805-90B4-D948-949A-4C2E9922F70F}"/>
              </a:ext>
            </a:extLst>
          </p:cNvPr>
          <p:cNvSpPr/>
          <p:nvPr/>
        </p:nvSpPr>
        <p:spPr>
          <a:xfrm>
            <a:off x="215231" y="456529"/>
            <a:ext cx="3021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Sources </a:t>
            </a:r>
            <a:r>
              <a:rPr lang="en-US" sz="2800" b="1" spc="5" dirty="0"/>
              <a:t>and</a:t>
            </a:r>
            <a:r>
              <a:rPr lang="en-US" sz="2800" b="1" spc="-495" dirty="0"/>
              <a:t> </a:t>
            </a:r>
            <a:r>
              <a:rPr lang="en-US" sz="2800" b="1" spc="20" dirty="0"/>
              <a:t>sinks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4971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692FD-8200-8248-955A-843D2307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6B8D99F1-8B00-FC4D-A2BD-EB73CA162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177016"/>
            <a:ext cx="8255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 </a:t>
            </a:r>
            <a:r>
              <a:rPr lang="en-US" altLang="zh-CN" sz="3600" b="1" dirty="0" err="1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Jalangi</a:t>
            </a:r>
            <a:r>
              <a:rPr lang="en-US" altLang="zh-CN" sz="3600" b="1" dirty="0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– Dynamic Analysis Tool</a:t>
            </a:r>
            <a:endParaRPr lang="zh-CN" altLang="en-US" sz="36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83CCB8-2EC9-7E4F-B29E-51E2FBCC099F}"/>
              </a:ext>
            </a:extLst>
          </p:cNvPr>
          <p:cNvSpPr/>
          <p:nvPr/>
        </p:nvSpPr>
        <p:spPr>
          <a:xfrm>
            <a:off x="4040659" y="3249827"/>
            <a:ext cx="1643449" cy="7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Jalangi</a:t>
            </a:r>
            <a:endParaRPr lang="it-IT" sz="2400" b="1" dirty="0"/>
          </a:p>
        </p:txBody>
      </p:sp>
      <p:sp>
        <p:nvSpPr>
          <p:cNvPr id="6" name="矩形标注 33">
            <a:extLst>
              <a:ext uri="{FF2B5EF4-FFF2-40B4-BE49-F238E27FC236}">
                <a16:creationId xmlns:a16="http://schemas.microsoft.com/office/drawing/2014/main" id="{FD63DFAF-49C8-704F-90C7-66E97CFB8FB7}"/>
              </a:ext>
            </a:extLst>
          </p:cNvPr>
          <p:cNvSpPr/>
          <p:nvPr/>
        </p:nvSpPr>
        <p:spPr>
          <a:xfrm>
            <a:off x="903748" y="1490621"/>
            <a:ext cx="2483611" cy="1091931"/>
          </a:xfrm>
          <a:prstGeom prst="wedgeRectCallout">
            <a:avLst>
              <a:gd name="adj1" fmla="val 92795"/>
              <a:gd name="adj2" fmla="val 108100"/>
            </a:avLst>
          </a:prstGeom>
          <a:noFill/>
          <a:ln w="28575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sz="1600" dirty="0" err="1">
                <a:solidFill>
                  <a:schemeClr val="tx1"/>
                </a:solidFill>
              </a:rPr>
              <a:t>Developed</a:t>
            </a:r>
            <a:r>
              <a:rPr lang="en-US" sz="1600" dirty="0">
                <a:solidFill>
                  <a:schemeClr val="tx1"/>
                </a:solidFill>
              </a:rPr>
              <a:t> by Samsung Research Group 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ctr"/>
            <a:endParaRPr lang="zh-CN" altLang="en-US" dirty="0"/>
          </a:p>
        </p:txBody>
      </p:sp>
      <p:sp>
        <p:nvSpPr>
          <p:cNvPr id="7" name="矩形标注 33">
            <a:extLst>
              <a:ext uri="{FF2B5EF4-FFF2-40B4-BE49-F238E27FC236}">
                <a16:creationId xmlns:a16="http://schemas.microsoft.com/office/drawing/2014/main" id="{B1A906A6-CAA3-A548-9FD2-334AA009BAEC}"/>
              </a:ext>
            </a:extLst>
          </p:cNvPr>
          <p:cNvSpPr/>
          <p:nvPr/>
        </p:nvSpPr>
        <p:spPr>
          <a:xfrm>
            <a:off x="903749" y="4788410"/>
            <a:ext cx="2483611" cy="1091931"/>
          </a:xfrm>
          <a:prstGeom prst="wedgeRectCallout">
            <a:avLst>
              <a:gd name="adj1" fmla="val 87323"/>
              <a:gd name="adj2" fmla="val -120492"/>
            </a:avLst>
          </a:prstGeom>
          <a:noFill/>
          <a:ln w="28575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Source code Instrumentation Based Framework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ctr"/>
            <a:endParaRPr lang="zh-CN" altLang="en-US" dirty="0"/>
          </a:p>
        </p:txBody>
      </p:sp>
      <p:sp>
        <p:nvSpPr>
          <p:cNvPr id="8" name="矩形标注 33">
            <a:extLst>
              <a:ext uri="{FF2B5EF4-FFF2-40B4-BE49-F238E27FC236}">
                <a16:creationId xmlns:a16="http://schemas.microsoft.com/office/drawing/2014/main" id="{A02FFFC0-F997-EA40-B222-64C6554416A2}"/>
              </a:ext>
            </a:extLst>
          </p:cNvPr>
          <p:cNvSpPr/>
          <p:nvPr/>
        </p:nvSpPr>
        <p:spPr>
          <a:xfrm>
            <a:off x="6884419" y="1566850"/>
            <a:ext cx="2483611" cy="1091931"/>
          </a:xfrm>
          <a:prstGeom prst="wedgeRectCallout">
            <a:avLst>
              <a:gd name="adj1" fmla="val -117660"/>
              <a:gd name="adj2" fmla="val 102442"/>
            </a:avLst>
          </a:prstGeom>
          <a:noFill/>
          <a:ln w="28575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Instrumentation based framework</a:t>
            </a:r>
            <a:endParaRPr lang="en-US" sz="14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No need to modify of </a:t>
            </a:r>
            <a:r>
              <a:rPr lang="en-US" sz="1600" dirty="0" err="1">
                <a:solidFill>
                  <a:schemeClr val="tx1"/>
                </a:solidFill>
              </a:rPr>
              <a:t>JavasScript</a:t>
            </a:r>
            <a:r>
              <a:rPr lang="en-US" sz="1600" dirty="0">
                <a:solidFill>
                  <a:schemeClr val="tx1"/>
                </a:solidFill>
              </a:rPr>
              <a:t> Engine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ctr"/>
            <a:endParaRPr lang="zh-CN" altLang="en-US" dirty="0"/>
          </a:p>
        </p:txBody>
      </p:sp>
      <p:sp>
        <p:nvSpPr>
          <p:cNvPr id="9" name="矩形标注 33">
            <a:extLst>
              <a:ext uri="{FF2B5EF4-FFF2-40B4-BE49-F238E27FC236}">
                <a16:creationId xmlns:a16="http://schemas.microsoft.com/office/drawing/2014/main" id="{0131929A-C1DA-234D-98E3-9D092322A879}"/>
              </a:ext>
            </a:extLst>
          </p:cNvPr>
          <p:cNvSpPr/>
          <p:nvPr/>
        </p:nvSpPr>
        <p:spPr>
          <a:xfrm>
            <a:off x="6326049" y="4788409"/>
            <a:ext cx="2483611" cy="1091931"/>
          </a:xfrm>
          <a:prstGeom prst="wedgeRectCallout">
            <a:avLst>
              <a:gd name="adj1" fmla="val -93511"/>
              <a:gd name="adj2" fmla="val -120091"/>
            </a:avLst>
          </a:prstGeom>
          <a:noFill/>
          <a:ln w="28575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Instrumentation based </a:t>
            </a:r>
            <a:r>
              <a:rPr lang="en-US" sz="1600" dirty="0">
                <a:solidFill>
                  <a:schemeClr val="tx1"/>
                </a:solidFill>
              </a:rPr>
              <a:t>Instrumented Code is Portable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ctr"/>
            <a:endParaRPr lang="zh-CN" altLang="en-US" sz="1600" dirty="0">
              <a:solidFill>
                <a:schemeClr val="tx1"/>
              </a:solidFill>
            </a:endParaRP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788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9B29F0-7191-4B44-9E9C-F3C7E31E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929055-3DB7-444F-B096-7D23A17E6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15" y="2063456"/>
            <a:ext cx="7311602" cy="27195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4707DC-B4FD-DC4E-80F9-720FA8AF46CF}"/>
              </a:ext>
            </a:extLst>
          </p:cNvPr>
          <p:cNvSpPr/>
          <p:nvPr/>
        </p:nvSpPr>
        <p:spPr>
          <a:xfrm>
            <a:off x="346501" y="555199"/>
            <a:ext cx="13269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10" dirty="0" err="1"/>
              <a:t>Jalangi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9131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C355C1-4FAD-104A-A5AA-32AB627D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AD424-EEBD-D142-9337-0A62C87575B9}"/>
              </a:ext>
            </a:extLst>
          </p:cNvPr>
          <p:cNvSpPr/>
          <p:nvPr/>
        </p:nvSpPr>
        <p:spPr>
          <a:xfrm>
            <a:off x="681038" y="1615886"/>
            <a:ext cx="7429500" cy="785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A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platform-independent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tool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for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dynamic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taint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tracking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25" dirty="0">
                <a:solidFill>
                  <a:srgbClr val="424242"/>
                </a:solidFill>
                <a:latin typeface="Lato"/>
                <a:cs typeface="Lato"/>
              </a:rPr>
              <a:t>of</a:t>
            </a:r>
            <a:r>
              <a:rPr lang="en-US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JavaScript.</a:t>
            </a:r>
            <a:endParaRPr lang="en-US" dirty="0">
              <a:latin typeface="Lato"/>
              <a:cs typeface="Lato"/>
            </a:endParaRPr>
          </a:p>
          <a:p>
            <a:pPr marL="12700" marR="1628775">
              <a:lnSpc>
                <a:spcPct val="170600"/>
              </a:lnSpc>
            </a:pP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Based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on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b="1" spc="-5" dirty="0">
                <a:solidFill>
                  <a:srgbClr val="424242"/>
                </a:solidFill>
                <a:latin typeface="Lato"/>
                <a:cs typeface="Lato"/>
              </a:rPr>
              <a:t>code</a:t>
            </a:r>
            <a:r>
              <a:rPr lang="en-US" b="1" spc="-8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b="1" spc="10" dirty="0">
                <a:solidFill>
                  <a:srgbClr val="424242"/>
                </a:solidFill>
                <a:latin typeface="Lato"/>
                <a:cs typeface="Lato"/>
              </a:rPr>
              <a:t>instrumentation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,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provided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20" dirty="0">
                <a:solidFill>
                  <a:srgbClr val="424242"/>
                </a:solidFill>
                <a:latin typeface="Lato"/>
                <a:cs typeface="Lato"/>
              </a:rPr>
              <a:t>by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 err="1">
                <a:solidFill>
                  <a:srgbClr val="424242"/>
                </a:solidFill>
                <a:latin typeface="Lato"/>
                <a:cs typeface="Lato"/>
              </a:rPr>
              <a:t>Jalangi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.  </a:t>
            </a:r>
            <a:endParaRPr lang="en-US" spc="-5" dirty="0">
              <a:solidFill>
                <a:srgbClr val="424242"/>
              </a:solidFill>
              <a:latin typeface="Lato"/>
              <a:cs typeface="Lato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04F6F92-193B-BE49-A6D1-F4A934934E7A}"/>
              </a:ext>
            </a:extLst>
          </p:cNvPr>
          <p:cNvSpPr/>
          <p:nvPr/>
        </p:nvSpPr>
        <p:spPr>
          <a:xfrm>
            <a:off x="3054785" y="2938889"/>
            <a:ext cx="5598788" cy="28799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AED9A-CC1E-EE44-95AE-3A050FF78718}"/>
              </a:ext>
            </a:extLst>
          </p:cNvPr>
          <p:cNvSpPr/>
          <p:nvPr/>
        </p:nvSpPr>
        <p:spPr>
          <a:xfrm>
            <a:off x="346501" y="555199"/>
            <a:ext cx="13269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10" dirty="0" err="1"/>
              <a:t>Jalangi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5781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CA23ED-0363-934C-915D-C70AAAD9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35160EAC-E9A4-244D-95E3-90E0FE034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96" y="177016"/>
            <a:ext cx="8255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 </a:t>
            </a:r>
            <a:r>
              <a:rPr lang="en-US" altLang="zh-CN" sz="3600" b="1" dirty="0" err="1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Jalangi</a:t>
            </a:r>
            <a:r>
              <a:rPr lang="en-US" altLang="zh-CN" sz="3600" b="1" dirty="0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– Source Code Instrumentation</a:t>
            </a:r>
            <a:endParaRPr lang="zh-CN" altLang="en-US" sz="36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BE17B6-1F97-814D-A671-8C9D28334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" t="14301" r="5790" b="12982"/>
          <a:stretch/>
        </p:blipFill>
        <p:spPr>
          <a:xfrm>
            <a:off x="693295" y="3524641"/>
            <a:ext cx="8721971" cy="2715065"/>
          </a:xfrm>
          <a:prstGeom prst="rect">
            <a:avLst/>
          </a:prstGeom>
        </p:spPr>
      </p:pic>
      <p:sp>
        <p:nvSpPr>
          <p:cNvPr id="6" name="Bent Arrow 5">
            <a:extLst>
              <a:ext uri="{FF2B5EF4-FFF2-40B4-BE49-F238E27FC236}">
                <a16:creationId xmlns:a16="http://schemas.microsoft.com/office/drawing/2014/main" id="{72FAEE5D-16C6-F849-9FA6-44E84A6B6CBD}"/>
              </a:ext>
            </a:extLst>
          </p:cNvPr>
          <p:cNvSpPr/>
          <p:nvPr/>
        </p:nvSpPr>
        <p:spPr>
          <a:xfrm rot="5400000">
            <a:off x="7423232" y="2440690"/>
            <a:ext cx="1530247" cy="677167"/>
          </a:xfrm>
          <a:prstGeom prst="bentArrow">
            <a:avLst>
              <a:gd name="adj1" fmla="val 25000"/>
              <a:gd name="adj2" fmla="val 25267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747083EF-AB2D-AD44-AE8E-98366795C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0277" y="2285192"/>
            <a:ext cx="15357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Jalangi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F320E8-A88D-C243-860D-9C58962FE4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4" t="15595" r="5483" b="14280"/>
          <a:stretch/>
        </p:blipFill>
        <p:spPr>
          <a:xfrm>
            <a:off x="3067707" y="1189445"/>
            <a:ext cx="4782065" cy="197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3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ED780-FE0B-D642-B0EB-EC0CD0EA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EAEEDA-C9DD-0A44-BB49-ABD244863B7F}"/>
              </a:ext>
            </a:extLst>
          </p:cNvPr>
          <p:cNvSpPr/>
          <p:nvPr/>
        </p:nvSpPr>
        <p:spPr>
          <a:xfrm>
            <a:off x="571016" y="3093928"/>
            <a:ext cx="9098466" cy="3021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85400"/>
              </a:lnSpc>
              <a:spcBef>
                <a:spcPts val="229"/>
              </a:spcBef>
            </a:pPr>
            <a:r>
              <a:rPr lang="en-US" sz="2000" dirty="0">
                <a:solidFill>
                  <a:srgbClr val="1F2123"/>
                </a:solidFill>
                <a:latin typeface="Lato"/>
                <a:cs typeface="Lato"/>
              </a:rPr>
              <a:t>Simpliﬁed </a:t>
            </a:r>
            <a:r>
              <a:rPr lang="en-US" sz="2000" spc="5" dirty="0">
                <a:solidFill>
                  <a:srgbClr val="1F2123"/>
                </a:solidFill>
                <a:latin typeface="Lato"/>
                <a:cs typeface="Lato"/>
              </a:rPr>
              <a:t>instrumented </a:t>
            </a:r>
            <a:r>
              <a:rPr lang="en-US" sz="2000" spc="-10" dirty="0">
                <a:solidFill>
                  <a:srgbClr val="1F2123"/>
                </a:solidFill>
                <a:latin typeface="Lato"/>
                <a:cs typeface="Lato"/>
              </a:rPr>
              <a:t>code </a:t>
            </a:r>
            <a:r>
              <a:rPr lang="en-US" sz="2000" spc="5" dirty="0">
                <a:solidFill>
                  <a:srgbClr val="1F2123"/>
                </a:solidFill>
                <a:latin typeface="Lato"/>
                <a:cs typeface="Lato"/>
              </a:rPr>
              <a:t>(provided </a:t>
            </a:r>
            <a:r>
              <a:rPr lang="en-US" sz="2000" spc="-15" dirty="0">
                <a:solidFill>
                  <a:srgbClr val="1F2123"/>
                </a:solidFill>
                <a:latin typeface="Lato"/>
                <a:cs typeface="Lato"/>
              </a:rPr>
              <a:t>by </a:t>
            </a:r>
            <a:r>
              <a:rPr lang="en-US" sz="2000" spc="15" dirty="0" err="1">
                <a:solidFill>
                  <a:srgbClr val="1F2123"/>
                </a:solidFill>
                <a:latin typeface="Lato"/>
                <a:cs typeface="Lato"/>
              </a:rPr>
              <a:t>Jalangi</a:t>
            </a:r>
            <a:r>
              <a:rPr lang="en-US" sz="2000" spc="15" dirty="0">
                <a:solidFill>
                  <a:srgbClr val="1F2123"/>
                </a:solidFill>
                <a:latin typeface="Lato"/>
                <a:cs typeface="Lato"/>
              </a:rPr>
              <a:t>):  </a:t>
            </a:r>
            <a:r>
              <a:rPr lang="en-US" spc="-5" dirty="0" err="1">
                <a:solidFill>
                  <a:srgbClr val="1F2123"/>
                </a:solidFill>
                <a:latin typeface="Courier New"/>
                <a:cs typeface="Courier New"/>
              </a:rPr>
              <a:t>InvokeFun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(Read(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-5" dirty="0" err="1">
                <a:solidFill>
                  <a:srgbClr val="FF0000"/>
                </a:solidFill>
                <a:latin typeface="Courier New"/>
                <a:cs typeface="Courier New"/>
              </a:rPr>
              <a:t>sendToThirdPartySite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), [</a:t>
            </a:r>
            <a:endParaRPr lang="en-US" dirty="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  <a:spcBef>
                <a:spcPts val="215"/>
              </a:spcBef>
            </a:pP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Binary(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'+'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,</a:t>
            </a:r>
            <a:endParaRPr lang="en-US" dirty="0">
              <a:latin typeface="Courier New"/>
              <a:cs typeface="Courier New"/>
            </a:endParaRPr>
          </a:p>
          <a:p>
            <a:pPr marL="560705" marR="1742439" indent="-182880">
              <a:lnSpc>
                <a:spcPct val="114999"/>
              </a:lnSpc>
            </a:pPr>
            <a:r>
              <a:rPr lang="en-US" spc="-5" dirty="0" err="1">
                <a:solidFill>
                  <a:srgbClr val="1F2123"/>
                </a:solidFill>
                <a:latin typeface="Courier New"/>
                <a:cs typeface="Courier New"/>
              </a:rPr>
              <a:t>InvokeFun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(</a:t>
            </a:r>
            <a:r>
              <a:rPr lang="en-US" spc="-5" dirty="0" err="1">
                <a:solidFill>
                  <a:srgbClr val="1F2123"/>
                </a:solidFill>
                <a:latin typeface="Courier New"/>
                <a:cs typeface="Courier New"/>
              </a:rPr>
              <a:t>GetField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(Read(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-5" dirty="0" err="1">
                <a:solidFill>
                  <a:srgbClr val="FF0000"/>
                </a:solidFill>
                <a:latin typeface="Courier New"/>
                <a:cs typeface="Courier New"/>
              </a:rPr>
              <a:t>localStorage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), 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-5" dirty="0" err="1">
                <a:solidFill>
                  <a:srgbClr val="FF0000"/>
                </a:solidFill>
                <a:latin typeface="Courier New"/>
                <a:cs typeface="Courier New"/>
              </a:rPr>
              <a:t>getItem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), [  Literal(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'secret'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)</a:t>
            </a:r>
            <a:endParaRPr lang="en-US" dirty="0">
              <a:latin typeface="Courier New"/>
              <a:cs typeface="Courier New"/>
            </a:endParaRPr>
          </a:p>
          <a:p>
            <a:pPr marL="377825">
              <a:lnSpc>
                <a:spcPct val="100000"/>
              </a:lnSpc>
              <a:spcBef>
                <a:spcPts val="215"/>
              </a:spcBef>
            </a:pP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]),</a:t>
            </a:r>
            <a:endParaRPr lang="en-US" dirty="0">
              <a:latin typeface="Courier New"/>
              <a:cs typeface="Courier New"/>
            </a:endParaRPr>
          </a:p>
          <a:p>
            <a:pPr marL="377825">
              <a:lnSpc>
                <a:spcPct val="100000"/>
              </a:lnSpc>
              <a:spcBef>
                <a:spcPts val="215"/>
              </a:spcBef>
            </a:pP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Literal(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 is the secret word'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)</a:t>
            </a:r>
            <a:endParaRPr lang="en-US" dirty="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  <a:spcBef>
                <a:spcPts val="219"/>
              </a:spcBef>
            </a:pP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)]);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767E7D-84EA-7241-A9F0-8DAA975F2387}"/>
              </a:ext>
            </a:extLst>
          </p:cNvPr>
          <p:cNvSpPr/>
          <p:nvPr/>
        </p:nvSpPr>
        <p:spPr>
          <a:xfrm>
            <a:off x="213135" y="434226"/>
            <a:ext cx="3750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Code</a:t>
            </a:r>
            <a:r>
              <a:rPr lang="en-US" sz="2800" b="1" spc="-270" dirty="0"/>
              <a:t> </a:t>
            </a:r>
            <a:r>
              <a:rPr lang="en-US" sz="2800" b="1" spc="20" dirty="0"/>
              <a:t>instrumentation</a:t>
            </a:r>
            <a:endParaRPr lang="en-US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BB927-2014-FF42-B0FB-6FDE83790969}"/>
              </a:ext>
            </a:extLst>
          </p:cNvPr>
          <p:cNvSpPr/>
          <p:nvPr/>
        </p:nvSpPr>
        <p:spPr>
          <a:xfrm>
            <a:off x="472336" y="1329791"/>
            <a:ext cx="8883996" cy="1391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15" dirty="0">
                <a:solidFill>
                  <a:srgbClr val="1F2123"/>
                </a:solidFill>
                <a:latin typeface="Lato"/>
                <a:cs typeface="Lato"/>
              </a:rPr>
              <a:t>Original</a:t>
            </a:r>
            <a:r>
              <a:rPr lang="en-US" sz="2000" spc="-95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-10" dirty="0">
                <a:solidFill>
                  <a:srgbClr val="1F2123"/>
                </a:solidFill>
                <a:latin typeface="Lato"/>
                <a:cs typeface="Lato"/>
              </a:rPr>
              <a:t>code:</a:t>
            </a:r>
            <a:endParaRPr lang="en-US" sz="2000" dirty="0">
              <a:latin typeface="Lato"/>
              <a:cs typeface="Lato"/>
            </a:endParaRPr>
          </a:p>
          <a:p>
            <a:pPr marL="12700" marR="5080">
              <a:lnSpc>
                <a:spcPct val="185400"/>
              </a:lnSpc>
              <a:spcBef>
                <a:spcPts val="229"/>
              </a:spcBef>
            </a:pPr>
            <a:r>
              <a:rPr lang="en-US" spc="-5" dirty="0" err="1">
                <a:latin typeface="Courier New"/>
                <a:cs typeface="Courier New"/>
              </a:rPr>
              <a:t>sendToThirdPartySite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(</a:t>
            </a:r>
            <a:r>
              <a:rPr lang="en-US" spc="-5" dirty="0" err="1">
                <a:solidFill>
                  <a:srgbClr val="1F2123"/>
                </a:solidFill>
                <a:latin typeface="Courier New"/>
                <a:cs typeface="Courier New"/>
              </a:rPr>
              <a:t>localStorage.getItem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(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'secret'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) + </a:t>
            </a:r>
            <a:r>
              <a:rPr lang="en-US" spc="-5" dirty="0">
                <a:solidFill>
                  <a:srgbClr val="FF0000"/>
                </a:solidFill>
                <a:latin typeface="Courier New"/>
                <a:cs typeface="Courier New"/>
              </a:rPr>
              <a:t>' is the secret word'</a:t>
            </a:r>
            <a:r>
              <a:rPr lang="en-US" spc="-5" dirty="0">
                <a:solidFill>
                  <a:srgbClr val="1F2123"/>
                </a:solidFill>
                <a:latin typeface="Courier New"/>
                <a:cs typeface="Courier New"/>
              </a:rPr>
              <a:t>);  </a:t>
            </a:r>
          </a:p>
        </p:txBody>
      </p:sp>
    </p:spTree>
    <p:extLst>
      <p:ext uri="{BB962C8B-B14F-4D97-AF65-F5344CB8AC3E}">
        <p14:creationId xmlns:p14="http://schemas.microsoft.com/office/powerpoint/2010/main" val="236549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156D29-B928-AA4D-8C80-5C18CE9D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53C82-2A98-E04C-BFFB-CC59345190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30" t="12717" r="3543" b="10846"/>
          <a:stretch/>
        </p:blipFill>
        <p:spPr>
          <a:xfrm>
            <a:off x="1371600" y="1809750"/>
            <a:ext cx="5943600" cy="2819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E57211-552E-7E4D-AE4C-7996DF032D83}"/>
              </a:ext>
            </a:extLst>
          </p:cNvPr>
          <p:cNvSpPr/>
          <p:nvPr/>
        </p:nvSpPr>
        <p:spPr>
          <a:xfrm>
            <a:off x="211874" y="423747"/>
            <a:ext cx="40925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b="1" spc="10" dirty="0" err="1"/>
              <a:t>Example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8528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05893A-26DA-8F4C-B9B3-A62FD95A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89D0DD-D9AC-6445-A1F9-A013FFD8C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35" y="1166696"/>
            <a:ext cx="9144000" cy="459550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6F54E3-58F9-5E41-AEAF-609EC6258F0C}"/>
              </a:ext>
            </a:extLst>
          </p:cNvPr>
          <p:cNvSpPr/>
          <p:nvPr/>
        </p:nvSpPr>
        <p:spPr>
          <a:xfrm>
            <a:off x="127245" y="346402"/>
            <a:ext cx="69086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800" b="1" spc="10" dirty="0" err="1"/>
              <a:t>Generating</a:t>
            </a:r>
            <a:r>
              <a:rPr lang="it-IT" sz="2800" b="1" spc="-215" dirty="0"/>
              <a:t> </a:t>
            </a:r>
            <a:r>
              <a:rPr lang="it-IT" sz="2800" b="1" spc="20" dirty="0" err="1"/>
              <a:t>Abstract</a:t>
            </a:r>
            <a:r>
              <a:rPr lang="it-IT" sz="2800" b="1" spc="-215" dirty="0"/>
              <a:t> M</a:t>
            </a:r>
            <a:r>
              <a:rPr lang="it-IT" sz="2800" b="1" dirty="0"/>
              <a:t>achine</a:t>
            </a:r>
            <a:r>
              <a:rPr lang="it-IT" sz="2800" b="1" spc="-210" dirty="0"/>
              <a:t> </a:t>
            </a:r>
            <a:r>
              <a:rPr lang="it-IT" sz="2800" b="1" spc="20" dirty="0" err="1"/>
              <a:t>Instructions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4192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285FB7-DD0A-7A45-8B3F-CFF1ACB3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317D3E-213D-E848-9C06-2E1B78B57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1150"/>
            <a:ext cx="9144000" cy="36460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FD6B200-CD98-C349-84C5-45DC49A3BBD9}"/>
              </a:ext>
            </a:extLst>
          </p:cNvPr>
          <p:cNvSpPr/>
          <p:nvPr/>
        </p:nvSpPr>
        <p:spPr>
          <a:xfrm>
            <a:off x="127245" y="346402"/>
            <a:ext cx="69086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800" b="1" spc="10" dirty="0" err="1"/>
              <a:t>Generating</a:t>
            </a:r>
            <a:r>
              <a:rPr lang="it-IT" sz="2800" b="1" spc="-215" dirty="0"/>
              <a:t> </a:t>
            </a:r>
            <a:r>
              <a:rPr lang="it-IT" sz="2800" b="1" spc="20" dirty="0" err="1"/>
              <a:t>Abstract</a:t>
            </a:r>
            <a:r>
              <a:rPr lang="it-IT" sz="2800" b="1" spc="-215" dirty="0"/>
              <a:t> M</a:t>
            </a:r>
            <a:r>
              <a:rPr lang="it-IT" sz="2800" b="1" dirty="0"/>
              <a:t>achine</a:t>
            </a:r>
            <a:r>
              <a:rPr lang="it-IT" sz="2800" b="1" spc="-210" dirty="0"/>
              <a:t> </a:t>
            </a:r>
            <a:r>
              <a:rPr lang="it-IT" sz="2800" b="1" spc="20" dirty="0" err="1"/>
              <a:t>Instructions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0233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E33067-6E3C-A341-AE73-3668A0C5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56AED-E16C-A546-9ED8-214AC6493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" y="1352550"/>
            <a:ext cx="9162288" cy="44624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A79515-DDCF-3442-9107-9E39C71F7992}"/>
              </a:ext>
            </a:extLst>
          </p:cNvPr>
          <p:cNvSpPr/>
          <p:nvPr/>
        </p:nvSpPr>
        <p:spPr>
          <a:xfrm>
            <a:off x="127245" y="346402"/>
            <a:ext cx="69086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800" b="1" spc="10" dirty="0" err="1"/>
              <a:t>Generating</a:t>
            </a:r>
            <a:r>
              <a:rPr lang="it-IT" sz="2800" b="1" spc="-215" dirty="0"/>
              <a:t> </a:t>
            </a:r>
            <a:r>
              <a:rPr lang="it-IT" sz="2800" b="1" spc="20" dirty="0" err="1"/>
              <a:t>Abstract</a:t>
            </a:r>
            <a:r>
              <a:rPr lang="it-IT" sz="2800" b="1" spc="-215" dirty="0"/>
              <a:t> M</a:t>
            </a:r>
            <a:r>
              <a:rPr lang="it-IT" sz="2800" b="1" dirty="0"/>
              <a:t>achine</a:t>
            </a:r>
            <a:r>
              <a:rPr lang="it-IT" sz="2800" b="1" spc="-210" dirty="0"/>
              <a:t> </a:t>
            </a:r>
            <a:r>
              <a:rPr lang="it-IT" sz="2800" b="1" spc="20" dirty="0" err="1"/>
              <a:t>Instructions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2567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70AB38-CB16-DB41-810B-122B8AD0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4CFE4AA-E092-0C49-8559-7426827DF24C}"/>
              </a:ext>
            </a:extLst>
          </p:cNvPr>
          <p:cNvSpPr/>
          <p:nvPr/>
        </p:nvSpPr>
        <p:spPr>
          <a:xfrm>
            <a:off x="4638908" y="1427357"/>
            <a:ext cx="4264064" cy="4438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159D5-8F43-4C4A-ACF3-2D579B6CF218}"/>
              </a:ext>
            </a:extLst>
          </p:cNvPr>
          <p:cNvSpPr/>
          <p:nvPr/>
        </p:nvSpPr>
        <p:spPr>
          <a:xfrm>
            <a:off x="373989" y="1919071"/>
            <a:ext cx="4953000" cy="1182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10" dirty="0">
                <a:solidFill>
                  <a:srgbClr val="1F2123"/>
                </a:solidFill>
                <a:latin typeface="Lato"/>
                <a:cs typeface="Lato"/>
              </a:rPr>
              <a:t>- Crawl</a:t>
            </a:r>
            <a:r>
              <a:rPr lang="en-US" sz="2000" spc="-12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5" dirty="0">
                <a:solidFill>
                  <a:srgbClr val="1F2123"/>
                </a:solidFill>
                <a:latin typeface="Lato"/>
                <a:cs typeface="Lato"/>
              </a:rPr>
              <a:t>the</a:t>
            </a:r>
            <a:r>
              <a:rPr lang="en-US" sz="2000" spc="-114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-5" dirty="0">
                <a:solidFill>
                  <a:srgbClr val="1F2123"/>
                </a:solidFill>
                <a:latin typeface="Lato"/>
                <a:cs typeface="Lato"/>
              </a:rPr>
              <a:t>top</a:t>
            </a:r>
            <a:r>
              <a:rPr lang="en-US" sz="2000" spc="-114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10" dirty="0">
                <a:solidFill>
                  <a:srgbClr val="1F2123"/>
                </a:solidFill>
                <a:latin typeface="Lato"/>
                <a:cs typeface="Lato"/>
              </a:rPr>
              <a:t>5k</a:t>
            </a:r>
            <a:r>
              <a:rPr lang="en-US" sz="2000" spc="-114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10" dirty="0">
                <a:solidFill>
                  <a:srgbClr val="1F2123"/>
                </a:solidFill>
                <a:latin typeface="Lato"/>
                <a:cs typeface="Lato"/>
              </a:rPr>
              <a:t>sites</a:t>
            </a:r>
            <a:endParaRPr lang="en-US" sz="2000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lang="en-US" sz="2000" spc="-5" dirty="0">
                <a:solidFill>
                  <a:srgbClr val="1F2123"/>
                </a:solidFill>
                <a:latin typeface="Lato"/>
                <a:cs typeface="Lato"/>
              </a:rPr>
              <a:t>- For</a:t>
            </a:r>
            <a:r>
              <a:rPr lang="en-US" sz="2000" spc="-11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-5" dirty="0">
                <a:solidFill>
                  <a:srgbClr val="1F2123"/>
                </a:solidFill>
                <a:latin typeface="Lato"/>
                <a:cs typeface="Lato"/>
              </a:rPr>
              <a:t>each</a:t>
            </a:r>
            <a:r>
              <a:rPr lang="en-US" sz="2000" spc="-11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dirty="0">
                <a:solidFill>
                  <a:srgbClr val="1F2123"/>
                </a:solidFill>
                <a:latin typeface="Lato"/>
                <a:cs typeface="Lato"/>
              </a:rPr>
              <a:t>site,</a:t>
            </a:r>
            <a:r>
              <a:rPr lang="en-US" sz="2000" spc="-11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5" dirty="0">
                <a:solidFill>
                  <a:srgbClr val="1F2123"/>
                </a:solidFill>
                <a:latin typeface="Lato"/>
                <a:cs typeface="Lato"/>
              </a:rPr>
              <a:t>wait</a:t>
            </a:r>
            <a:r>
              <a:rPr lang="en-US" sz="2000" spc="-11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dirty="0">
                <a:solidFill>
                  <a:srgbClr val="1F2123"/>
                </a:solidFill>
                <a:latin typeface="Lato"/>
                <a:cs typeface="Lato"/>
              </a:rPr>
              <a:t>60</a:t>
            </a:r>
            <a:r>
              <a:rPr lang="en-US" sz="2000" spc="-11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-10" dirty="0">
                <a:solidFill>
                  <a:srgbClr val="1F2123"/>
                </a:solidFill>
                <a:latin typeface="Lato"/>
                <a:cs typeface="Lato"/>
              </a:rPr>
              <a:t>seconds</a:t>
            </a:r>
            <a:r>
              <a:rPr lang="en-US" sz="2000" spc="-11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dirty="0">
                <a:solidFill>
                  <a:srgbClr val="1F2123"/>
                </a:solidFill>
                <a:latin typeface="Lato"/>
                <a:cs typeface="Lato"/>
              </a:rPr>
              <a:t>to</a:t>
            </a:r>
            <a:r>
              <a:rPr lang="en-US" sz="2000" spc="-105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-5" dirty="0">
                <a:solidFill>
                  <a:srgbClr val="1F2123"/>
                </a:solidFill>
                <a:latin typeface="Lato"/>
                <a:cs typeface="Lato"/>
              </a:rPr>
              <a:t>complete</a:t>
            </a:r>
            <a:r>
              <a:rPr lang="en-US" sz="2000" spc="-110" dirty="0">
                <a:solidFill>
                  <a:srgbClr val="1F2123"/>
                </a:solidFill>
                <a:latin typeface="Lato"/>
                <a:cs typeface="Lato"/>
              </a:rPr>
              <a:t> </a:t>
            </a:r>
            <a:r>
              <a:rPr lang="en-US" sz="2000" spc="-5" dirty="0">
                <a:solidFill>
                  <a:srgbClr val="1F2123"/>
                </a:solidFill>
                <a:latin typeface="Lato"/>
                <a:cs typeface="Lato"/>
              </a:rPr>
              <a:t>loading.</a:t>
            </a:r>
            <a:endParaRPr lang="en-US" sz="2000" dirty="0">
              <a:latin typeface="Lato"/>
              <a:cs typeface="Lat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D0E8B7-39A7-274F-ACB5-609F66CB9206}"/>
              </a:ext>
            </a:extLst>
          </p:cNvPr>
          <p:cNvSpPr/>
          <p:nvPr/>
        </p:nvSpPr>
        <p:spPr>
          <a:xfrm>
            <a:off x="373989" y="501134"/>
            <a:ext cx="2366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-40" dirty="0"/>
              <a:t>Web</a:t>
            </a:r>
            <a:r>
              <a:rPr lang="en-US" sz="2800" b="1" spc="-285" dirty="0"/>
              <a:t> </a:t>
            </a:r>
            <a:r>
              <a:rPr lang="en-US" sz="2800" b="1" spc="5" dirty="0"/>
              <a:t>crawling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9004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478919-6B26-DB48-98E4-21F3AD0F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C6ACD4-D6E4-224E-9A1F-389C64EBE48C}"/>
              </a:ext>
            </a:extLst>
          </p:cNvPr>
          <p:cNvSpPr/>
          <p:nvPr/>
        </p:nvSpPr>
        <p:spPr>
          <a:xfrm>
            <a:off x="888445" y="5451669"/>
            <a:ext cx="7961042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1240"/>
              </a:spcBef>
            </a:pPr>
            <a:r>
              <a:rPr lang="en-US" sz="1400" spc="-35" dirty="0">
                <a:solidFill>
                  <a:srgbClr val="424242"/>
                </a:solidFill>
                <a:latin typeface="Lato"/>
                <a:cs typeface="Lato"/>
              </a:rPr>
              <a:t>* </a:t>
            </a:r>
            <a:r>
              <a:rPr lang="en-US" sz="1400" spc="-30" dirty="0">
                <a:solidFill>
                  <a:srgbClr val="424242"/>
                </a:solidFill>
                <a:latin typeface="Lato"/>
                <a:cs typeface="Lato"/>
              </a:rPr>
              <a:t>We </a:t>
            </a:r>
            <a:r>
              <a:rPr lang="en-US" sz="1400" dirty="0">
                <a:solidFill>
                  <a:srgbClr val="424242"/>
                </a:solidFill>
                <a:latin typeface="Lato"/>
                <a:cs typeface="Lato"/>
              </a:rPr>
              <a:t>match the </a:t>
            </a:r>
            <a:r>
              <a:rPr lang="en-US" sz="1400" spc="5" dirty="0">
                <a:solidFill>
                  <a:srgbClr val="424242"/>
                </a:solidFill>
                <a:latin typeface="Lato"/>
                <a:cs typeface="Lato"/>
              </a:rPr>
              <a:t>URL </a:t>
            </a:r>
            <a:r>
              <a:rPr lang="en-US" sz="1400" spc="-20" dirty="0">
                <a:solidFill>
                  <a:srgbClr val="424242"/>
                </a:solidFill>
                <a:latin typeface="Lato"/>
                <a:cs typeface="Lato"/>
              </a:rPr>
              <a:t>of </a:t>
            </a:r>
            <a:r>
              <a:rPr lang="en-US" sz="1400" dirty="0">
                <a:solidFill>
                  <a:srgbClr val="424242"/>
                </a:solidFill>
                <a:latin typeface="Lato"/>
                <a:cs typeface="Lato"/>
              </a:rPr>
              <a:t>the </a:t>
            </a:r>
            <a:r>
              <a:rPr lang="en-US" sz="1400" spc="10" dirty="0">
                <a:solidFill>
                  <a:srgbClr val="424242"/>
                </a:solidFill>
                <a:latin typeface="Lato"/>
                <a:cs typeface="Lato"/>
              </a:rPr>
              <a:t>script </a:t>
            </a:r>
            <a:r>
              <a:rPr lang="en-US" sz="1400" dirty="0">
                <a:solidFill>
                  <a:srgbClr val="424242"/>
                </a:solidFill>
                <a:latin typeface="Lato"/>
                <a:cs typeface="Lato"/>
              </a:rPr>
              <a:t>where the operation has </a:t>
            </a:r>
            <a:r>
              <a:rPr lang="en-US" sz="1400" spc="-5" dirty="0">
                <a:solidFill>
                  <a:srgbClr val="424242"/>
                </a:solidFill>
                <a:latin typeface="Lato"/>
                <a:cs typeface="Lato"/>
              </a:rPr>
              <a:t>been </a:t>
            </a:r>
            <a:r>
              <a:rPr lang="en-US" sz="1400" spc="-15" dirty="0">
                <a:solidFill>
                  <a:srgbClr val="424242"/>
                </a:solidFill>
                <a:latin typeface="Lato"/>
                <a:cs typeface="Lato"/>
              </a:rPr>
              <a:t>executed </a:t>
            </a:r>
            <a:r>
              <a:rPr lang="en-US" sz="1400" spc="5" dirty="0">
                <a:solidFill>
                  <a:srgbClr val="424242"/>
                </a:solidFill>
                <a:latin typeface="Lato"/>
                <a:cs typeface="Lato"/>
              </a:rPr>
              <a:t>against </a:t>
            </a:r>
            <a:r>
              <a:rPr lang="en-US" sz="1400" dirty="0">
                <a:solidFill>
                  <a:srgbClr val="424242"/>
                </a:solidFill>
                <a:latin typeface="Lato"/>
                <a:cs typeface="Lato"/>
              </a:rPr>
              <a:t>the </a:t>
            </a:r>
            <a:r>
              <a:rPr lang="en-US" sz="1400" spc="5" dirty="0">
                <a:solidFill>
                  <a:srgbClr val="424242"/>
                </a:solidFill>
                <a:latin typeface="Lato"/>
                <a:cs typeface="Lato"/>
              </a:rPr>
              <a:t>popular  </a:t>
            </a:r>
            <a:r>
              <a:rPr lang="en-US" sz="1400" b="1" dirty="0" err="1">
                <a:solidFill>
                  <a:srgbClr val="424242"/>
                </a:solidFill>
                <a:latin typeface="Lato"/>
                <a:cs typeface="Lato"/>
              </a:rPr>
              <a:t>EasyList</a:t>
            </a:r>
            <a:r>
              <a:rPr lang="en-US" sz="1400" b="1" dirty="0">
                <a:solidFill>
                  <a:srgbClr val="424242"/>
                </a:solidFill>
                <a:latin typeface="Lato"/>
                <a:cs typeface="Lato"/>
              </a:rPr>
              <a:t>/</a:t>
            </a:r>
            <a:r>
              <a:rPr lang="en-US" sz="1400" b="1" dirty="0" err="1">
                <a:solidFill>
                  <a:srgbClr val="424242"/>
                </a:solidFill>
                <a:latin typeface="Lato"/>
                <a:cs typeface="Lato"/>
              </a:rPr>
              <a:t>EasyPrivacy</a:t>
            </a:r>
            <a:r>
              <a:rPr lang="en-US" sz="1400" b="1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400" b="1" spc="15" dirty="0">
                <a:solidFill>
                  <a:srgbClr val="424242"/>
                </a:solidFill>
                <a:latin typeface="Lato"/>
                <a:cs typeface="Lato"/>
              </a:rPr>
              <a:t>ﬁlter</a:t>
            </a:r>
            <a:r>
              <a:rPr lang="en-US" sz="1400" b="1" spc="-18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400" b="1" spc="5" dirty="0">
                <a:solidFill>
                  <a:srgbClr val="424242"/>
                </a:solidFill>
                <a:latin typeface="Lato"/>
                <a:cs typeface="Lato"/>
              </a:rPr>
              <a:t>lists.</a:t>
            </a:r>
            <a:endParaRPr lang="en-US" sz="1400" b="1" dirty="0">
              <a:latin typeface="Lato"/>
              <a:cs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02EED0-2598-5C48-810E-C6A17D48CD9E}"/>
              </a:ext>
            </a:extLst>
          </p:cNvPr>
          <p:cNvSpPr/>
          <p:nvPr/>
        </p:nvSpPr>
        <p:spPr>
          <a:xfrm>
            <a:off x="0" y="434226"/>
            <a:ext cx="50424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15" dirty="0"/>
              <a:t>Information </a:t>
            </a:r>
            <a:r>
              <a:rPr lang="en-US" sz="2800" b="1" spc="-30" dirty="0"/>
              <a:t>ﬂow</a:t>
            </a:r>
            <a:r>
              <a:rPr lang="en-US" sz="2800" b="1" spc="-440" dirty="0"/>
              <a:t> </a:t>
            </a:r>
            <a:r>
              <a:rPr lang="en-US" sz="2800" b="1" spc="10" dirty="0"/>
              <a:t>classiﬁcation</a:t>
            </a:r>
            <a:endParaRPr lang="en-US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2D2EC-1A56-A242-ACD7-345A75AC249E}"/>
              </a:ext>
            </a:extLst>
          </p:cNvPr>
          <p:cNvSpPr/>
          <p:nvPr/>
        </p:nvSpPr>
        <p:spPr>
          <a:xfrm>
            <a:off x="89406" y="1316544"/>
            <a:ext cx="4953000" cy="12593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299720">
              <a:lnSpc>
                <a:spcPts val="1870"/>
              </a:lnSpc>
              <a:spcBef>
                <a:spcPts val="100"/>
              </a:spcBef>
              <a:buFont typeface="Lato"/>
              <a:buChar char="-"/>
              <a:tabLst>
                <a:tab pos="469265" algn="l"/>
                <a:tab pos="469900" algn="l"/>
              </a:tabLst>
            </a:pPr>
            <a:r>
              <a:rPr lang="en-US" sz="1600" b="1" spc="5" dirty="0">
                <a:solidFill>
                  <a:srgbClr val="424242"/>
                </a:solidFill>
                <a:latin typeface="Lato"/>
                <a:cs typeface="Lato"/>
              </a:rPr>
              <a:t>Security</a:t>
            </a:r>
            <a:endParaRPr lang="en-US" sz="1600" dirty="0">
              <a:latin typeface="Lato"/>
              <a:cs typeface="Lato"/>
            </a:endParaRPr>
          </a:p>
          <a:p>
            <a:pPr marL="927100" lvl="1" indent="-299720">
              <a:lnSpc>
                <a:spcPts val="1825"/>
              </a:lnSpc>
              <a:buFont typeface="Lato"/>
              <a:buChar char="-"/>
              <a:tabLst>
                <a:tab pos="926465" algn="l"/>
                <a:tab pos="927100" algn="l"/>
              </a:tabLst>
            </a:pPr>
            <a:r>
              <a:rPr lang="en-US" sz="1600" i="1" spc="-10" dirty="0">
                <a:solidFill>
                  <a:srgbClr val="424242"/>
                </a:solidFill>
                <a:latin typeface="Lato"/>
                <a:cs typeface="Lato"/>
              </a:rPr>
              <a:t>Conﬁdentiality</a:t>
            </a:r>
            <a:r>
              <a:rPr lang="en-US" sz="1600" i="1" spc="-7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20" dirty="0">
                <a:solidFill>
                  <a:srgbClr val="424242"/>
                </a:solidFill>
                <a:latin typeface="Lato"/>
                <a:cs typeface="Lato"/>
              </a:rPr>
              <a:t>(reads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5" dirty="0">
                <a:solidFill>
                  <a:srgbClr val="424242"/>
                </a:solidFill>
                <a:latin typeface="Lato"/>
                <a:cs typeface="Lato"/>
              </a:rPr>
              <a:t>from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25" dirty="0">
                <a:solidFill>
                  <a:srgbClr val="424242"/>
                </a:solidFill>
                <a:latin typeface="Lato"/>
                <a:cs typeface="Lato"/>
              </a:rPr>
              <a:t>Web</a:t>
            </a:r>
            <a:r>
              <a:rPr lang="en-US" sz="1600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5" dirty="0">
                <a:solidFill>
                  <a:srgbClr val="424242"/>
                </a:solidFill>
                <a:latin typeface="Lato"/>
                <a:cs typeface="Lato"/>
              </a:rPr>
              <a:t>Storage,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stored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data</a:t>
            </a:r>
            <a:r>
              <a:rPr lang="en-US" sz="1600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i="1" spc="-15" dirty="0">
                <a:solidFill>
                  <a:srgbClr val="424242"/>
                </a:solidFill>
                <a:latin typeface="Lato"/>
                <a:cs typeface="Lato"/>
              </a:rPr>
              <a:t>may</a:t>
            </a:r>
            <a:r>
              <a:rPr lang="en-US" sz="1600" i="1" spc="-6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5" dirty="0">
                <a:solidFill>
                  <a:srgbClr val="424242"/>
                </a:solidFill>
                <a:latin typeface="Lato"/>
                <a:cs typeface="Lato"/>
              </a:rPr>
              <a:t>be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5" dirty="0">
                <a:solidFill>
                  <a:srgbClr val="424242"/>
                </a:solidFill>
                <a:latin typeface="Lato"/>
                <a:cs typeface="Lato"/>
              </a:rPr>
              <a:t>leaked)</a:t>
            </a:r>
            <a:endParaRPr lang="en-US" sz="1600" dirty="0">
              <a:latin typeface="Lato"/>
              <a:cs typeface="Lato"/>
            </a:endParaRPr>
          </a:p>
          <a:p>
            <a:pPr marL="927100" lvl="1" indent="-299720">
              <a:lnSpc>
                <a:spcPts val="1825"/>
              </a:lnSpc>
              <a:buFont typeface="Lato"/>
              <a:buChar char="-"/>
              <a:tabLst>
                <a:tab pos="926465" algn="l"/>
                <a:tab pos="927100" algn="l"/>
              </a:tabLst>
            </a:pPr>
            <a:r>
              <a:rPr lang="en-US" sz="1600" i="1" spc="-10" dirty="0">
                <a:solidFill>
                  <a:srgbClr val="424242"/>
                </a:solidFill>
                <a:latin typeface="Lato"/>
                <a:cs typeface="Lato"/>
              </a:rPr>
              <a:t>Integrity</a:t>
            </a:r>
            <a:r>
              <a:rPr lang="en-US" sz="1600" i="1" spc="-7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5" dirty="0">
                <a:solidFill>
                  <a:srgbClr val="424242"/>
                </a:solidFill>
                <a:latin typeface="Lato"/>
                <a:cs typeface="Lato"/>
              </a:rPr>
              <a:t>(writes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dirty="0">
                <a:solidFill>
                  <a:srgbClr val="424242"/>
                </a:solidFill>
                <a:latin typeface="Lato"/>
                <a:cs typeface="Lato"/>
              </a:rPr>
              <a:t>to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25" dirty="0">
                <a:solidFill>
                  <a:srgbClr val="424242"/>
                </a:solidFill>
                <a:latin typeface="Lato"/>
                <a:cs typeface="Lato"/>
              </a:rPr>
              <a:t>Web</a:t>
            </a:r>
            <a:r>
              <a:rPr lang="en-US" sz="1600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5" dirty="0">
                <a:solidFill>
                  <a:srgbClr val="424242"/>
                </a:solidFill>
                <a:latin typeface="Lato"/>
                <a:cs typeface="Lato"/>
              </a:rPr>
              <a:t>Storage,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stored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data</a:t>
            </a:r>
            <a:r>
              <a:rPr lang="en-US" sz="1600" spc="-1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i="1" spc="-15" dirty="0">
                <a:solidFill>
                  <a:srgbClr val="424242"/>
                </a:solidFill>
                <a:latin typeface="Lato"/>
                <a:cs typeface="Lato"/>
              </a:rPr>
              <a:t>may</a:t>
            </a:r>
            <a:r>
              <a:rPr lang="en-US" sz="1600" i="1" spc="-6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5" dirty="0">
                <a:solidFill>
                  <a:srgbClr val="424242"/>
                </a:solidFill>
                <a:latin typeface="Lato"/>
                <a:cs typeface="Lato"/>
              </a:rPr>
              <a:t>be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tampered)</a:t>
            </a:r>
            <a:endParaRPr lang="en-US" sz="1600" dirty="0">
              <a:latin typeface="Lato"/>
              <a:cs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65C69-1A4D-F24F-ABE1-43ED3AAB3A21}"/>
              </a:ext>
            </a:extLst>
          </p:cNvPr>
          <p:cNvSpPr/>
          <p:nvPr/>
        </p:nvSpPr>
        <p:spPr>
          <a:xfrm>
            <a:off x="5182122" y="1342182"/>
            <a:ext cx="4953000" cy="12464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299720">
              <a:lnSpc>
                <a:spcPts val="1825"/>
              </a:lnSpc>
              <a:buFont typeface="Lato"/>
              <a:buChar char="-"/>
              <a:tabLst>
                <a:tab pos="469265" algn="l"/>
                <a:tab pos="469900" algn="l"/>
              </a:tabLst>
            </a:pPr>
            <a:r>
              <a:rPr lang="en-US" sz="1600" b="1" dirty="0">
                <a:solidFill>
                  <a:srgbClr val="424242"/>
                </a:solidFill>
                <a:latin typeface="Lato"/>
                <a:cs typeface="Lato"/>
              </a:rPr>
              <a:t>Conﬁnement</a:t>
            </a:r>
            <a:endParaRPr lang="en-US" sz="1600" dirty="0">
              <a:latin typeface="Lato"/>
              <a:cs typeface="Lato"/>
            </a:endParaRPr>
          </a:p>
          <a:p>
            <a:pPr marL="927100" lvl="1" indent="-299720">
              <a:lnSpc>
                <a:spcPts val="1825"/>
              </a:lnSpc>
              <a:buFont typeface="Lato"/>
              <a:buChar char="-"/>
              <a:tabLst>
                <a:tab pos="926465" algn="l"/>
                <a:tab pos="927100" algn="l"/>
              </a:tabLst>
            </a:pPr>
            <a:r>
              <a:rPr lang="en-US" sz="1600" i="1" spc="-5" dirty="0">
                <a:solidFill>
                  <a:srgbClr val="424242"/>
                </a:solidFill>
                <a:latin typeface="Lato"/>
                <a:cs typeface="Lato"/>
              </a:rPr>
              <a:t>Internal</a:t>
            </a:r>
            <a:r>
              <a:rPr lang="en-US" sz="1600" i="1" spc="-7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25" dirty="0">
                <a:solidFill>
                  <a:srgbClr val="424242"/>
                </a:solidFill>
                <a:latin typeface="Lato"/>
                <a:cs typeface="Lato"/>
              </a:rPr>
              <a:t>(is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stored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data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10" dirty="0">
                <a:solidFill>
                  <a:srgbClr val="424242"/>
                </a:solidFill>
                <a:latin typeface="Lato"/>
                <a:cs typeface="Lato"/>
              </a:rPr>
              <a:t>conﬁned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dirty="0">
                <a:solidFill>
                  <a:srgbClr val="424242"/>
                </a:solidFill>
                <a:latin typeface="Lato"/>
                <a:cs typeface="Lato"/>
              </a:rPr>
              <a:t>to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z="1600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ﬁrst-party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5" dirty="0">
                <a:solidFill>
                  <a:srgbClr val="424242"/>
                </a:solidFill>
                <a:latin typeface="Lato"/>
                <a:cs typeface="Lato"/>
              </a:rPr>
              <a:t>domain?)</a:t>
            </a:r>
            <a:endParaRPr lang="en-US" sz="1600" dirty="0">
              <a:latin typeface="Lato"/>
              <a:cs typeface="Lato"/>
            </a:endParaRPr>
          </a:p>
          <a:p>
            <a:pPr marL="927100" lvl="1" indent="-299720">
              <a:lnSpc>
                <a:spcPts val="1825"/>
              </a:lnSpc>
              <a:buFont typeface="Lato"/>
              <a:buChar char="-"/>
              <a:tabLst>
                <a:tab pos="926465" algn="l"/>
                <a:tab pos="927100" algn="l"/>
              </a:tabLst>
            </a:pPr>
            <a:r>
              <a:rPr lang="en-US" sz="1600" i="1" spc="-10" dirty="0">
                <a:solidFill>
                  <a:srgbClr val="424242"/>
                </a:solidFill>
                <a:latin typeface="Lato"/>
                <a:cs typeface="Lato"/>
              </a:rPr>
              <a:t>External</a:t>
            </a:r>
            <a:r>
              <a:rPr lang="en-US" sz="1600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25" dirty="0">
                <a:solidFill>
                  <a:srgbClr val="424242"/>
                </a:solidFill>
                <a:latin typeface="Lato"/>
                <a:cs typeface="Lato"/>
              </a:rPr>
              <a:t>(is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stored</a:t>
            </a:r>
            <a:r>
              <a:rPr lang="en-US" sz="1600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data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dirty="0">
                <a:solidFill>
                  <a:srgbClr val="424242"/>
                </a:solidFill>
                <a:latin typeface="Lato"/>
                <a:cs typeface="Lato"/>
              </a:rPr>
              <a:t>sent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20" dirty="0">
                <a:solidFill>
                  <a:srgbClr val="424242"/>
                </a:solidFill>
                <a:latin typeface="Lato"/>
                <a:cs typeface="Lato"/>
              </a:rPr>
              <a:t>to/received</a:t>
            </a:r>
            <a:r>
              <a:rPr lang="en-US" sz="1600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5" dirty="0">
                <a:solidFill>
                  <a:srgbClr val="424242"/>
                </a:solidFill>
                <a:latin typeface="Lato"/>
                <a:cs typeface="Lato"/>
              </a:rPr>
              <a:t>from</a:t>
            </a:r>
            <a:r>
              <a:rPr lang="en-US" sz="1600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10" dirty="0">
                <a:solidFill>
                  <a:srgbClr val="424242"/>
                </a:solidFill>
                <a:latin typeface="Lato"/>
                <a:cs typeface="Lato"/>
              </a:rPr>
              <a:t>third-party</a:t>
            </a:r>
            <a:r>
              <a:rPr lang="en-US" sz="1600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z="1600" spc="-5" dirty="0">
                <a:solidFill>
                  <a:srgbClr val="424242"/>
                </a:solidFill>
                <a:latin typeface="Lato"/>
                <a:cs typeface="Lato"/>
              </a:rPr>
              <a:t>domains?)</a:t>
            </a:r>
            <a:endParaRPr lang="en-US" sz="1600" dirty="0">
              <a:latin typeface="Lato"/>
              <a:cs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ABFCB8-EBD3-984C-A65D-A64776674474}"/>
              </a:ext>
            </a:extLst>
          </p:cNvPr>
          <p:cNvSpPr/>
          <p:nvPr/>
        </p:nvSpPr>
        <p:spPr>
          <a:xfrm>
            <a:off x="334549" y="3164467"/>
            <a:ext cx="4953000" cy="7880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299720">
              <a:lnSpc>
                <a:spcPts val="1825"/>
              </a:lnSpc>
              <a:buFont typeface="Lato"/>
              <a:buChar char="-"/>
              <a:tabLst>
                <a:tab pos="469265" algn="l"/>
                <a:tab pos="469900" algn="l"/>
              </a:tabLst>
            </a:pPr>
            <a:r>
              <a:rPr lang="en-US" b="1" spc="-15" dirty="0">
                <a:solidFill>
                  <a:srgbClr val="424242"/>
                </a:solidFill>
                <a:latin typeface="Lato"/>
                <a:cs typeface="Lato"/>
              </a:rPr>
              <a:t>Tracking*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: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</a:p>
          <a:p>
            <a:pPr marL="469900" indent="-299720">
              <a:lnSpc>
                <a:spcPts val="1825"/>
              </a:lnSpc>
              <a:buFont typeface="Lato"/>
              <a:buChar char="-"/>
              <a:tabLst>
                <a:tab pos="469265" algn="l"/>
                <a:tab pos="469900" algn="l"/>
              </a:tabLst>
            </a:pPr>
            <a:r>
              <a:rPr lang="en-US" i="1" spc="-30" dirty="0">
                <a:solidFill>
                  <a:srgbClr val="424242"/>
                </a:solidFill>
                <a:latin typeface="Lato"/>
                <a:cs typeface="Lato"/>
              </a:rPr>
              <a:t>Tracking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vs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-40" dirty="0">
                <a:solidFill>
                  <a:srgbClr val="424242"/>
                </a:solidFill>
                <a:latin typeface="Lato"/>
                <a:cs typeface="Lato"/>
              </a:rPr>
              <a:t>Non-Tracking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25" dirty="0">
                <a:solidFill>
                  <a:srgbClr val="424242"/>
                </a:solidFill>
                <a:latin typeface="Lato"/>
                <a:cs typeface="Lato"/>
              </a:rPr>
              <a:t>(is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25" dirty="0">
                <a:solidFill>
                  <a:srgbClr val="424242"/>
                </a:solidFill>
                <a:latin typeface="Lato"/>
                <a:cs typeface="Lato"/>
              </a:rPr>
              <a:t>Web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Storage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used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for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tracking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purposes?)</a:t>
            </a:r>
            <a:endParaRPr lang="en-US" dirty="0">
              <a:latin typeface="Lato"/>
              <a:cs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B89C1-4B71-D245-97CB-D8EE97E15FD5}"/>
              </a:ext>
            </a:extLst>
          </p:cNvPr>
          <p:cNvSpPr/>
          <p:nvPr/>
        </p:nvSpPr>
        <p:spPr>
          <a:xfrm>
            <a:off x="5287549" y="3245043"/>
            <a:ext cx="4953000" cy="82330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299720">
              <a:lnSpc>
                <a:spcPts val="1870"/>
              </a:lnSpc>
              <a:buFont typeface="Lato"/>
              <a:buChar char="-"/>
              <a:tabLst>
                <a:tab pos="469265" algn="l"/>
                <a:tab pos="469900" algn="l"/>
              </a:tabLst>
            </a:pPr>
            <a:r>
              <a:rPr lang="en-US" b="1" dirty="0">
                <a:solidFill>
                  <a:srgbClr val="424242"/>
                </a:solidFill>
                <a:latin typeface="Lato"/>
                <a:cs typeface="Lato"/>
              </a:rPr>
              <a:t>Persistence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: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</a:p>
          <a:p>
            <a:pPr marL="469900" indent="-299720">
              <a:lnSpc>
                <a:spcPts val="1870"/>
              </a:lnSpc>
              <a:buFont typeface="Lato"/>
              <a:buChar char="-"/>
              <a:tabLst>
                <a:tab pos="469265" algn="l"/>
                <a:tab pos="469900" algn="l"/>
              </a:tabLst>
            </a:pPr>
            <a:r>
              <a:rPr lang="en-US" i="1" spc="-15" dirty="0">
                <a:solidFill>
                  <a:srgbClr val="424242"/>
                </a:solidFill>
                <a:latin typeface="Lato"/>
                <a:cs typeface="Lato"/>
              </a:rPr>
              <a:t>Local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vs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-20" dirty="0">
                <a:solidFill>
                  <a:srgbClr val="424242"/>
                </a:solidFill>
                <a:latin typeface="Lato"/>
                <a:cs typeface="Lato"/>
              </a:rPr>
              <a:t>Session</a:t>
            </a:r>
            <a:r>
              <a:rPr lang="en-US" i="1" spc="-6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(what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type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20" dirty="0">
                <a:solidFill>
                  <a:srgbClr val="424242"/>
                </a:solidFill>
                <a:latin typeface="Lato"/>
                <a:cs typeface="Lato"/>
              </a:rPr>
              <a:t>of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storage</a:t>
            </a:r>
            <a:r>
              <a:rPr lang="en-US" spc="-10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is</a:t>
            </a:r>
            <a:r>
              <a:rPr lang="en-US" spc="-10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0" dirty="0">
                <a:solidFill>
                  <a:srgbClr val="424242"/>
                </a:solidFill>
                <a:latin typeface="Lato"/>
                <a:cs typeface="Lato"/>
              </a:rPr>
              <a:t>involved?)</a:t>
            </a:r>
            <a:endParaRPr lang="en-US" dirty="0"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90654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DCC4FF-7351-A04E-ABD1-57214901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B8E4D-17CA-E140-8BD5-D0DD36CFD215}"/>
              </a:ext>
            </a:extLst>
          </p:cNvPr>
          <p:cNvSpPr/>
          <p:nvPr/>
        </p:nvSpPr>
        <p:spPr>
          <a:xfrm>
            <a:off x="681038" y="1652987"/>
            <a:ext cx="7429500" cy="255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2105"/>
              </a:lnSpc>
              <a:spcBef>
                <a:spcPts val="100"/>
              </a:spcBef>
            </a:pPr>
            <a:r>
              <a:rPr lang="en-US" spc="-35" dirty="0">
                <a:solidFill>
                  <a:srgbClr val="424242"/>
                </a:solidFill>
                <a:latin typeface="Lato"/>
                <a:cs typeface="Lato"/>
              </a:rPr>
              <a:t>We</a:t>
            </a:r>
            <a:r>
              <a:rPr lang="en-US" spc="210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0" dirty="0">
                <a:solidFill>
                  <a:srgbClr val="424242"/>
                </a:solidFill>
                <a:latin typeface="Lato"/>
                <a:cs typeface="Lato"/>
              </a:rPr>
              <a:t>just</a:t>
            </a:r>
            <a:r>
              <a:rPr lang="en-US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consider</a:t>
            </a:r>
            <a:r>
              <a:rPr lang="en-US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information</a:t>
            </a:r>
            <a:r>
              <a:rPr lang="en-US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ﬂows</a:t>
            </a:r>
            <a:r>
              <a:rPr lang="en-US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where</a:t>
            </a:r>
            <a:r>
              <a:rPr lang="en-US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u="sng" spc="-25" dirty="0">
                <a:solidFill>
                  <a:srgbClr val="424242"/>
                </a:solidFill>
                <a:latin typeface="Lato"/>
                <a:cs typeface="Lato"/>
              </a:rPr>
              <a:t>Web</a:t>
            </a:r>
            <a:r>
              <a:rPr lang="en-US" u="sng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u="sng" dirty="0">
                <a:solidFill>
                  <a:srgbClr val="424242"/>
                </a:solidFill>
                <a:latin typeface="Lato"/>
                <a:cs typeface="Lato"/>
              </a:rPr>
              <a:t>Storage</a:t>
            </a:r>
            <a:r>
              <a:rPr lang="en-US" u="sng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is</a:t>
            </a:r>
            <a:r>
              <a:rPr lang="en-US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accessed</a:t>
            </a:r>
            <a:r>
              <a:rPr lang="en-US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for</a:t>
            </a:r>
            <a:r>
              <a:rPr lang="en-US" spc="21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i="1" spc="-10" dirty="0">
                <a:solidFill>
                  <a:srgbClr val="424242"/>
                </a:solidFill>
                <a:latin typeface="Lato"/>
                <a:cs typeface="Lato"/>
              </a:rPr>
              <a:t>either</a:t>
            </a:r>
            <a:r>
              <a:rPr lang="en-US" i="1" dirty="0">
                <a:latin typeface="Lato"/>
                <a:cs typeface="Lato"/>
              </a:rPr>
              <a:t> </a:t>
            </a:r>
            <a:r>
              <a:rPr lang="en-US" b="1" spc="10" dirty="0">
                <a:solidFill>
                  <a:srgbClr val="424242"/>
                </a:solidFill>
                <a:latin typeface="Lato"/>
                <a:cs typeface="Lato"/>
              </a:rPr>
              <a:t>reading </a:t>
            </a:r>
            <a:r>
              <a:rPr lang="en-US" b="1" spc="25" dirty="0">
                <a:solidFill>
                  <a:srgbClr val="424242"/>
                </a:solidFill>
                <a:latin typeface="Lato"/>
                <a:cs typeface="Lato"/>
              </a:rPr>
              <a:t>or</a:t>
            </a:r>
            <a:r>
              <a:rPr lang="en-US" b="1" spc="-24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b="1" spc="5" dirty="0">
                <a:solidFill>
                  <a:srgbClr val="424242"/>
                </a:solidFill>
                <a:latin typeface="Lato"/>
                <a:cs typeface="Lato"/>
              </a:rPr>
              <a:t>writing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.</a:t>
            </a:r>
            <a:endParaRPr lang="en-US" dirty="0">
              <a:latin typeface="Lato"/>
              <a:cs typeface="Lato"/>
            </a:endParaRPr>
          </a:p>
          <a:p>
            <a:pPr>
              <a:lnSpc>
                <a:spcPct val="100000"/>
              </a:lnSpc>
            </a:pPr>
            <a:endParaRPr lang="en-US" sz="2100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lang="en-US" dirty="0">
                <a:latin typeface="Lato"/>
                <a:cs typeface="Lato"/>
              </a:rPr>
              <a:t>Out of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"/>
                <a:cs typeface="Lato"/>
              </a:rPr>
              <a:t>5k</a:t>
            </a:r>
            <a:r>
              <a:rPr lang="en-US" dirty="0">
                <a:latin typeface="Lato"/>
                <a:cs typeface="Lato"/>
              </a:rPr>
              <a:t> sites only </a:t>
            </a:r>
            <a:r>
              <a:rPr lang="en-US" dirty="0">
                <a:solidFill>
                  <a:srgbClr val="4285F4"/>
                </a:solidFill>
                <a:latin typeface="Lato"/>
                <a:cs typeface="Lato"/>
              </a:rPr>
              <a:t>651</a:t>
            </a:r>
            <a:r>
              <a:rPr lang="en-US" spc="-120" dirty="0">
                <a:solidFill>
                  <a:srgbClr val="4285F4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domains With Web Storage API</a:t>
            </a:r>
            <a:endParaRPr lang="en-US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lang="en-US" spc="-10" dirty="0">
                <a:solidFill>
                  <a:srgbClr val="4285F4"/>
                </a:solidFill>
                <a:latin typeface="Lato"/>
                <a:cs typeface="Lato"/>
              </a:rPr>
              <a:t>3,207</a:t>
            </a:r>
            <a:r>
              <a:rPr lang="en-US" spc="-114" dirty="0">
                <a:solidFill>
                  <a:srgbClr val="4285F4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information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ﬂows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5" dirty="0">
                <a:solidFill>
                  <a:srgbClr val="424242"/>
                </a:solidFill>
                <a:latin typeface="Lato"/>
                <a:cs typeface="Lato"/>
              </a:rPr>
              <a:t>involving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the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25" dirty="0">
                <a:solidFill>
                  <a:srgbClr val="424242"/>
                </a:solidFill>
                <a:latin typeface="Lato"/>
                <a:cs typeface="Lato"/>
              </a:rPr>
              <a:t>Web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dirty="0">
                <a:solidFill>
                  <a:srgbClr val="424242"/>
                </a:solidFill>
                <a:latin typeface="Lato"/>
                <a:cs typeface="Lato"/>
              </a:rPr>
              <a:t>Storage</a:t>
            </a:r>
            <a:r>
              <a:rPr lang="en-US" spc="-114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20" dirty="0">
                <a:solidFill>
                  <a:srgbClr val="424242"/>
                </a:solidFill>
                <a:latin typeface="Lato"/>
                <a:cs typeface="Lato"/>
              </a:rPr>
              <a:t>API</a:t>
            </a:r>
            <a:endParaRPr lang="en-US" dirty="0">
              <a:latin typeface="Lato"/>
              <a:cs typeface="Lato"/>
            </a:endParaRPr>
          </a:p>
          <a:p>
            <a:pPr marL="469900" indent="-307975">
              <a:lnSpc>
                <a:spcPts val="2105"/>
              </a:lnSpc>
              <a:spcBef>
                <a:spcPts val="1090"/>
              </a:spcBef>
              <a:buClr>
                <a:srgbClr val="424242"/>
              </a:buClr>
              <a:buChar char="-"/>
              <a:tabLst>
                <a:tab pos="469265" algn="l"/>
                <a:tab pos="469900" algn="l"/>
              </a:tabLst>
            </a:pPr>
            <a:r>
              <a:rPr lang="en-US" dirty="0">
                <a:solidFill>
                  <a:srgbClr val="4285F4"/>
                </a:solidFill>
                <a:latin typeface="Lato"/>
                <a:cs typeface="Lato"/>
              </a:rPr>
              <a:t>531 </a:t>
            </a:r>
            <a:r>
              <a:rPr lang="en-US" spc="5" dirty="0">
                <a:solidFill>
                  <a:srgbClr val="424242"/>
                </a:solidFill>
                <a:latin typeface="Lato"/>
                <a:cs typeface="Lato"/>
              </a:rPr>
              <a:t>conﬁdentiality</a:t>
            </a:r>
            <a:r>
              <a:rPr lang="en-US" spc="-23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ﬂows</a:t>
            </a:r>
            <a:endParaRPr lang="en-US" dirty="0">
              <a:latin typeface="Lato"/>
              <a:cs typeface="Lato"/>
            </a:endParaRPr>
          </a:p>
          <a:p>
            <a:pPr marL="469900" indent="-307975">
              <a:lnSpc>
                <a:spcPts val="2105"/>
              </a:lnSpc>
              <a:buClr>
                <a:srgbClr val="424242"/>
              </a:buClr>
              <a:buChar char="-"/>
              <a:tabLst>
                <a:tab pos="469265" algn="l"/>
                <a:tab pos="469900" algn="l"/>
              </a:tabLst>
            </a:pPr>
            <a:r>
              <a:rPr lang="en-US" spc="-10" dirty="0">
                <a:solidFill>
                  <a:srgbClr val="4285F4"/>
                </a:solidFill>
                <a:latin typeface="Lato"/>
                <a:cs typeface="Lato"/>
              </a:rPr>
              <a:t>2,676 </a:t>
            </a:r>
            <a:r>
              <a:rPr lang="en-US" spc="15" dirty="0">
                <a:solidFill>
                  <a:srgbClr val="424242"/>
                </a:solidFill>
                <a:latin typeface="Lato"/>
                <a:cs typeface="Lato"/>
              </a:rPr>
              <a:t>integrity</a:t>
            </a:r>
            <a:r>
              <a:rPr lang="en-US" spc="-225" dirty="0">
                <a:solidFill>
                  <a:srgbClr val="424242"/>
                </a:solidFill>
                <a:latin typeface="Lato"/>
                <a:cs typeface="Lato"/>
              </a:rPr>
              <a:t> </a:t>
            </a:r>
            <a:r>
              <a:rPr lang="en-US" spc="-15" dirty="0">
                <a:solidFill>
                  <a:srgbClr val="424242"/>
                </a:solidFill>
                <a:latin typeface="Lato"/>
                <a:cs typeface="Lato"/>
              </a:rPr>
              <a:t>ﬂows</a:t>
            </a:r>
            <a:endParaRPr lang="en-US" dirty="0">
              <a:latin typeface="Lato"/>
              <a:cs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1CAA87-00F8-F840-82C5-3CECEDE04340}"/>
              </a:ext>
            </a:extLst>
          </p:cNvPr>
          <p:cNvSpPr/>
          <p:nvPr/>
        </p:nvSpPr>
        <p:spPr>
          <a:xfrm>
            <a:off x="0" y="367319"/>
            <a:ext cx="36070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10" dirty="0"/>
              <a:t>Measurement</a:t>
            </a:r>
            <a:r>
              <a:rPr lang="en-US" sz="2800" b="1" spc="-270" dirty="0"/>
              <a:t> </a:t>
            </a:r>
            <a:r>
              <a:rPr lang="en-US" sz="2800" b="1" spc="30" dirty="0"/>
              <a:t>results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5555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39ACE8-9EB6-3347-B872-761495BF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D56AEBC-F646-E74C-8A7F-FAB148CB6E1D}"/>
              </a:ext>
            </a:extLst>
          </p:cNvPr>
          <p:cNvGraphicFramePr>
            <a:graphicFrameLocks noGrp="1"/>
          </p:cNvGraphicFramePr>
          <p:nvPr/>
        </p:nvGraphicFramePr>
        <p:xfrm>
          <a:off x="467136" y="1935908"/>
          <a:ext cx="8221979" cy="2773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5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5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5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1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Class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#</a:t>
                      </a:r>
                      <a:r>
                        <a:rPr sz="1400" b="1" spc="-7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ﬂows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#</a:t>
                      </a:r>
                      <a:r>
                        <a:rPr sz="1400" b="1" spc="-7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domains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3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Conﬁdentiality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44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Cookies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Network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202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329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66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139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7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Cookies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410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72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1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Integrity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63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400" spc="2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Current</a:t>
                      </a:r>
                      <a:r>
                        <a:rPr sz="1400" spc="-9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 </a:t>
                      </a:r>
                      <a:r>
                        <a:rPr sz="1400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URL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Navigator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89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400" spc="-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1,582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979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89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353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204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89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6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400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Network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89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913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89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40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238</a:t>
                      </a:r>
                      <a:endParaRPr sz="1400" dirty="0">
                        <a:latin typeface="Lato"/>
                        <a:cs typeface="Lato"/>
                      </a:endParaRPr>
                    </a:p>
                  </a:txBody>
                  <a:tcPr marL="0" marR="0" marT="889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91B6121-7625-9948-A853-2F20B9218118}"/>
              </a:ext>
            </a:extLst>
          </p:cNvPr>
          <p:cNvSpPr/>
          <p:nvPr/>
        </p:nvSpPr>
        <p:spPr>
          <a:xfrm>
            <a:off x="0" y="367319"/>
            <a:ext cx="36070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10" dirty="0"/>
              <a:t>Measurement</a:t>
            </a:r>
            <a:r>
              <a:rPr lang="en-US" sz="2800" b="1" spc="-270" dirty="0"/>
              <a:t> </a:t>
            </a:r>
            <a:r>
              <a:rPr lang="en-US" sz="2800" b="1" spc="30" dirty="0"/>
              <a:t>results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1879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06EEC-1C53-564C-BAFB-439F05CC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83CD5F21-4A45-D340-9280-78BA991F524E}"/>
              </a:ext>
            </a:extLst>
          </p:cNvPr>
          <p:cNvSpPr/>
          <p:nvPr/>
        </p:nvSpPr>
        <p:spPr>
          <a:xfrm>
            <a:off x="4190626" y="1934635"/>
            <a:ext cx="4655990" cy="28799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675DA4D9-E545-CF4C-AA02-3734FAD5E478}"/>
              </a:ext>
            </a:extLst>
          </p:cNvPr>
          <p:cNvSpPr txBox="1"/>
          <p:nvPr/>
        </p:nvSpPr>
        <p:spPr>
          <a:xfrm>
            <a:off x="901265" y="2263578"/>
            <a:ext cx="2491105" cy="1891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15"/>
              </a:spcBef>
            </a:pPr>
            <a:r>
              <a:rPr spc="20" dirty="0">
                <a:latin typeface="Lato"/>
                <a:cs typeface="Lato"/>
              </a:rPr>
              <a:t>It</a:t>
            </a:r>
            <a:r>
              <a:rPr spc="-85" dirty="0">
                <a:latin typeface="Lato"/>
                <a:cs typeface="Lato"/>
              </a:rPr>
              <a:t> </a:t>
            </a:r>
            <a:r>
              <a:rPr spc="10" dirty="0">
                <a:latin typeface="Lato"/>
                <a:cs typeface="Lato"/>
              </a:rPr>
              <a:t>is</a:t>
            </a:r>
            <a:r>
              <a:rPr spc="-80" dirty="0">
                <a:latin typeface="Lato"/>
                <a:cs typeface="Lato"/>
              </a:rPr>
              <a:t> </a:t>
            </a:r>
            <a:r>
              <a:rPr spc="5" dirty="0">
                <a:latin typeface="Lato"/>
                <a:cs typeface="Lato"/>
              </a:rPr>
              <a:t>more</a:t>
            </a:r>
            <a:r>
              <a:rPr spc="-80" dirty="0">
                <a:latin typeface="Lato"/>
                <a:cs typeface="Lato"/>
              </a:rPr>
              <a:t> </a:t>
            </a:r>
            <a:r>
              <a:rPr spc="-10" dirty="0">
                <a:latin typeface="Lato"/>
                <a:cs typeface="Lato"/>
              </a:rPr>
              <a:t>common</a:t>
            </a:r>
            <a:r>
              <a:rPr spc="-85" dirty="0">
                <a:latin typeface="Lato"/>
                <a:cs typeface="Lato"/>
              </a:rPr>
              <a:t> </a:t>
            </a:r>
            <a:r>
              <a:rPr dirty="0">
                <a:latin typeface="Lato"/>
                <a:cs typeface="Lato"/>
              </a:rPr>
              <a:t>to</a:t>
            </a:r>
            <a:r>
              <a:rPr spc="-80" dirty="0">
                <a:latin typeface="Lato"/>
                <a:cs typeface="Lato"/>
              </a:rPr>
              <a:t> </a:t>
            </a:r>
            <a:r>
              <a:rPr spc="-5" dirty="0">
                <a:latin typeface="Lato"/>
                <a:cs typeface="Lato"/>
              </a:rPr>
              <a:t>send</a:t>
            </a:r>
            <a:endParaRPr dirty="0">
              <a:latin typeface="Lato"/>
              <a:cs typeface="Lato"/>
            </a:endParaRPr>
          </a:p>
          <a:p>
            <a:pPr marL="12700" marR="5080" algn="just">
              <a:lnSpc>
                <a:spcPct val="114999"/>
              </a:lnSpc>
            </a:pPr>
            <a:r>
              <a:rPr spc="-20" dirty="0">
                <a:latin typeface="Lato"/>
                <a:cs typeface="Lato"/>
              </a:rPr>
              <a:t>Web</a:t>
            </a:r>
            <a:r>
              <a:rPr spc="-85" dirty="0">
                <a:latin typeface="Lato"/>
                <a:cs typeface="Lato"/>
              </a:rPr>
              <a:t> </a:t>
            </a:r>
            <a:r>
              <a:rPr dirty="0">
                <a:latin typeface="Lato"/>
                <a:cs typeface="Lato"/>
              </a:rPr>
              <a:t>Storage</a:t>
            </a:r>
            <a:r>
              <a:rPr spc="-80" dirty="0">
                <a:latin typeface="Lato"/>
                <a:cs typeface="Lato"/>
              </a:rPr>
              <a:t> </a:t>
            </a:r>
            <a:r>
              <a:rPr spc="-5" dirty="0">
                <a:latin typeface="Lato"/>
                <a:cs typeface="Lato"/>
              </a:rPr>
              <a:t>content</a:t>
            </a:r>
            <a:r>
              <a:rPr spc="-85" dirty="0">
                <a:latin typeface="Lato"/>
                <a:cs typeface="Lato"/>
              </a:rPr>
              <a:t> </a:t>
            </a:r>
            <a:r>
              <a:rPr dirty="0">
                <a:latin typeface="Lato"/>
                <a:cs typeface="Lato"/>
              </a:rPr>
              <a:t>to</a:t>
            </a:r>
            <a:r>
              <a:rPr spc="-80" dirty="0">
                <a:latin typeface="Lato"/>
                <a:cs typeface="Lato"/>
              </a:rPr>
              <a:t> </a:t>
            </a:r>
            <a:r>
              <a:rPr spc="15" dirty="0">
                <a:latin typeface="Lato"/>
                <a:cs typeface="Lato"/>
              </a:rPr>
              <a:t>third</a:t>
            </a:r>
            <a:r>
              <a:rPr spc="-85" dirty="0">
                <a:latin typeface="Lato"/>
                <a:cs typeface="Lato"/>
              </a:rPr>
              <a:t> </a:t>
            </a:r>
            <a:r>
              <a:rPr spc="5" dirty="0">
                <a:latin typeface="Lato"/>
                <a:cs typeface="Lato"/>
              </a:rPr>
              <a:t>parties,  </a:t>
            </a:r>
            <a:r>
              <a:rPr spc="15" dirty="0">
                <a:latin typeface="Lato"/>
                <a:cs typeface="Lato"/>
              </a:rPr>
              <a:t>rather</a:t>
            </a:r>
            <a:r>
              <a:rPr spc="-90" dirty="0">
                <a:latin typeface="Lato"/>
                <a:cs typeface="Lato"/>
              </a:rPr>
              <a:t> </a:t>
            </a:r>
            <a:r>
              <a:rPr spc="5" dirty="0">
                <a:latin typeface="Lato"/>
                <a:cs typeface="Lato"/>
              </a:rPr>
              <a:t>than</a:t>
            </a:r>
            <a:r>
              <a:rPr spc="-90" dirty="0">
                <a:latin typeface="Lato"/>
                <a:cs typeface="Lato"/>
              </a:rPr>
              <a:t> </a:t>
            </a:r>
            <a:r>
              <a:rPr spc="-5" dirty="0">
                <a:latin typeface="Lato"/>
                <a:cs typeface="Lato"/>
              </a:rPr>
              <a:t>having</a:t>
            </a:r>
            <a:r>
              <a:rPr spc="-90" dirty="0">
                <a:latin typeface="Lato"/>
                <a:cs typeface="Lato"/>
              </a:rPr>
              <a:t> </a:t>
            </a:r>
            <a:r>
              <a:rPr spc="15" dirty="0">
                <a:latin typeface="Lato"/>
                <a:cs typeface="Lato"/>
              </a:rPr>
              <a:t>third</a:t>
            </a:r>
            <a:r>
              <a:rPr spc="-90" dirty="0">
                <a:latin typeface="Lato"/>
                <a:cs typeface="Lato"/>
              </a:rPr>
              <a:t> </a:t>
            </a:r>
            <a:r>
              <a:rPr spc="10" dirty="0">
                <a:latin typeface="Lato"/>
                <a:cs typeface="Lato"/>
              </a:rPr>
              <a:t>parties</a:t>
            </a:r>
            <a:r>
              <a:rPr spc="-90" dirty="0">
                <a:latin typeface="Lato"/>
                <a:cs typeface="Lato"/>
              </a:rPr>
              <a:t> </a:t>
            </a:r>
            <a:r>
              <a:rPr spc="10" dirty="0">
                <a:latin typeface="Lato"/>
                <a:cs typeface="Lato"/>
              </a:rPr>
              <a:t>write  </a:t>
            </a:r>
            <a:r>
              <a:rPr spc="5" dirty="0">
                <a:latin typeface="Lato"/>
                <a:cs typeface="Lato"/>
              </a:rPr>
              <a:t>information</a:t>
            </a:r>
            <a:r>
              <a:rPr spc="-85" dirty="0">
                <a:latin typeface="Lato"/>
                <a:cs typeface="Lato"/>
              </a:rPr>
              <a:t> </a:t>
            </a:r>
            <a:r>
              <a:rPr spc="5" dirty="0">
                <a:latin typeface="Lato"/>
                <a:cs typeface="Lato"/>
              </a:rPr>
              <a:t>in</a:t>
            </a:r>
            <a:r>
              <a:rPr spc="-80" dirty="0">
                <a:latin typeface="Lato"/>
                <a:cs typeface="Lato"/>
              </a:rPr>
              <a:t> </a:t>
            </a:r>
            <a:r>
              <a:rPr dirty="0">
                <a:latin typeface="Lato"/>
                <a:cs typeface="Lato"/>
              </a:rPr>
              <a:t>the</a:t>
            </a:r>
            <a:r>
              <a:rPr spc="-85" dirty="0">
                <a:latin typeface="Lato"/>
                <a:cs typeface="Lato"/>
              </a:rPr>
              <a:t> </a:t>
            </a:r>
            <a:r>
              <a:rPr spc="-20" dirty="0">
                <a:latin typeface="Lato"/>
                <a:cs typeface="Lato"/>
              </a:rPr>
              <a:t>Web</a:t>
            </a:r>
            <a:r>
              <a:rPr spc="-80" dirty="0">
                <a:latin typeface="Lato"/>
                <a:cs typeface="Lato"/>
              </a:rPr>
              <a:t> </a:t>
            </a:r>
            <a:r>
              <a:rPr spc="-5" dirty="0">
                <a:latin typeface="Lato"/>
                <a:cs typeface="Lato"/>
              </a:rPr>
              <a:t>Storage.</a:t>
            </a:r>
            <a:endParaRPr dirty="0">
              <a:latin typeface="Lato"/>
              <a:cs typeface="Lat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D1A964-6A85-A44B-88EF-B0303B65B867}"/>
              </a:ext>
            </a:extLst>
          </p:cNvPr>
          <p:cNvSpPr/>
          <p:nvPr/>
        </p:nvSpPr>
        <p:spPr>
          <a:xfrm>
            <a:off x="56180" y="392913"/>
            <a:ext cx="41812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10" dirty="0"/>
              <a:t>Security </a:t>
            </a:r>
            <a:r>
              <a:rPr lang="en-US" sz="2800" b="1" spc="-25" dirty="0"/>
              <a:t>&amp;  </a:t>
            </a:r>
            <a:r>
              <a:rPr lang="en-US" sz="2800" b="1" dirty="0"/>
              <a:t>Conﬁnement</a:t>
            </a:r>
          </a:p>
        </p:txBody>
      </p:sp>
    </p:spTree>
    <p:extLst>
      <p:ext uri="{BB962C8B-B14F-4D97-AF65-F5344CB8AC3E}">
        <p14:creationId xmlns:p14="http://schemas.microsoft.com/office/powerpoint/2010/main" val="300609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FA27A-FBCC-064C-B5A0-0F519B4D3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C193AFF-D2C2-8C4A-9B17-74B505412BA3}"/>
              </a:ext>
            </a:extLst>
          </p:cNvPr>
          <p:cNvSpPr/>
          <p:nvPr/>
        </p:nvSpPr>
        <p:spPr>
          <a:xfrm>
            <a:off x="4212929" y="1979240"/>
            <a:ext cx="4655990" cy="2878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3090B3-9349-8A48-B925-74D7A1DEEDBC}"/>
              </a:ext>
            </a:extLst>
          </p:cNvPr>
          <p:cNvSpPr/>
          <p:nvPr/>
        </p:nvSpPr>
        <p:spPr>
          <a:xfrm>
            <a:off x="491582" y="2288723"/>
            <a:ext cx="3433646" cy="2138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en-US" spc="-10" dirty="0">
                <a:latin typeface="Lato"/>
                <a:cs typeface="Lato"/>
              </a:rPr>
              <a:t>Trackers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spc="5" dirty="0">
                <a:latin typeface="Lato"/>
                <a:cs typeface="Lato"/>
              </a:rPr>
              <a:t>routinely</a:t>
            </a:r>
            <a:r>
              <a:rPr lang="en-US" spc="-80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both</a:t>
            </a:r>
            <a:r>
              <a:rPr lang="en-US" spc="-80" dirty="0">
                <a:latin typeface="Lato"/>
                <a:cs typeface="Lato"/>
              </a:rPr>
              <a:t> </a:t>
            </a:r>
            <a:r>
              <a:rPr lang="en-US" spc="10" dirty="0">
                <a:latin typeface="Lato"/>
                <a:cs typeface="Lato"/>
              </a:rPr>
              <a:t>read</a:t>
            </a:r>
            <a:r>
              <a:rPr lang="en-US" spc="-80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and</a:t>
            </a:r>
            <a:r>
              <a:rPr lang="en-US" spc="-80" dirty="0">
                <a:latin typeface="Lato"/>
                <a:cs typeface="Lato"/>
              </a:rPr>
              <a:t> </a:t>
            </a:r>
            <a:r>
              <a:rPr lang="en-US" spc="10" dirty="0">
                <a:latin typeface="Lato"/>
                <a:cs typeface="Lato"/>
              </a:rPr>
              <a:t>write  </a:t>
            </a:r>
            <a:r>
              <a:rPr lang="en-US" spc="-20" dirty="0">
                <a:latin typeface="Lato"/>
                <a:cs typeface="Lato"/>
              </a:rPr>
              <a:t>Web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Storage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spc="5" dirty="0">
                <a:latin typeface="Lato"/>
                <a:cs typeface="Lato"/>
              </a:rPr>
              <a:t>information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spc="5" dirty="0">
                <a:latin typeface="Lato"/>
                <a:cs typeface="Lato"/>
              </a:rPr>
              <a:t>in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the</a:t>
            </a:r>
            <a:r>
              <a:rPr lang="en-US" spc="-80" dirty="0">
                <a:latin typeface="Lato"/>
                <a:cs typeface="Lato"/>
              </a:rPr>
              <a:t> </a:t>
            </a:r>
            <a:r>
              <a:rPr lang="en-US" spc="-5" dirty="0">
                <a:latin typeface="Lato"/>
                <a:cs typeface="Lato"/>
              </a:rPr>
              <a:t>wild.</a:t>
            </a:r>
            <a:endParaRPr lang="en-US" dirty="0">
              <a:latin typeface="Lato"/>
              <a:cs typeface="Lato"/>
            </a:endParaRPr>
          </a:p>
          <a:p>
            <a:pPr marL="12700" marR="239395">
              <a:lnSpc>
                <a:spcPct val="114999"/>
              </a:lnSpc>
              <a:spcBef>
                <a:spcPts val="1200"/>
              </a:spcBef>
            </a:pPr>
            <a:r>
              <a:rPr lang="en-US" dirty="0">
                <a:latin typeface="Lato"/>
                <a:cs typeface="Lato"/>
              </a:rPr>
              <a:t>This </a:t>
            </a:r>
            <a:r>
              <a:rPr lang="en-US" spc="10" dirty="0">
                <a:latin typeface="Lato"/>
                <a:cs typeface="Lato"/>
              </a:rPr>
              <a:t>result is </a:t>
            </a:r>
            <a:r>
              <a:rPr lang="en-US" dirty="0">
                <a:latin typeface="Lato"/>
                <a:cs typeface="Lato"/>
              </a:rPr>
              <a:t>supported </a:t>
            </a:r>
            <a:r>
              <a:rPr lang="en-US" spc="-15" dirty="0">
                <a:latin typeface="Lato"/>
                <a:cs typeface="Lato"/>
              </a:rPr>
              <a:t>by  </a:t>
            </a:r>
            <a:r>
              <a:rPr lang="en-US" dirty="0">
                <a:latin typeface="Lato"/>
                <a:cs typeface="Lato"/>
              </a:rPr>
              <a:t>previous</a:t>
            </a:r>
            <a:r>
              <a:rPr lang="en-US" spc="-90" dirty="0">
                <a:latin typeface="Lato"/>
                <a:cs typeface="Lato"/>
              </a:rPr>
              <a:t> </a:t>
            </a:r>
            <a:r>
              <a:rPr lang="en-US" spc="10" dirty="0">
                <a:latin typeface="Lato"/>
                <a:cs typeface="Lato"/>
              </a:rPr>
              <a:t>research</a:t>
            </a:r>
            <a:r>
              <a:rPr lang="en-US" spc="-90" dirty="0">
                <a:latin typeface="Lato"/>
                <a:cs typeface="Lato"/>
              </a:rPr>
              <a:t> </a:t>
            </a:r>
            <a:r>
              <a:rPr lang="en-US" spc="-10" dirty="0">
                <a:latin typeface="Lato"/>
                <a:cs typeface="Lato"/>
              </a:rPr>
              <a:t>on</a:t>
            </a:r>
            <a:r>
              <a:rPr lang="en-US" spc="-90" dirty="0">
                <a:latin typeface="Lato"/>
                <a:cs typeface="Lato"/>
              </a:rPr>
              <a:t> </a:t>
            </a:r>
            <a:r>
              <a:rPr lang="en-US" spc="-10" dirty="0">
                <a:latin typeface="Lato"/>
                <a:cs typeface="Lato"/>
              </a:rPr>
              <a:t>web</a:t>
            </a:r>
            <a:r>
              <a:rPr lang="en-US" spc="-90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tracking.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F0C1F-D48A-1542-A339-EBAB502FDAC3}"/>
              </a:ext>
            </a:extLst>
          </p:cNvPr>
          <p:cNvSpPr/>
          <p:nvPr/>
        </p:nvSpPr>
        <p:spPr>
          <a:xfrm>
            <a:off x="223953" y="434227"/>
            <a:ext cx="3452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800" b="1" spc="10" dirty="0">
                <a:cs typeface="Lato"/>
              </a:rPr>
              <a:t>Security</a:t>
            </a:r>
            <a:r>
              <a:rPr lang="en-US" sz="2800" b="1" spc="-240" dirty="0">
                <a:cs typeface="Lato"/>
              </a:rPr>
              <a:t> </a:t>
            </a:r>
            <a:r>
              <a:rPr lang="en-US" sz="2800" b="1" spc="-25" dirty="0">
                <a:cs typeface="Lato"/>
              </a:rPr>
              <a:t>&amp;  </a:t>
            </a:r>
            <a:r>
              <a:rPr lang="en-US" sz="2800" b="1" spc="-15" dirty="0">
                <a:cs typeface="Lato"/>
              </a:rPr>
              <a:t>Tracking</a:t>
            </a:r>
            <a:endParaRPr lang="en-US" sz="2800" b="1" dirty="0"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0399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6B8D3E-E192-E540-967F-CB62859B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95FEC60-B313-2843-82E9-B5EFFCF93339}"/>
              </a:ext>
            </a:extLst>
          </p:cNvPr>
          <p:cNvGrpSpPr/>
          <p:nvPr/>
        </p:nvGrpSpPr>
        <p:grpSpPr>
          <a:xfrm>
            <a:off x="3824419" y="1099854"/>
            <a:ext cx="5867400" cy="5144135"/>
            <a:chOff x="3276593" y="0"/>
            <a:chExt cx="5867400" cy="514413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A97DD2E-1637-F34B-A3D0-6F4DE7E924E9}"/>
                </a:ext>
              </a:extLst>
            </p:cNvPr>
            <p:cNvSpPr/>
            <p:nvPr/>
          </p:nvSpPr>
          <p:spPr>
            <a:xfrm>
              <a:off x="3276593" y="24"/>
              <a:ext cx="5867400" cy="5143500"/>
            </a:xfrm>
            <a:custGeom>
              <a:avLst/>
              <a:gdLst/>
              <a:ahLst/>
              <a:cxnLst/>
              <a:rect l="l" t="t" r="r" b="b"/>
              <a:pathLst>
                <a:path w="5867400" h="5143500">
                  <a:moveTo>
                    <a:pt x="5867388" y="5143489"/>
                  </a:moveTo>
                  <a:lnTo>
                    <a:pt x="0" y="5143489"/>
                  </a:lnTo>
                  <a:lnTo>
                    <a:pt x="0" y="0"/>
                  </a:lnTo>
                  <a:lnTo>
                    <a:pt x="5867388" y="0"/>
                  </a:lnTo>
                  <a:lnTo>
                    <a:pt x="5867388" y="514348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2DEB1C3-1714-9B43-BF5A-00FFF4E53552}"/>
                </a:ext>
              </a:extLst>
            </p:cNvPr>
            <p:cNvSpPr/>
            <p:nvPr/>
          </p:nvSpPr>
          <p:spPr>
            <a:xfrm>
              <a:off x="3276593" y="0"/>
              <a:ext cx="108599" cy="51434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B7FBDF1-FD9E-A746-AFAE-CF7DE19D61EA}"/>
                </a:ext>
              </a:extLst>
            </p:cNvPr>
            <p:cNvSpPr/>
            <p:nvPr/>
          </p:nvSpPr>
          <p:spPr>
            <a:xfrm>
              <a:off x="4424466" y="2687094"/>
              <a:ext cx="3728917" cy="23039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DFEFD20-49E1-A446-A10C-080B7AB2569B}"/>
                </a:ext>
              </a:extLst>
            </p:cNvPr>
            <p:cNvSpPr/>
            <p:nvPr/>
          </p:nvSpPr>
          <p:spPr>
            <a:xfrm>
              <a:off x="4424466" y="152399"/>
              <a:ext cx="3728917" cy="23057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5516ED46-2182-D849-80E3-6DFD663BB8D8}"/>
              </a:ext>
            </a:extLst>
          </p:cNvPr>
          <p:cNvSpPr/>
          <p:nvPr/>
        </p:nvSpPr>
        <p:spPr>
          <a:xfrm>
            <a:off x="536188" y="2969403"/>
            <a:ext cx="2920690" cy="1666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en-US" spc="-5" dirty="0" err="1">
                <a:latin typeface="Courier New"/>
                <a:cs typeface="Courier New"/>
              </a:rPr>
              <a:t>localStorage</a:t>
            </a:r>
            <a:r>
              <a:rPr lang="en-US" spc="-500" dirty="0">
                <a:latin typeface="Courier New"/>
                <a:cs typeface="Courier New"/>
              </a:rPr>
              <a:t> </a:t>
            </a:r>
            <a:r>
              <a:rPr lang="en-US" spc="10" dirty="0">
                <a:latin typeface="Lato"/>
                <a:cs typeface="Lato"/>
              </a:rPr>
              <a:t>is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the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spc="5" dirty="0">
                <a:latin typeface="Lato"/>
                <a:cs typeface="Lato"/>
              </a:rPr>
              <a:t>prime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spc="10" dirty="0">
                <a:latin typeface="Lato"/>
                <a:cs typeface="Lato"/>
              </a:rPr>
              <a:t>target</a:t>
            </a:r>
            <a:r>
              <a:rPr lang="en-US" spc="-85" dirty="0">
                <a:latin typeface="Lato"/>
                <a:cs typeface="Lato"/>
              </a:rPr>
              <a:t> </a:t>
            </a:r>
            <a:r>
              <a:rPr lang="en-US" spc="-15" dirty="0">
                <a:latin typeface="Lato"/>
                <a:cs typeface="Lato"/>
              </a:rPr>
              <a:t>of  </a:t>
            </a:r>
            <a:r>
              <a:rPr lang="en-US" spc="5" dirty="0">
                <a:latin typeface="Lato"/>
                <a:cs typeface="Lato"/>
              </a:rPr>
              <a:t>trackers </a:t>
            </a:r>
            <a:r>
              <a:rPr lang="en-US" dirty="0">
                <a:latin typeface="Lato"/>
                <a:cs typeface="Lato"/>
              </a:rPr>
              <a:t>and </a:t>
            </a:r>
            <a:r>
              <a:rPr lang="en-US" spc="-5" dirty="0" err="1">
                <a:latin typeface="Courier New"/>
                <a:cs typeface="Courier New"/>
              </a:rPr>
              <a:t>sessionStorage</a:t>
            </a:r>
            <a:r>
              <a:rPr lang="en-US" spc="-5" dirty="0">
                <a:latin typeface="Courier New"/>
                <a:cs typeface="Courier New"/>
              </a:rPr>
              <a:t> </a:t>
            </a:r>
            <a:r>
              <a:rPr lang="en-US" spc="10" dirty="0">
                <a:latin typeface="Lato"/>
                <a:cs typeface="Lato"/>
              </a:rPr>
              <a:t>is  largely</a:t>
            </a:r>
            <a:r>
              <a:rPr lang="en-US" spc="-80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dedicated</a:t>
            </a:r>
            <a:r>
              <a:rPr lang="en-US" spc="-80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to</a:t>
            </a:r>
            <a:r>
              <a:rPr lang="en-US" spc="-75" dirty="0">
                <a:latin typeface="Lato"/>
                <a:cs typeface="Lato"/>
              </a:rPr>
              <a:t> </a:t>
            </a:r>
            <a:r>
              <a:rPr lang="en-US" spc="10" dirty="0">
                <a:latin typeface="Lato"/>
                <a:cs typeface="Lato"/>
              </a:rPr>
              <a:t>internal</a:t>
            </a:r>
            <a:r>
              <a:rPr lang="en-US" spc="-80" dirty="0">
                <a:latin typeface="Lato"/>
                <a:cs typeface="Lato"/>
              </a:rPr>
              <a:t> </a:t>
            </a:r>
            <a:r>
              <a:rPr lang="en-US" spc="-5" dirty="0">
                <a:latin typeface="Lato"/>
                <a:cs typeface="Lato"/>
              </a:rPr>
              <a:t>use</a:t>
            </a:r>
            <a:r>
              <a:rPr lang="en-US" spc="-75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within  </a:t>
            </a:r>
            <a:r>
              <a:rPr lang="en-US" spc="10" dirty="0">
                <a:latin typeface="Lato"/>
                <a:cs typeface="Lato"/>
              </a:rPr>
              <a:t>a </a:t>
            </a:r>
            <a:r>
              <a:rPr lang="en-US" dirty="0">
                <a:latin typeface="Lato"/>
                <a:cs typeface="Lato"/>
              </a:rPr>
              <a:t>single</a:t>
            </a:r>
            <a:r>
              <a:rPr lang="en-US" spc="-175" dirty="0">
                <a:latin typeface="Lato"/>
                <a:cs typeface="Lato"/>
              </a:rPr>
              <a:t> </a:t>
            </a:r>
            <a:r>
              <a:rPr lang="en-US" dirty="0">
                <a:latin typeface="Lato"/>
                <a:cs typeface="Lato"/>
              </a:rPr>
              <a:t>origin.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382021-2862-244A-BB10-B94E81B88A61}"/>
              </a:ext>
            </a:extLst>
          </p:cNvPr>
          <p:cNvSpPr/>
          <p:nvPr/>
        </p:nvSpPr>
        <p:spPr>
          <a:xfrm>
            <a:off x="259619" y="388743"/>
            <a:ext cx="20207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5" dirty="0"/>
              <a:t>Persistence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780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10E67-7A3F-924E-95E6-1053774A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1ACCC66-E5F8-DE4B-85BC-3596D302A2ED}"/>
              </a:ext>
            </a:extLst>
          </p:cNvPr>
          <p:cNvGraphicFramePr>
            <a:graphicFrameLocks noGrp="1"/>
          </p:cNvGraphicFramePr>
          <p:nvPr/>
        </p:nvGraphicFramePr>
        <p:xfrm>
          <a:off x="645748" y="2060458"/>
          <a:ext cx="6166484" cy="27733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5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5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Same</a:t>
                      </a:r>
                      <a:r>
                        <a:rPr sz="1400" b="1" spc="-8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 </a:t>
                      </a:r>
                      <a:r>
                        <a:rPr sz="1400" b="1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Site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324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Cross</a:t>
                      </a:r>
                      <a:r>
                        <a:rPr sz="1400" b="1" spc="-8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 </a:t>
                      </a:r>
                      <a:r>
                        <a:rPr sz="1400" b="1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Site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3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Conﬁdentiality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b="1" spc="15" dirty="0">
                          <a:latin typeface="Lato"/>
                          <a:cs typeface="Lato"/>
                        </a:rPr>
                        <a:t>Integrity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22</a:t>
                      </a:r>
                      <a:r>
                        <a:rPr sz="1400" spc="-180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5" dirty="0">
                          <a:latin typeface="Lato"/>
                          <a:cs typeface="Lato"/>
                        </a:rPr>
                        <a:t>(8%)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30</a:t>
                      </a:r>
                      <a:r>
                        <a:rPr sz="1400" spc="-180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5" dirty="0">
                          <a:latin typeface="Lato"/>
                          <a:cs typeface="Lato"/>
                        </a:rPr>
                        <a:t>(4%)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241</a:t>
                      </a:r>
                      <a:r>
                        <a:rPr sz="1400" spc="-170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0" dirty="0">
                          <a:latin typeface="Lato"/>
                          <a:cs typeface="Lato"/>
                        </a:rPr>
                        <a:t>(92%)</a:t>
                      </a:r>
                      <a:endParaRPr sz="1400" dirty="0">
                        <a:latin typeface="Lato"/>
                        <a:cs typeface="Lato"/>
                      </a:endParaRPr>
                    </a:p>
                    <a:p>
                      <a:pPr marL="62928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760</a:t>
                      </a:r>
                      <a:r>
                        <a:rPr sz="1400" spc="-170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0" dirty="0">
                          <a:latin typeface="Lato"/>
                          <a:cs typeface="Lato"/>
                        </a:rPr>
                        <a:t>(96%)</a:t>
                      </a:r>
                      <a:endParaRPr sz="1400" dirty="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3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10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Tracking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b="1" spc="-20" dirty="0">
                          <a:latin typeface="Lato"/>
                          <a:cs typeface="Lato"/>
                        </a:rPr>
                        <a:t>Non-Tracking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15</a:t>
                      </a:r>
                      <a:r>
                        <a:rPr sz="1400" spc="-95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5" dirty="0">
                          <a:latin typeface="Lato"/>
                          <a:cs typeface="Lato"/>
                        </a:rPr>
                        <a:t>(2%)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37</a:t>
                      </a:r>
                      <a:r>
                        <a:rPr sz="1400" spc="-95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0" dirty="0">
                          <a:latin typeface="Lato"/>
                          <a:cs typeface="Lato"/>
                        </a:rPr>
                        <a:t>(16%)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809</a:t>
                      </a:r>
                      <a:r>
                        <a:rPr sz="1400" spc="-170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0" dirty="0">
                          <a:latin typeface="Lato"/>
                          <a:cs typeface="Lato"/>
                        </a:rPr>
                        <a:t>(98%)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marL="62928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192</a:t>
                      </a:r>
                      <a:r>
                        <a:rPr sz="1400" spc="-170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0" dirty="0">
                          <a:latin typeface="Lato"/>
                          <a:cs typeface="Lato"/>
                        </a:rPr>
                        <a:t>(84%)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3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b="1" spc="-5" dirty="0">
                          <a:latin typeface="Lato"/>
                          <a:cs typeface="Lato"/>
                        </a:rPr>
                        <a:t>Local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b="1" spc="-10" dirty="0">
                          <a:latin typeface="Lato"/>
                          <a:cs typeface="Lato"/>
                        </a:rPr>
                        <a:t>Session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33</a:t>
                      </a:r>
                      <a:r>
                        <a:rPr sz="1400" spc="-95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5" dirty="0">
                          <a:latin typeface="Lato"/>
                          <a:cs typeface="Lato"/>
                        </a:rPr>
                        <a:t>(4%)</a:t>
                      </a:r>
                      <a:endParaRPr sz="1400">
                        <a:latin typeface="Lato"/>
                        <a:cs typeface="Lato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19</a:t>
                      </a:r>
                      <a:r>
                        <a:rPr sz="1400" spc="-95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0" dirty="0">
                          <a:latin typeface="Lato"/>
                          <a:cs typeface="Lato"/>
                        </a:rPr>
                        <a:t>(16%)</a:t>
                      </a:r>
                      <a:endParaRPr sz="140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890</a:t>
                      </a:r>
                      <a:r>
                        <a:rPr sz="1400" spc="-170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0" dirty="0">
                          <a:latin typeface="Lato"/>
                          <a:cs typeface="Lato"/>
                        </a:rPr>
                        <a:t>(96%)</a:t>
                      </a:r>
                      <a:endParaRPr sz="1400" dirty="0">
                        <a:latin typeface="Lato"/>
                        <a:cs typeface="Lato"/>
                      </a:endParaRPr>
                    </a:p>
                    <a:p>
                      <a:pPr marL="62928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latin typeface="Lato"/>
                          <a:cs typeface="Lato"/>
                        </a:rPr>
                        <a:t>103</a:t>
                      </a:r>
                      <a:r>
                        <a:rPr sz="1400" spc="-170" dirty="0">
                          <a:latin typeface="Lato"/>
                          <a:cs typeface="Lato"/>
                        </a:rPr>
                        <a:t> </a:t>
                      </a:r>
                      <a:r>
                        <a:rPr sz="1400" spc="10" dirty="0">
                          <a:latin typeface="Lato"/>
                          <a:cs typeface="Lato"/>
                        </a:rPr>
                        <a:t>(84%)</a:t>
                      </a:r>
                      <a:endParaRPr sz="1400" dirty="0">
                        <a:latin typeface="Lato"/>
                        <a:cs typeface="Lato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430DFFCD-932B-C548-81A3-FDEF450B02B4}"/>
              </a:ext>
            </a:extLst>
          </p:cNvPr>
          <p:cNvSpPr txBox="1"/>
          <p:nvPr/>
        </p:nvSpPr>
        <p:spPr>
          <a:xfrm>
            <a:off x="6969486" y="2174408"/>
            <a:ext cx="2022475" cy="2555240"/>
          </a:xfrm>
          <a:prstGeom prst="rect">
            <a:avLst/>
          </a:prstGeom>
          <a:solidFill>
            <a:srgbClr val="F9F9F9"/>
          </a:solidFill>
          <a:ln w="9524">
            <a:solidFill>
              <a:srgbClr val="1F2123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latin typeface="Lato"/>
                <a:cs typeface="Lato"/>
              </a:rPr>
              <a:t>Site </a:t>
            </a:r>
            <a:r>
              <a:rPr sz="1400" dirty="0">
                <a:latin typeface="Lato"/>
                <a:cs typeface="Lato"/>
              </a:rPr>
              <a:t>=</a:t>
            </a:r>
            <a:r>
              <a:rPr sz="1400" spc="-170" dirty="0">
                <a:latin typeface="Lato"/>
                <a:cs typeface="Lato"/>
              </a:rPr>
              <a:t> </a:t>
            </a:r>
            <a:r>
              <a:rPr sz="1400" b="1" spc="-10" dirty="0">
                <a:latin typeface="Lato"/>
                <a:cs typeface="Lato"/>
              </a:rPr>
              <a:t>eTLD+1</a:t>
            </a:r>
            <a:endParaRPr sz="140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Lato"/>
              <a:cs typeface="Lato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Lato"/>
                <a:cs typeface="Lato"/>
              </a:rPr>
              <a:t>A</a:t>
            </a:r>
            <a:r>
              <a:rPr sz="1400" spc="-95" dirty="0">
                <a:latin typeface="Lato"/>
                <a:cs typeface="Lato"/>
              </a:rPr>
              <a:t> </a:t>
            </a:r>
            <a:r>
              <a:rPr sz="1400" spc="5" dirty="0">
                <a:latin typeface="Lato"/>
                <a:cs typeface="Lato"/>
              </a:rPr>
              <a:t>request</a:t>
            </a:r>
            <a:endParaRPr sz="1400">
              <a:latin typeface="Lato"/>
              <a:cs typeface="Lato"/>
            </a:endParaRPr>
          </a:p>
          <a:p>
            <a:pPr marL="85090" marR="438150">
              <a:lnSpc>
                <a:spcPct val="100000"/>
              </a:lnSpc>
            </a:pPr>
            <a:r>
              <a:rPr sz="1400" dirty="0">
                <a:latin typeface="Lato"/>
                <a:cs typeface="Lato"/>
              </a:rPr>
              <a:t>from</a:t>
            </a:r>
            <a:r>
              <a:rPr sz="1400" spc="-145" dirty="0">
                <a:latin typeface="Lato"/>
                <a:cs typeface="Lato"/>
              </a:rPr>
              <a:t> </a:t>
            </a:r>
            <a:r>
              <a:rPr sz="1400" spc="-25" dirty="0">
                <a:latin typeface="Lato"/>
                <a:cs typeface="Lato"/>
                <a:hlinkClick r:id="rId2"/>
              </a:rPr>
              <a:t>www.</a:t>
            </a:r>
            <a:r>
              <a:rPr sz="1400" b="1" spc="-25" dirty="0">
                <a:latin typeface="Lato"/>
                <a:cs typeface="Lato"/>
                <a:hlinkClick r:id="rId2"/>
              </a:rPr>
              <a:t>foo.com </a:t>
            </a:r>
            <a:r>
              <a:rPr sz="1400" b="1" spc="-2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to</a:t>
            </a:r>
            <a:r>
              <a:rPr sz="1400" spc="-100" dirty="0">
                <a:latin typeface="Lato"/>
                <a:cs typeface="Lato"/>
              </a:rPr>
              <a:t> </a:t>
            </a:r>
            <a:r>
              <a:rPr sz="1400" spc="-10" dirty="0">
                <a:latin typeface="Lato"/>
                <a:cs typeface="Lato"/>
              </a:rPr>
              <a:t>api.</a:t>
            </a:r>
            <a:r>
              <a:rPr sz="1400" b="1" spc="-10" dirty="0">
                <a:latin typeface="Lato"/>
                <a:cs typeface="Lato"/>
              </a:rPr>
              <a:t>foo.com</a:t>
            </a:r>
            <a:endParaRPr sz="1400">
              <a:latin typeface="Lato"/>
              <a:cs typeface="Lato"/>
            </a:endParaRPr>
          </a:p>
          <a:p>
            <a:pPr marL="85090">
              <a:lnSpc>
                <a:spcPct val="100000"/>
              </a:lnSpc>
            </a:pPr>
            <a:r>
              <a:rPr sz="1400" spc="10" dirty="0">
                <a:latin typeface="Lato"/>
                <a:cs typeface="Lato"/>
              </a:rPr>
              <a:t>is </a:t>
            </a:r>
            <a:r>
              <a:rPr sz="1400" i="1" spc="-15" dirty="0">
                <a:latin typeface="Lato"/>
                <a:cs typeface="Lato"/>
              </a:rPr>
              <a:t>same</a:t>
            </a:r>
            <a:r>
              <a:rPr sz="1400" i="1" spc="-250" dirty="0">
                <a:latin typeface="Lato"/>
                <a:cs typeface="Lato"/>
              </a:rPr>
              <a:t> </a:t>
            </a:r>
            <a:r>
              <a:rPr sz="1400" i="1" spc="-10" dirty="0">
                <a:latin typeface="Lato"/>
                <a:cs typeface="Lato"/>
              </a:rPr>
              <a:t>site</a:t>
            </a:r>
            <a:endParaRPr sz="140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Lato"/>
              <a:cs typeface="Lato"/>
            </a:endParaRPr>
          </a:p>
          <a:p>
            <a:pPr marL="85090" marR="657860">
              <a:lnSpc>
                <a:spcPct val="100000"/>
              </a:lnSpc>
            </a:pPr>
            <a:r>
              <a:rPr sz="1400" dirty="0">
                <a:latin typeface="Lato"/>
                <a:cs typeface="Lato"/>
              </a:rPr>
              <a:t>A </a:t>
            </a:r>
            <a:r>
              <a:rPr sz="1400" spc="5" dirty="0">
                <a:latin typeface="Lato"/>
                <a:cs typeface="Lato"/>
              </a:rPr>
              <a:t>request </a:t>
            </a:r>
            <a:r>
              <a:rPr sz="1400" dirty="0">
                <a:latin typeface="Lato"/>
                <a:cs typeface="Lato"/>
              </a:rPr>
              <a:t>from  </a:t>
            </a:r>
            <a:r>
              <a:rPr sz="1400" spc="-25" dirty="0">
                <a:latin typeface="Lato"/>
                <a:cs typeface="Lato"/>
                <a:hlinkClick r:id="rId2"/>
              </a:rPr>
              <a:t>www.</a:t>
            </a:r>
            <a:r>
              <a:rPr sz="1400" b="1" spc="-25" dirty="0">
                <a:latin typeface="Lato"/>
                <a:cs typeface="Lato"/>
                <a:hlinkClick r:id="rId2"/>
              </a:rPr>
              <a:t>foo.com </a:t>
            </a:r>
            <a:r>
              <a:rPr sz="1400" b="1" spc="-25" dirty="0">
                <a:latin typeface="Lato"/>
                <a:cs typeface="Lato"/>
              </a:rPr>
              <a:t> </a:t>
            </a:r>
            <a:r>
              <a:rPr sz="1400" dirty="0">
                <a:latin typeface="Lato"/>
                <a:cs typeface="Lato"/>
              </a:rPr>
              <a:t>to</a:t>
            </a:r>
            <a:r>
              <a:rPr sz="1400" spc="-170" dirty="0">
                <a:latin typeface="Lato"/>
                <a:cs typeface="Lato"/>
              </a:rPr>
              <a:t> </a:t>
            </a:r>
            <a:r>
              <a:rPr sz="1400" spc="-20" dirty="0">
                <a:latin typeface="Lato"/>
                <a:cs typeface="Lato"/>
                <a:hlinkClick r:id="rId3"/>
              </a:rPr>
              <a:t>www.</a:t>
            </a:r>
            <a:r>
              <a:rPr sz="1400" b="1" spc="-20" dirty="0">
                <a:latin typeface="Lato"/>
                <a:cs typeface="Lato"/>
                <a:hlinkClick r:id="rId3"/>
              </a:rPr>
              <a:t>bar.com </a:t>
            </a:r>
            <a:r>
              <a:rPr sz="1400" b="1" spc="-20" dirty="0">
                <a:latin typeface="Lato"/>
                <a:cs typeface="Lato"/>
              </a:rPr>
              <a:t> </a:t>
            </a:r>
            <a:r>
              <a:rPr sz="1400" spc="10" dirty="0">
                <a:latin typeface="Lato"/>
                <a:cs typeface="Lato"/>
              </a:rPr>
              <a:t>is </a:t>
            </a:r>
            <a:r>
              <a:rPr sz="1400" i="1" spc="-25" dirty="0">
                <a:latin typeface="Lato"/>
                <a:cs typeface="Lato"/>
              </a:rPr>
              <a:t>cross</a:t>
            </a:r>
            <a:r>
              <a:rPr sz="1400" i="1" spc="-175" dirty="0">
                <a:latin typeface="Lato"/>
                <a:cs typeface="Lato"/>
              </a:rPr>
              <a:t> </a:t>
            </a:r>
            <a:r>
              <a:rPr sz="1400" i="1" spc="-10" dirty="0">
                <a:latin typeface="Lato"/>
                <a:cs typeface="Lato"/>
              </a:rPr>
              <a:t>site</a:t>
            </a:r>
            <a:endParaRPr sz="1400">
              <a:latin typeface="Lato"/>
              <a:cs typeface="Lat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3AD89-1D12-AD47-9EF6-6D2E7043C76C}"/>
              </a:ext>
            </a:extLst>
          </p:cNvPr>
          <p:cNvSpPr/>
          <p:nvPr/>
        </p:nvSpPr>
        <p:spPr>
          <a:xfrm>
            <a:off x="216771" y="456530"/>
            <a:ext cx="24240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30" dirty="0"/>
              <a:t>External</a:t>
            </a:r>
            <a:r>
              <a:rPr lang="en-US" sz="2800" b="1" spc="-260" dirty="0"/>
              <a:t> </a:t>
            </a:r>
            <a:r>
              <a:rPr lang="en-US" sz="2800" b="1" spc="-20" dirty="0"/>
              <a:t>ﬂows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7404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2718B-B9CD-EA4A-A80E-FC7CF432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89F8292-3FAC-AE4E-B7A2-A63276A892DF}"/>
              </a:ext>
            </a:extLst>
          </p:cNvPr>
          <p:cNvGraphicFramePr>
            <a:graphicFrameLocks noGrp="1"/>
          </p:cNvGraphicFramePr>
          <p:nvPr/>
        </p:nvGraphicFramePr>
        <p:xfrm>
          <a:off x="339749" y="2060458"/>
          <a:ext cx="8349613" cy="2468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1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b="1" spc="-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#ﬂows</a:t>
                      </a:r>
                      <a:endParaRPr sz="1200">
                        <a:latin typeface="Lato"/>
                        <a:cs typeface="Lato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b="1" spc="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#domains</a:t>
                      </a:r>
                      <a:endParaRPr sz="1200">
                        <a:latin typeface="Lato"/>
                        <a:cs typeface="Lato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b="1" spc="-15" dirty="0">
                          <a:solidFill>
                            <a:srgbClr val="1F2123"/>
                          </a:solidFill>
                          <a:latin typeface="Lato"/>
                          <a:cs typeface="Lato"/>
                        </a:rPr>
                        <a:t>Tracking?</a:t>
                      </a:r>
                      <a:endParaRPr sz="1200">
                        <a:latin typeface="Lato"/>
                        <a:cs typeface="Lato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000" spc="-5" dirty="0">
                          <a:solidFill>
                            <a:srgbClr val="1F2123"/>
                          </a:solidFill>
                          <a:latin typeface="Courier New"/>
                          <a:cs typeface="Courier New"/>
                        </a:rPr>
                        <a:t>https://static.chartbeat.com/js/chartbeat.js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168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132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66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YES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000" spc="-5" dirty="0">
                          <a:latin typeface="Courier New"/>
                          <a:cs typeface="Courier New"/>
                        </a:rPr>
                        <a:t>https://mc.yandex.ru/metrika/tag.js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168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228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34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YES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000" spc="-5" dirty="0">
                          <a:solidFill>
                            <a:srgbClr val="1F2123"/>
                          </a:solidFill>
                          <a:latin typeface="Courier New"/>
                          <a:cs typeface="Courier New"/>
                        </a:rPr>
                        <a:t>https://fast.wistia.com/assets/external/E-v1.js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168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106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NO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24">
                <a:tc>
                  <a:txBody>
                    <a:bodyPr/>
                    <a:lstStyle/>
                    <a:p>
                      <a:pPr marL="85090" marR="1174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000" spc="-5" dirty="0">
                          <a:latin typeface="Courier New"/>
                          <a:cs typeface="Courier New"/>
                        </a:rPr>
                        <a:t>https://pagead2.googlesyndication.com/pagead/managed/js/adsen  se/m202112060101/show_ads_impl_with_ama.js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124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YES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000" spc="-5" dirty="0">
                          <a:latin typeface="Courier New"/>
                          <a:cs typeface="Courier New"/>
                        </a:rPr>
                        <a:t>https://quantcast.mgr.consensu.org/tcfv2/cmp2.js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168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NO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E71E7FC-17EB-1949-8AB6-3C0C87775650}"/>
              </a:ext>
            </a:extLst>
          </p:cNvPr>
          <p:cNvSpPr/>
          <p:nvPr/>
        </p:nvSpPr>
        <p:spPr>
          <a:xfrm>
            <a:off x="183632" y="478831"/>
            <a:ext cx="15994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pc="30" dirty="0"/>
              <a:t>Libraries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831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27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3344270</TotalTime>
  <Words>1076</Words>
  <Application>Microsoft Macintosh PowerPoint</Application>
  <PresentationFormat>A4 Paper (210x297 mm)</PresentationFormat>
  <Paragraphs>223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Adobe Gothic Std B</vt:lpstr>
      <vt:lpstr>DengXian</vt:lpstr>
      <vt:lpstr>DengXian</vt:lpstr>
      <vt:lpstr>等线 Light</vt:lpstr>
      <vt:lpstr>FreeSerif</vt:lpstr>
      <vt:lpstr>Lato</vt:lpstr>
      <vt:lpstr>RobotoRegular</vt:lpstr>
      <vt:lpstr>SimSun</vt:lpstr>
      <vt:lpstr>Arial</vt:lpstr>
      <vt:lpstr>Calibri</vt:lpstr>
      <vt:lpstr>Cambria Math</vt:lpstr>
      <vt:lpstr>Courier</vt:lpstr>
      <vt:lpstr>Courier New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851</cp:revision>
  <cp:lastPrinted>2025-05-06T06:11:03Z</cp:lastPrinted>
  <dcterms:created xsi:type="dcterms:W3CDTF">2018-07-17T04:46:00Z</dcterms:created>
  <dcterms:modified xsi:type="dcterms:W3CDTF">2026-04-20T10:20:53Z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