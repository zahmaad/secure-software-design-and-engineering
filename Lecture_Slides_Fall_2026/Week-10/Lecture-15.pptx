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80" r:id="rId2"/>
    <p:sldId id="694" r:id="rId3"/>
    <p:sldId id="695" r:id="rId4"/>
    <p:sldId id="696" r:id="rId5"/>
    <p:sldId id="685" r:id="rId6"/>
    <p:sldId id="686" r:id="rId7"/>
    <p:sldId id="687" r:id="rId8"/>
    <p:sldId id="688" r:id="rId9"/>
    <p:sldId id="689" r:id="rId10"/>
    <p:sldId id="690" r:id="rId11"/>
    <p:sldId id="691" r:id="rId12"/>
    <p:sldId id="692" r:id="rId13"/>
    <p:sldId id="693" r:id="rId14"/>
    <p:sldId id="372" r:id="rId15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94"/>
            <p14:sldId id="695"/>
            <p14:sldId id="696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7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factoring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A Starter to Defensive Coding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476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504D9-11D8-8541-8078-5814DA49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object 31">
            <a:extLst>
              <a:ext uri="{FF2B5EF4-FFF2-40B4-BE49-F238E27FC236}">
                <a16:creationId xmlns:a16="http://schemas.microsoft.com/office/drawing/2014/main" id="{613FE376-3888-1F48-85A9-1BCC5CDD30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468" y="1278802"/>
            <a:ext cx="8831766" cy="476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8CE05-6C0F-8D46-A962-7254769E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3" name="object 32">
            <a:extLst>
              <a:ext uri="{FF2B5EF4-FFF2-40B4-BE49-F238E27FC236}">
                <a16:creationId xmlns:a16="http://schemas.microsoft.com/office/drawing/2014/main" id="{E6B07760-CC95-0B48-88DF-AD1B8C56C8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254" y="3306694"/>
            <a:ext cx="6672697" cy="2603452"/>
          </a:xfrm>
          <a:prstGeom prst="rect">
            <a:avLst/>
          </a:prstGeom>
        </p:spPr>
      </p:pic>
      <p:sp>
        <p:nvSpPr>
          <p:cNvPr id="4" name="object 30">
            <a:extLst>
              <a:ext uri="{FF2B5EF4-FFF2-40B4-BE49-F238E27FC236}">
                <a16:creationId xmlns:a16="http://schemas.microsoft.com/office/drawing/2014/main" id="{BA5296C3-AA8B-FD41-B2E0-1DEEFC0491DE}"/>
              </a:ext>
            </a:extLst>
          </p:cNvPr>
          <p:cNvSpPr txBox="1"/>
          <p:nvPr/>
        </p:nvSpPr>
        <p:spPr>
          <a:xfrm>
            <a:off x="206812" y="476211"/>
            <a:ext cx="3272368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b="1" spc="-10" dirty="0">
                <a:latin typeface="Times New Roman"/>
                <a:cs typeface="Times New Roman"/>
              </a:rPr>
              <a:t>Differential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Privacy</a:t>
            </a:r>
            <a:endParaRPr sz="2800" b="1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6C4EAE-1B65-0444-B3B7-FED5E92E33E9}"/>
              </a:ext>
            </a:extLst>
          </p:cNvPr>
          <p:cNvSpPr/>
          <p:nvPr/>
        </p:nvSpPr>
        <p:spPr>
          <a:xfrm>
            <a:off x="206812" y="831358"/>
            <a:ext cx="91825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nothing is learned about an individual then the individual cannot be harmed by the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37263-AE9A-E248-9E0F-A4C0E919B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12" y="1976467"/>
            <a:ext cx="9335221" cy="10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66198D-A35F-B74F-B6BC-4120D05B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40548-2B43-D542-90BC-41851F71D206}"/>
              </a:ext>
            </a:extLst>
          </p:cNvPr>
          <p:cNvSpPr/>
          <p:nvPr/>
        </p:nvSpPr>
        <p:spPr>
          <a:xfrm>
            <a:off x="343830" y="1173762"/>
            <a:ext cx="90677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technique developed in the social sciences to collect statistical information about </a:t>
            </a:r>
            <a:r>
              <a:rPr lang="en-US" u="sng" dirty="0"/>
              <a:t>embarrassing or illegal behavior</a:t>
            </a:r>
          </a:p>
          <a:p>
            <a:endParaRPr lang="en-US" dirty="0"/>
          </a:p>
          <a:p>
            <a:r>
              <a:rPr lang="en-US" dirty="0"/>
              <a:t>Study participants are told to report whether or not they have property P as follows: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Flip a coin.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tails</a:t>
            </a:r>
            <a:r>
              <a:rPr lang="en-US" dirty="0"/>
              <a:t>, then respond truthfully.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heads</a:t>
            </a:r>
            <a:r>
              <a:rPr lang="en-US" dirty="0"/>
              <a:t>, then flip a second coin and respond “</a:t>
            </a:r>
            <a:r>
              <a:rPr lang="en-US" b="1" dirty="0"/>
              <a:t>Yes</a:t>
            </a:r>
            <a:r>
              <a:rPr lang="en-US" dirty="0"/>
              <a:t>” if heads and “</a:t>
            </a:r>
            <a:r>
              <a:rPr lang="en-US" b="1" dirty="0"/>
              <a:t>No</a:t>
            </a:r>
            <a:r>
              <a:rPr lang="en-US" dirty="0"/>
              <a:t>” if tails.</a:t>
            </a:r>
          </a:p>
          <a:p>
            <a:endParaRPr lang="en-US" dirty="0"/>
          </a:p>
          <a:p>
            <a:r>
              <a:rPr lang="en-US" dirty="0"/>
              <a:t>Privacy comes from the plausible deniability of any outcome.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21E75-D710-0E4C-AA6F-F7D7DFCA7A6C}"/>
              </a:ext>
            </a:extLst>
          </p:cNvPr>
          <p:cNvSpPr/>
          <p:nvPr/>
        </p:nvSpPr>
        <p:spPr>
          <a:xfrm>
            <a:off x="445120" y="4713811"/>
            <a:ext cx="8779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Half the time you’re honest, half the time you answer randomly, so no one can trust any single answer.”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8BC5E1-157D-BF4A-BF20-33DADCBEA7ED}"/>
              </a:ext>
            </a:extLst>
          </p:cNvPr>
          <p:cNvSpPr/>
          <p:nvPr/>
        </p:nvSpPr>
        <p:spPr>
          <a:xfrm>
            <a:off x="139895" y="496035"/>
            <a:ext cx="3147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b="1" dirty="0">
                <a:latin typeface="Times New Roman"/>
                <a:cs typeface="Times New Roman"/>
              </a:rPr>
              <a:t>Randomized</a:t>
            </a:r>
            <a:r>
              <a:rPr lang="en-US" sz="2400" b="1" spc="-6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Response</a:t>
            </a:r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405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28088-13CE-E748-B4B3-6FF6899E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B686A3F0-BAB6-BE45-8F5D-46C88C0791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56" y="1042651"/>
            <a:ext cx="8305784" cy="515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5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460A41-A352-3049-8BFE-100EC508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A46AB3-5F9F-5D48-82B0-574275020F38}"/>
              </a:ext>
            </a:extLst>
          </p:cNvPr>
          <p:cNvSpPr txBox="1"/>
          <p:nvPr/>
        </p:nvSpPr>
        <p:spPr>
          <a:xfrm>
            <a:off x="261874" y="1278247"/>
            <a:ext cx="8395970" cy="4187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spc="-170" dirty="0">
                <a:solidFill>
                  <a:srgbClr val="004578"/>
                </a:solidFill>
                <a:latin typeface="Microsoft Sans Serif"/>
                <a:cs typeface="Microsoft Sans Serif"/>
              </a:rPr>
              <a:t>difficult</a:t>
            </a:r>
            <a:r>
              <a:rPr sz="2400" spc="-3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to</a:t>
            </a:r>
            <a:r>
              <a:rPr sz="24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4578"/>
                </a:solidFill>
                <a:latin typeface="Microsoft Sans Serif"/>
                <a:cs typeface="Microsoft Sans Serif"/>
              </a:rPr>
              <a:t>write</a:t>
            </a:r>
            <a:r>
              <a:rPr sz="2400" spc="-3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C00000"/>
                </a:solidFill>
                <a:latin typeface="Microsoft Sans Serif"/>
                <a:cs typeface="Microsoft Sans Serif"/>
              </a:rPr>
              <a:t>useful</a:t>
            </a:r>
            <a:r>
              <a:rPr sz="2400" spc="-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-290" dirty="0">
                <a:solidFill>
                  <a:srgbClr val="004578"/>
                </a:solidFill>
                <a:latin typeface="Microsoft Sans Serif"/>
                <a:cs typeface="Microsoft Sans Serif"/>
              </a:rPr>
              <a:t>&amp;</a:t>
            </a:r>
            <a:r>
              <a:rPr sz="2400" spc="-5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C00000"/>
                </a:solidFill>
                <a:latin typeface="Microsoft Sans Serif"/>
                <a:cs typeface="Microsoft Sans Serif"/>
              </a:rPr>
              <a:t>efficient</a:t>
            </a:r>
            <a:r>
              <a:rPr sz="24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4578"/>
                </a:solidFill>
                <a:latin typeface="Microsoft Sans Serif"/>
                <a:cs typeface="Microsoft Sans Serif"/>
              </a:rPr>
              <a:t>computer</a:t>
            </a:r>
            <a:r>
              <a:rPr sz="2400" spc="-3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4578"/>
                </a:solidFill>
                <a:latin typeface="Microsoft Sans Serif"/>
                <a:cs typeface="Microsoft Sans Serif"/>
              </a:rPr>
              <a:t>programs</a:t>
            </a:r>
            <a:r>
              <a:rPr sz="2400" spc="-3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in</a:t>
            </a:r>
            <a:r>
              <a:rPr sz="2400" spc="-5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4578"/>
                </a:solidFill>
                <a:latin typeface="Microsoft Sans Serif"/>
                <a:cs typeface="Microsoft Sans Serif"/>
              </a:rPr>
              <a:t>the</a:t>
            </a:r>
            <a:r>
              <a:rPr sz="2400" spc="-4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4578"/>
                </a:solidFill>
                <a:latin typeface="Microsoft Sans Serif"/>
                <a:cs typeface="Microsoft Sans Serif"/>
              </a:rPr>
              <a:t>required</a:t>
            </a:r>
            <a:r>
              <a:rPr sz="2400" spc="-1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time</a:t>
            </a:r>
            <a:endParaRPr sz="2400" dirty="0">
              <a:latin typeface="Microsoft Sans Serif"/>
              <a:cs typeface="Microsoft Sans Serif"/>
            </a:endParaRPr>
          </a:p>
          <a:p>
            <a:pPr marL="354965" marR="7620" indent="-342900">
              <a:lnSpc>
                <a:spcPct val="104200"/>
              </a:lnSpc>
              <a:spcBef>
                <a:spcPts val="1725"/>
              </a:spcBef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spc="-254" dirty="0">
                <a:solidFill>
                  <a:srgbClr val="004578"/>
                </a:solidFill>
                <a:latin typeface="Microsoft Sans Serif"/>
                <a:cs typeface="Microsoft Sans Serif"/>
              </a:rPr>
              <a:t>Reason:</a:t>
            </a:r>
            <a:r>
              <a:rPr sz="2400" spc="-2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4578"/>
                </a:solidFill>
                <a:latin typeface="Microsoft Sans Serif"/>
                <a:cs typeface="Microsoft Sans Serif"/>
              </a:rPr>
              <a:t>rapid</a:t>
            </a:r>
            <a:r>
              <a:rPr sz="2400" spc="-3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4578"/>
                </a:solidFill>
                <a:latin typeface="Microsoft Sans Serif"/>
                <a:cs typeface="Microsoft Sans Serif"/>
              </a:rPr>
              <a:t>increases</a:t>
            </a:r>
            <a:r>
              <a:rPr sz="2400" spc="-2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in</a:t>
            </a:r>
            <a:r>
              <a:rPr sz="2400" spc="-4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4578"/>
                </a:solidFill>
                <a:latin typeface="Microsoft Sans Serif"/>
                <a:cs typeface="Microsoft Sans Serif"/>
              </a:rPr>
              <a:t>computer</a:t>
            </a:r>
            <a:r>
              <a:rPr sz="2400" spc="-3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4578"/>
                </a:solidFill>
                <a:latin typeface="Microsoft Sans Serif"/>
                <a:cs typeface="Microsoft Sans Serif"/>
              </a:rPr>
              <a:t>power,</a:t>
            </a:r>
            <a:r>
              <a:rPr sz="2400" spc="-3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4578"/>
                </a:solidFill>
                <a:latin typeface="Microsoft Sans Serif"/>
                <a:cs typeface="Microsoft Sans Serif"/>
              </a:rPr>
              <a:t>complexity</a:t>
            </a:r>
            <a:r>
              <a:rPr sz="2400" spc="-1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of</a:t>
            </a:r>
            <a:r>
              <a:rPr sz="2400" spc="-3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004578"/>
                </a:solidFill>
                <a:latin typeface="Microsoft Sans Serif"/>
                <a:cs typeface="Microsoft Sans Serif"/>
              </a:rPr>
              <a:t>problems</a:t>
            </a:r>
            <a:r>
              <a:rPr sz="2400" spc="-20" dirty="0">
                <a:solidFill>
                  <a:srgbClr val="004578"/>
                </a:solidFill>
                <a:latin typeface="Microsoft Sans Serif"/>
                <a:cs typeface="Microsoft Sans Serif"/>
              </a:rPr>
              <a:t> that </a:t>
            </a:r>
            <a:r>
              <a:rPr sz="2400" spc="-229" dirty="0">
                <a:solidFill>
                  <a:srgbClr val="004578"/>
                </a:solidFill>
                <a:latin typeface="Microsoft Sans Serif"/>
                <a:cs typeface="Microsoft Sans Serif"/>
              </a:rPr>
              <a:t>could</a:t>
            </a:r>
            <a:r>
              <a:rPr sz="2400" spc="-6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4578"/>
                </a:solidFill>
                <a:latin typeface="Microsoft Sans Serif"/>
                <a:cs typeface="Microsoft Sans Serif"/>
              </a:rPr>
              <a:t>be</a:t>
            </a:r>
            <a:r>
              <a:rPr sz="24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4578"/>
                </a:solidFill>
                <a:latin typeface="Microsoft Sans Serif"/>
                <a:cs typeface="Microsoft Sans Serif"/>
              </a:rPr>
              <a:t>tackled</a:t>
            </a:r>
            <a:endParaRPr sz="24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850"/>
              </a:spcBef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spc="-170" dirty="0">
                <a:solidFill>
                  <a:srgbClr val="004578"/>
                </a:solidFill>
                <a:latin typeface="Microsoft Sans Serif"/>
                <a:cs typeface="Microsoft Sans Serif"/>
              </a:rPr>
              <a:t>Consequences:</a:t>
            </a:r>
            <a:endParaRPr sz="2400" dirty="0">
              <a:latin typeface="Microsoft Sans Serif"/>
              <a:cs typeface="Microsoft Sans Serif"/>
            </a:endParaRPr>
          </a:p>
          <a:p>
            <a:pPr marL="755650" lvl="1" indent="-285750">
              <a:lnSpc>
                <a:spcPct val="100000"/>
              </a:lnSpc>
              <a:spcBef>
                <a:spcPts val="1235"/>
              </a:spcBef>
              <a:buSzPct val="105000"/>
              <a:buFont typeface="Times New Roman"/>
              <a:buChar char="•"/>
              <a:tabLst>
                <a:tab pos="755650" algn="l"/>
              </a:tabLst>
            </a:pPr>
            <a:r>
              <a:rPr sz="2000" spc="-175" dirty="0">
                <a:solidFill>
                  <a:srgbClr val="004578"/>
                </a:solidFill>
                <a:latin typeface="Microsoft Sans Serif"/>
                <a:cs typeface="Microsoft Sans Serif"/>
              </a:rPr>
              <a:t>Projects</a:t>
            </a:r>
            <a:r>
              <a:rPr sz="2000" spc="-1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running</a:t>
            </a:r>
            <a:r>
              <a:rPr sz="2000" spc="-1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4578"/>
                </a:solidFill>
                <a:latin typeface="Microsoft Sans Serif"/>
                <a:cs typeface="Microsoft Sans Serif"/>
              </a:rPr>
              <a:t>over-</a:t>
            </a:r>
            <a:r>
              <a:rPr sz="2000" spc="-180" dirty="0">
                <a:solidFill>
                  <a:srgbClr val="004578"/>
                </a:solidFill>
                <a:latin typeface="Microsoft Sans Serif"/>
                <a:cs typeface="Microsoft Sans Serif"/>
              </a:rPr>
              <a:t>budget,</a:t>
            </a:r>
            <a:r>
              <a:rPr sz="2000" spc="-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4578"/>
                </a:solidFill>
                <a:latin typeface="Microsoft Sans Serif"/>
                <a:cs typeface="Microsoft Sans Serif"/>
              </a:rPr>
              <a:t>over-</a:t>
            </a:r>
            <a:r>
              <a:rPr sz="2000" spc="-20" dirty="0">
                <a:solidFill>
                  <a:srgbClr val="004578"/>
                </a:solidFill>
                <a:latin typeface="Microsoft Sans Serif"/>
                <a:cs typeface="Microsoft Sans Serif"/>
              </a:rPr>
              <a:t>time</a:t>
            </a:r>
            <a:endParaRPr sz="2000" dirty="0">
              <a:latin typeface="Microsoft Sans Serif"/>
              <a:cs typeface="Microsoft Sans Serif"/>
            </a:endParaRPr>
          </a:p>
          <a:p>
            <a:pPr marL="755650" lvl="1" indent="-285750">
              <a:lnSpc>
                <a:spcPct val="100000"/>
              </a:lnSpc>
              <a:spcBef>
                <a:spcPts val="960"/>
              </a:spcBef>
              <a:buSzPct val="105000"/>
              <a:buFont typeface="Times New Roman"/>
              <a:buChar char="•"/>
              <a:tabLst>
                <a:tab pos="755650" algn="l"/>
              </a:tabLst>
            </a:pPr>
            <a:r>
              <a:rPr sz="2000" spc="-200" dirty="0">
                <a:solidFill>
                  <a:srgbClr val="004578"/>
                </a:solidFill>
                <a:latin typeface="Microsoft Sans Serif"/>
                <a:cs typeface="Microsoft Sans Serif"/>
              </a:rPr>
              <a:t>Software</a:t>
            </a:r>
            <a:r>
              <a:rPr sz="2000" spc="-4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4578"/>
                </a:solidFill>
                <a:latin typeface="Microsoft Sans Serif"/>
                <a:cs typeface="Microsoft Sans Serif"/>
              </a:rPr>
              <a:t>inefficient,</a:t>
            </a:r>
            <a:r>
              <a:rPr sz="2000" spc="-7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4578"/>
                </a:solidFill>
                <a:latin typeface="Microsoft Sans Serif"/>
                <a:cs typeface="Microsoft Sans Serif"/>
              </a:rPr>
              <a:t>of</a:t>
            </a:r>
            <a:r>
              <a:rPr sz="2000" spc="-5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4578"/>
                </a:solidFill>
                <a:latin typeface="Microsoft Sans Serif"/>
                <a:cs typeface="Microsoft Sans Serif"/>
              </a:rPr>
              <a:t>low</a:t>
            </a:r>
            <a:r>
              <a:rPr sz="2000" spc="-4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4578"/>
                </a:solidFill>
                <a:latin typeface="Microsoft Sans Serif"/>
                <a:cs typeface="Microsoft Sans Serif"/>
              </a:rPr>
              <a:t>quality,</a:t>
            </a:r>
            <a:r>
              <a:rPr sz="2000" spc="-6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4578"/>
                </a:solidFill>
                <a:latin typeface="Microsoft Sans Serif"/>
                <a:cs typeface="Microsoft Sans Serif"/>
              </a:rPr>
              <a:t>not</a:t>
            </a:r>
            <a:r>
              <a:rPr sz="2000" spc="-4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4578"/>
                </a:solidFill>
                <a:latin typeface="Microsoft Sans Serif"/>
                <a:cs typeface="Microsoft Sans Serif"/>
              </a:rPr>
              <a:t>meeting</a:t>
            </a:r>
            <a:r>
              <a:rPr sz="2000" spc="-6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4578"/>
                </a:solidFill>
                <a:latin typeface="Microsoft Sans Serif"/>
                <a:cs typeface="Microsoft Sans Serif"/>
              </a:rPr>
              <a:t>requirements</a:t>
            </a:r>
            <a:endParaRPr sz="2000" dirty="0">
              <a:latin typeface="Microsoft Sans Serif"/>
              <a:cs typeface="Microsoft Sans Serif"/>
            </a:endParaRPr>
          </a:p>
          <a:p>
            <a:pPr marL="755650" lvl="1" indent="-285750">
              <a:lnSpc>
                <a:spcPct val="100000"/>
              </a:lnSpc>
              <a:spcBef>
                <a:spcPts val="960"/>
              </a:spcBef>
              <a:buSzPct val="105000"/>
              <a:buFont typeface="Times New Roman"/>
              <a:buChar char="•"/>
              <a:tabLst>
                <a:tab pos="755650" algn="l"/>
              </a:tabLst>
            </a:pPr>
            <a:r>
              <a:rPr sz="2000" spc="-175" dirty="0">
                <a:solidFill>
                  <a:srgbClr val="004578"/>
                </a:solidFill>
                <a:latin typeface="Microsoft Sans Serif"/>
                <a:cs typeface="Microsoft Sans Serif"/>
              </a:rPr>
              <a:t>Projects</a:t>
            </a:r>
            <a:r>
              <a:rPr sz="2000" spc="-5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4578"/>
                </a:solidFill>
                <a:latin typeface="Microsoft Sans Serif"/>
                <a:cs typeface="Microsoft Sans Serif"/>
              </a:rPr>
              <a:t>unmanageable,</a:t>
            </a:r>
            <a:r>
              <a:rPr sz="20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4578"/>
                </a:solidFill>
                <a:latin typeface="Microsoft Sans Serif"/>
                <a:cs typeface="Microsoft Sans Serif"/>
              </a:rPr>
              <a:t>code</a:t>
            </a:r>
            <a:r>
              <a:rPr sz="2000" spc="-4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4578"/>
                </a:solidFill>
                <a:latin typeface="Microsoft Sans Serif"/>
                <a:cs typeface="Microsoft Sans Serif"/>
              </a:rPr>
              <a:t>difficult</a:t>
            </a:r>
            <a:r>
              <a:rPr sz="2000" spc="-8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4578"/>
                </a:solidFill>
                <a:latin typeface="Microsoft Sans Serif"/>
                <a:cs typeface="Microsoft Sans Serif"/>
              </a:rPr>
              <a:t>to</a:t>
            </a:r>
            <a:r>
              <a:rPr sz="20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004578"/>
                </a:solidFill>
                <a:latin typeface="Microsoft Sans Serif"/>
                <a:cs typeface="Microsoft Sans Serif"/>
              </a:rPr>
              <a:t>maintain</a:t>
            </a:r>
            <a:endParaRPr sz="2000" dirty="0">
              <a:latin typeface="Microsoft Sans Serif"/>
              <a:cs typeface="Microsoft Sans Serif"/>
            </a:endParaRPr>
          </a:p>
          <a:p>
            <a:pPr marL="755650" lvl="1" indent="-285750">
              <a:lnSpc>
                <a:spcPct val="100000"/>
              </a:lnSpc>
              <a:spcBef>
                <a:spcPts val="960"/>
              </a:spcBef>
              <a:buSzPct val="105000"/>
              <a:buFont typeface="Times New Roman"/>
              <a:buChar char="•"/>
              <a:tabLst>
                <a:tab pos="755650" algn="l"/>
              </a:tabLst>
            </a:pPr>
            <a:r>
              <a:rPr sz="2000" spc="-200" dirty="0">
                <a:solidFill>
                  <a:srgbClr val="004578"/>
                </a:solidFill>
                <a:latin typeface="Microsoft Sans Serif"/>
                <a:cs typeface="Microsoft Sans Serif"/>
              </a:rPr>
              <a:t>Software</a:t>
            </a:r>
            <a:r>
              <a:rPr sz="20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235" dirty="0">
                <a:solidFill>
                  <a:srgbClr val="004578"/>
                </a:solidFill>
                <a:latin typeface="Microsoft Sans Serif"/>
                <a:cs typeface="Microsoft Sans Serif"/>
              </a:rPr>
              <a:t>was</a:t>
            </a:r>
            <a:r>
              <a:rPr sz="2000" spc="-45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4578"/>
                </a:solidFill>
                <a:latin typeface="Microsoft Sans Serif"/>
                <a:cs typeface="Microsoft Sans Serif"/>
              </a:rPr>
              <a:t>never</a:t>
            </a:r>
            <a:r>
              <a:rPr sz="2000" spc="-50" dirty="0">
                <a:solidFill>
                  <a:srgbClr val="004578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4578"/>
                </a:solidFill>
                <a:latin typeface="Microsoft Sans Serif"/>
                <a:cs typeface="Microsoft Sans Serif"/>
              </a:rPr>
              <a:t>delivered</a:t>
            </a:r>
            <a:endParaRPr lang="en-US" sz="2000" spc="-55" dirty="0">
              <a:solidFill>
                <a:srgbClr val="004578"/>
              </a:solidFill>
              <a:latin typeface="Microsoft Sans Serif"/>
              <a:cs typeface="Microsoft Sans Serif"/>
            </a:endParaRPr>
          </a:p>
          <a:p>
            <a:pPr marL="755650" lvl="1" indent="-285750">
              <a:lnSpc>
                <a:spcPct val="100000"/>
              </a:lnSpc>
              <a:spcBef>
                <a:spcPts val="960"/>
              </a:spcBef>
              <a:buSzPct val="105000"/>
              <a:buFont typeface="Times New Roman"/>
              <a:buChar char="•"/>
              <a:tabLst>
                <a:tab pos="755650" algn="l"/>
              </a:tabLst>
            </a:pP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6AEB0AE-8CCB-C344-A8E1-04014954C427}"/>
              </a:ext>
            </a:extLst>
          </p:cNvPr>
          <p:cNvSpPr txBox="1">
            <a:spLocks/>
          </p:cNvSpPr>
          <p:nvPr/>
        </p:nvSpPr>
        <p:spPr>
          <a:xfrm>
            <a:off x="261874" y="0"/>
            <a:ext cx="6837045" cy="1026434"/>
          </a:xfrm>
          <a:prstGeom prst="rect">
            <a:avLst/>
          </a:prstGeom>
        </p:spPr>
        <p:txBody>
          <a:bodyPr vert="horz" wrap="square" lIns="0" tIns="345947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350" dirty="0"/>
              <a:t>Software</a:t>
            </a:r>
            <a:r>
              <a:rPr lang="en-US" b="1" spc="-155" dirty="0"/>
              <a:t> </a:t>
            </a:r>
            <a:r>
              <a:rPr lang="en-US" b="1" spc="-315" dirty="0"/>
              <a:t>Crisis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C3352-97C3-BB4F-A6C6-2CF98C951CC2}"/>
              </a:ext>
            </a:extLst>
          </p:cNvPr>
          <p:cNvSpPr/>
          <p:nvPr/>
        </p:nvSpPr>
        <p:spPr>
          <a:xfrm>
            <a:off x="845009" y="5449155"/>
            <a:ext cx="85446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Let's look at </a:t>
            </a:r>
            <a:r>
              <a:rPr lang="en-US" sz="2400" u="sng" dirty="0"/>
              <a:t>Alex's three rule </a:t>
            </a:r>
            <a:r>
              <a:rPr lang="en-US" sz="2400" dirty="0"/>
              <a:t>of Defensive Programming</a:t>
            </a:r>
          </a:p>
        </p:txBody>
      </p:sp>
    </p:spTree>
    <p:extLst>
      <p:ext uri="{BB962C8B-B14F-4D97-AF65-F5344CB8AC3E}">
        <p14:creationId xmlns:p14="http://schemas.microsoft.com/office/powerpoint/2010/main" val="203794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F54E1D-DBCC-434B-B7A9-8E95B0C3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7251-EB39-1543-8B76-0C8A7E0ACA32}"/>
              </a:ext>
            </a:extLst>
          </p:cNvPr>
          <p:cNvSpPr/>
          <p:nvPr/>
        </p:nvSpPr>
        <p:spPr>
          <a:xfrm>
            <a:off x="461840" y="1237115"/>
            <a:ext cx="49103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The first rule of defensive programming is 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B7223D-2315-F24E-8C2D-B5911B098A15}"/>
              </a:ext>
            </a:extLst>
          </p:cNvPr>
          <p:cNvSpPr/>
          <p:nvPr/>
        </p:nvSpPr>
        <p:spPr>
          <a:xfrm>
            <a:off x="2917000" y="2029522"/>
            <a:ext cx="3828046" cy="825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Never Assume Anything!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90210-46B0-BF46-AEC4-E3F37DA22AEC}"/>
              </a:ext>
            </a:extLst>
          </p:cNvPr>
          <p:cNvSpPr/>
          <p:nvPr/>
        </p:nvSpPr>
        <p:spPr>
          <a:xfrm>
            <a:off x="625397" y="3537829"/>
            <a:ext cx="8599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A lot of problems in applications can be attributed to unexpected input.</a:t>
            </a:r>
          </a:p>
          <a:p>
            <a:endParaRPr lang="en-US" dirty="0"/>
          </a:p>
          <a:p>
            <a:r>
              <a:rPr lang="en-US" dirty="0"/>
              <a:t>■ Another common source of error is the programmer assuming something about a programming language.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1E0AA-1501-8543-82CE-9E1CBF991A5A}"/>
              </a:ext>
            </a:extLst>
          </p:cNvPr>
          <p:cNvSpPr/>
          <p:nvPr/>
        </p:nvSpPr>
        <p:spPr>
          <a:xfrm>
            <a:off x="0" y="372337"/>
            <a:ext cx="1696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First Rule</a:t>
            </a:r>
          </a:p>
        </p:txBody>
      </p:sp>
    </p:spTree>
    <p:extLst>
      <p:ext uri="{BB962C8B-B14F-4D97-AF65-F5344CB8AC3E}">
        <p14:creationId xmlns:p14="http://schemas.microsoft.com/office/powerpoint/2010/main" val="202508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C87000-19C8-AC4C-AB6F-C3375CD0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3B473-A0A3-3E4A-93FC-05191DE36561}"/>
              </a:ext>
            </a:extLst>
          </p:cNvPr>
          <p:cNvSpPr/>
          <p:nvPr/>
        </p:nvSpPr>
        <p:spPr>
          <a:xfrm>
            <a:off x="1282400" y="1606515"/>
            <a:ext cx="70762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Lets assume input expect an monetary value.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 amount numeric?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 amount large enough or small enough?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positive? 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decimal point does it have? (ex: 20.2555$) 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6773CB-B60E-C544-8C52-15AE0F3D2AB4}"/>
              </a:ext>
            </a:extLst>
          </p:cNvPr>
          <p:cNvSpPr/>
          <p:nvPr/>
        </p:nvSpPr>
        <p:spPr>
          <a:xfrm>
            <a:off x="0" y="372337"/>
            <a:ext cx="1696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First Rule</a:t>
            </a:r>
          </a:p>
        </p:txBody>
      </p:sp>
    </p:spTree>
    <p:extLst>
      <p:ext uri="{BB962C8B-B14F-4D97-AF65-F5344CB8AC3E}">
        <p14:creationId xmlns:p14="http://schemas.microsoft.com/office/powerpoint/2010/main" val="67774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3FAC47-7CBC-684F-B2EE-D0B99C3C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8BFEB-E1A8-394F-8A65-25F735DC8C23}"/>
              </a:ext>
            </a:extLst>
          </p:cNvPr>
          <p:cNvSpPr/>
          <p:nvPr/>
        </p:nvSpPr>
        <p:spPr>
          <a:xfrm>
            <a:off x="1174823" y="2500748"/>
            <a:ext cx="70440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Proper coding standards address weaknesses in the language standard and/or compiler design. 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They also defines a format or “style” used for writing code.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Every software development team should have an agreed-upon and formally documented coding standard.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042819-FFE7-5A4B-ADEF-345FF328982B}"/>
              </a:ext>
            </a:extLst>
          </p:cNvPr>
          <p:cNvSpPr/>
          <p:nvPr/>
        </p:nvSpPr>
        <p:spPr>
          <a:xfrm>
            <a:off x="0" y="372337"/>
            <a:ext cx="2198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Second Rule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8F9A6-2BAC-6A43-9551-DC076E291FBA}"/>
              </a:ext>
            </a:extLst>
          </p:cNvPr>
          <p:cNvSpPr/>
          <p:nvPr/>
        </p:nvSpPr>
        <p:spPr>
          <a:xfrm>
            <a:off x="593912" y="1728856"/>
            <a:ext cx="7345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second rule of defensive programming is to use </a:t>
            </a:r>
            <a:r>
              <a:rPr lang="en-US" b="1" u="sng" dirty="0"/>
              <a:t>Standards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905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19F617-A745-C145-9A6A-CDC212DE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4228E-4059-AE4A-8465-6CF5D875B6D0}"/>
              </a:ext>
            </a:extLst>
          </p:cNvPr>
          <p:cNvSpPr/>
          <p:nvPr/>
        </p:nvSpPr>
        <p:spPr>
          <a:xfrm>
            <a:off x="959672" y="4020102"/>
            <a:ext cx="67484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When working on an existing project, find out if a coding standard is used. If not, impose one.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D69AA6-96F3-B841-8263-7ABA3AA63274}"/>
              </a:ext>
            </a:extLst>
          </p:cNvPr>
          <p:cNvSpPr/>
          <p:nvPr/>
        </p:nvSpPr>
        <p:spPr>
          <a:xfrm>
            <a:off x="201353" y="503209"/>
            <a:ext cx="27238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Coding standards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0C179-7D1F-B744-90A1-CDEBC77F099A}"/>
              </a:ext>
            </a:extLst>
          </p:cNvPr>
          <p:cNvSpPr/>
          <p:nvPr/>
        </p:nvSpPr>
        <p:spPr>
          <a:xfrm>
            <a:off x="959672" y="1267626"/>
            <a:ext cx="7043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Coding standards make code more coherent and easier to read.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Thus reduce the likelihood of bugs.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CA60C-83CA-A444-B3B3-820533637254}"/>
              </a:ext>
            </a:extLst>
          </p:cNvPr>
          <p:cNvSpPr/>
          <p:nvPr/>
        </p:nvSpPr>
        <p:spPr>
          <a:xfrm>
            <a:off x="959672" y="2216709"/>
            <a:ext cx="76464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They cover a wide range of topics.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naming, indentation, position of brackets, content of header files, function declaration, etc.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407E37-4E3C-164D-B716-565BD2D14D7B}"/>
              </a:ext>
            </a:extLst>
          </p:cNvPr>
          <p:cNvSpPr/>
          <p:nvPr/>
        </p:nvSpPr>
        <p:spPr>
          <a:xfrm>
            <a:off x="959672" y="3438181"/>
            <a:ext cx="8265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Many different coding standards for every different programming language are available on the web.  </a:t>
            </a:r>
          </a:p>
        </p:txBody>
      </p:sp>
    </p:spTree>
    <p:extLst>
      <p:ext uri="{BB962C8B-B14F-4D97-AF65-F5344CB8AC3E}">
        <p14:creationId xmlns:p14="http://schemas.microsoft.com/office/powerpoint/2010/main" val="314443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15BC01-0834-7042-B906-FC1367DE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DD8DB-EA1E-8749-BB4E-5F5F97D3BEF5}"/>
              </a:ext>
            </a:extLst>
          </p:cNvPr>
          <p:cNvSpPr/>
          <p:nvPr/>
        </p:nvSpPr>
        <p:spPr>
          <a:xfrm>
            <a:off x="1172200" y="3907902"/>
            <a:ext cx="72940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Proper planning is key to keeping you application simple. Before coding, you should write down the major ideas of what you are trying to do (module names, files, etc. 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D38A5-0786-354A-9F00-4D232CC3F262}"/>
              </a:ext>
            </a:extLst>
          </p:cNvPr>
          <p:cNvSpPr/>
          <p:nvPr/>
        </p:nvSpPr>
        <p:spPr>
          <a:xfrm>
            <a:off x="0" y="372337"/>
            <a:ext cx="1853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Third Rule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5CC44-3409-1541-A05D-321D0A1E86B8}"/>
              </a:ext>
            </a:extLst>
          </p:cNvPr>
          <p:cNvSpPr/>
          <p:nvPr/>
        </p:nvSpPr>
        <p:spPr>
          <a:xfrm>
            <a:off x="1172200" y="1478399"/>
            <a:ext cx="7412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The third rule of Defensive Programming is to keep your code as simple as possible.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Complexity breeds bugs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64751-4358-5B42-AA8A-7E55A39217FC}"/>
              </a:ext>
            </a:extLst>
          </p:cNvPr>
          <p:cNvSpPr/>
          <p:nvPr/>
        </p:nvSpPr>
        <p:spPr>
          <a:xfrm>
            <a:off x="1088762" y="2841123"/>
            <a:ext cx="6097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Software should only contain the features it needs.</a:t>
            </a:r>
          </a:p>
        </p:txBody>
      </p:sp>
    </p:spTree>
    <p:extLst>
      <p:ext uri="{BB962C8B-B14F-4D97-AF65-F5344CB8AC3E}">
        <p14:creationId xmlns:p14="http://schemas.microsoft.com/office/powerpoint/2010/main" val="118604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D0634-6BF3-A24A-81F7-984F260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319DA-F42A-E848-B750-F699DDBE8459}"/>
              </a:ext>
            </a:extLst>
          </p:cNvPr>
          <p:cNvSpPr/>
          <p:nvPr/>
        </p:nvSpPr>
        <p:spPr>
          <a:xfrm>
            <a:off x="852095" y="5240022"/>
            <a:ext cx="6871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Refactoring can help you keep you application simple.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35DA2-1D17-DF4D-9C72-0E32BFFABE5B}"/>
              </a:ext>
            </a:extLst>
          </p:cNvPr>
          <p:cNvSpPr/>
          <p:nvPr/>
        </p:nvSpPr>
        <p:spPr>
          <a:xfrm>
            <a:off x="1024218" y="1215188"/>
            <a:ext cx="75065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Refactoring is a disciplined technique for restructuring an existing body of code, altering its internal structure without changing its external behavior. -- </a:t>
            </a:r>
            <a:r>
              <a:rPr lang="en-US" dirty="0" err="1">
                <a:hlinkClick r:id="rId2"/>
              </a:rPr>
              <a:t>www.refactoring.com</a:t>
            </a:r>
            <a:r>
              <a:rPr lang="en-US" dirty="0">
                <a:hlinkClick r:id="rId2"/>
              </a:rPr>
              <a:t>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A204A-50F5-FE44-8E36-457B7F7C74C8}"/>
              </a:ext>
            </a:extLst>
          </p:cNvPr>
          <p:cNvSpPr/>
          <p:nvPr/>
        </p:nvSpPr>
        <p:spPr>
          <a:xfrm>
            <a:off x="948914" y="2492649"/>
            <a:ext cx="6290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By itself, refactoring is not a bug-fixing technique.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26C2D-3721-364C-91AD-C6C81DB29611}"/>
              </a:ext>
            </a:extLst>
          </p:cNvPr>
          <p:cNvSpPr/>
          <p:nvPr/>
        </p:nvSpPr>
        <p:spPr>
          <a:xfrm>
            <a:off x="948914" y="2973690"/>
            <a:ext cx="81950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However, refactoring is a good technique to battle feature creep: 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are often added during development.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features are more often the source of problems.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Refactoring fights this by forcing the programmer to reevaluate the structure of his/her program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0034F-6F7A-714C-82EB-E30599843B9C}"/>
              </a:ext>
            </a:extLst>
          </p:cNvPr>
          <p:cNvSpPr/>
          <p:nvPr/>
        </p:nvSpPr>
        <p:spPr>
          <a:xfrm>
            <a:off x="46263" y="566770"/>
            <a:ext cx="1805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Refactoring</a:t>
            </a:r>
          </a:p>
        </p:txBody>
      </p:sp>
    </p:spTree>
    <p:extLst>
      <p:ext uri="{BB962C8B-B14F-4D97-AF65-F5344CB8AC3E}">
        <p14:creationId xmlns:p14="http://schemas.microsoft.com/office/powerpoint/2010/main" val="47576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2A3983-3489-404F-9A6A-4DA9FF05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D53E7-EF62-2E4F-941E-B23021E2BE9B}"/>
              </a:ext>
            </a:extLst>
          </p:cNvPr>
          <p:cNvSpPr/>
          <p:nvPr/>
        </p:nvSpPr>
        <p:spPr>
          <a:xfrm>
            <a:off x="830579" y="2590740"/>
            <a:ext cx="77647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■ Although code reuse is highly recommended, many questions must be addressed before using someone else's code: 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this do exactly what I need?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much will I need to change my design?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stable is it? What reputation does it have?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old is the code?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Who built it?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people still using it?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I get help? 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much documentation is there?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31246-684F-2F46-B6A0-5C61FC7CFBB5}"/>
              </a:ext>
            </a:extLst>
          </p:cNvPr>
          <p:cNvSpPr/>
          <p:nvPr/>
        </p:nvSpPr>
        <p:spPr>
          <a:xfrm>
            <a:off x="248043" y="504550"/>
            <a:ext cx="34644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Third-party libraries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E343C-6EF7-144E-B287-2F472F92B9F9}"/>
              </a:ext>
            </a:extLst>
          </p:cNvPr>
          <p:cNvSpPr/>
          <p:nvPr/>
        </p:nvSpPr>
        <p:spPr>
          <a:xfrm>
            <a:off x="830579" y="1384612"/>
            <a:ext cx="65814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Code reuse is not just a smart-choice, it's a safe choice.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D43B3-32A0-3042-BC67-4E83101F94C6}"/>
              </a:ext>
            </a:extLst>
          </p:cNvPr>
          <p:cNvSpPr/>
          <p:nvPr/>
        </p:nvSpPr>
        <p:spPr>
          <a:xfrm>
            <a:off x="830579" y="1944409"/>
            <a:ext cx="6947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■ Odds are that the library has proven itself and is much more stable than anything you could build short-term. </a:t>
            </a:r>
          </a:p>
        </p:txBody>
      </p:sp>
    </p:spTree>
    <p:extLst>
      <p:ext uri="{BB962C8B-B14F-4D97-AF65-F5344CB8AC3E}">
        <p14:creationId xmlns:p14="http://schemas.microsoft.com/office/powerpoint/2010/main" val="209377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3343802</TotalTime>
  <Words>753</Words>
  <Application>Microsoft Macintosh PowerPoint</Application>
  <PresentationFormat>A4 Paper (210x297 mm)</PresentationFormat>
  <Paragraphs>111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Microsoft Sans Serif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834</cp:revision>
  <cp:lastPrinted>2025-03-03T08:18:16Z</cp:lastPrinted>
  <dcterms:created xsi:type="dcterms:W3CDTF">2018-07-17T04:46:00Z</dcterms:created>
  <dcterms:modified xsi:type="dcterms:W3CDTF">2026-04-07T10:25:20Z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