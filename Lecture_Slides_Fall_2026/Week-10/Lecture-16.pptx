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2"/>
  </p:notesMasterIdLst>
  <p:sldIdLst>
    <p:sldId id="280" r:id="rId2"/>
    <p:sldId id="692" r:id="rId3"/>
    <p:sldId id="665" r:id="rId4"/>
    <p:sldId id="666" r:id="rId5"/>
    <p:sldId id="667" r:id="rId6"/>
    <p:sldId id="668" r:id="rId7"/>
    <p:sldId id="669" r:id="rId8"/>
    <p:sldId id="670" r:id="rId9"/>
    <p:sldId id="685" r:id="rId10"/>
    <p:sldId id="690" r:id="rId11"/>
    <p:sldId id="691" r:id="rId12"/>
    <p:sldId id="671" r:id="rId13"/>
    <p:sldId id="686" r:id="rId14"/>
    <p:sldId id="672" r:id="rId15"/>
    <p:sldId id="674" r:id="rId16"/>
    <p:sldId id="673" r:id="rId17"/>
    <p:sldId id="676" r:id="rId18"/>
    <p:sldId id="675" r:id="rId19"/>
    <p:sldId id="677" r:id="rId20"/>
    <p:sldId id="680" r:id="rId21"/>
    <p:sldId id="681" r:id="rId22"/>
    <p:sldId id="682" r:id="rId23"/>
    <p:sldId id="683" r:id="rId24"/>
    <p:sldId id="684" r:id="rId25"/>
    <p:sldId id="678" r:id="rId26"/>
    <p:sldId id="679" r:id="rId27"/>
    <p:sldId id="687" r:id="rId28"/>
    <p:sldId id="688" r:id="rId29"/>
    <p:sldId id="689" r:id="rId30"/>
    <p:sldId id="372" r:id="rId31"/>
  </p:sldIdLst>
  <p:sldSz cx="9906000" cy="6858000" type="A4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4C4F4344-209C-4F70-85AC-9C0340846E2F}">
          <p14:sldIdLst>
            <p14:sldId id="280"/>
            <p14:sldId id="692"/>
            <p14:sldId id="665"/>
            <p14:sldId id="666"/>
            <p14:sldId id="667"/>
            <p14:sldId id="668"/>
            <p14:sldId id="669"/>
            <p14:sldId id="670"/>
            <p14:sldId id="685"/>
            <p14:sldId id="690"/>
            <p14:sldId id="691"/>
            <p14:sldId id="671"/>
            <p14:sldId id="686"/>
            <p14:sldId id="672"/>
            <p14:sldId id="674"/>
            <p14:sldId id="673"/>
            <p14:sldId id="676"/>
            <p14:sldId id="675"/>
            <p14:sldId id="677"/>
            <p14:sldId id="680"/>
            <p14:sldId id="681"/>
            <p14:sldId id="682"/>
            <p14:sldId id="683"/>
            <p14:sldId id="684"/>
            <p14:sldId id="678"/>
            <p14:sldId id="679"/>
            <p14:sldId id="687"/>
            <p14:sldId id="688"/>
            <p14:sldId id="689"/>
            <p14:sldId id="372"/>
          </p14:sldIdLst>
        </p14:section>
        <p14:section name="无标题节" id="{3A58C67D-E970-4AF9-96C5-84664AA55BD8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306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1C06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854" autoAdjust="0"/>
    <p:restoredTop sz="92632" autoAdjust="0"/>
  </p:normalViewPr>
  <p:slideViewPr>
    <p:cSldViewPr snapToGrid="0">
      <p:cViewPr varScale="1">
        <p:scale>
          <a:sx n="57" d="100"/>
          <a:sy n="57" d="100"/>
        </p:scale>
        <p:origin x="1064" y="176"/>
      </p:cViewPr>
      <p:guideLst>
        <p:guide orient="horz" pos="2306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90" d="100"/>
        <a:sy n="19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86F613-6386-45E1-B87F-1E8A4FD761EB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E6104B-F43C-4180-A305-CEC1284C5F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08971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E6104B-F43C-4180-A305-CEC1284C5FF8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64180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E6104B-F43C-4180-A305-CEC1284C5FF8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77044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01A63-A7C4-4D9E-8336-1A8A451B13AA}" type="datetime1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B7285-B0D8-4CCE-9696-7B972DFD7D37}" type="datetime1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75878" y="1709738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75878" y="4589464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907B5-A00F-4D95-A944-352881DC976F}" type="datetime1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8D666-1070-47A4-93DD-CDEF7BD1F6B1}" type="datetime1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2328" y="365126"/>
            <a:ext cx="8543925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82328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82328" y="2505075"/>
            <a:ext cx="4190702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1CCC7-9EDE-420E-93DD-85D8C3590620}" type="datetime1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8E457-A80F-46AA-AB73-6563C30B8F07}" type="datetime1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494D2-7C33-4737-9BFA-E0AD9F259636}" type="datetime1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4211340" y="987426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A0A1E-52E8-41CF-B036-B709E3BEEE64}" type="datetime1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211340" y="987426"/>
            <a:ext cx="5014913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CECB7-59A1-4697-8604-3431EA5C9D9C}" type="datetime1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5824D-C0BA-4384-BF05-F9F894E8B242}" type="datetime1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88981" y="365125"/>
            <a:ext cx="2135981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681037" y="365125"/>
            <a:ext cx="6284119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CE58A-A4F5-4361-A1B6-594D0881072F}" type="datetime1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81038" y="365126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81038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694028-4A59-403E-B211-633674C4AE82}" type="datetime1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281363" y="6356351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996113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758AAF-F958-4141-BDE8-5609689A4508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B86DBDA-7A39-5940-BAEA-489B2396DCC4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2419" y="-11699"/>
            <a:ext cx="1165087" cy="104536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" y="1654175"/>
            <a:ext cx="9905999" cy="46228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endParaRPr lang="en-US" dirty="0"/>
          </a:p>
          <a:p>
            <a:pPr algn="ctr">
              <a:buNone/>
            </a:pPr>
            <a:endParaRPr lang="it-IT" b="1" dirty="0"/>
          </a:p>
          <a:p>
            <a:pPr algn="ctr">
              <a:buNone/>
            </a:pPr>
            <a:endParaRPr lang="en-US" b="1" dirty="0"/>
          </a:p>
          <a:p>
            <a:pPr algn="ctr">
              <a:buNone/>
            </a:pPr>
            <a:r>
              <a:rPr lang="en-US" b="1" dirty="0"/>
              <a:t>Security through Obscurity</a:t>
            </a:r>
            <a:br>
              <a:rPr lang="en-US" b="1" dirty="0"/>
            </a:br>
            <a:r>
              <a:rPr lang="en-US" b="1" dirty="0"/>
              <a:t>(</a:t>
            </a:r>
            <a:r>
              <a:rPr lang="en-US" dirty="0"/>
              <a:t>Code Obfuscation) </a:t>
            </a:r>
            <a:endParaRPr lang="en-US" b="1" dirty="0">
              <a:solidFill>
                <a:schemeClr val="accent5">
                  <a:lumMod val="50000"/>
                </a:schemeClr>
              </a:solidFill>
            </a:endParaRPr>
          </a:p>
          <a:p>
            <a:pPr algn="ctr">
              <a:buNone/>
            </a:pPr>
            <a:endParaRPr lang="en-US" b="1" dirty="0">
              <a:solidFill>
                <a:schemeClr val="accent5">
                  <a:lumMod val="50000"/>
                </a:schemeClr>
              </a:solidFill>
            </a:endParaRPr>
          </a:p>
          <a:p>
            <a:pPr algn="ctr">
              <a:buNone/>
            </a:pPr>
            <a:endParaRPr lang="en-US" b="1" dirty="0">
              <a:solidFill>
                <a:schemeClr val="accent5">
                  <a:lumMod val="50000"/>
                </a:schemeClr>
              </a:solidFill>
            </a:endParaRPr>
          </a:p>
          <a:p>
            <a:pPr algn="ctr">
              <a:buNone/>
            </a:pPr>
            <a:r>
              <a:rPr lang="en-US" dirty="0"/>
              <a:t>	</a:t>
            </a:r>
          </a:p>
        </p:txBody>
      </p:sp>
      <p:sp>
        <p:nvSpPr>
          <p:cNvPr id="49155" name="AutoShape 3" descr="C:\Users\W10\AppData\Roaming\Tencent\Users\794473416\QQ\WinTemp\RichOle\XO7~@R[DK0Y$4$RD6Y5[U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9156" name="AutoShape 4" descr="C:\Users\W10\AppData\Roaming\Tencent\Users\794473416\QQ\WinTemp\RichOle\XO7~@R[DK0Y$4$RD6Y5[U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9157" name="AutoShape 5" descr="C:\Users\W10\AppData\Roaming\Tencent\Users\794473416\QQ\WinTemp\RichOle\XO7~@R[DK0Y$4$RD6Y5[U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9A99ADA-48C1-EC4B-A15E-7A2B09F5ECE8}"/>
              </a:ext>
            </a:extLst>
          </p:cNvPr>
          <p:cNvSpPr txBox="1"/>
          <p:nvPr/>
        </p:nvSpPr>
        <p:spPr>
          <a:xfrm>
            <a:off x="2833815" y="1284843"/>
            <a:ext cx="48901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Secure Software Design and Development</a:t>
            </a:r>
          </a:p>
          <a:p>
            <a:pPr algn="ctr"/>
            <a:r>
              <a:rPr lang="en-US" b="1" dirty="0"/>
              <a:t>(CY-321)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E5D0608-6406-D34D-B80E-A574A88C8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</a:t>
            </a:fld>
            <a:endParaRPr lang="zh-CN" alt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800D4D-B275-4F40-B015-FE0A755C2F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2005" y="1215614"/>
            <a:ext cx="4399877" cy="26203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9380A26-93B3-0F4F-9536-EC06C589C6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390" y="1215614"/>
            <a:ext cx="4874056" cy="2620301"/>
          </a:xfrm>
          <a:prstGeom prst="rect">
            <a:avLst/>
          </a:prstGeom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66E1761-071E-1F4C-97B5-E1B4CD9BBDE8}"/>
              </a:ext>
            </a:extLst>
          </p:cNvPr>
          <p:cNvSpPr/>
          <p:nvPr/>
        </p:nvSpPr>
        <p:spPr>
          <a:xfrm>
            <a:off x="305778" y="4020101"/>
            <a:ext cx="2106206" cy="78761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UID in Cookie Jar</a:t>
            </a:r>
          </a:p>
        </p:txBody>
      </p:sp>
      <p:sp>
        <p:nvSpPr>
          <p:cNvPr id="7" name="Chevron 6">
            <a:extLst>
              <a:ext uri="{FF2B5EF4-FFF2-40B4-BE49-F238E27FC236}">
                <a16:creationId xmlns:a16="http://schemas.microsoft.com/office/drawing/2014/main" id="{60C90849-5816-4A44-992D-2781983AD2EA}"/>
              </a:ext>
            </a:extLst>
          </p:cNvPr>
          <p:cNvSpPr/>
          <p:nvPr/>
        </p:nvSpPr>
        <p:spPr>
          <a:xfrm>
            <a:off x="2742806" y="4165787"/>
            <a:ext cx="802888" cy="602166"/>
          </a:xfrm>
          <a:prstGeom prst="chevron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9B3C8E3-2012-BA4C-AE99-C7272D1F03D9}"/>
              </a:ext>
            </a:extLst>
          </p:cNvPr>
          <p:cNvSpPr/>
          <p:nvPr/>
        </p:nvSpPr>
        <p:spPr>
          <a:xfrm>
            <a:off x="3876516" y="4020101"/>
            <a:ext cx="2106206" cy="78761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Information Flow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817CA34-5A6C-0549-8E74-3EA9131782A7}"/>
              </a:ext>
            </a:extLst>
          </p:cNvPr>
          <p:cNvSpPr/>
          <p:nvPr/>
        </p:nvSpPr>
        <p:spPr>
          <a:xfrm>
            <a:off x="7484331" y="4020101"/>
            <a:ext cx="2106206" cy="78761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Network Requests</a:t>
            </a:r>
          </a:p>
        </p:txBody>
      </p:sp>
      <p:sp>
        <p:nvSpPr>
          <p:cNvPr id="10" name="Chevron 9">
            <a:extLst>
              <a:ext uri="{FF2B5EF4-FFF2-40B4-BE49-F238E27FC236}">
                <a16:creationId xmlns:a16="http://schemas.microsoft.com/office/drawing/2014/main" id="{256E34F0-C546-CA49-9646-7719C129CEAE}"/>
              </a:ext>
            </a:extLst>
          </p:cNvPr>
          <p:cNvSpPr/>
          <p:nvPr/>
        </p:nvSpPr>
        <p:spPr>
          <a:xfrm>
            <a:off x="6382170" y="4143579"/>
            <a:ext cx="802888" cy="602166"/>
          </a:xfrm>
          <a:prstGeom prst="chevron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7FD5B907-C197-C745-9970-DD94DC9DD804}"/>
              </a:ext>
            </a:extLst>
          </p:cNvPr>
          <p:cNvSpPr/>
          <p:nvPr/>
        </p:nvSpPr>
        <p:spPr>
          <a:xfrm>
            <a:off x="3876516" y="5484933"/>
            <a:ext cx="2106206" cy="78761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Code Obfuscation</a:t>
            </a:r>
          </a:p>
        </p:txBody>
      </p:sp>
      <p:sp>
        <p:nvSpPr>
          <p:cNvPr id="12" name="Chevron 11">
            <a:extLst>
              <a:ext uri="{FF2B5EF4-FFF2-40B4-BE49-F238E27FC236}">
                <a16:creationId xmlns:a16="http://schemas.microsoft.com/office/drawing/2014/main" id="{76409EA5-012A-2344-902C-3F88320BC700}"/>
              </a:ext>
            </a:extLst>
          </p:cNvPr>
          <p:cNvSpPr/>
          <p:nvPr/>
        </p:nvSpPr>
        <p:spPr>
          <a:xfrm rot="5400000">
            <a:off x="4596780" y="4799708"/>
            <a:ext cx="716980" cy="653469"/>
          </a:xfrm>
          <a:prstGeom prst="chevron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D880C6EF-C353-1044-B041-246C5F95E4BF}"/>
              </a:ext>
            </a:extLst>
          </p:cNvPr>
          <p:cNvSpPr/>
          <p:nvPr/>
        </p:nvSpPr>
        <p:spPr>
          <a:xfrm>
            <a:off x="7498556" y="5484933"/>
            <a:ext cx="2106206" cy="78761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Hard to Detect</a:t>
            </a:r>
          </a:p>
        </p:txBody>
      </p:sp>
      <p:sp>
        <p:nvSpPr>
          <p:cNvPr id="14" name="Chevron 13">
            <a:extLst>
              <a:ext uri="{FF2B5EF4-FFF2-40B4-BE49-F238E27FC236}">
                <a16:creationId xmlns:a16="http://schemas.microsoft.com/office/drawing/2014/main" id="{48DFE580-9D7D-954C-88E4-0480BFD8F3AB}"/>
              </a:ext>
            </a:extLst>
          </p:cNvPr>
          <p:cNvSpPr/>
          <p:nvPr/>
        </p:nvSpPr>
        <p:spPr>
          <a:xfrm>
            <a:off x="6339195" y="5577656"/>
            <a:ext cx="802888" cy="602166"/>
          </a:xfrm>
          <a:prstGeom prst="chevron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2927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8FE1B41-C8B6-5646-BE22-CBF37B6AD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473812C-00E9-2942-AF13-BF73BA49C4E6}"/>
              </a:ext>
            </a:extLst>
          </p:cNvPr>
          <p:cNvSpPr/>
          <p:nvPr/>
        </p:nvSpPr>
        <p:spPr>
          <a:xfrm>
            <a:off x="1518889" y="1267665"/>
            <a:ext cx="825981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Informally, to obfuscate a program </a:t>
            </a:r>
            <a:r>
              <a:rPr lang="en-US" sz="2400" b="1" dirty="0"/>
              <a:t>P</a:t>
            </a:r>
            <a:r>
              <a:rPr lang="en-US" sz="2400" dirty="0"/>
              <a:t> means to transform it into a program </a:t>
            </a:r>
            <a:r>
              <a:rPr lang="en-US" sz="2400" b="1" dirty="0"/>
              <a:t>P′</a:t>
            </a:r>
            <a:r>
              <a:rPr lang="en-US" sz="2400" dirty="0"/>
              <a:t> that is still executable but for which it is hard to extract information.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C278F3C-1887-1F45-9857-FE97A62CB8EC}"/>
              </a:ext>
            </a:extLst>
          </p:cNvPr>
          <p:cNvSpPr/>
          <p:nvPr/>
        </p:nvSpPr>
        <p:spPr>
          <a:xfrm>
            <a:off x="1306948" y="3626649"/>
            <a:ext cx="464422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“Hard?” ⇒ Harder than before!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CFDCA0-7D52-A447-8448-4FD900D40B8A}"/>
              </a:ext>
            </a:extLst>
          </p:cNvPr>
          <p:cNvSpPr txBox="1"/>
          <p:nvPr/>
        </p:nvSpPr>
        <p:spPr>
          <a:xfrm>
            <a:off x="1518889" y="2700170"/>
            <a:ext cx="27647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 = P′ </a:t>
            </a:r>
          </a:p>
        </p:txBody>
      </p:sp>
    </p:spTree>
    <p:extLst>
      <p:ext uri="{BB962C8B-B14F-4D97-AF65-F5344CB8AC3E}">
        <p14:creationId xmlns:p14="http://schemas.microsoft.com/office/powerpoint/2010/main" val="450021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CBE7313-0541-FC47-9F2D-5D725F774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4A3CE79-84DF-884C-ABF6-106B0F39EEF0}"/>
              </a:ext>
            </a:extLst>
          </p:cNvPr>
          <p:cNvSpPr/>
          <p:nvPr/>
        </p:nvSpPr>
        <p:spPr>
          <a:xfrm>
            <a:off x="1697306" y="3243900"/>
            <a:ext cx="740366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Dynamic obfuscators </a:t>
            </a:r>
            <a:r>
              <a:rPr lang="en-US" sz="2400" dirty="0"/>
              <a:t>⇒ transform programs continuously at runtime.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C97BFF4-1D25-5D44-B68F-BE249A9D964A}"/>
              </a:ext>
            </a:extLst>
          </p:cNvPr>
          <p:cNvSpPr/>
          <p:nvPr/>
        </p:nvSpPr>
        <p:spPr>
          <a:xfrm>
            <a:off x="1697307" y="1701111"/>
            <a:ext cx="608624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Static obfuscation </a:t>
            </a:r>
            <a:r>
              <a:rPr lang="en-US" sz="2400" dirty="0"/>
              <a:t>⇒ obfuscated programs that remain fixed at runtime.</a:t>
            </a:r>
          </a:p>
        </p:txBody>
      </p:sp>
    </p:spTree>
    <p:extLst>
      <p:ext uri="{BB962C8B-B14F-4D97-AF65-F5344CB8AC3E}">
        <p14:creationId xmlns:p14="http://schemas.microsoft.com/office/powerpoint/2010/main" val="1833506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6DAC8F0-8F14-CB4B-8110-1CCFFB9C7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75A6FF7-D753-B349-9C4B-9152125B6DF1}"/>
              </a:ext>
            </a:extLst>
          </p:cNvPr>
          <p:cNvSpPr/>
          <p:nvPr/>
        </p:nvSpPr>
        <p:spPr>
          <a:xfrm>
            <a:off x="1778695" y="1415442"/>
            <a:ext cx="2106206" cy="78761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x+0→x</a:t>
            </a:r>
          </a:p>
        </p:txBody>
      </p:sp>
      <p:sp>
        <p:nvSpPr>
          <p:cNvPr id="5" name="Chevron 4">
            <a:extLst>
              <a:ext uri="{FF2B5EF4-FFF2-40B4-BE49-F238E27FC236}">
                <a16:creationId xmlns:a16="http://schemas.microsoft.com/office/drawing/2014/main" id="{DE9B164A-9357-834C-852D-A7F4F4F94535}"/>
              </a:ext>
            </a:extLst>
          </p:cNvPr>
          <p:cNvSpPr/>
          <p:nvPr/>
        </p:nvSpPr>
        <p:spPr>
          <a:xfrm>
            <a:off x="4712534" y="1508165"/>
            <a:ext cx="802888" cy="602166"/>
          </a:xfrm>
          <a:prstGeom prst="chevron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8C904BC-5D4D-5741-BAA6-BD9067E7F13F}"/>
              </a:ext>
            </a:extLst>
          </p:cNvPr>
          <p:cNvSpPr/>
          <p:nvPr/>
        </p:nvSpPr>
        <p:spPr>
          <a:xfrm>
            <a:off x="6004332" y="1415442"/>
            <a:ext cx="2106206" cy="78761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X*1→x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BE405DB1-2F6D-BB40-AE20-0B566D49AEDC}"/>
              </a:ext>
            </a:extLst>
          </p:cNvPr>
          <p:cNvSpPr/>
          <p:nvPr/>
        </p:nvSpPr>
        <p:spPr>
          <a:xfrm>
            <a:off x="1906043" y="4698752"/>
            <a:ext cx="2106206" cy="78761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/>
              <a:t>a×b</a:t>
            </a:r>
            <a:endParaRPr lang="en-US" sz="2000" b="1" dirty="0"/>
          </a:p>
        </p:txBody>
      </p:sp>
      <p:sp>
        <p:nvSpPr>
          <p:cNvPr id="11" name="Chevron 10">
            <a:extLst>
              <a:ext uri="{FF2B5EF4-FFF2-40B4-BE49-F238E27FC236}">
                <a16:creationId xmlns:a16="http://schemas.microsoft.com/office/drawing/2014/main" id="{CD13FFE0-99DF-304B-A41B-7A2D046D1E41}"/>
              </a:ext>
            </a:extLst>
          </p:cNvPr>
          <p:cNvSpPr/>
          <p:nvPr/>
        </p:nvSpPr>
        <p:spPr>
          <a:xfrm>
            <a:off x="4839882" y="4791475"/>
            <a:ext cx="802888" cy="602166"/>
          </a:xfrm>
          <a:prstGeom prst="chevron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1C549C6E-F5D1-A141-8F36-BCA8762D2713}"/>
              </a:ext>
            </a:extLst>
          </p:cNvPr>
          <p:cNvSpPr/>
          <p:nvPr/>
        </p:nvSpPr>
        <p:spPr>
          <a:xfrm>
            <a:off x="6131680" y="4698752"/>
            <a:ext cx="2106206" cy="78761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/>
              <a:t>e^ln</a:t>
            </a:r>
            <a:r>
              <a:rPr lang="en-US" sz="2000" dirty="0"/>
              <a:t>(a)+ln(b)</a:t>
            </a:r>
            <a:endParaRPr lang="en-US" sz="2000" b="1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FE7E959-EE57-2744-8811-34A6F02A57AB}"/>
              </a:ext>
            </a:extLst>
          </p:cNvPr>
          <p:cNvSpPr/>
          <p:nvPr/>
        </p:nvSpPr>
        <p:spPr>
          <a:xfrm>
            <a:off x="160977" y="315013"/>
            <a:ext cx="719882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/>
              <a:t>Obfuscating : Expression Equivalence</a:t>
            </a:r>
          </a:p>
        </p:txBody>
      </p:sp>
    </p:spTree>
    <p:extLst>
      <p:ext uri="{BB962C8B-B14F-4D97-AF65-F5344CB8AC3E}">
        <p14:creationId xmlns:p14="http://schemas.microsoft.com/office/powerpoint/2010/main" val="2324780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10" grpId="0" animBg="1"/>
      <p:bldP spid="11" grpId="0" animBg="1"/>
      <p:bldP spid="1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6DAC8F0-8F14-CB4B-8110-1CCFFB9C7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75A6FF7-D753-B349-9C4B-9152125B6DF1}"/>
              </a:ext>
            </a:extLst>
          </p:cNvPr>
          <p:cNvSpPr/>
          <p:nvPr/>
        </p:nvSpPr>
        <p:spPr>
          <a:xfrm>
            <a:off x="1778695" y="1415442"/>
            <a:ext cx="2106206" cy="78761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y = x + 1</a:t>
            </a:r>
          </a:p>
        </p:txBody>
      </p:sp>
      <p:sp>
        <p:nvSpPr>
          <p:cNvPr id="5" name="Chevron 4">
            <a:extLst>
              <a:ext uri="{FF2B5EF4-FFF2-40B4-BE49-F238E27FC236}">
                <a16:creationId xmlns:a16="http://schemas.microsoft.com/office/drawing/2014/main" id="{DE9B164A-9357-834C-852D-A7F4F4F94535}"/>
              </a:ext>
            </a:extLst>
          </p:cNvPr>
          <p:cNvSpPr/>
          <p:nvPr/>
        </p:nvSpPr>
        <p:spPr>
          <a:xfrm>
            <a:off x="4712534" y="1508165"/>
            <a:ext cx="802888" cy="602166"/>
          </a:xfrm>
          <a:prstGeom prst="chevron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8C904BC-5D4D-5741-BAA6-BD9067E7F13F}"/>
              </a:ext>
            </a:extLst>
          </p:cNvPr>
          <p:cNvSpPr/>
          <p:nvPr/>
        </p:nvSpPr>
        <p:spPr>
          <a:xfrm>
            <a:off x="6004332" y="1415442"/>
            <a:ext cx="2106206" cy="78761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temp = x * 2 - x</a:t>
            </a:r>
          </a:p>
          <a:p>
            <a:pPr algn="ctr"/>
            <a:r>
              <a:rPr lang="en-US" sz="2000" b="1" dirty="0"/>
              <a:t>y = temp + 1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167893F-502E-D74B-B3A6-E832D10C9E44}"/>
              </a:ext>
            </a:extLst>
          </p:cNvPr>
          <p:cNvSpPr/>
          <p:nvPr/>
        </p:nvSpPr>
        <p:spPr>
          <a:xfrm>
            <a:off x="1778695" y="3041154"/>
            <a:ext cx="2106206" cy="78761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y = (x + 5) - 3;</a:t>
            </a:r>
          </a:p>
        </p:txBody>
      </p:sp>
      <p:sp>
        <p:nvSpPr>
          <p:cNvPr id="8" name="Chevron 7">
            <a:extLst>
              <a:ext uri="{FF2B5EF4-FFF2-40B4-BE49-F238E27FC236}">
                <a16:creationId xmlns:a16="http://schemas.microsoft.com/office/drawing/2014/main" id="{70A0EB91-B851-D045-8F95-6E1CF94AE056}"/>
              </a:ext>
            </a:extLst>
          </p:cNvPr>
          <p:cNvSpPr/>
          <p:nvPr/>
        </p:nvSpPr>
        <p:spPr>
          <a:xfrm>
            <a:off x="4712534" y="3133877"/>
            <a:ext cx="802888" cy="602166"/>
          </a:xfrm>
          <a:prstGeom prst="chevron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1AA2E39-82A8-784B-B7C8-F28A3FE229D8}"/>
              </a:ext>
            </a:extLst>
          </p:cNvPr>
          <p:cNvSpPr/>
          <p:nvPr/>
        </p:nvSpPr>
        <p:spPr>
          <a:xfrm>
            <a:off x="6004332" y="3041154"/>
            <a:ext cx="2106206" cy="78761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y = x + (5 - 3);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F100AD5-0178-9540-9368-C25F814EF1A7}"/>
              </a:ext>
            </a:extLst>
          </p:cNvPr>
          <p:cNvSpPr/>
          <p:nvPr/>
        </p:nvSpPr>
        <p:spPr>
          <a:xfrm>
            <a:off x="160977" y="315013"/>
            <a:ext cx="719882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/>
              <a:t>Obfuscating : Expression Equivalence</a:t>
            </a:r>
          </a:p>
        </p:txBody>
      </p:sp>
    </p:spTree>
    <p:extLst>
      <p:ext uri="{BB962C8B-B14F-4D97-AF65-F5344CB8AC3E}">
        <p14:creationId xmlns:p14="http://schemas.microsoft.com/office/powerpoint/2010/main" val="3307376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6DAC8F0-8F14-CB4B-8110-1CCFFB9C7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75A6FF7-D753-B349-9C4B-9152125B6DF1}"/>
              </a:ext>
            </a:extLst>
          </p:cNvPr>
          <p:cNvSpPr/>
          <p:nvPr/>
        </p:nvSpPr>
        <p:spPr>
          <a:xfrm>
            <a:off x="1555671" y="2998915"/>
            <a:ext cx="2106206" cy="78761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y = x * 42;</a:t>
            </a:r>
          </a:p>
        </p:txBody>
      </p:sp>
      <p:sp>
        <p:nvSpPr>
          <p:cNvPr id="5" name="Chevron 4">
            <a:extLst>
              <a:ext uri="{FF2B5EF4-FFF2-40B4-BE49-F238E27FC236}">
                <a16:creationId xmlns:a16="http://schemas.microsoft.com/office/drawing/2014/main" id="{DE9B164A-9357-834C-852D-A7F4F4F94535}"/>
              </a:ext>
            </a:extLst>
          </p:cNvPr>
          <p:cNvSpPr/>
          <p:nvPr/>
        </p:nvSpPr>
        <p:spPr>
          <a:xfrm>
            <a:off x="4377998" y="3091638"/>
            <a:ext cx="802888" cy="602166"/>
          </a:xfrm>
          <a:prstGeom prst="chevron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8C904BC-5D4D-5741-BAA6-BD9067E7F13F}"/>
              </a:ext>
            </a:extLst>
          </p:cNvPr>
          <p:cNvSpPr/>
          <p:nvPr/>
        </p:nvSpPr>
        <p:spPr>
          <a:xfrm>
            <a:off x="5897007" y="2738236"/>
            <a:ext cx="2805131" cy="130896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y = x &lt;&lt; 5;</a:t>
            </a:r>
          </a:p>
          <a:p>
            <a:pPr algn="ctr"/>
            <a:r>
              <a:rPr lang="en-US" sz="2000" b="1" dirty="0"/>
              <a:t>y += x &lt;&lt; 3;</a:t>
            </a:r>
          </a:p>
          <a:p>
            <a:pPr algn="ctr"/>
            <a:r>
              <a:rPr lang="en-US" sz="2000" b="1" dirty="0"/>
              <a:t>y += x &lt;&lt; 1;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C1CB0E-52AF-FE48-9CA0-B2C9D2027FD1}"/>
              </a:ext>
            </a:extLst>
          </p:cNvPr>
          <p:cNvSpPr/>
          <p:nvPr/>
        </p:nvSpPr>
        <p:spPr>
          <a:xfrm>
            <a:off x="160977" y="315013"/>
            <a:ext cx="719882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/>
              <a:t>Obfuscating : Expression Equivalence</a:t>
            </a:r>
          </a:p>
        </p:txBody>
      </p:sp>
    </p:spTree>
    <p:extLst>
      <p:ext uri="{BB962C8B-B14F-4D97-AF65-F5344CB8AC3E}">
        <p14:creationId xmlns:p14="http://schemas.microsoft.com/office/powerpoint/2010/main" val="3460034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6DAC8F0-8F14-CB4B-8110-1CCFFB9C7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75A6FF7-D753-B349-9C4B-9152125B6DF1}"/>
              </a:ext>
            </a:extLst>
          </p:cNvPr>
          <p:cNvSpPr/>
          <p:nvPr/>
        </p:nvSpPr>
        <p:spPr>
          <a:xfrm>
            <a:off x="288098" y="2558137"/>
            <a:ext cx="4283901" cy="173095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compute(</a:t>
            </a:r>
            <a:r>
              <a:rPr lang="en-US" sz="16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x, </a:t>
            </a:r>
            <a:r>
              <a:rPr lang="en-US" sz="16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y) {</a:t>
            </a:r>
          </a:p>
          <a:p>
            <a:pPr algn="ctr"/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6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result = (x * y) + (x - y);</a:t>
            </a:r>
          </a:p>
          <a:p>
            <a:pPr algn="ctr"/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return result;</a:t>
            </a:r>
          </a:p>
          <a:p>
            <a:pPr algn="ctr"/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5" name="Chevron 4">
            <a:extLst>
              <a:ext uri="{FF2B5EF4-FFF2-40B4-BE49-F238E27FC236}">
                <a16:creationId xmlns:a16="http://schemas.microsoft.com/office/drawing/2014/main" id="{DE9B164A-9357-834C-852D-A7F4F4F94535}"/>
              </a:ext>
            </a:extLst>
          </p:cNvPr>
          <p:cNvSpPr/>
          <p:nvPr/>
        </p:nvSpPr>
        <p:spPr>
          <a:xfrm>
            <a:off x="5002162" y="3270896"/>
            <a:ext cx="802888" cy="602166"/>
          </a:xfrm>
          <a:prstGeom prst="chevron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8C904BC-5D4D-5741-BAA6-BD9067E7F13F}"/>
              </a:ext>
            </a:extLst>
          </p:cNvPr>
          <p:cNvSpPr/>
          <p:nvPr/>
        </p:nvSpPr>
        <p:spPr>
          <a:xfrm>
            <a:off x="6350696" y="1327759"/>
            <a:ext cx="3303421" cy="458452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err="1">
                <a:solidFill>
                  <a:srgbClr val="FF0000"/>
                </a:solidFill>
              </a:rPr>
              <a:t>int</a:t>
            </a:r>
            <a:r>
              <a:rPr lang="en-US" sz="1600" b="1" dirty="0">
                <a:solidFill>
                  <a:srgbClr val="FF0000"/>
                </a:solidFill>
              </a:rPr>
              <a:t> multiply(</a:t>
            </a:r>
            <a:r>
              <a:rPr lang="en-US" sz="1600" b="1" dirty="0" err="1">
                <a:solidFill>
                  <a:srgbClr val="FF0000"/>
                </a:solidFill>
              </a:rPr>
              <a:t>int</a:t>
            </a:r>
            <a:r>
              <a:rPr lang="en-US" sz="1600" b="1" dirty="0">
                <a:solidFill>
                  <a:srgbClr val="FF0000"/>
                </a:solidFill>
              </a:rPr>
              <a:t> a, </a:t>
            </a:r>
            <a:r>
              <a:rPr lang="en-US" sz="1600" b="1" dirty="0" err="1">
                <a:solidFill>
                  <a:srgbClr val="FF0000"/>
                </a:solidFill>
              </a:rPr>
              <a:t>int</a:t>
            </a:r>
            <a:r>
              <a:rPr lang="en-US" sz="1600" b="1" dirty="0">
                <a:solidFill>
                  <a:srgbClr val="FF0000"/>
                </a:solidFill>
              </a:rPr>
              <a:t> b) {</a:t>
            </a:r>
          </a:p>
          <a:p>
            <a:pPr algn="ctr"/>
            <a:r>
              <a:rPr lang="en-US" sz="1600" b="1" dirty="0">
                <a:solidFill>
                  <a:srgbClr val="FF0000"/>
                </a:solidFill>
              </a:rPr>
              <a:t>    return a * b;</a:t>
            </a:r>
          </a:p>
          <a:p>
            <a:pPr algn="ctr"/>
            <a:r>
              <a:rPr lang="en-US" sz="1600" b="1" dirty="0">
                <a:solidFill>
                  <a:srgbClr val="FF0000"/>
                </a:solidFill>
              </a:rPr>
              <a:t>}</a:t>
            </a:r>
          </a:p>
          <a:p>
            <a:pPr algn="ctr"/>
            <a:endParaRPr lang="en-US" sz="1600" b="1" dirty="0">
              <a:solidFill>
                <a:srgbClr val="FF0000"/>
              </a:solidFill>
            </a:endParaRPr>
          </a:p>
          <a:p>
            <a:pPr algn="ctr"/>
            <a:r>
              <a:rPr lang="en-US" sz="1600" b="1" dirty="0" err="1">
                <a:solidFill>
                  <a:srgbClr val="FF0000"/>
                </a:solidFill>
              </a:rPr>
              <a:t>int</a:t>
            </a:r>
            <a:r>
              <a:rPr lang="en-US" sz="1600" b="1" dirty="0">
                <a:solidFill>
                  <a:srgbClr val="FF0000"/>
                </a:solidFill>
              </a:rPr>
              <a:t> difference(</a:t>
            </a:r>
            <a:r>
              <a:rPr lang="en-US" sz="1600" b="1" dirty="0" err="1">
                <a:solidFill>
                  <a:srgbClr val="FF0000"/>
                </a:solidFill>
              </a:rPr>
              <a:t>int</a:t>
            </a:r>
            <a:r>
              <a:rPr lang="en-US" sz="1600" b="1" dirty="0">
                <a:solidFill>
                  <a:srgbClr val="FF0000"/>
                </a:solidFill>
              </a:rPr>
              <a:t> a, </a:t>
            </a:r>
            <a:r>
              <a:rPr lang="en-US" sz="1600" b="1" dirty="0" err="1">
                <a:solidFill>
                  <a:srgbClr val="FF0000"/>
                </a:solidFill>
              </a:rPr>
              <a:t>int</a:t>
            </a:r>
            <a:r>
              <a:rPr lang="en-US" sz="1600" b="1" dirty="0">
                <a:solidFill>
                  <a:srgbClr val="FF0000"/>
                </a:solidFill>
              </a:rPr>
              <a:t> b) {</a:t>
            </a:r>
          </a:p>
          <a:p>
            <a:pPr algn="ctr"/>
            <a:r>
              <a:rPr lang="en-US" sz="1600" b="1" dirty="0">
                <a:solidFill>
                  <a:srgbClr val="FF0000"/>
                </a:solidFill>
              </a:rPr>
              <a:t>    return a - b;</a:t>
            </a:r>
          </a:p>
          <a:p>
            <a:pPr algn="ctr"/>
            <a:r>
              <a:rPr lang="en-US" sz="1600" b="1" dirty="0">
                <a:solidFill>
                  <a:srgbClr val="FF0000"/>
                </a:solidFill>
              </a:rPr>
              <a:t>}</a:t>
            </a:r>
          </a:p>
          <a:p>
            <a:pPr algn="ctr"/>
            <a:endParaRPr lang="en-US" sz="1600" b="1" dirty="0">
              <a:solidFill>
                <a:schemeClr val="tx1"/>
              </a:solidFill>
            </a:endParaRPr>
          </a:p>
          <a:p>
            <a:pPr algn="ctr"/>
            <a:r>
              <a:rPr lang="en-US" sz="1600" b="1" dirty="0" err="1">
                <a:solidFill>
                  <a:schemeClr val="tx1"/>
                </a:solidFill>
              </a:rPr>
              <a:t>int</a:t>
            </a:r>
            <a:r>
              <a:rPr lang="en-US" sz="1600" b="1" dirty="0">
                <a:solidFill>
                  <a:schemeClr val="tx1"/>
                </a:solidFill>
              </a:rPr>
              <a:t> compute(</a:t>
            </a:r>
            <a:r>
              <a:rPr lang="en-US" sz="1600" b="1" dirty="0" err="1">
                <a:solidFill>
                  <a:schemeClr val="tx1"/>
                </a:solidFill>
              </a:rPr>
              <a:t>int</a:t>
            </a:r>
            <a:r>
              <a:rPr lang="en-US" sz="1600" b="1" dirty="0">
                <a:solidFill>
                  <a:schemeClr val="tx1"/>
                </a:solidFill>
              </a:rPr>
              <a:t> x, </a:t>
            </a:r>
            <a:r>
              <a:rPr lang="en-US" sz="1600" b="1" dirty="0" err="1">
                <a:solidFill>
                  <a:schemeClr val="tx1"/>
                </a:solidFill>
              </a:rPr>
              <a:t>int</a:t>
            </a:r>
            <a:r>
              <a:rPr lang="en-US" sz="1600" b="1" dirty="0">
                <a:solidFill>
                  <a:schemeClr val="tx1"/>
                </a:solidFill>
              </a:rPr>
              <a:t> y) {</a:t>
            </a:r>
          </a:p>
          <a:p>
            <a:pPr algn="ctr"/>
            <a:r>
              <a:rPr lang="en-US" sz="1600" b="1" dirty="0">
                <a:solidFill>
                  <a:schemeClr val="tx1"/>
                </a:solidFill>
              </a:rPr>
              <a:t>    </a:t>
            </a:r>
            <a:r>
              <a:rPr lang="en-US" sz="1600" b="1" dirty="0" err="1">
                <a:solidFill>
                  <a:schemeClr val="tx1"/>
                </a:solidFill>
              </a:rPr>
              <a:t>int</a:t>
            </a:r>
            <a:r>
              <a:rPr lang="en-US" sz="1600" b="1" dirty="0">
                <a:solidFill>
                  <a:schemeClr val="tx1"/>
                </a:solidFill>
              </a:rPr>
              <a:t> part1 = multiply(x, y);</a:t>
            </a:r>
          </a:p>
          <a:p>
            <a:pPr algn="ctr"/>
            <a:r>
              <a:rPr lang="en-US" sz="1600" b="1" dirty="0">
                <a:solidFill>
                  <a:schemeClr val="tx1"/>
                </a:solidFill>
              </a:rPr>
              <a:t>    </a:t>
            </a:r>
            <a:r>
              <a:rPr lang="en-US" sz="1600" b="1" dirty="0" err="1">
                <a:solidFill>
                  <a:schemeClr val="tx1"/>
                </a:solidFill>
              </a:rPr>
              <a:t>int</a:t>
            </a:r>
            <a:r>
              <a:rPr lang="en-US" sz="1600" b="1" dirty="0">
                <a:solidFill>
                  <a:schemeClr val="tx1"/>
                </a:solidFill>
              </a:rPr>
              <a:t> part2 = difference(x, y);</a:t>
            </a:r>
          </a:p>
          <a:p>
            <a:pPr algn="ctr"/>
            <a:r>
              <a:rPr lang="en-US" sz="1600" b="1" dirty="0">
                <a:solidFill>
                  <a:schemeClr val="tx1"/>
                </a:solidFill>
              </a:rPr>
              <a:t>    return part1 + part2;</a:t>
            </a:r>
          </a:p>
          <a:p>
            <a:pPr algn="ctr"/>
            <a:r>
              <a:rPr lang="en-US" sz="1600" b="1" dirty="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3" name="Cloud Callout 2">
            <a:extLst>
              <a:ext uri="{FF2B5EF4-FFF2-40B4-BE49-F238E27FC236}">
                <a16:creationId xmlns:a16="http://schemas.microsoft.com/office/drawing/2014/main" id="{B6C03F91-DB47-304B-BF92-427AF0F07A01}"/>
              </a:ext>
            </a:extLst>
          </p:cNvPr>
          <p:cNvSpPr/>
          <p:nvPr/>
        </p:nvSpPr>
        <p:spPr>
          <a:xfrm>
            <a:off x="3311148" y="4772417"/>
            <a:ext cx="1691014" cy="1139868"/>
          </a:xfrm>
          <a:prstGeom prst="cloudCallout">
            <a:avLst>
              <a:gd name="adj1" fmla="val 122871"/>
              <a:gd name="adj2" fmla="val -10471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Splitting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BA382E-14D6-1F42-A056-3C4DBF39EE50}"/>
              </a:ext>
            </a:extLst>
          </p:cNvPr>
          <p:cNvSpPr/>
          <p:nvPr/>
        </p:nvSpPr>
        <p:spPr>
          <a:xfrm>
            <a:off x="160977" y="315013"/>
            <a:ext cx="719882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/>
              <a:t>Obfuscating : Splitting and Merging</a:t>
            </a:r>
          </a:p>
        </p:txBody>
      </p:sp>
    </p:spTree>
    <p:extLst>
      <p:ext uri="{BB962C8B-B14F-4D97-AF65-F5344CB8AC3E}">
        <p14:creationId xmlns:p14="http://schemas.microsoft.com/office/powerpoint/2010/main" val="3280095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6DAC8F0-8F14-CB4B-8110-1CCFFB9C7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75A6FF7-D753-B349-9C4B-9152125B6DF1}"/>
              </a:ext>
            </a:extLst>
          </p:cNvPr>
          <p:cNvSpPr/>
          <p:nvPr/>
        </p:nvSpPr>
        <p:spPr>
          <a:xfrm>
            <a:off x="446048" y="1025988"/>
            <a:ext cx="4010467" cy="448981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modexp</a:t>
            </a:r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( </a:t>
            </a:r>
            <a:r>
              <a:rPr lang="en-US" sz="16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y , </a:t>
            </a:r>
            <a:r>
              <a:rPr lang="en-US" sz="16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x [] , </a:t>
            </a:r>
            <a:r>
              <a:rPr lang="en-US" sz="16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w , </a:t>
            </a:r>
            <a:r>
              <a:rPr lang="en-US" sz="16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n ) {</a:t>
            </a:r>
          </a:p>
          <a:p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R , L ;</a:t>
            </a:r>
          </a:p>
          <a:p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k = 0;</a:t>
            </a:r>
          </a:p>
          <a:p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s = 1;</a:t>
            </a:r>
          </a:p>
          <a:p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while (k &lt; w ) {</a:t>
            </a:r>
          </a:p>
          <a:p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f ( x [k ] , s , y , n , &amp; R );  </a:t>
            </a: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Call to `f</a:t>
            </a:r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`</a:t>
            </a:r>
          </a:p>
          <a:p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s = R * R % n ;  </a:t>
            </a: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Square the result</a:t>
            </a:r>
          </a:p>
          <a:p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L = R ;</a:t>
            </a:r>
          </a:p>
          <a:p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k ++;</a:t>
            </a:r>
          </a:p>
          <a:p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return L ;</a:t>
            </a:r>
          </a:p>
          <a:p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5" name="Chevron 4">
            <a:extLst>
              <a:ext uri="{FF2B5EF4-FFF2-40B4-BE49-F238E27FC236}">
                <a16:creationId xmlns:a16="http://schemas.microsoft.com/office/drawing/2014/main" id="{DE9B164A-9357-834C-852D-A7F4F4F94535}"/>
              </a:ext>
            </a:extLst>
          </p:cNvPr>
          <p:cNvSpPr/>
          <p:nvPr/>
        </p:nvSpPr>
        <p:spPr>
          <a:xfrm>
            <a:off x="5002162" y="3270896"/>
            <a:ext cx="802888" cy="602166"/>
          </a:xfrm>
          <a:prstGeom prst="chevron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8C904BC-5D4D-5741-BAA6-BD9067E7F13F}"/>
              </a:ext>
            </a:extLst>
          </p:cNvPr>
          <p:cNvSpPr/>
          <p:nvPr/>
        </p:nvSpPr>
        <p:spPr>
          <a:xfrm>
            <a:off x="6350696" y="1327759"/>
            <a:ext cx="3303421" cy="458452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chemeClr val="accent6">
                    <a:lumMod val="75000"/>
                  </a:schemeClr>
                </a:solidFill>
              </a:rPr>
              <a:t>void f ( </a:t>
            </a:r>
            <a:r>
              <a:rPr lang="en-US" sz="1600" b="1" dirty="0" err="1">
                <a:solidFill>
                  <a:schemeClr val="accent6">
                    <a:lumMod val="75000"/>
                  </a:schemeClr>
                </a:solidFill>
              </a:rPr>
              <a:t>int</a:t>
            </a: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1600" b="1" dirty="0" err="1">
                <a:solidFill>
                  <a:schemeClr val="accent6">
                    <a:lumMod val="75000"/>
                  </a:schemeClr>
                </a:solidFill>
              </a:rPr>
              <a:t>xk</a:t>
            </a: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</a:rPr>
              <a:t> , </a:t>
            </a:r>
            <a:r>
              <a:rPr lang="en-US" sz="1600" b="1" dirty="0" err="1">
                <a:solidFill>
                  <a:schemeClr val="accent6">
                    <a:lumMod val="75000"/>
                  </a:schemeClr>
                </a:solidFill>
              </a:rPr>
              <a:t>int</a:t>
            </a: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</a:rPr>
              <a:t> s , </a:t>
            </a:r>
            <a:r>
              <a:rPr lang="en-US" sz="1600" b="1" dirty="0" err="1">
                <a:solidFill>
                  <a:schemeClr val="accent6">
                    <a:lumMod val="75000"/>
                  </a:schemeClr>
                </a:solidFill>
              </a:rPr>
              <a:t>int</a:t>
            </a: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</a:rPr>
              <a:t> y , </a:t>
            </a:r>
            <a:r>
              <a:rPr lang="en-US" sz="1600" b="1" dirty="0" err="1">
                <a:solidFill>
                  <a:schemeClr val="accent6">
                    <a:lumMod val="75000"/>
                  </a:schemeClr>
                </a:solidFill>
              </a:rPr>
              <a:t>int</a:t>
            </a: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</a:rPr>
              <a:t> n , </a:t>
            </a:r>
            <a:r>
              <a:rPr lang="en-US" sz="1600" b="1" dirty="0" err="1">
                <a:solidFill>
                  <a:schemeClr val="accent6">
                    <a:lumMod val="75000"/>
                  </a:schemeClr>
                </a:solidFill>
              </a:rPr>
              <a:t>int</a:t>
            </a: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</a:rPr>
              <a:t> * R) {</a:t>
            </a:r>
          </a:p>
          <a:p>
            <a:r>
              <a:rPr lang="en-US" sz="1600" b="1" dirty="0">
                <a:solidFill>
                  <a:schemeClr val="accent6">
                    <a:lumMod val="75000"/>
                  </a:schemeClr>
                </a:solidFill>
              </a:rPr>
              <a:t>    if ( </a:t>
            </a:r>
            <a:r>
              <a:rPr lang="en-US" sz="1600" b="1" dirty="0" err="1">
                <a:solidFill>
                  <a:schemeClr val="accent6">
                    <a:lumMod val="75000"/>
                  </a:schemeClr>
                </a:solidFill>
              </a:rPr>
              <a:t>xk</a:t>
            </a: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</a:rPr>
              <a:t> == 1)</a:t>
            </a:r>
          </a:p>
          <a:p>
            <a:r>
              <a:rPr lang="en-US" sz="1600" b="1" dirty="0">
                <a:solidFill>
                  <a:schemeClr val="accent6">
                    <a:lumMod val="75000"/>
                  </a:schemeClr>
                </a:solidFill>
              </a:rPr>
              <a:t>        * R = ( s* y ) % n ;</a:t>
            </a:r>
          </a:p>
          <a:p>
            <a:r>
              <a:rPr lang="en-US" sz="1600" b="1" dirty="0">
                <a:solidFill>
                  <a:schemeClr val="accent6">
                    <a:lumMod val="75000"/>
                  </a:schemeClr>
                </a:solidFill>
              </a:rPr>
              <a:t>    else</a:t>
            </a:r>
          </a:p>
          <a:p>
            <a:r>
              <a:rPr lang="en-US" sz="1600" b="1" dirty="0">
                <a:solidFill>
                  <a:schemeClr val="accent6">
                    <a:lumMod val="75000"/>
                  </a:schemeClr>
                </a:solidFill>
              </a:rPr>
              <a:t>        * R = s ;</a:t>
            </a:r>
          </a:p>
          <a:p>
            <a:r>
              <a:rPr lang="en-US" sz="1600" b="1" dirty="0">
                <a:solidFill>
                  <a:schemeClr val="accent6">
                    <a:lumMod val="75000"/>
                  </a:schemeClr>
                </a:solidFill>
              </a:rPr>
              <a:t>}</a:t>
            </a:r>
          </a:p>
        </p:txBody>
      </p:sp>
      <p:sp>
        <p:nvSpPr>
          <p:cNvPr id="3" name="Cloud Callout 2">
            <a:extLst>
              <a:ext uri="{FF2B5EF4-FFF2-40B4-BE49-F238E27FC236}">
                <a16:creationId xmlns:a16="http://schemas.microsoft.com/office/drawing/2014/main" id="{B6C03F91-DB47-304B-BF92-427AF0F07A01}"/>
              </a:ext>
            </a:extLst>
          </p:cNvPr>
          <p:cNvSpPr/>
          <p:nvPr/>
        </p:nvSpPr>
        <p:spPr>
          <a:xfrm>
            <a:off x="4156655" y="5165857"/>
            <a:ext cx="1691014" cy="1139868"/>
          </a:xfrm>
          <a:prstGeom prst="cloudCallout">
            <a:avLst>
              <a:gd name="adj1" fmla="val 122871"/>
              <a:gd name="adj2" fmla="val -10471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Splitting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BA382E-14D6-1F42-A056-3C4DBF39EE50}"/>
              </a:ext>
            </a:extLst>
          </p:cNvPr>
          <p:cNvSpPr/>
          <p:nvPr/>
        </p:nvSpPr>
        <p:spPr>
          <a:xfrm>
            <a:off x="160977" y="315013"/>
            <a:ext cx="719882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/>
              <a:t>Obfuscating : Splitting and Merging</a:t>
            </a:r>
          </a:p>
        </p:txBody>
      </p:sp>
    </p:spTree>
    <p:extLst>
      <p:ext uri="{BB962C8B-B14F-4D97-AF65-F5344CB8AC3E}">
        <p14:creationId xmlns:p14="http://schemas.microsoft.com/office/powerpoint/2010/main" val="3552803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6DAC8F0-8F14-CB4B-8110-1CCFFB9C7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75A6FF7-D753-B349-9C4B-9152125B6DF1}"/>
              </a:ext>
            </a:extLst>
          </p:cNvPr>
          <p:cNvSpPr/>
          <p:nvPr/>
        </p:nvSpPr>
        <p:spPr>
          <a:xfrm>
            <a:off x="446048" y="1025988"/>
            <a:ext cx="4010467" cy="448981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modexp</a:t>
            </a:r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( </a:t>
            </a:r>
            <a:r>
              <a:rPr lang="en-US" sz="16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y , </a:t>
            </a:r>
            <a:r>
              <a:rPr lang="en-US" sz="16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x [] , </a:t>
            </a:r>
            <a:r>
              <a:rPr lang="en-US" sz="16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w , </a:t>
            </a:r>
            <a:r>
              <a:rPr lang="en-US" sz="16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n ) {</a:t>
            </a:r>
          </a:p>
          <a:p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R , L ;</a:t>
            </a:r>
          </a:p>
          <a:p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k = 0;</a:t>
            </a:r>
          </a:p>
          <a:p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s = 1;</a:t>
            </a:r>
          </a:p>
          <a:p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while (k &lt; w ) {</a:t>
            </a:r>
          </a:p>
          <a:p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f ( x [k ] , s , y , n , &amp; R );  </a:t>
            </a: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Call to `f</a:t>
            </a:r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`</a:t>
            </a:r>
          </a:p>
          <a:p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s = R * R % n ;  </a:t>
            </a: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Square the result</a:t>
            </a:r>
          </a:p>
          <a:p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L = R ;</a:t>
            </a:r>
          </a:p>
          <a:p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k ++;</a:t>
            </a:r>
          </a:p>
          <a:p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return L ;</a:t>
            </a:r>
          </a:p>
          <a:p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BA382E-14D6-1F42-A056-3C4DBF39EE50}"/>
              </a:ext>
            </a:extLst>
          </p:cNvPr>
          <p:cNvSpPr/>
          <p:nvPr/>
        </p:nvSpPr>
        <p:spPr>
          <a:xfrm>
            <a:off x="160977" y="315013"/>
            <a:ext cx="719882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/>
              <a:t>Obfuscating : Splitting and Merging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3F72761-2E55-D84F-B772-5AB880A0B388}"/>
              </a:ext>
            </a:extLst>
          </p:cNvPr>
          <p:cNvSpPr/>
          <p:nvPr/>
        </p:nvSpPr>
        <p:spPr>
          <a:xfrm>
            <a:off x="5148820" y="2863499"/>
            <a:ext cx="4953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It initializes:</a:t>
            </a:r>
          </a:p>
          <a:p>
            <a:r>
              <a:rPr lang="en-US" dirty="0"/>
              <a:t>k = 0: index for looping through x[]</a:t>
            </a:r>
          </a:p>
          <a:p>
            <a:r>
              <a:rPr lang="en-US" dirty="0"/>
              <a:t>s = 1: stores intermediate results</a:t>
            </a:r>
          </a:p>
          <a:p>
            <a:r>
              <a:rPr lang="en-US" dirty="0"/>
              <a:t>L: stores the final computed value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A5C760-33B8-4D45-9C6E-4541F536D578}"/>
              </a:ext>
            </a:extLst>
          </p:cNvPr>
          <p:cNvSpPr/>
          <p:nvPr/>
        </p:nvSpPr>
        <p:spPr>
          <a:xfrm>
            <a:off x="5148820" y="4266988"/>
            <a:ext cx="4953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Inside the while loop:</a:t>
            </a:r>
          </a:p>
          <a:p>
            <a:r>
              <a:rPr lang="en-US" dirty="0"/>
              <a:t>Calls f(x[k], s, y, n, &amp;R), which modifies R</a:t>
            </a:r>
          </a:p>
          <a:p>
            <a:r>
              <a:rPr lang="en-US" dirty="0"/>
              <a:t>Computes s = R * R % n</a:t>
            </a:r>
          </a:p>
          <a:p>
            <a:r>
              <a:rPr lang="en-US" dirty="0"/>
              <a:t>Stores R in L</a:t>
            </a:r>
          </a:p>
          <a:p>
            <a:r>
              <a:rPr lang="en-US" dirty="0"/>
              <a:t>Increments k</a:t>
            </a:r>
          </a:p>
          <a:p>
            <a:r>
              <a:rPr lang="en-US" dirty="0"/>
              <a:t>When k == w, L holds the result and is returned.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7F9D18A-9A96-2641-9406-95512539B31A}"/>
              </a:ext>
            </a:extLst>
          </p:cNvPr>
          <p:cNvSpPr/>
          <p:nvPr/>
        </p:nvSpPr>
        <p:spPr>
          <a:xfrm>
            <a:off x="5148820" y="1169823"/>
            <a:ext cx="4953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It takes four parameters:</a:t>
            </a:r>
          </a:p>
          <a:p>
            <a:r>
              <a:rPr lang="en-US" dirty="0"/>
              <a:t>y: the base</a:t>
            </a:r>
          </a:p>
          <a:p>
            <a:r>
              <a:rPr lang="en-US" dirty="0"/>
              <a:t>x[]: an array of binary exponent values</a:t>
            </a:r>
          </a:p>
          <a:p>
            <a:r>
              <a:rPr lang="en-US" dirty="0"/>
              <a:t>w: the number of bits in the exponent</a:t>
            </a:r>
          </a:p>
          <a:p>
            <a:r>
              <a:rPr lang="en-US" dirty="0"/>
              <a:t>n: the modulus</a:t>
            </a:r>
          </a:p>
        </p:txBody>
      </p:sp>
    </p:spTree>
    <p:extLst>
      <p:ext uri="{BB962C8B-B14F-4D97-AF65-F5344CB8AC3E}">
        <p14:creationId xmlns:p14="http://schemas.microsoft.com/office/powerpoint/2010/main" val="78416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6DAC8F0-8F14-CB4B-8110-1CCFFB9C7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8C904BC-5D4D-5741-BAA6-BD9067E7F13F}"/>
              </a:ext>
            </a:extLst>
          </p:cNvPr>
          <p:cNvSpPr/>
          <p:nvPr/>
        </p:nvSpPr>
        <p:spPr>
          <a:xfrm>
            <a:off x="5441796" y="1327759"/>
            <a:ext cx="4212322" cy="331114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chemeClr val="accent6">
                    <a:lumMod val="75000"/>
                  </a:schemeClr>
                </a:solidFill>
              </a:rPr>
              <a:t>void f ( </a:t>
            </a:r>
            <a:r>
              <a:rPr lang="en-US" sz="1600" b="1" dirty="0" err="1">
                <a:solidFill>
                  <a:schemeClr val="accent6">
                    <a:lumMod val="75000"/>
                  </a:schemeClr>
                </a:solidFill>
              </a:rPr>
              <a:t>int</a:t>
            </a: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1600" b="1" dirty="0" err="1">
                <a:solidFill>
                  <a:schemeClr val="accent6">
                    <a:lumMod val="75000"/>
                  </a:schemeClr>
                </a:solidFill>
              </a:rPr>
              <a:t>xk</a:t>
            </a: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</a:rPr>
              <a:t> , </a:t>
            </a:r>
            <a:r>
              <a:rPr lang="en-US" sz="1600" b="1" dirty="0" err="1">
                <a:solidFill>
                  <a:schemeClr val="accent6">
                    <a:lumMod val="75000"/>
                  </a:schemeClr>
                </a:solidFill>
              </a:rPr>
              <a:t>int</a:t>
            </a: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</a:rPr>
              <a:t> s , </a:t>
            </a:r>
            <a:r>
              <a:rPr lang="en-US" sz="1600" b="1" dirty="0" err="1">
                <a:solidFill>
                  <a:schemeClr val="accent6">
                    <a:lumMod val="75000"/>
                  </a:schemeClr>
                </a:solidFill>
              </a:rPr>
              <a:t>int</a:t>
            </a: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</a:rPr>
              <a:t> y , </a:t>
            </a:r>
            <a:r>
              <a:rPr lang="en-US" sz="1600" b="1" dirty="0" err="1">
                <a:solidFill>
                  <a:schemeClr val="accent6">
                    <a:lumMod val="75000"/>
                  </a:schemeClr>
                </a:solidFill>
              </a:rPr>
              <a:t>int</a:t>
            </a: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</a:rPr>
              <a:t> n , </a:t>
            </a:r>
            <a:r>
              <a:rPr lang="en-US" sz="1600" b="1" dirty="0" err="1">
                <a:solidFill>
                  <a:schemeClr val="accent6">
                    <a:lumMod val="75000"/>
                  </a:schemeClr>
                </a:solidFill>
              </a:rPr>
              <a:t>int</a:t>
            </a: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</a:rPr>
              <a:t> * R) {</a:t>
            </a:r>
          </a:p>
          <a:p>
            <a:r>
              <a:rPr lang="en-US" sz="1600" b="1" dirty="0">
                <a:solidFill>
                  <a:schemeClr val="accent6">
                    <a:lumMod val="75000"/>
                  </a:schemeClr>
                </a:solidFill>
              </a:rPr>
              <a:t>    if ( </a:t>
            </a:r>
            <a:r>
              <a:rPr lang="en-US" sz="1600" b="1" dirty="0" err="1">
                <a:solidFill>
                  <a:schemeClr val="accent6">
                    <a:lumMod val="75000"/>
                  </a:schemeClr>
                </a:solidFill>
              </a:rPr>
              <a:t>xk</a:t>
            </a: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</a:rPr>
              <a:t> == 1)</a:t>
            </a:r>
          </a:p>
          <a:p>
            <a:r>
              <a:rPr lang="en-US" sz="1600" b="1" dirty="0">
                <a:solidFill>
                  <a:schemeClr val="accent6">
                    <a:lumMod val="75000"/>
                  </a:schemeClr>
                </a:solidFill>
              </a:rPr>
              <a:t>        * R = ( s* y ) % n ;</a:t>
            </a:r>
          </a:p>
          <a:p>
            <a:r>
              <a:rPr lang="en-US" sz="1600" b="1" dirty="0">
                <a:solidFill>
                  <a:schemeClr val="accent6">
                    <a:lumMod val="75000"/>
                  </a:schemeClr>
                </a:solidFill>
              </a:rPr>
              <a:t>    else</a:t>
            </a:r>
          </a:p>
          <a:p>
            <a:r>
              <a:rPr lang="en-US" sz="1600" b="1" dirty="0">
                <a:solidFill>
                  <a:schemeClr val="accent6">
                    <a:lumMod val="75000"/>
                  </a:schemeClr>
                </a:solidFill>
              </a:rPr>
              <a:t>        * R = s ;</a:t>
            </a:r>
          </a:p>
          <a:p>
            <a:r>
              <a:rPr lang="en-US" sz="1600" b="1" dirty="0">
                <a:solidFill>
                  <a:schemeClr val="accent6">
                    <a:lumMod val="75000"/>
                  </a:schemeClr>
                </a:solidFill>
              </a:rPr>
              <a:t>}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BA382E-14D6-1F42-A056-3C4DBF39EE50}"/>
              </a:ext>
            </a:extLst>
          </p:cNvPr>
          <p:cNvSpPr/>
          <p:nvPr/>
        </p:nvSpPr>
        <p:spPr>
          <a:xfrm>
            <a:off x="160977" y="315013"/>
            <a:ext cx="719882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/>
              <a:t>Obfuscating : Splitting and Merging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9AFADE9-0E37-4441-BE49-9DB96CA8C7A3}"/>
              </a:ext>
            </a:extLst>
          </p:cNvPr>
          <p:cNvSpPr/>
          <p:nvPr/>
        </p:nvSpPr>
        <p:spPr>
          <a:xfrm>
            <a:off x="160977" y="1690671"/>
            <a:ext cx="4953000" cy="258532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The function f takes the following parameters:</a:t>
            </a:r>
          </a:p>
          <a:p>
            <a:endParaRPr lang="en-US" dirty="0"/>
          </a:p>
          <a:p>
            <a:r>
              <a:rPr lang="en-US" dirty="0" err="1"/>
              <a:t>xk</a:t>
            </a:r>
            <a:r>
              <a:rPr lang="en-US" dirty="0"/>
              <a:t>: A single bit from an exponent array (x[]) in the original </a:t>
            </a:r>
            <a:r>
              <a:rPr lang="en-US" dirty="0" err="1"/>
              <a:t>modexp</a:t>
            </a:r>
            <a:r>
              <a:rPr lang="en-US" dirty="0"/>
              <a:t> function.</a:t>
            </a:r>
          </a:p>
          <a:p>
            <a:r>
              <a:rPr lang="en-US" dirty="0"/>
              <a:t>s: An intermediate computation value (used in modular exponentiation).</a:t>
            </a:r>
          </a:p>
          <a:p>
            <a:r>
              <a:rPr lang="en-US" dirty="0"/>
              <a:t>y: The base of exponentiation.</a:t>
            </a:r>
          </a:p>
          <a:p>
            <a:r>
              <a:rPr lang="en-US" dirty="0"/>
              <a:t>n: The modulus for modular exponentiation.</a:t>
            </a:r>
          </a:p>
          <a:p>
            <a:r>
              <a:rPr lang="en-US" dirty="0"/>
              <a:t>R: A pointer to store the result.</a:t>
            </a:r>
          </a:p>
        </p:txBody>
      </p:sp>
    </p:spTree>
    <p:extLst>
      <p:ext uri="{BB962C8B-B14F-4D97-AF65-F5344CB8AC3E}">
        <p14:creationId xmlns:p14="http://schemas.microsoft.com/office/powerpoint/2010/main" val="1029784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6DAC8F0-8F14-CB4B-8110-1CCFFB9C7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75A6FF7-D753-B349-9C4B-9152125B6DF1}"/>
              </a:ext>
            </a:extLst>
          </p:cNvPr>
          <p:cNvSpPr/>
          <p:nvPr/>
        </p:nvSpPr>
        <p:spPr>
          <a:xfrm>
            <a:off x="288098" y="2558137"/>
            <a:ext cx="4283901" cy="173095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add(</a:t>
            </a:r>
            <a:r>
              <a:rPr lang="en-US" sz="16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a, </a:t>
            </a:r>
            <a:r>
              <a:rPr lang="en-US" sz="16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b) {</a:t>
            </a:r>
          </a:p>
          <a:p>
            <a:pPr algn="ctr"/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return a + b;</a:t>
            </a:r>
          </a:p>
          <a:p>
            <a:pPr algn="ctr"/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algn="ctr"/>
            <a:endParaRPr lang="en-US" sz="1600" b="1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sz="16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multiply(</a:t>
            </a:r>
            <a:r>
              <a:rPr lang="en-US" sz="16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a, </a:t>
            </a:r>
            <a:r>
              <a:rPr lang="en-US" sz="16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b) {</a:t>
            </a:r>
          </a:p>
          <a:p>
            <a:pPr algn="ctr"/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return a * b;</a:t>
            </a:r>
          </a:p>
          <a:p>
            <a:pPr algn="ctr"/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5" name="Chevron 4">
            <a:extLst>
              <a:ext uri="{FF2B5EF4-FFF2-40B4-BE49-F238E27FC236}">
                <a16:creationId xmlns:a16="http://schemas.microsoft.com/office/drawing/2014/main" id="{DE9B164A-9357-834C-852D-A7F4F4F94535}"/>
              </a:ext>
            </a:extLst>
          </p:cNvPr>
          <p:cNvSpPr/>
          <p:nvPr/>
        </p:nvSpPr>
        <p:spPr>
          <a:xfrm>
            <a:off x="4787080" y="3193679"/>
            <a:ext cx="802888" cy="602166"/>
          </a:xfrm>
          <a:prstGeom prst="chevron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8C904BC-5D4D-5741-BAA6-BD9067E7F13F}"/>
              </a:ext>
            </a:extLst>
          </p:cNvPr>
          <p:cNvSpPr/>
          <p:nvPr/>
        </p:nvSpPr>
        <p:spPr>
          <a:xfrm>
            <a:off x="5805050" y="1647173"/>
            <a:ext cx="3836541" cy="369517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compute(</a:t>
            </a:r>
            <a:r>
              <a:rPr lang="en-US" sz="16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a, </a:t>
            </a:r>
            <a:r>
              <a:rPr lang="en-US" sz="16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b, </a:t>
            </a:r>
            <a:r>
              <a:rPr lang="en-US" sz="16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operation) {</a:t>
            </a:r>
          </a:p>
          <a:p>
            <a:pPr algn="ctr"/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if (operation == 0) {</a:t>
            </a:r>
          </a:p>
          <a:p>
            <a:pPr algn="ctr"/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return a + b;</a:t>
            </a:r>
          </a:p>
          <a:p>
            <a:pPr algn="ctr"/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} else if (operation == 1) {</a:t>
            </a:r>
          </a:p>
          <a:p>
            <a:pPr algn="ctr"/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return a * b;</a:t>
            </a:r>
          </a:p>
          <a:p>
            <a:pPr algn="ctr"/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pPr algn="ctr"/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return -1; // Invalid operation</a:t>
            </a:r>
          </a:p>
          <a:p>
            <a:pPr algn="ctr"/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3" name="Cloud Callout 2">
            <a:extLst>
              <a:ext uri="{FF2B5EF4-FFF2-40B4-BE49-F238E27FC236}">
                <a16:creationId xmlns:a16="http://schemas.microsoft.com/office/drawing/2014/main" id="{B6C03F91-DB47-304B-BF92-427AF0F07A01}"/>
              </a:ext>
            </a:extLst>
          </p:cNvPr>
          <p:cNvSpPr/>
          <p:nvPr/>
        </p:nvSpPr>
        <p:spPr>
          <a:xfrm>
            <a:off x="3311148" y="4772417"/>
            <a:ext cx="1691014" cy="1139868"/>
          </a:xfrm>
          <a:prstGeom prst="cloudCallout">
            <a:avLst>
              <a:gd name="adj1" fmla="val 122871"/>
              <a:gd name="adj2" fmla="val -10471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Merging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19D7E7-2EAD-8149-B447-07D3AC21B643}"/>
              </a:ext>
            </a:extLst>
          </p:cNvPr>
          <p:cNvSpPr/>
          <p:nvPr/>
        </p:nvSpPr>
        <p:spPr>
          <a:xfrm>
            <a:off x="160977" y="315013"/>
            <a:ext cx="719882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/>
              <a:t>Obfuscating : Splitting and Merging</a:t>
            </a:r>
          </a:p>
        </p:txBody>
      </p:sp>
    </p:spTree>
    <p:extLst>
      <p:ext uri="{BB962C8B-B14F-4D97-AF65-F5344CB8AC3E}">
        <p14:creationId xmlns:p14="http://schemas.microsoft.com/office/powerpoint/2010/main" val="4212713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6DAC8F0-8F14-CB4B-8110-1CCFFB9C7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75A6FF7-D753-B349-9C4B-9152125B6DF1}"/>
              </a:ext>
            </a:extLst>
          </p:cNvPr>
          <p:cNvSpPr/>
          <p:nvPr/>
        </p:nvSpPr>
        <p:spPr>
          <a:xfrm>
            <a:off x="-10234" y="1154840"/>
            <a:ext cx="4283901" cy="475744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 foo[100];</a:t>
            </a:r>
          </a:p>
          <a:p>
            <a:endParaRPr lang="en-US" sz="1600" b="1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 f(</a:t>
            </a:r>
            <a:r>
              <a:rPr lang="en-US" sz="16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a, float b) {</a:t>
            </a:r>
          </a:p>
          <a:p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foo[a] = b;  </a:t>
            </a:r>
            <a:endParaRPr lang="en-US" sz="1600" b="1" dirty="0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US" sz="1600" b="1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 g(float c, char d) {</a:t>
            </a:r>
          </a:p>
          <a:p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return c * (float)d;}</a:t>
            </a:r>
          </a:p>
          <a:p>
            <a:endParaRPr lang="en-US" sz="1600" b="1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main() {</a:t>
            </a:r>
          </a:p>
          <a:p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f(42, 42.0);        </a:t>
            </a:r>
            <a:endParaRPr lang="en-US" sz="1600" b="1" dirty="0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float v = g(6.0, 'a');  </a:t>
            </a:r>
            <a:endParaRPr lang="en-US" sz="1600" b="1" dirty="0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5" name="Chevron 4">
            <a:extLst>
              <a:ext uri="{FF2B5EF4-FFF2-40B4-BE49-F238E27FC236}">
                <a16:creationId xmlns:a16="http://schemas.microsoft.com/office/drawing/2014/main" id="{DE9B164A-9357-834C-852D-A7F4F4F94535}"/>
              </a:ext>
            </a:extLst>
          </p:cNvPr>
          <p:cNvSpPr/>
          <p:nvPr/>
        </p:nvSpPr>
        <p:spPr>
          <a:xfrm>
            <a:off x="4787080" y="3193679"/>
            <a:ext cx="802888" cy="602166"/>
          </a:xfrm>
          <a:prstGeom prst="chevron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8C904BC-5D4D-5741-BAA6-BD9067E7F13F}"/>
              </a:ext>
            </a:extLst>
          </p:cNvPr>
          <p:cNvSpPr/>
          <p:nvPr/>
        </p:nvSpPr>
        <p:spPr>
          <a:xfrm>
            <a:off x="5884866" y="1154840"/>
            <a:ext cx="3836541" cy="511362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 foo[100];</a:t>
            </a:r>
          </a:p>
          <a:p>
            <a:endParaRPr lang="en-US" sz="1400" b="1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 </a:t>
            </a:r>
            <a:r>
              <a:rPr lang="en-US" sz="14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fg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4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a, float </a:t>
            </a:r>
            <a:r>
              <a:rPr lang="en-US" sz="14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bc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char d, </a:t>
            </a:r>
            <a:r>
              <a:rPr lang="en-US" sz="14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which) {</a:t>
            </a:r>
          </a:p>
          <a:p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if (which == 1)</a:t>
            </a:r>
          </a:p>
          <a:p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foo[a] = </a:t>
            </a:r>
            <a:r>
              <a:rPr lang="en-US" sz="14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bc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 </a:t>
            </a:r>
            <a:endParaRPr lang="en-US" sz="1400" b="1" dirty="0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</a:p>
          <a:p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return </a:t>
            </a:r>
            <a:r>
              <a:rPr lang="en-US" sz="14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bc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* (float)d;  </a:t>
            </a:r>
            <a:endParaRPr lang="en-US" sz="1400" b="1" dirty="0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US" sz="1400" b="1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4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main() {</a:t>
            </a:r>
          </a:p>
          <a:p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4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fg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(42, 42.0, 'b', 1); float v = </a:t>
            </a:r>
            <a:r>
              <a:rPr lang="en-US" sz="14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fg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(99, 6.0, 'a', 2);  }</a:t>
            </a:r>
          </a:p>
        </p:txBody>
      </p:sp>
      <p:sp>
        <p:nvSpPr>
          <p:cNvPr id="3" name="Cloud Callout 2">
            <a:extLst>
              <a:ext uri="{FF2B5EF4-FFF2-40B4-BE49-F238E27FC236}">
                <a16:creationId xmlns:a16="http://schemas.microsoft.com/office/drawing/2014/main" id="{B6C03F91-DB47-304B-BF92-427AF0F07A01}"/>
              </a:ext>
            </a:extLst>
          </p:cNvPr>
          <p:cNvSpPr/>
          <p:nvPr/>
        </p:nvSpPr>
        <p:spPr>
          <a:xfrm>
            <a:off x="4193852" y="5179973"/>
            <a:ext cx="1691014" cy="1139868"/>
          </a:xfrm>
          <a:prstGeom prst="cloudCallout">
            <a:avLst>
              <a:gd name="adj1" fmla="val 47315"/>
              <a:gd name="adj2" fmla="val -8273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Merging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19D7E7-2EAD-8149-B447-07D3AC21B643}"/>
              </a:ext>
            </a:extLst>
          </p:cNvPr>
          <p:cNvSpPr/>
          <p:nvPr/>
        </p:nvSpPr>
        <p:spPr>
          <a:xfrm>
            <a:off x="160977" y="315013"/>
            <a:ext cx="719882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/>
              <a:t>Obfuscating : Splitting and Merging</a:t>
            </a:r>
          </a:p>
        </p:txBody>
      </p:sp>
    </p:spTree>
    <p:extLst>
      <p:ext uri="{BB962C8B-B14F-4D97-AF65-F5344CB8AC3E}">
        <p14:creationId xmlns:p14="http://schemas.microsoft.com/office/powerpoint/2010/main" val="2025517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7A75F96-9D8D-5345-AC88-71022B8ED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218B509-A20D-A642-B717-C1C442A1BAB8}"/>
              </a:ext>
            </a:extLst>
          </p:cNvPr>
          <p:cNvSpPr/>
          <p:nvPr/>
        </p:nvSpPr>
        <p:spPr>
          <a:xfrm>
            <a:off x="1618019" y="1415534"/>
            <a:ext cx="49519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Make the program larger by cloning pieces of it: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88E717B-FAF2-1A47-B95A-AC87540335CF}"/>
              </a:ext>
            </a:extLst>
          </p:cNvPr>
          <p:cNvSpPr/>
          <p:nvPr/>
        </p:nvSpPr>
        <p:spPr>
          <a:xfrm>
            <a:off x="2562331" y="2307066"/>
            <a:ext cx="739036" cy="7891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F</a:t>
            </a:r>
          </a:p>
        </p:txBody>
      </p:sp>
      <p:sp>
        <p:nvSpPr>
          <p:cNvPr id="8" name="Pentagon 7">
            <a:extLst>
              <a:ext uri="{FF2B5EF4-FFF2-40B4-BE49-F238E27FC236}">
                <a16:creationId xmlns:a16="http://schemas.microsoft.com/office/drawing/2014/main" id="{25FD4629-DC76-A647-9338-1A709F2D95BA}"/>
              </a:ext>
            </a:extLst>
          </p:cNvPr>
          <p:cNvSpPr/>
          <p:nvPr/>
        </p:nvSpPr>
        <p:spPr>
          <a:xfrm>
            <a:off x="3825466" y="2488693"/>
            <a:ext cx="1014608" cy="4258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A6754A3-87D3-594A-9E2E-26D9EF897E45}"/>
              </a:ext>
            </a:extLst>
          </p:cNvPr>
          <p:cNvSpPr/>
          <p:nvPr/>
        </p:nvSpPr>
        <p:spPr>
          <a:xfrm>
            <a:off x="6082426" y="2307066"/>
            <a:ext cx="739036" cy="7891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F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32930E5-0396-B745-89DF-BCB5CC09AD3A}"/>
              </a:ext>
            </a:extLst>
          </p:cNvPr>
          <p:cNvSpPr/>
          <p:nvPr/>
        </p:nvSpPr>
        <p:spPr>
          <a:xfrm>
            <a:off x="5276491" y="2307066"/>
            <a:ext cx="739036" cy="7891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F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9C0B5E-33EC-6046-B2E5-96F9F36AE608}"/>
              </a:ext>
            </a:extLst>
          </p:cNvPr>
          <p:cNvSpPr/>
          <p:nvPr/>
        </p:nvSpPr>
        <p:spPr>
          <a:xfrm>
            <a:off x="1511418" y="3618405"/>
            <a:ext cx="4953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Make the copied code look different from the original: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CC4363F-73DF-7044-AF9D-3E3798D06D9B}"/>
              </a:ext>
            </a:extLst>
          </p:cNvPr>
          <p:cNvSpPr/>
          <p:nvPr/>
        </p:nvSpPr>
        <p:spPr>
          <a:xfrm>
            <a:off x="2534001" y="4310174"/>
            <a:ext cx="739036" cy="7891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F</a:t>
            </a:r>
          </a:p>
        </p:txBody>
      </p:sp>
      <p:sp>
        <p:nvSpPr>
          <p:cNvPr id="13" name="Pentagon 12">
            <a:extLst>
              <a:ext uri="{FF2B5EF4-FFF2-40B4-BE49-F238E27FC236}">
                <a16:creationId xmlns:a16="http://schemas.microsoft.com/office/drawing/2014/main" id="{D1EE7A40-EA59-904B-96A5-5659D5D24ADA}"/>
              </a:ext>
            </a:extLst>
          </p:cNvPr>
          <p:cNvSpPr/>
          <p:nvPr/>
        </p:nvSpPr>
        <p:spPr>
          <a:xfrm>
            <a:off x="3797136" y="4491801"/>
            <a:ext cx="1014608" cy="4258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59F713C-A1F6-724F-8797-6A287F6CE400}"/>
              </a:ext>
            </a:extLst>
          </p:cNvPr>
          <p:cNvSpPr/>
          <p:nvPr/>
        </p:nvSpPr>
        <p:spPr>
          <a:xfrm>
            <a:off x="6054096" y="4310174"/>
            <a:ext cx="739036" cy="7891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F`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C263568-B2C6-4349-92F6-B41DDDB1EFFC}"/>
              </a:ext>
            </a:extLst>
          </p:cNvPr>
          <p:cNvSpPr/>
          <p:nvPr/>
        </p:nvSpPr>
        <p:spPr>
          <a:xfrm>
            <a:off x="5248161" y="4310174"/>
            <a:ext cx="739036" cy="7891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F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F6865DB-C59D-B94B-9802-1532A6D0AC2F}"/>
              </a:ext>
            </a:extLst>
          </p:cNvPr>
          <p:cNvSpPr/>
          <p:nvPr/>
        </p:nvSpPr>
        <p:spPr>
          <a:xfrm>
            <a:off x="1617517" y="5438084"/>
            <a:ext cx="4953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Now the attacker must examine all pairs of code blocks to see which ones are the same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FBF9AF6-FB14-1547-A1B3-6CD3020F7E6A}"/>
              </a:ext>
            </a:extLst>
          </p:cNvPr>
          <p:cNvSpPr/>
          <p:nvPr/>
        </p:nvSpPr>
        <p:spPr>
          <a:xfrm>
            <a:off x="160977" y="315013"/>
            <a:ext cx="719882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/>
              <a:t>Obfuscating : Copying Code</a:t>
            </a:r>
          </a:p>
        </p:txBody>
      </p:sp>
    </p:spTree>
    <p:extLst>
      <p:ext uri="{BB962C8B-B14F-4D97-AF65-F5344CB8AC3E}">
        <p14:creationId xmlns:p14="http://schemas.microsoft.com/office/powerpoint/2010/main" val="454334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3" grpId="0" animBg="1"/>
      <p:bldP spid="14" grpId="0" animBg="1"/>
      <p:bldP spid="15" grpId="0" animBg="1"/>
      <p:bldP spid="1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6DAC8F0-8F14-CB4B-8110-1CCFFB9C7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75A6FF7-D753-B349-9C4B-9152125B6DF1}"/>
              </a:ext>
            </a:extLst>
          </p:cNvPr>
          <p:cNvSpPr/>
          <p:nvPr/>
        </p:nvSpPr>
        <p:spPr>
          <a:xfrm>
            <a:off x="526093" y="2558137"/>
            <a:ext cx="2943618" cy="173095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compute(</a:t>
            </a:r>
            <a:r>
              <a:rPr lang="en-US" sz="16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x) {</a:t>
            </a:r>
          </a:p>
          <a:p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return (x * 2) + 5;</a:t>
            </a:r>
          </a:p>
          <a:p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5" name="Chevron 4">
            <a:extLst>
              <a:ext uri="{FF2B5EF4-FFF2-40B4-BE49-F238E27FC236}">
                <a16:creationId xmlns:a16="http://schemas.microsoft.com/office/drawing/2014/main" id="{DE9B164A-9357-834C-852D-A7F4F4F94535}"/>
              </a:ext>
            </a:extLst>
          </p:cNvPr>
          <p:cNvSpPr/>
          <p:nvPr/>
        </p:nvSpPr>
        <p:spPr>
          <a:xfrm>
            <a:off x="3760390" y="3122532"/>
            <a:ext cx="802888" cy="602166"/>
          </a:xfrm>
          <a:prstGeom prst="chevron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8C904BC-5D4D-5741-BAA6-BD9067E7F13F}"/>
              </a:ext>
            </a:extLst>
          </p:cNvPr>
          <p:cNvSpPr/>
          <p:nvPr/>
        </p:nvSpPr>
        <p:spPr>
          <a:xfrm>
            <a:off x="4853958" y="1327759"/>
            <a:ext cx="4800160" cy="458452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compute</a:t>
            </a:r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6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x) {</a:t>
            </a:r>
          </a:p>
          <a:p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temp = x * 2;</a:t>
            </a:r>
          </a:p>
          <a:p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y = temp + 5;</a:t>
            </a:r>
          </a:p>
          <a:p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return y;</a:t>
            </a:r>
          </a:p>
          <a:p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US" sz="1600" b="1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compute_alternative</a:t>
            </a:r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6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x) {</a:t>
            </a:r>
            <a:r>
              <a:rPr lang="en-US" sz="16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y = (x * 2);</a:t>
            </a:r>
          </a:p>
          <a:p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return y + 5;</a:t>
            </a:r>
          </a:p>
          <a:p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62A1C85-8B7C-6048-8666-8944C7478367}"/>
              </a:ext>
            </a:extLst>
          </p:cNvPr>
          <p:cNvSpPr/>
          <p:nvPr/>
        </p:nvSpPr>
        <p:spPr>
          <a:xfrm>
            <a:off x="405859" y="4701558"/>
            <a:ext cx="335453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Makes it harder to recognize identical logic.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C6C20FE-8ADA-994E-B32F-28F70D1B0252}"/>
              </a:ext>
            </a:extLst>
          </p:cNvPr>
          <p:cNvSpPr/>
          <p:nvPr/>
        </p:nvSpPr>
        <p:spPr>
          <a:xfrm>
            <a:off x="160977" y="315013"/>
            <a:ext cx="719882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/>
              <a:t>Obfuscating : Copying Code</a:t>
            </a:r>
          </a:p>
        </p:txBody>
      </p:sp>
    </p:spTree>
    <p:extLst>
      <p:ext uri="{BB962C8B-B14F-4D97-AF65-F5344CB8AC3E}">
        <p14:creationId xmlns:p14="http://schemas.microsoft.com/office/powerpoint/2010/main" val="2041042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3108287-5398-024D-9BC6-9129455F7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16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B18B1FF-34C1-EF4D-851A-9FAB2290BEA8}"/>
              </a:ext>
            </a:extLst>
          </p:cNvPr>
          <p:cNvSpPr/>
          <p:nvPr/>
        </p:nvSpPr>
        <p:spPr>
          <a:xfrm>
            <a:off x="1508247" y="4746367"/>
            <a:ext cx="634221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Your program: 10-100x slower than before.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2EAB70D-8D57-7640-B428-29BD59B73833}"/>
              </a:ext>
            </a:extLst>
          </p:cNvPr>
          <p:cNvSpPr/>
          <p:nvPr/>
        </p:nvSpPr>
        <p:spPr>
          <a:xfrm>
            <a:off x="1508248" y="1304022"/>
            <a:ext cx="389561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Add a level of interpretation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60E3251-7CF0-D64E-AA09-43D82AF44365}"/>
              </a:ext>
            </a:extLst>
          </p:cNvPr>
          <p:cNvSpPr/>
          <p:nvPr/>
        </p:nvSpPr>
        <p:spPr>
          <a:xfrm>
            <a:off x="2646786" y="2120797"/>
            <a:ext cx="470834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1 Define your own instruction set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3899514-AEA0-0D46-BA8E-5B36D320B3EA}"/>
              </a:ext>
            </a:extLst>
          </p:cNvPr>
          <p:cNvSpPr/>
          <p:nvPr/>
        </p:nvSpPr>
        <p:spPr>
          <a:xfrm>
            <a:off x="2646786" y="2718021"/>
            <a:ext cx="646843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2 Translate your program to this instruction set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51D28C7-B8A8-FB47-9C40-BDCD006189E6}"/>
              </a:ext>
            </a:extLst>
          </p:cNvPr>
          <p:cNvSpPr/>
          <p:nvPr/>
        </p:nvSpPr>
        <p:spPr>
          <a:xfrm>
            <a:off x="2646786" y="3413383"/>
            <a:ext cx="602921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3 Write an interpreter for the instruction set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A4FD0C2-E605-F843-8833-72388FCADD78}"/>
              </a:ext>
            </a:extLst>
          </p:cNvPr>
          <p:cNvSpPr/>
          <p:nvPr/>
        </p:nvSpPr>
        <p:spPr>
          <a:xfrm>
            <a:off x="160977" y="315013"/>
            <a:ext cx="719882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/>
              <a:t>Obfuscating : Interpretation</a:t>
            </a:r>
          </a:p>
        </p:txBody>
      </p:sp>
    </p:spTree>
    <p:extLst>
      <p:ext uri="{BB962C8B-B14F-4D97-AF65-F5344CB8AC3E}">
        <p14:creationId xmlns:p14="http://schemas.microsoft.com/office/powerpoint/2010/main" val="1489289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6DAC8F0-8F14-CB4B-8110-1CCFFB9C7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17</a:t>
            </a:fld>
            <a:endParaRPr lang="zh-CN" alt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75A6FF7-D753-B349-9C4B-9152125B6DF1}"/>
              </a:ext>
            </a:extLst>
          </p:cNvPr>
          <p:cNvSpPr/>
          <p:nvPr/>
        </p:nvSpPr>
        <p:spPr>
          <a:xfrm>
            <a:off x="526093" y="2558137"/>
            <a:ext cx="2943618" cy="173095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compute(</a:t>
            </a:r>
            <a:r>
              <a:rPr lang="en-US" sz="16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x) {</a:t>
            </a:r>
          </a:p>
          <a:p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return (x * 2) + 5;</a:t>
            </a:r>
          </a:p>
          <a:p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5" name="Chevron 4">
            <a:extLst>
              <a:ext uri="{FF2B5EF4-FFF2-40B4-BE49-F238E27FC236}">
                <a16:creationId xmlns:a16="http://schemas.microsoft.com/office/drawing/2014/main" id="{DE9B164A-9357-834C-852D-A7F4F4F94535}"/>
              </a:ext>
            </a:extLst>
          </p:cNvPr>
          <p:cNvSpPr/>
          <p:nvPr/>
        </p:nvSpPr>
        <p:spPr>
          <a:xfrm>
            <a:off x="3760390" y="3122532"/>
            <a:ext cx="802888" cy="602166"/>
          </a:xfrm>
          <a:prstGeom prst="chevron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8C904BC-5D4D-5741-BAA6-BD9067E7F13F}"/>
              </a:ext>
            </a:extLst>
          </p:cNvPr>
          <p:cNvSpPr/>
          <p:nvPr/>
        </p:nvSpPr>
        <p:spPr>
          <a:xfrm>
            <a:off x="4853958" y="1089764"/>
            <a:ext cx="4800160" cy="482252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interpretBytecode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4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*bytecode, </a:t>
            </a:r>
            <a:r>
              <a:rPr lang="en-US" sz="14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x) {</a:t>
            </a:r>
          </a:p>
          <a:p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4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result = 0;</a:t>
            </a:r>
          </a:p>
          <a:p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for (</a:t>
            </a:r>
            <a:r>
              <a:rPr lang="en-US" sz="14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0; </a:t>
            </a:r>
            <a:r>
              <a:rPr lang="en-US" sz="14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&lt; 3; </a:t>
            </a:r>
            <a:r>
              <a:rPr lang="en-US" sz="14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++) {  </a:t>
            </a:r>
            <a:r>
              <a:rPr lang="en-US" sz="14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Loop over bytecode instructions</a:t>
            </a:r>
          </a:p>
          <a:p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if (bytecode[</a:t>
            </a:r>
            <a:r>
              <a:rPr lang="en-US" sz="14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 == 1) result = x * 2;   // Instruction 1 = Multiply by 2</a:t>
            </a:r>
          </a:p>
          <a:p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else if (bytecode[</a:t>
            </a:r>
            <a:r>
              <a:rPr lang="en-US" sz="14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 == 2) result += 5; </a:t>
            </a:r>
            <a:r>
              <a:rPr lang="en-US" sz="14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Instruction 2 = Add 5</a:t>
            </a:r>
          </a:p>
          <a:p>
            <a:r>
              <a:rPr lang="en-US" sz="14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return result;</a:t>
            </a:r>
          </a:p>
          <a:p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US" sz="1400" b="1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4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main() {</a:t>
            </a:r>
          </a:p>
          <a:p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4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bytecode[] = {1, 2};  </a:t>
            </a:r>
            <a:r>
              <a:rPr lang="en-US" sz="14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Encoded sequence of operations</a:t>
            </a:r>
          </a:p>
          <a:p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4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result = </a:t>
            </a:r>
            <a:r>
              <a:rPr lang="en-US" sz="14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interpretBytecode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(bytecode, 10);</a:t>
            </a:r>
          </a:p>
          <a:p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4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("%d\n", result);</a:t>
            </a:r>
          </a:p>
          <a:p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return 0;</a:t>
            </a:r>
          </a:p>
          <a:p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BA382E-14D6-1F42-A056-3C4DBF39EE50}"/>
              </a:ext>
            </a:extLst>
          </p:cNvPr>
          <p:cNvSpPr/>
          <p:nvPr/>
        </p:nvSpPr>
        <p:spPr>
          <a:xfrm>
            <a:off x="160977" y="315013"/>
            <a:ext cx="719882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/>
              <a:t>Obfuscating : Interpretation</a:t>
            </a:r>
          </a:p>
        </p:txBody>
      </p:sp>
    </p:spTree>
    <p:extLst>
      <p:ext uri="{BB962C8B-B14F-4D97-AF65-F5344CB8AC3E}">
        <p14:creationId xmlns:p14="http://schemas.microsoft.com/office/powerpoint/2010/main" val="2173342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EF43A28-DE73-B041-B823-394C4CEF5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5E60687-EE00-9041-9B9D-E4B645F0E32C}"/>
              </a:ext>
            </a:extLst>
          </p:cNvPr>
          <p:cNvSpPr/>
          <p:nvPr/>
        </p:nvSpPr>
        <p:spPr>
          <a:xfrm>
            <a:off x="1785125" y="3800773"/>
            <a:ext cx="6779012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Array aliasing</a:t>
            </a:r>
            <a:r>
              <a:rPr lang="en-US" sz="2400" dirty="0"/>
              <a:t>: This refers to using multiple references (aliases) to the same memory location in an array, making it difficult to track actual variable values.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8FCA991-769C-6342-8234-15A47E558E5F}"/>
              </a:ext>
            </a:extLst>
          </p:cNvPr>
          <p:cNvSpPr/>
          <p:nvPr/>
        </p:nvSpPr>
        <p:spPr>
          <a:xfrm>
            <a:off x="1785124" y="1651491"/>
            <a:ext cx="626605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Opaque values</a:t>
            </a:r>
            <a:r>
              <a:rPr lang="en-US" sz="2400" dirty="0"/>
              <a:t>: These are values that appear unpredictable to an adversary but are known at compile or runtime.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113D9C2-6278-1544-B3FD-E708548572CB}"/>
              </a:ext>
            </a:extLst>
          </p:cNvPr>
          <p:cNvSpPr/>
          <p:nvPr/>
        </p:nvSpPr>
        <p:spPr>
          <a:xfrm>
            <a:off x="160977" y="315013"/>
            <a:ext cx="884920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/>
              <a:t>Obfuscating : Opaque Values from Array Aliasing</a:t>
            </a:r>
          </a:p>
          <a:p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342235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EF43A28-DE73-B041-B823-394C4CEF5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19</a:t>
            </a:fld>
            <a:endParaRPr lang="zh-CN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AFC60C8-528A-C340-826D-4DCBC430C18C}"/>
              </a:ext>
            </a:extLst>
          </p:cNvPr>
          <p:cNvSpPr/>
          <p:nvPr/>
        </p:nvSpPr>
        <p:spPr>
          <a:xfrm>
            <a:off x="2043113" y="4351174"/>
            <a:ext cx="4953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Two array elements indexed by different variables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918A0C7-F493-2C4E-87C0-FCA65F1CE04A}"/>
              </a:ext>
            </a:extLst>
          </p:cNvPr>
          <p:cNvSpPr/>
          <p:nvPr/>
        </p:nvSpPr>
        <p:spPr>
          <a:xfrm>
            <a:off x="2185352" y="1418050"/>
            <a:ext cx="4953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Aliasing occurs in two pointers can refer to the same memory location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164D98E-FE1D-C64E-AA39-4051F867AD2A}"/>
              </a:ext>
            </a:extLst>
          </p:cNvPr>
          <p:cNvSpPr/>
          <p:nvPr/>
        </p:nvSpPr>
        <p:spPr>
          <a:xfrm>
            <a:off x="2185352" y="2410250"/>
            <a:ext cx="4953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Two reference parameters can also alias each other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98315BF-EF24-8A40-9600-373CC8E7C065}"/>
              </a:ext>
            </a:extLst>
          </p:cNvPr>
          <p:cNvSpPr/>
          <p:nvPr/>
        </p:nvSpPr>
        <p:spPr>
          <a:xfrm>
            <a:off x="2185352" y="3608558"/>
            <a:ext cx="45720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A reference parameter and a global variable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ABE87B2-F500-CA4D-B4C2-86E779E75082}"/>
              </a:ext>
            </a:extLst>
          </p:cNvPr>
          <p:cNvSpPr/>
          <p:nvPr/>
        </p:nvSpPr>
        <p:spPr>
          <a:xfrm>
            <a:off x="160977" y="315013"/>
            <a:ext cx="884920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/>
              <a:t>Obfuscating : Opaque Values from Array Aliasing</a:t>
            </a:r>
          </a:p>
          <a:p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704513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EF43A28-DE73-B041-B823-394C4CEF5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20</a:t>
            </a:fld>
            <a:endParaRPr lang="zh-CN" alt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ABE87B2-F500-CA4D-B4C2-86E779E75082}"/>
              </a:ext>
            </a:extLst>
          </p:cNvPr>
          <p:cNvSpPr/>
          <p:nvPr/>
        </p:nvSpPr>
        <p:spPr>
          <a:xfrm>
            <a:off x="160977" y="315013"/>
            <a:ext cx="884920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/>
              <a:t>Obfuscating : Opaque Values from Array Aliasing</a:t>
            </a:r>
          </a:p>
          <a:p>
            <a:endParaRPr lang="en-US" sz="2800" b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0D9C510-A72E-6745-8800-4F5FACA988A0}"/>
              </a:ext>
            </a:extLst>
          </p:cNvPr>
          <p:cNvSpPr/>
          <p:nvPr/>
        </p:nvSpPr>
        <p:spPr>
          <a:xfrm>
            <a:off x="394823" y="1122372"/>
            <a:ext cx="771571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Two Pointers Referring to the Same Memory Location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9667EFA-FD97-3B4C-B150-B5868E576FD8}"/>
              </a:ext>
            </a:extLst>
          </p:cNvPr>
          <p:cNvSpPr/>
          <p:nvPr/>
        </p:nvSpPr>
        <p:spPr>
          <a:xfrm>
            <a:off x="692303" y="1716393"/>
            <a:ext cx="6303810" cy="432504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#include &lt;</a:t>
            </a:r>
            <a:r>
              <a:rPr lang="en-US" sz="16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stdio.h</a:t>
            </a:r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endParaRPr lang="en-US" sz="1600" b="1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main() {</a:t>
            </a:r>
          </a:p>
          <a:p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num</a:t>
            </a:r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42;</a:t>
            </a:r>
          </a:p>
          <a:p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*ptr1 = &amp;</a:t>
            </a:r>
            <a:r>
              <a:rPr lang="en-US" sz="16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num</a:t>
            </a:r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*ptr2 = ptr1; </a:t>
            </a: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Both ptr1 and ptr2 point to '</a:t>
            </a:r>
            <a:r>
              <a:rPr lang="en-US" sz="1600" b="1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num</a:t>
            </a: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</a:t>
            </a:r>
          </a:p>
          <a:p>
            <a:endParaRPr lang="en-US" sz="1600" b="1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*ptr2 = 99; // Changing value using ptr2</a:t>
            </a:r>
          </a:p>
          <a:p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("%d\n", *ptr1); </a:t>
            </a: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Output: 99 (ptr1 also sees the change)</a:t>
            </a:r>
          </a:p>
          <a:p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</a:p>
          <a:p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return 0;</a:t>
            </a:r>
          </a:p>
          <a:p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53724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EF43A28-DE73-B041-B823-394C4CEF5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21</a:t>
            </a:fld>
            <a:endParaRPr lang="zh-CN" alt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ABE87B2-F500-CA4D-B4C2-86E779E75082}"/>
              </a:ext>
            </a:extLst>
          </p:cNvPr>
          <p:cNvSpPr/>
          <p:nvPr/>
        </p:nvSpPr>
        <p:spPr>
          <a:xfrm>
            <a:off x="160977" y="315013"/>
            <a:ext cx="884920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/>
              <a:t>Obfuscating : Opaque Values from Array Aliasing</a:t>
            </a:r>
          </a:p>
          <a:p>
            <a:endParaRPr lang="en-US" sz="2800" b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0D9C510-A72E-6745-8800-4F5FACA988A0}"/>
              </a:ext>
            </a:extLst>
          </p:cNvPr>
          <p:cNvSpPr/>
          <p:nvPr/>
        </p:nvSpPr>
        <p:spPr>
          <a:xfrm>
            <a:off x="394823" y="1122372"/>
            <a:ext cx="771571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Two Reference Parameters Can Also Alias Each Other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9667EFA-FD97-3B4C-B150-B5868E576FD8}"/>
              </a:ext>
            </a:extLst>
          </p:cNvPr>
          <p:cNvSpPr/>
          <p:nvPr/>
        </p:nvSpPr>
        <p:spPr>
          <a:xfrm>
            <a:off x="692303" y="1716393"/>
            <a:ext cx="6303810" cy="432504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#include &lt;iostream&gt;</a:t>
            </a:r>
          </a:p>
          <a:p>
            <a:endParaRPr lang="en-US" sz="1600" b="1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 modify(</a:t>
            </a:r>
            <a:r>
              <a:rPr lang="en-US" sz="16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&amp;a, </a:t>
            </a:r>
            <a:r>
              <a:rPr lang="en-US" sz="16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&amp;b) {</a:t>
            </a:r>
          </a:p>
          <a:p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a = 10;  </a:t>
            </a: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Modifies b as well if they alias each other</a:t>
            </a:r>
          </a:p>
          <a:p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b = 20;</a:t>
            </a:r>
          </a:p>
          <a:p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US" sz="1600" b="1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main() {</a:t>
            </a:r>
          </a:p>
          <a:p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x = 5;</a:t>
            </a:r>
          </a:p>
          <a:p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modify(x, x); </a:t>
            </a: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x is passed twice, creating aliasing</a:t>
            </a:r>
          </a:p>
          <a:p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std</a:t>
            </a:r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en-US" sz="16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&lt;&lt; x &lt;&lt; </a:t>
            </a:r>
            <a:r>
              <a:rPr lang="en-US" sz="16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std</a:t>
            </a:r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en-US" sz="16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endl</a:t>
            </a:r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Output: 20 (last modification applies)</a:t>
            </a:r>
          </a:p>
          <a:p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</a:p>
          <a:p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return 0;</a:t>
            </a:r>
          </a:p>
          <a:p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65114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EF43A28-DE73-B041-B823-394C4CEF5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22</a:t>
            </a:fld>
            <a:endParaRPr lang="zh-CN" alt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ABE87B2-F500-CA4D-B4C2-86E779E75082}"/>
              </a:ext>
            </a:extLst>
          </p:cNvPr>
          <p:cNvSpPr/>
          <p:nvPr/>
        </p:nvSpPr>
        <p:spPr>
          <a:xfrm>
            <a:off x="160977" y="315013"/>
            <a:ext cx="884920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/>
              <a:t>Obfuscating : Opaque Values from Array Aliasing</a:t>
            </a:r>
          </a:p>
          <a:p>
            <a:endParaRPr lang="en-US" sz="2800" b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0D9C510-A72E-6745-8800-4F5FACA988A0}"/>
              </a:ext>
            </a:extLst>
          </p:cNvPr>
          <p:cNvSpPr/>
          <p:nvPr/>
        </p:nvSpPr>
        <p:spPr>
          <a:xfrm>
            <a:off x="394823" y="1122372"/>
            <a:ext cx="771571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A Reference Parameter and a Global Variable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9667EFA-FD97-3B4C-B150-B5868E576FD8}"/>
              </a:ext>
            </a:extLst>
          </p:cNvPr>
          <p:cNvSpPr/>
          <p:nvPr/>
        </p:nvSpPr>
        <p:spPr>
          <a:xfrm>
            <a:off x="692303" y="1716393"/>
            <a:ext cx="6303810" cy="432504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#include &lt;iostream&gt;</a:t>
            </a:r>
          </a:p>
          <a:p>
            <a:endParaRPr lang="en-US" sz="1600" b="1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globalVar</a:t>
            </a:r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50;</a:t>
            </a:r>
          </a:p>
          <a:p>
            <a:endParaRPr lang="en-US" sz="1600" b="1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 </a:t>
            </a:r>
            <a:r>
              <a:rPr lang="en-US" sz="16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modifyGlobal</a:t>
            </a:r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6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&amp;</a:t>
            </a:r>
            <a:r>
              <a:rPr lang="en-US" sz="16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param</a:t>
            </a:r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</a:p>
          <a:p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param</a:t>
            </a:r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100; </a:t>
            </a: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Modifies </a:t>
            </a:r>
            <a:r>
              <a:rPr lang="en-US" sz="1600" b="1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globalVar</a:t>
            </a: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because </a:t>
            </a:r>
            <a:r>
              <a:rPr lang="en-US" sz="1600" b="1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param</a:t>
            </a: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is an alias</a:t>
            </a:r>
          </a:p>
          <a:p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US" sz="1600" b="1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main() {</a:t>
            </a:r>
          </a:p>
          <a:p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modifyGlobal</a:t>
            </a:r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6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globalVar</a:t>
            </a:r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std</a:t>
            </a:r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en-US" sz="16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&lt;&lt; </a:t>
            </a:r>
            <a:r>
              <a:rPr lang="en-US" sz="16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globalVar</a:t>
            </a:r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&lt;&lt; </a:t>
            </a:r>
            <a:r>
              <a:rPr lang="en-US" sz="16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std</a:t>
            </a:r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en-US" sz="16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endl</a:t>
            </a:r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// Output: 100</a:t>
            </a:r>
          </a:p>
          <a:p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</a:p>
          <a:p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return 0;</a:t>
            </a:r>
          </a:p>
          <a:p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42010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EF43A28-DE73-B041-B823-394C4CEF5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23</a:t>
            </a:fld>
            <a:endParaRPr lang="zh-CN" alt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ABE87B2-F500-CA4D-B4C2-86E779E75082}"/>
              </a:ext>
            </a:extLst>
          </p:cNvPr>
          <p:cNvSpPr/>
          <p:nvPr/>
        </p:nvSpPr>
        <p:spPr>
          <a:xfrm>
            <a:off x="160977" y="315013"/>
            <a:ext cx="884920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/>
              <a:t>Obfuscating : Opaque Values from Array Aliasing</a:t>
            </a:r>
          </a:p>
          <a:p>
            <a:endParaRPr lang="en-US" sz="2800" b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0D9C510-A72E-6745-8800-4F5FACA988A0}"/>
              </a:ext>
            </a:extLst>
          </p:cNvPr>
          <p:cNvSpPr/>
          <p:nvPr/>
        </p:nvSpPr>
        <p:spPr>
          <a:xfrm>
            <a:off x="394823" y="1122372"/>
            <a:ext cx="771571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Two Array Elements Indexed by Different Variables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9667EFA-FD97-3B4C-B150-B5868E576FD8}"/>
              </a:ext>
            </a:extLst>
          </p:cNvPr>
          <p:cNvSpPr/>
          <p:nvPr/>
        </p:nvSpPr>
        <p:spPr>
          <a:xfrm>
            <a:off x="692303" y="1716393"/>
            <a:ext cx="6303810" cy="432504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#include &lt;</a:t>
            </a:r>
            <a:r>
              <a:rPr lang="en-US" sz="16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stdio.h</a:t>
            </a:r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endParaRPr lang="en-US" sz="1600" b="1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main() {</a:t>
            </a:r>
          </a:p>
          <a:p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arr</a:t>
            </a:r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[5] = {1, 2, 3, 4, 5};</a:t>
            </a:r>
          </a:p>
          <a:p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*ptr1 = &amp;</a:t>
            </a:r>
            <a:r>
              <a:rPr lang="en-US" sz="16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arr</a:t>
            </a:r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[2]; // Points to </a:t>
            </a:r>
            <a:r>
              <a:rPr lang="en-US" sz="16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arr</a:t>
            </a:r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[2]</a:t>
            </a:r>
          </a:p>
          <a:p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*ptr2 = </a:t>
            </a:r>
            <a:r>
              <a:rPr lang="en-US" sz="16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arr</a:t>
            </a:r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+ 2; </a:t>
            </a: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Also points to </a:t>
            </a:r>
            <a:r>
              <a:rPr lang="en-US" sz="1600" b="1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arr</a:t>
            </a: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[2] (same memory location)</a:t>
            </a:r>
          </a:p>
          <a:p>
            <a:endParaRPr lang="en-US" sz="1600" b="1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*ptr1 = 99; // Modify </a:t>
            </a:r>
            <a:r>
              <a:rPr lang="en-US" sz="16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arr</a:t>
            </a:r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[2]</a:t>
            </a:r>
          </a:p>
          <a:p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("%d\n", *ptr2); // Output: 99</a:t>
            </a:r>
          </a:p>
          <a:p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</a:p>
          <a:p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return 0;</a:t>
            </a:r>
          </a:p>
          <a:p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20517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EF43A28-DE73-B041-B823-394C4CEF5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24</a:t>
            </a:fld>
            <a:endParaRPr lang="zh-CN" alt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ABE87B2-F500-CA4D-B4C2-86E779E75082}"/>
              </a:ext>
            </a:extLst>
          </p:cNvPr>
          <p:cNvSpPr/>
          <p:nvPr/>
        </p:nvSpPr>
        <p:spPr>
          <a:xfrm>
            <a:off x="160977" y="315013"/>
            <a:ext cx="884920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/>
              <a:t>Obfuscating : Opaque Values from Array Aliasing</a:t>
            </a:r>
          </a:p>
          <a:p>
            <a:endParaRPr lang="en-US" sz="2800" b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0D9C510-A72E-6745-8800-4F5FACA988A0}"/>
              </a:ext>
            </a:extLst>
          </p:cNvPr>
          <p:cNvSpPr/>
          <p:nvPr/>
        </p:nvSpPr>
        <p:spPr>
          <a:xfrm>
            <a:off x="394823" y="1122372"/>
            <a:ext cx="771571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Two Array Elements Indexed by Different Variables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9667EFA-FD97-3B4C-B150-B5868E576FD8}"/>
              </a:ext>
            </a:extLst>
          </p:cNvPr>
          <p:cNvSpPr/>
          <p:nvPr/>
        </p:nvSpPr>
        <p:spPr>
          <a:xfrm>
            <a:off x="692303" y="1716393"/>
            <a:ext cx="6466780" cy="463995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#include &lt;</a:t>
            </a:r>
            <a:r>
              <a:rPr lang="en-US" sz="16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stdio.h</a:t>
            </a:r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endParaRPr lang="en-US" sz="1600" b="1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main() {</a:t>
            </a:r>
          </a:p>
          <a:p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arr</a:t>
            </a:r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[5] = {1, 2, 3, 4, 5};  </a:t>
            </a:r>
          </a:p>
          <a:p>
            <a:endParaRPr lang="en-US" sz="1600" b="1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1, j = 2;  </a:t>
            </a: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Two different index </a:t>
            </a:r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variables</a:t>
            </a:r>
          </a:p>
          <a:p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*ptr1 = &amp;</a:t>
            </a:r>
            <a:r>
              <a:rPr lang="en-US" sz="16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arr</a:t>
            </a:r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US" sz="16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];  // Points to </a:t>
            </a:r>
            <a:r>
              <a:rPr lang="en-US" sz="16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arr</a:t>
            </a:r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[1]</a:t>
            </a:r>
          </a:p>
          <a:p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*ptr2 = &amp;</a:t>
            </a:r>
            <a:r>
              <a:rPr lang="en-US" sz="16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arr</a:t>
            </a:r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[j - 1];  </a:t>
            </a: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Also points to </a:t>
            </a:r>
            <a:r>
              <a:rPr lang="en-US" sz="1600" b="1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arr</a:t>
            </a: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[1] (j - 1 = 1)</a:t>
            </a:r>
          </a:p>
          <a:p>
            <a:endParaRPr lang="en-US" sz="1600" b="1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*ptr1 = 99;  </a:t>
            </a: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Modify </a:t>
            </a:r>
            <a:r>
              <a:rPr lang="en-US" sz="1600" b="1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arr</a:t>
            </a: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[1] using ptr1</a:t>
            </a:r>
          </a:p>
          <a:p>
            <a:endParaRPr lang="en-US" sz="1600" b="1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("%d\n", *ptr2); </a:t>
            </a: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Output: 99 (because ptr2 also points to </a:t>
            </a:r>
            <a:r>
              <a:rPr lang="en-US" sz="1600" b="1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arr</a:t>
            </a: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[1])</a:t>
            </a:r>
          </a:p>
          <a:p>
            <a:endParaRPr lang="en-US" sz="1600" b="1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return 0;</a:t>
            </a:r>
          </a:p>
          <a:p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81003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6DAC8F0-8F14-CB4B-8110-1CCFFB9C7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25</a:t>
            </a:fld>
            <a:endParaRPr lang="zh-CN" alt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8C904BC-5D4D-5741-BAA6-BD9067E7F13F}"/>
              </a:ext>
            </a:extLst>
          </p:cNvPr>
          <p:cNvSpPr/>
          <p:nvPr/>
        </p:nvSpPr>
        <p:spPr>
          <a:xfrm>
            <a:off x="485518" y="1186031"/>
            <a:ext cx="4800160" cy="482252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#include &lt;</a:t>
            </a:r>
            <a:r>
              <a:rPr lang="en-US" sz="16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stdio.h</a:t>
            </a:r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endParaRPr lang="en-US" sz="1600" b="1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main() {</a:t>
            </a:r>
          </a:p>
          <a:p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arr</a:t>
            </a:r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[3] = {42, 99, 7};  </a:t>
            </a:r>
          </a:p>
          <a:p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*</a:t>
            </a:r>
            <a:r>
              <a:rPr lang="en-US" sz="16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ptr</a:t>
            </a:r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6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arr</a:t>
            </a:r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Pointer aliasing the array</a:t>
            </a:r>
          </a:p>
          <a:p>
            <a:endParaRPr lang="en-US" sz="1600" b="1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x = </a:t>
            </a:r>
            <a:r>
              <a:rPr lang="en-US" sz="16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ptr</a:t>
            </a:r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[1]; </a:t>
            </a: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Opaque value from aliasing</a:t>
            </a:r>
          </a:p>
          <a:p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if (x == 99) {</a:t>
            </a:r>
          </a:p>
          <a:p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6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("Secret branch!\n");</a:t>
            </a:r>
          </a:p>
          <a:p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} else {</a:t>
            </a:r>
          </a:p>
          <a:p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6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("Normal branch\n");</a:t>
            </a:r>
          </a:p>
          <a:p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BA382E-14D6-1F42-A056-3C4DBF39EE50}"/>
              </a:ext>
            </a:extLst>
          </p:cNvPr>
          <p:cNvSpPr/>
          <p:nvPr/>
        </p:nvSpPr>
        <p:spPr>
          <a:xfrm>
            <a:off x="160977" y="315013"/>
            <a:ext cx="884920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/>
              <a:t>Obfuscating : Opaque Values from Array Aliasing</a:t>
            </a:r>
          </a:p>
          <a:p>
            <a:endParaRPr lang="en-US" sz="2800" b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F45712-FE09-E04D-8E92-7F10DDCC9464}"/>
              </a:ext>
            </a:extLst>
          </p:cNvPr>
          <p:cNvSpPr/>
          <p:nvPr/>
        </p:nvSpPr>
        <p:spPr>
          <a:xfrm>
            <a:off x="5968807" y="1186031"/>
            <a:ext cx="325615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Instead of directly accessing </a:t>
            </a:r>
            <a:r>
              <a:rPr lang="en-US" dirty="0" err="1"/>
              <a:t>arr</a:t>
            </a:r>
            <a:r>
              <a:rPr lang="en-US" dirty="0"/>
              <a:t>[1], we retrieve its value through a pointer alias (</a:t>
            </a:r>
            <a:r>
              <a:rPr lang="en-US" dirty="0" err="1"/>
              <a:t>ptr</a:t>
            </a:r>
            <a:r>
              <a:rPr lang="en-US" dirty="0"/>
              <a:t>[1]).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9057C79-AF2E-A646-9EC0-CE9A42DB79F1}"/>
              </a:ext>
            </a:extLst>
          </p:cNvPr>
          <p:cNvSpPr/>
          <p:nvPr/>
        </p:nvSpPr>
        <p:spPr>
          <a:xfrm>
            <a:off x="5968807" y="2457159"/>
            <a:ext cx="325615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The value 99 (retrieved via aliasing) determines whether the conditional executes.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B0C1728-9440-6D43-A22D-9F3889AD5561}"/>
              </a:ext>
            </a:extLst>
          </p:cNvPr>
          <p:cNvSpPr/>
          <p:nvPr/>
        </p:nvSpPr>
        <p:spPr>
          <a:xfrm>
            <a:off x="5968807" y="3597291"/>
            <a:ext cx="357663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Reverse engineers trying to analyze the control flow statically may not recognize that x == 99 is always true.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5AFA6C0-ABC9-C14E-BFEE-98407D447A64}"/>
              </a:ext>
            </a:extLst>
          </p:cNvPr>
          <p:cNvSpPr/>
          <p:nvPr/>
        </p:nvSpPr>
        <p:spPr>
          <a:xfrm>
            <a:off x="5968807" y="5253820"/>
            <a:ext cx="357663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Instead of writing if (x == 99), the program retrieves 99 dynamically from the array</a:t>
            </a:r>
          </a:p>
        </p:txBody>
      </p:sp>
    </p:spTree>
    <p:extLst>
      <p:ext uri="{BB962C8B-B14F-4D97-AF65-F5344CB8AC3E}">
        <p14:creationId xmlns:p14="http://schemas.microsoft.com/office/powerpoint/2010/main" val="2747560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9" grpId="0"/>
      <p:bldP spid="10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6DAC8F0-8F14-CB4B-8110-1CCFFB9C7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26</a:t>
            </a:fld>
            <a:endParaRPr lang="zh-CN" alt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8C904BC-5D4D-5741-BAA6-BD9067E7F13F}"/>
              </a:ext>
            </a:extLst>
          </p:cNvPr>
          <p:cNvSpPr/>
          <p:nvPr/>
        </p:nvSpPr>
        <p:spPr>
          <a:xfrm>
            <a:off x="485518" y="1186031"/>
            <a:ext cx="4800160" cy="482252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#include &lt;</a:t>
            </a:r>
            <a:r>
              <a:rPr lang="en-US" sz="16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stdio.h</a:t>
            </a:r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endParaRPr lang="en-US" sz="1600" b="1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main() {</a:t>
            </a:r>
          </a:p>
          <a:p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arr</a:t>
            </a:r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[3] = {10, 20, 30};  </a:t>
            </a:r>
          </a:p>
          <a:p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*alias1 = </a:t>
            </a:r>
            <a:r>
              <a:rPr lang="en-US" sz="16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arr</a:t>
            </a:r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*alias2 = alias1 + 1; // Points to </a:t>
            </a:r>
            <a:r>
              <a:rPr lang="en-US" sz="16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arr</a:t>
            </a:r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[1]</a:t>
            </a:r>
          </a:p>
          <a:p>
            <a:endParaRPr lang="en-US" sz="1600" b="1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x = *alias2; </a:t>
            </a: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Opaque value from aliasing</a:t>
            </a:r>
          </a:p>
          <a:p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if (x == 20) {</a:t>
            </a:r>
          </a:p>
          <a:p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6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("Access Granted!\n");</a:t>
            </a:r>
          </a:p>
          <a:p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} else {</a:t>
            </a:r>
          </a:p>
          <a:p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6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("Access Denied!\n");</a:t>
            </a:r>
          </a:p>
          <a:p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BA382E-14D6-1F42-A056-3C4DBF39EE50}"/>
              </a:ext>
            </a:extLst>
          </p:cNvPr>
          <p:cNvSpPr/>
          <p:nvPr/>
        </p:nvSpPr>
        <p:spPr>
          <a:xfrm>
            <a:off x="160977" y="315013"/>
            <a:ext cx="884920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/>
              <a:t>Obfuscating : Opaque Values from Array Aliasing</a:t>
            </a:r>
          </a:p>
          <a:p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1360522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6DAC8F0-8F14-CB4B-8110-1CCFFB9C7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27</a:t>
            </a:fld>
            <a:endParaRPr lang="zh-CN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BA382E-14D6-1F42-A056-3C4DBF39EE50}"/>
              </a:ext>
            </a:extLst>
          </p:cNvPr>
          <p:cNvSpPr/>
          <p:nvPr/>
        </p:nvSpPr>
        <p:spPr>
          <a:xfrm>
            <a:off x="160977" y="315013"/>
            <a:ext cx="884920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/>
              <a:t>Obfuscating : Renaming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86FA4DB-CBDB-F84D-B29D-C699B2A6CC4F}"/>
              </a:ext>
            </a:extLst>
          </p:cNvPr>
          <p:cNvSpPr/>
          <p:nvPr/>
        </p:nvSpPr>
        <p:spPr>
          <a:xfrm>
            <a:off x="526093" y="1471961"/>
            <a:ext cx="2943618" cy="281713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</a:t>
            </a:r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6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a, </a:t>
            </a:r>
            <a:r>
              <a:rPr lang="en-US" sz="16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b) {</a:t>
            </a:r>
          </a:p>
          <a:p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return a + b;</a:t>
            </a:r>
          </a:p>
          <a:p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US" sz="1600" b="1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main() {</a:t>
            </a:r>
          </a:p>
          <a:p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sum = add(5, 10);</a:t>
            </a:r>
          </a:p>
          <a:p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return sum;</a:t>
            </a:r>
          </a:p>
          <a:p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8" name="Chevron 7">
            <a:extLst>
              <a:ext uri="{FF2B5EF4-FFF2-40B4-BE49-F238E27FC236}">
                <a16:creationId xmlns:a16="http://schemas.microsoft.com/office/drawing/2014/main" id="{7E157DC5-4202-534C-A99E-2DC2485DC863}"/>
              </a:ext>
            </a:extLst>
          </p:cNvPr>
          <p:cNvSpPr/>
          <p:nvPr/>
        </p:nvSpPr>
        <p:spPr>
          <a:xfrm>
            <a:off x="3867779" y="2579444"/>
            <a:ext cx="802888" cy="602166"/>
          </a:xfrm>
          <a:prstGeom prst="chevron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DBEE42F6-0037-CE42-BBE0-AFC5D765658D}"/>
              </a:ext>
            </a:extLst>
          </p:cNvPr>
          <p:cNvSpPr/>
          <p:nvPr/>
        </p:nvSpPr>
        <p:spPr>
          <a:xfrm>
            <a:off x="5068736" y="1686277"/>
            <a:ext cx="4156227" cy="238850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4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x1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4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x2, </a:t>
            </a:r>
            <a:r>
              <a:rPr lang="en-US" sz="14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x3) {</a:t>
            </a:r>
          </a:p>
          <a:p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return x2 + x3;</a:t>
            </a:r>
          </a:p>
          <a:p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US" sz="1400" b="1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4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main() {</a:t>
            </a:r>
          </a:p>
          <a:p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4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x4 = x1(5, 10);</a:t>
            </a:r>
          </a:p>
          <a:p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return x4;</a:t>
            </a:r>
          </a:p>
          <a:p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10802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6DAC8F0-8F14-CB4B-8110-1CCFFB9C7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28</a:t>
            </a:fld>
            <a:endParaRPr lang="zh-CN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BA382E-14D6-1F42-A056-3C4DBF39EE50}"/>
              </a:ext>
            </a:extLst>
          </p:cNvPr>
          <p:cNvSpPr/>
          <p:nvPr/>
        </p:nvSpPr>
        <p:spPr>
          <a:xfrm>
            <a:off x="160977" y="315013"/>
            <a:ext cx="884920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/>
              <a:t>Obfuscating : Code Flattening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86FA4DB-CBDB-F84D-B29D-C699B2A6CC4F}"/>
              </a:ext>
            </a:extLst>
          </p:cNvPr>
          <p:cNvSpPr/>
          <p:nvPr/>
        </p:nvSpPr>
        <p:spPr>
          <a:xfrm>
            <a:off x="526093" y="1471961"/>
            <a:ext cx="2943618" cy="281713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 process(</a:t>
            </a:r>
            <a:r>
              <a:rPr lang="en-US" sz="16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x) {</a:t>
            </a:r>
          </a:p>
          <a:p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if (x &gt; 10)</a:t>
            </a:r>
          </a:p>
          <a:p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6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("High\n");</a:t>
            </a:r>
          </a:p>
          <a:p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else</a:t>
            </a:r>
          </a:p>
          <a:p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6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("Low\n");</a:t>
            </a:r>
          </a:p>
          <a:p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8" name="Chevron 7">
            <a:extLst>
              <a:ext uri="{FF2B5EF4-FFF2-40B4-BE49-F238E27FC236}">
                <a16:creationId xmlns:a16="http://schemas.microsoft.com/office/drawing/2014/main" id="{7E157DC5-4202-534C-A99E-2DC2485DC863}"/>
              </a:ext>
            </a:extLst>
          </p:cNvPr>
          <p:cNvSpPr/>
          <p:nvPr/>
        </p:nvSpPr>
        <p:spPr>
          <a:xfrm>
            <a:off x="3867779" y="2579444"/>
            <a:ext cx="802888" cy="602166"/>
          </a:xfrm>
          <a:prstGeom prst="chevron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DBEE42F6-0037-CE42-BBE0-AFC5D765658D}"/>
              </a:ext>
            </a:extLst>
          </p:cNvPr>
          <p:cNvSpPr/>
          <p:nvPr/>
        </p:nvSpPr>
        <p:spPr>
          <a:xfrm>
            <a:off x="5068736" y="1686276"/>
            <a:ext cx="4156227" cy="306414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 process(</a:t>
            </a:r>
            <a:r>
              <a:rPr lang="en-US" sz="14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x) {</a:t>
            </a:r>
          </a:p>
          <a:p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4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state = (x &gt; 10) ? 1 : 0;</a:t>
            </a:r>
          </a:p>
          <a:p>
            <a:endParaRPr lang="en-US" sz="1400" b="1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switch (state) {</a:t>
            </a:r>
          </a:p>
          <a:p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case 1:</a:t>
            </a:r>
          </a:p>
          <a:p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-US" sz="14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("High\n");</a:t>
            </a:r>
          </a:p>
          <a:p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break;</a:t>
            </a:r>
          </a:p>
          <a:p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case 0:</a:t>
            </a:r>
          </a:p>
          <a:p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-US" sz="14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("Low\n");</a:t>
            </a:r>
          </a:p>
          <a:p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break;</a:t>
            </a:r>
          </a:p>
          <a:p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40555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6DAC8F0-8F14-CB4B-8110-1CCFFB9C7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29</a:t>
            </a:fld>
            <a:endParaRPr lang="zh-CN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BA382E-14D6-1F42-A056-3C4DBF39EE50}"/>
              </a:ext>
            </a:extLst>
          </p:cNvPr>
          <p:cNvSpPr/>
          <p:nvPr/>
        </p:nvSpPr>
        <p:spPr>
          <a:xfrm>
            <a:off x="160977" y="315013"/>
            <a:ext cx="884920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/>
              <a:t>Obfuscating : Junk Code Insertion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86FA4DB-CBDB-F84D-B29D-C699B2A6CC4F}"/>
              </a:ext>
            </a:extLst>
          </p:cNvPr>
          <p:cNvSpPr/>
          <p:nvPr/>
        </p:nvSpPr>
        <p:spPr>
          <a:xfrm>
            <a:off x="526093" y="1471961"/>
            <a:ext cx="2943618" cy="281713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add(</a:t>
            </a:r>
            <a:r>
              <a:rPr lang="en-US" sz="16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a, </a:t>
            </a:r>
            <a:r>
              <a:rPr lang="en-US" sz="16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b) {</a:t>
            </a:r>
          </a:p>
          <a:p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return a + b;</a:t>
            </a:r>
          </a:p>
          <a:p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8" name="Chevron 7">
            <a:extLst>
              <a:ext uri="{FF2B5EF4-FFF2-40B4-BE49-F238E27FC236}">
                <a16:creationId xmlns:a16="http://schemas.microsoft.com/office/drawing/2014/main" id="{7E157DC5-4202-534C-A99E-2DC2485DC863}"/>
              </a:ext>
            </a:extLst>
          </p:cNvPr>
          <p:cNvSpPr/>
          <p:nvPr/>
        </p:nvSpPr>
        <p:spPr>
          <a:xfrm>
            <a:off x="3867779" y="2579444"/>
            <a:ext cx="802888" cy="602166"/>
          </a:xfrm>
          <a:prstGeom prst="chevron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DBEE42F6-0037-CE42-BBE0-AFC5D765658D}"/>
              </a:ext>
            </a:extLst>
          </p:cNvPr>
          <p:cNvSpPr/>
          <p:nvPr/>
        </p:nvSpPr>
        <p:spPr>
          <a:xfrm>
            <a:off x="5068737" y="1686276"/>
            <a:ext cx="3763030" cy="223895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add(</a:t>
            </a:r>
            <a:r>
              <a:rPr lang="en-US" sz="16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a, </a:t>
            </a:r>
            <a:r>
              <a:rPr lang="en-US" sz="16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b) {</a:t>
            </a:r>
          </a:p>
          <a:p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noise = 42;  </a:t>
            </a:r>
          </a:p>
          <a:p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noise += 10;  </a:t>
            </a:r>
          </a:p>
          <a:p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return a + b;</a:t>
            </a:r>
          </a:p>
          <a:p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36755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0"/>
          <p:cNvSpPr txBox="1">
            <a:spLocks noChangeArrowheads="1"/>
          </p:cNvSpPr>
          <p:nvPr/>
        </p:nvSpPr>
        <p:spPr bwMode="auto">
          <a:xfrm>
            <a:off x="114796" y="177016"/>
            <a:ext cx="881913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3600" i="1" dirty="0">
                <a:solidFill>
                  <a:prstClr val="black"/>
                </a:solidFill>
                <a:cs typeface="Calibri" panose="020F0502020204030204" pitchFamily="34" charset="0"/>
              </a:rPr>
              <a:t> </a:t>
            </a:r>
            <a:r>
              <a:rPr lang="en-US" altLang="zh-CN" sz="3600" i="1" dirty="0">
                <a:ea typeface="Adobe Gothic Std B" pitchFamily="34" charset="-128"/>
                <a:cs typeface="Calibri" panose="020F0502020204030204" pitchFamily="34" charset="0"/>
              </a:rPr>
              <a:t> </a:t>
            </a:r>
            <a:endParaRPr lang="zh-CN" altLang="en-US" sz="2800" b="1" dirty="0">
              <a:latin typeface="Times New Roman" panose="02020603050405020304" pitchFamily="18" charset="0"/>
              <a:ea typeface="Adobe Gothic Std B" pitchFamily="34" charset="-128"/>
              <a:cs typeface="Times New Roman" panose="02020603050405020304" pitchFamily="18" charset="0"/>
            </a:endParaRPr>
          </a:p>
        </p:txBody>
      </p:sp>
      <p:sp>
        <p:nvSpPr>
          <p:cNvPr id="7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7460456" y="6394451"/>
            <a:ext cx="2228850" cy="365125"/>
          </a:xfrm>
        </p:spPr>
        <p:txBody>
          <a:bodyPr/>
          <a:lstStyle/>
          <a:p>
            <a:fld id="{48758AAF-F958-4141-BDE8-5609689A4508}" type="slidenum">
              <a:rPr lang="zh-CN" altLang="en-US" sz="2000" smtClean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30</a:t>
            </a:fld>
            <a:endParaRPr lang="zh-CN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156812" y="1967221"/>
            <a:ext cx="4934499" cy="9949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US" sz="3600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lang="it-IT" sz="3600" dirty="0"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5000"/>
              </a:lnSpc>
              <a:buClr>
                <a:schemeClr val="accent5"/>
              </a:buClr>
              <a:buSzPct val="75000"/>
            </a:pP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矩形 8">
            <a:extLst>
              <a:ext uri="{FF2B5EF4-FFF2-40B4-BE49-F238E27FC236}">
                <a16:creationId xmlns:a16="http://schemas.microsoft.com/office/drawing/2014/main" id="{B50F3C67-F206-0644-9881-E95BE68F9B62}"/>
              </a:ext>
            </a:extLst>
          </p:cNvPr>
          <p:cNvSpPr/>
          <p:nvPr/>
        </p:nvSpPr>
        <p:spPr>
          <a:xfrm>
            <a:off x="704879" y="2383536"/>
            <a:ext cx="7870002" cy="5207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buClr>
                <a:schemeClr val="accent5"/>
              </a:buClr>
              <a:buSzPct val="75000"/>
            </a:pPr>
            <a:r>
              <a:rPr lang="en-US" altLang="zh-CN" sz="2400" b="1" dirty="0">
                <a:solidFill>
                  <a:schemeClr val="accent5"/>
                </a:solidFill>
                <a:cs typeface="Times New Roman" panose="02020603050405020304" pitchFamily="18" charset="0"/>
              </a:rPr>
              <a:t>Questions??</a:t>
            </a:r>
            <a:endParaRPr lang="en-US" altLang="zh-CN" sz="2400" b="1" dirty="0">
              <a:cs typeface="Times New Roman" panose="02020603050405020304" pitchFamily="18" charset="0"/>
            </a:endParaRPr>
          </a:p>
        </p:txBody>
      </p:sp>
      <p:sp>
        <p:nvSpPr>
          <p:cNvPr id="8" name="矩形 8">
            <a:extLst>
              <a:ext uri="{FF2B5EF4-FFF2-40B4-BE49-F238E27FC236}">
                <a16:creationId xmlns:a16="http://schemas.microsoft.com/office/drawing/2014/main" id="{64398696-03BA-0540-B525-6DD16F72E4B0}"/>
              </a:ext>
            </a:extLst>
          </p:cNvPr>
          <p:cNvSpPr/>
          <p:nvPr/>
        </p:nvSpPr>
        <p:spPr>
          <a:xfrm>
            <a:off x="114796" y="3320635"/>
            <a:ext cx="7209544" cy="5207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buClr>
                <a:schemeClr val="accent5"/>
              </a:buClr>
              <a:buSzPct val="75000"/>
            </a:pPr>
            <a:r>
              <a:rPr lang="en-US" altLang="zh-CN" b="1" dirty="0">
                <a:solidFill>
                  <a:schemeClr val="accent5"/>
                </a:solidFill>
                <a:cs typeface="Times New Roman" panose="02020603050405020304" pitchFamily="18" charset="0"/>
              </a:rPr>
              <a:t>			</a:t>
            </a:r>
            <a:r>
              <a:rPr lang="en-US" altLang="zh-CN" sz="2400" b="1" dirty="0" err="1">
                <a:solidFill>
                  <a:schemeClr val="accent5"/>
                </a:solidFill>
                <a:cs typeface="Times New Roman" panose="02020603050405020304" pitchFamily="18" charset="0"/>
              </a:rPr>
              <a:t>zubair.ahmad@giki.edu.pk</a:t>
            </a:r>
            <a:r>
              <a:rPr lang="en-US" altLang="zh-CN" sz="2400" b="1" dirty="0">
                <a:solidFill>
                  <a:schemeClr val="accent5"/>
                </a:solidFill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BE4CAA-2776-8148-9C8F-90037E259AAF}"/>
              </a:ext>
            </a:extLst>
          </p:cNvPr>
          <p:cNvSpPr txBox="1"/>
          <p:nvPr/>
        </p:nvSpPr>
        <p:spPr>
          <a:xfrm>
            <a:off x="2743200" y="4522362"/>
            <a:ext cx="3983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Office: G14 FCSE lobby</a:t>
            </a:r>
          </a:p>
        </p:txBody>
      </p:sp>
    </p:spTree>
    <p:extLst>
      <p:ext uri="{BB962C8B-B14F-4D97-AF65-F5344CB8AC3E}">
        <p14:creationId xmlns:p14="http://schemas.microsoft.com/office/powerpoint/2010/main" val="1935760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3350944</TotalTime>
  <Words>2482</Words>
  <Application>Microsoft Macintosh PowerPoint</Application>
  <PresentationFormat>A4 Paper (210x297 mm)</PresentationFormat>
  <Paragraphs>407</Paragraphs>
  <Slides>30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40" baseType="lpstr">
      <vt:lpstr>Adobe Gothic Std B</vt:lpstr>
      <vt:lpstr>DengXian</vt:lpstr>
      <vt:lpstr>DengXian</vt:lpstr>
      <vt:lpstr>等线 Light</vt:lpstr>
      <vt:lpstr>SimSun</vt:lpstr>
      <vt:lpstr>Arial</vt:lpstr>
      <vt:lpstr>Calibri</vt:lpstr>
      <vt:lpstr>Consolas</vt:lpstr>
      <vt:lpstr>Times New Roman</vt:lpstr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China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Microsoft Office User</cp:lastModifiedBy>
  <cp:revision>834</cp:revision>
  <cp:lastPrinted>2025-03-10T09:35:17Z</cp:lastPrinted>
  <dcterms:created xsi:type="dcterms:W3CDTF">2018-07-17T04:46:00Z</dcterms:created>
  <dcterms:modified xsi:type="dcterms:W3CDTF">2026-04-08T10:21:49Z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2052-11.1.0.8567</vt:lpwstr>
  </property>
</Properties>
</file>