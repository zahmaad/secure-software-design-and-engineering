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80" r:id="rId2"/>
    <p:sldId id="484" r:id="rId3"/>
    <p:sldId id="461" r:id="rId4"/>
    <p:sldId id="459" r:id="rId5"/>
    <p:sldId id="471" r:id="rId6"/>
    <p:sldId id="487" r:id="rId7"/>
    <p:sldId id="460" r:id="rId8"/>
    <p:sldId id="462" r:id="rId9"/>
    <p:sldId id="464" r:id="rId10"/>
    <p:sldId id="467" r:id="rId11"/>
    <p:sldId id="465" r:id="rId12"/>
    <p:sldId id="466" r:id="rId13"/>
    <p:sldId id="468" r:id="rId14"/>
    <p:sldId id="469" r:id="rId15"/>
    <p:sldId id="470" r:id="rId16"/>
    <p:sldId id="490" r:id="rId17"/>
    <p:sldId id="474" r:id="rId18"/>
    <p:sldId id="472" r:id="rId19"/>
    <p:sldId id="475" r:id="rId20"/>
    <p:sldId id="492" r:id="rId21"/>
    <p:sldId id="476" r:id="rId22"/>
    <p:sldId id="477" r:id="rId23"/>
    <p:sldId id="478" r:id="rId24"/>
    <p:sldId id="480" r:id="rId25"/>
    <p:sldId id="481" r:id="rId26"/>
    <p:sldId id="482" r:id="rId27"/>
    <p:sldId id="489" r:id="rId28"/>
    <p:sldId id="372" r:id="rId29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484"/>
            <p14:sldId id="461"/>
            <p14:sldId id="459"/>
            <p14:sldId id="471"/>
            <p14:sldId id="487"/>
            <p14:sldId id="460"/>
            <p14:sldId id="462"/>
            <p14:sldId id="464"/>
            <p14:sldId id="467"/>
            <p14:sldId id="465"/>
            <p14:sldId id="466"/>
            <p14:sldId id="468"/>
            <p14:sldId id="469"/>
            <p14:sldId id="470"/>
            <p14:sldId id="490"/>
            <p14:sldId id="474"/>
            <p14:sldId id="472"/>
            <p14:sldId id="475"/>
            <p14:sldId id="492"/>
            <p14:sldId id="476"/>
            <p14:sldId id="477"/>
            <p14:sldId id="478"/>
            <p14:sldId id="480"/>
            <p14:sldId id="481"/>
            <p14:sldId id="482"/>
            <p14:sldId id="489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17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383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Risk Management for Software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572458" y="1188025"/>
            <a:ext cx="476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DA0090-2C57-8644-8958-4483A56E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C79FC-BAA5-F045-893A-CD453DE11BE5}"/>
              </a:ext>
            </a:extLst>
          </p:cNvPr>
          <p:cNvSpPr/>
          <p:nvPr/>
        </p:nvSpPr>
        <p:spPr>
          <a:xfrm>
            <a:off x="388777" y="456529"/>
            <a:ext cx="22813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5B5B5B"/>
                </a:solidFill>
                <a:latin typeface="MyriadPro"/>
              </a:rPr>
              <a:t>Handling Risk 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37852-3004-1445-BC05-37E07DD07881}"/>
              </a:ext>
            </a:extLst>
          </p:cNvPr>
          <p:cNvSpPr/>
          <p:nvPr/>
        </p:nvSpPr>
        <p:spPr>
          <a:xfrm>
            <a:off x="2960341" y="2866951"/>
            <a:ext cx="3105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All software has </a:t>
            </a:r>
            <a:r>
              <a:rPr lang="en-US" sz="2400" b="1" dirty="0">
                <a:solidFill>
                  <a:srgbClr val="FF0000"/>
                </a:solidFill>
              </a:rPr>
              <a:t>risks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E5AAB-8A0C-2D42-B924-9296A755842B}"/>
              </a:ext>
            </a:extLst>
          </p:cNvPr>
          <p:cNvSpPr/>
          <p:nvPr/>
        </p:nvSpPr>
        <p:spPr>
          <a:xfrm>
            <a:off x="635059" y="3630582"/>
            <a:ext cx="61243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Without risk management, small issues become </a:t>
            </a:r>
            <a:r>
              <a:rPr lang="en-US" sz="2400" b="1" dirty="0">
                <a:solidFill>
                  <a:srgbClr val="FF0000"/>
                </a:solidFill>
              </a:rPr>
              <a:t>disasters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BA9D81-B828-B74B-89EE-D0D5B7A19EA6}"/>
              </a:ext>
            </a:extLst>
          </p:cNvPr>
          <p:cNvSpPr/>
          <p:nvPr/>
        </p:nvSpPr>
        <p:spPr>
          <a:xfrm>
            <a:off x="635059" y="475069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Software risk management is not just about </a:t>
            </a:r>
            <a:r>
              <a:rPr lang="en-US" b="1" dirty="0">
                <a:solidFill>
                  <a:srgbClr val="FF0000"/>
                </a:solidFill>
              </a:rPr>
              <a:t>security, </a:t>
            </a:r>
            <a:r>
              <a:rPr lang="en-US" dirty="0"/>
              <a:t>its about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reliability, trust, and business success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6F4903-C697-CC4A-9042-73EBE8D6F68D}"/>
              </a:ext>
            </a:extLst>
          </p:cNvPr>
          <p:cNvSpPr/>
          <p:nvPr/>
        </p:nvSpPr>
        <p:spPr>
          <a:xfrm>
            <a:off x="505966" y="1279812"/>
            <a:ext cx="80140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Owners value assets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GaramondPro"/>
              </a:rPr>
              <a:t>(software) </a:t>
            </a:r>
            <a:r>
              <a:rPr lang="en-US" sz="2400" dirty="0">
                <a:latin typeface="AGaramondPro"/>
              </a:rPr>
              <a:t>and wish to minimize risk to assets 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6DFA2-3117-2B4B-88BA-E0DF9320E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287" y="1695310"/>
            <a:ext cx="3444502" cy="45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2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DA0090-2C57-8644-8958-4483A56E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C79FC-BAA5-F045-893A-CD453DE11BE5}"/>
              </a:ext>
            </a:extLst>
          </p:cNvPr>
          <p:cNvSpPr/>
          <p:nvPr/>
        </p:nvSpPr>
        <p:spPr>
          <a:xfrm>
            <a:off x="388777" y="456529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5B5B5B"/>
                </a:solidFill>
                <a:latin typeface="MyriadPro"/>
              </a:rPr>
              <a:t>Handling Risk 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37852-3004-1445-BC05-37E07DD07881}"/>
              </a:ext>
            </a:extLst>
          </p:cNvPr>
          <p:cNvSpPr/>
          <p:nvPr/>
        </p:nvSpPr>
        <p:spPr>
          <a:xfrm>
            <a:off x="4094307" y="3270651"/>
            <a:ext cx="1348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If?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Cloud Callout 10">
            <a:extLst>
              <a:ext uri="{FF2B5EF4-FFF2-40B4-BE49-F238E27FC236}">
                <a16:creationId xmlns:a16="http://schemas.microsoft.com/office/drawing/2014/main" id="{704832E2-E4F5-0C4C-81F7-D9507FDD5E15}"/>
              </a:ext>
            </a:extLst>
          </p:cNvPr>
          <p:cNvSpPr/>
          <p:nvPr/>
        </p:nvSpPr>
        <p:spPr>
          <a:xfrm>
            <a:off x="6996112" y="2531480"/>
            <a:ext cx="2400417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Ignore the risk </a:t>
            </a:r>
            <a:endParaRPr lang="en-US" b="1" i="1" dirty="0">
              <a:latin typeface="MyriadPro"/>
            </a:endParaRPr>
          </a:p>
        </p:txBody>
      </p:sp>
      <p:sp>
        <p:nvSpPr>
          <p:cNvPr id="13" name="Cloud Callout 12">
            <a:extLst>
              <a:ext uri="{FF2B5EF4-FFF2-40B4-BE49-F238E27FC236}">
                <a16:creationId xmlns:a16="http://schemas.microsoft.com/office/drawing/2014/main" id="{9FF5769C-2B38-854F-87DB-7F201E037BBF}"/>
              </a:ext>
            </a:extLst>
          </p:cNvPr>
          <p:cNvSpPr/>
          <p:nvPr/>
        </p:nvSpPr>
        <p:spPr>
          <a:xfrm>
            <a:off x="388777" y="2222436"/>
            <a:ext cx="2630817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Accept the risk </a:t>
            </a:r>
            <a:endParaRPr lang="en-US" b="1" i="1" dirty="0">
              <a:latin typeface="MyriadPro"/>
            </a:endParaRPr>
          </a:p>
        </p:txBody>
      </p:sp>
      <p:sp>
        <p:nvSpPr>
          <p:cNvPr id="14" name="Cloud Callout 13">
            <a:extLst>
              <a:ext uri="{FF2B5EF4-FFF2-40B4-BE49-F238E27FC236}">
                <a16:creationId xmlns:a16="http://schemas.microsoft.com/office/drawing/2014/main" id="{ABBE4412-B6D2-8C4F-B003-3D9173B9EBD1}"/>
              </a:ext>
            </a:extLst>
          </p:cNvPr>
          <p:cNvSpPr/>
          <p:nvPr/>
        </p:nvSpPr>
        <p:spPr>
          <a:xfrm>
            <a:off x="5795904" y="4505247"/>
            <a:ext cx="2400417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Avoid the risk </a:t>
            </a:r>
            <a:endParaRPr lang="en-US" b="1" i="1" dirty="0">
              <a:latin typeface="MyriadPro"/>
            </a:endParaRPr>
          </a:p>
        </p:txBody>
      </p:sp>
      <p:sp>
        <p:nvSpPr>
          <p:cNvPr id="15" name="Cloud Callout 14">
            <a:extLst>
              <a:ext uri="{FF2B5EF4-FFF2-40B4-BE49-F238E27FC236}">
                <a16:creationId xmlns:a16="http://schemas.microsoft.com/office/drawing/2014/main" id="{4D81AC04-CB57-514E-AACA-1A5BBED6C4B6}"/>
              </a:ext>
            </a:extLst>
          </p:cNvPr>
          <p:cNvSpPr/>
          <p:nvPr/>
        </p:nvSpPr>
        <p:spPr>
          <a:xfrm>
            <a:off x="388778" y="4339721"/>
            <a:ext cx="2929294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Transfer the risk </a:t>
            </a:r>
            <a:endParaRPr lang="en-US" b="1" i="1" dirty="0">
              <a:latin typeface="MyriadPro"/>
            </a:endParaRPr>
          </a:p>
        </p:txBody>
      </p:sp>
      <p:sp>
        <p:nvSpPr>
          <p:cNvPr id="16" name="Cloud Callout 15">
            <a:extLst>
              <a:ext uri="{FF2B5EF4-FFF2-40B4-BE49-F238E27FC236}">
                <a16:creationId xmlns:a16="http://schemas.microsoft.com/office/drawing/2014/main" id="{5E957E36-03F6-DE4A-849F-3F67321218A2}"/>
              </a:ext>
            </a:extLst>
          </p:cNvPr>
          <p:cNvSpPr/>
          <p:nvPr/>
        </p:nvSpPr>
        <p:spPr>
          <a:xfrm>
            <a:off x="3975406" y="1441773"/>
            <a:ext cx="2791523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Mitigate the risk </a:t>
            </a:r>
            <a:endParaRPr lang="en-US" b="1" i="1" dirty="0">
              <a:latin typeface="MyriadPro"/>
            </a:endParaRPr>
          </a:p>
        </p:txBody>
      </p:sp>
    </p:spTree>
    <p:extLst>
      <p:ext uri="{BB962C8B-B14F-4D97-AF65-F5344CB8AC3E}">
        <p14:creationId xmlns:p14="http://schemas.microsoft.com/office/powerpoint/2010/main" val="84970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94CE19-1149-FE48-9E77-42DA905A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1026" name="Picture 2" descr="page53image23721168">
            <a:extLst>
              <a:ext uri="{FF2B5EF4-FFF2-40B4-BE49-F238E27FC236}">
                <a16:creationId xmlns:a16="http://schemas.microsoft.com/office/drawing/2014/main" id="{83416E1A-FAC1-AE4F-89A1-9C951CE6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15" y="1237526"/>
            <a:ext cx="7783551" cy="484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F2EFEA-B904-3342-A264-2672E4D9526E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– A View</a:t>
            </a:r>
          </a:p>
        </p:txBody>
      </p:sp>
    </p:spTree>
    <p:extLst>
      <p:ext uri="{BB962C8B-B14F-4D97-AF65-F5344CB8AC3E}">
        <p14:creationId xmlns:p14="http://schemas.microsoft.com/office/powerpoint/2010/main" val="328088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360F7-AADD-0F41-BFA0-86C272B5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9512B-30E2-CA46-9FDA-616CBF3C20BB}"/>
              </a:ext>
            </a:extLst>
          </p:cNvPr>
          <p:cNvSpPr/>
          <p:nvPr/>
        </p:nvSpPr>
        <p:spPr>
          <a:xfrm>
            <a:off x="28139" y="210691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likelihood of the occurrence of an unwanted, unintended or harmful event 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E46D3-37E0-A74C-859D-9BFFAE98FD13}"/>
              </a:ext>
            </a:extLst>
          </p:cNvPr>
          <p:cNvSpPr/>
          <p:nvPr/>
        </p:nvSpPr>
        <p:spPr>
          <a:xfrm>
            <a:off x="28139" y="298407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This is the overall risk of the system, before any security controls are applied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23FDB-D619-394F-95BF-DD1679FEAB87}"/>
              </a:ext>
            </a:extLst>
          </p:cNvPr>
          <p:cNvSpPr/>
          <p:nvPr/>
        </p:nvSpPr>
        <p:spPr>
          <a:xfrm>
            <a:off x="28139" y="386123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This may be expressed </a:t>
            </a:r>
            <a:r>
              <a:rPr lang="en-US" b="1" dirty="0">
                <a:latin typeface="AGaramondPro"/>
              </a:rPr>
              <a:t>qualitatively</a:t>
            </a:r>
            <a:r>
              <a:rPr lang="en-US" dirty="0">
                <a:latin typeface="AGaramondPro"/>
              </a:rPr>
              <a:t> (e.g., High, Medium or Low) or </a:t>
            </a:r>
            <a:r>
              <a:rPr lang="en-US" b="1" dirty="0">
                <a:latin typeface="AGaramondPro"/>
              </a:rPr>
              <a:t>quantitatively</a:t>
            </a:r>
            <a:r>
              <a:rPr lang="en-US" dirty="0">
                <a:latin typeface="AGaramondPro"/>
              </a:rPr>
              <a:t> (using numbers or percentiles)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33F68F-95D0-424C-B72F-7DD7CCB74952}"/>
              </a:ext>
            </a:extLst>
          </p:cNvPr>
          <p:cNvSpPr/>
          <p:nvPr/>
        </p:nvSpPr>
        <p:spPr>
          <a:xfrm>
            <a:off x="6122389" y="2106910"/>
            <a:ext cx="37552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Risk that remains after the implementation of mitigating security controls (countermeasures or safeguards) </a:t>
            </a:r>
            <a:endParaRPr lang="en-US" dirty="0"/>
          </a:p>
        </p:txBody>
      </p:sp>
      <p:sp>
        <p:nvSpPr>
          <p:cNvPr id="15" name="Alternate Process 14">
            <a:extLst>
              <a:ext uri="{FF2B5EF4-FFF2-40B4-BE49-F238E27FC236}">
                <a16:creationId xmlns:a16="http://schemas.microsoft.com/office/drawing/2014/main" id="{B3E1467F-FBCA-A14D-89E9-01D3FBE2EF89}"/>
              </a:ext>
            </a:extLst>
          </p:cNvPr>
          <p:cNvSpPr/>
          <p:nvPr/>
        </p:nvSpPr>
        <p:spPr>
          <a:xfrm>
            <a:off x="1025913" y="1291193"/>
            <a:ext cx="1984917" cy="60283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MyriadPro"/>
              </a:rPr>
              <a:t>Total Risk </a:t>
            </a:r>
            <a:endParaRPr lang="en-US" dirty="0"/>
          </a:p>
        </p:txBody>
      </p:sp>
      <p:sp>
        <p:nvSpPr>
          <p:cNvPr id="16" name="Alternate Process 15">
            <a:extLst>
              <a:ext uri="{FF2B5EF4-FFF2-40B4-BE49-F238E27FC236}">
                <a16:creationId xmlns:a16="http://schemas.microsoft.com/office/drawing/2014/main" id="{77A9B6D2-F02B-7349-A55E-507FB51872DA}"/>
              </a:ext>
            </a:extLst>
          </p:cNvPr>
          <p:cNvSpPr/>
          <p:nvPr/>
        </p:nvSpPr>
        <p:spPr>
          <a:xfrm>
            <a:off x="6550897" y="1291192"/>
            <a:ext cx="1984917" cy="60283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MyriadPro"/>
              </a:rPr>
              <a:t>Residual Risk 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D2D5C9-55D5-C843-9623-05EE39618075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- Terminologies</a:t>
            </a:r>
          </a:p>
        </p:txBody>
      </p:sp>
    </p:spTree>
    <p:extLst>
      <p:ext uri="{BB962C8B-B14F-4D97-AF65-F5344CB8AC3E}">
        <p14:creationId xmlns:p14="http://schemas.microsoft.com/office/powerpoint/2010/main" val="280867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360F7-AADD-0F41-BFA0-86C272B5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7EA78E-0F36-1F47-878E-66DF559BEF26}"/>
              </a:ext>
            </a:extLst>
          </p:cNvPr>
          <p:cNvSpPr/>
          <p:nvPr/>
        </p:nvSpPr>
        <p:spPr>
          <a:xfrm>
            <a:off x="518792" y="1170207"/>
            <a:ext cx="1999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MyriadPro"/>
              </a:rPr>
              <a:t>Calculation of Risk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B4290-3D37-0740-AEF1-8E9CA56EEA05}"/>
              </a:ext>
            </a:extLst>
          </p:cNvPr>
          <p:cNvSpPr/>
          <p:nvPr/>
        </p:nvSpPr>
        <p:spPr>
          <a:xfrm>
            <a:off x="6655396" y="2013685"/>
            <a:ext cx="2910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Single Loss Expectancy (SLE) 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11DF6-579F-4243-9BA6-6C7E609516BA}"/>
              </a:ext>
            </a:extLst>
          </p:cNvPr>
          <p:cNvSpPr/>
          <p:nvPr/>
        </p:nvSpPr>
        <p:spPr>
          <a:xfrm>
            <a:off x="6500837" y="2613850"/>
            <a:ext cx="3405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Annual Rate of Occurrence (ARO)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FEAE6-BB85-AD41-A419-DF305CBB47DB}"/>
              </a:ext>
            </a:extLst>
          </p:cNvPr>
          <p:cNvSpPr/>
          <p:nvPr/>
        </p:nvSpPr>
        <p:spPr>
          <a:xfrm>
            <a:off x="6586467" y="3214015"/>
            <a:ext cx="3048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Annual Loss Expectancy (ALE) 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12497B-ED71-5548-B8DE-FFDE9E064E84}"/>
              </a:ext>
            </a:extLst>
          </p:cNvPr>
          <p:cNvSpPr/>
          <p:nvPr/>
        </p:nvSpPr>
        <p:spPr>
          <a:xfrm>
            <a:off x="759212" y="1782853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Risk is conventionally expressed as the product of the probability of a threat- source/agent taking advantage of a vulnerability and the corresponding impact 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72F655-F4BD-9C4A-8F66-D4BE41D22444}"/>
              </a:ext>
            </a:extLst>
          </p:cNvPr>
          <p:cNvSpPr/>
          <p:nvPr/>
        </p:nvSpPr>
        <p:spPr>
          <a:xfrm>
            <a:off x="759212" y="328338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Calculation of risk is not a </a:t>
            </a:r>
            <a:r>
              <a:rPr lang="en-US" b="1" dirty="0">
                <a:latin typeface="AGaramondPro"/>
              </a:rPr>
              <a:t>black</a:t>
            </a:r>
            <a:r>
              <a:rPr lang="en-US" dirty="0">
                <a:latin typeface="AGaramondPro"/>
              </a:rPr>
              <a:t> or white exercise, especially in the context of software security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388C7B-6CDF-9E4F-BC00-93D43FA7D768}"/>
              </a:ext>
            </a:extLst>
          </p:cNvPr>
          <p:cNvSpPr/>
          <p:nvPr/>
        </p:nvSpPr>
        <p:spPr>
          <a:xfrm>
            <a:off x="728057" y="426918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Estimation of both probability and impact are usually subjective and so quantitative measurement of risk is not always accurate.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57F326-A755-574A-97D7-365BB5E5C5EC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- Terminologies</a:t>
            </a:r>
          </a:p>
        </p:txBody>
      </p:sp>
    </p:spTree>
    <p:extLst>
      <p:ext uri="{BB962C8B-B14F-4D97-AF65-F5344CB8AC3E}">
        <p14:creationId xmlns:p14="http://schemas.microsoft.com/office/powerpoint/2010/main" val="73668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for Software 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F2303F-6F12-0E4E-BD57-E3CD77342E54}"/>
              </a:ext>
            </a:extLst>
          </p:cNvPr>
          <p:cNvSpPr txBox="1"/>
          <p:nvPr/>
        </p:nvSpPr>
        <p:spPr>
          <a:xfrm>
            <a:off x="3834574" y="3375476"/>
            <a:ext cx="1841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Challenges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8E607C51-6CC3-F641-A337-9F66EDE7F465}"/>
              </a:ext>
            </a:extLst>
          </p:cNvPr>
          <p:cNvSpPr/>
          <p:nvPr/>
        </p:nvSpPr>
        <p:spPr>
          <a:xfrm>
            <a:off x="7136780" y="1003610"/>
            <a:ext cx="2122449" cy="1918010"/>
          </a:xfrm>
          <a:prstGeom prst="wedgeEllipseCallout">
            <a:avLst>
              <a:gd name="adj1" fmla="val -125912"/>
              <a:gd name="adj2" fmla="val 683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Software risk management is still maturing</a:t>
            </a:r>
            <a:endParaRPr lang="en-US" dirty="0"/>
          </a:p>
        </p:txBody>
      </p:sp>
      <p:sp>
        <p:nvSpPr>
          <p:cNvPr id="13" name="Oval Callout 12">
            <a:extLst>
              <a:ext uri="{FF2B5EF4-FFF2-40B4-BE49-F238E27FC236}">
                <a16:creationId xmlns:a16="http://schemas.microsoft.com/office/drawing/2014/main" id="{A98130E0-A0EB-9845-B872-6A381E5EF4D9}"/>
              </a:ext>
            </a:extLst>
          </p:cNvPr>
          <p:cNvSpPr/>
          <p:nvPr/>
        </p:nvSpPr>
        <p:spPr>
          <a:xfrm>
            <a:off x="154744" y="4475967"/>
            <a:ext cx="2122449" cy="1918010"/>
          </a:xfrm>
          <a:prstGeom prst="wedgeEllipseCallout">
            <a:avLst>
              <a:gd name="adj1" fmla="val 140988"/>
              <a:gd name="adj2" fmla="val -805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Determination of software asset values is often subjective. </a:t>
            </a:r>
            <a:endParaRPr lang="en-US" dirty="0">
              <a:latin typeface="ArialMT"/>
            </a:endParaRPr>
          </a:p>
        </p:txBody>
      </p:sp>
      <p:sp>
        <p:nvSpPr>
          <p:cNvPr id="14" name="Oval Callout 13">
            <a:extLst>
              <a:ext uri="{FF2B5EF4-FFF2-40B4-BE49-F238E27FC236}">
                <a16:creationId xmlns:a16="http://schemas.microsoft.com/office/drawing/2014/main" id="{6C0D0168-5C67-1C43-8E42-5E20FD9FC1DD}"/>
              </a:ext>
            </a:extLst>
          </p:cNvPr>
          <p:cNvSpPr/>
          <p:nvPr/>
        </p:nvSpPr>
        <p:spPr>
          <a:xfrm>
            <a:off x="7136779" y="3837142"/>
            <a:ext cx="2769221" cy="2362936"/>
          </a:xfrm>
          <a:prstGeom prst="wedgeEllipseCallout">
            <a:avLst>
              <a:gd name="adj1" fmla="val -119593"/>
              <a:gd name="adj2" fmla="val -507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Data on the exposure factor, impact, and probability of software security breaches is lacking or limited. </a:t>
            </a:r>
            <a:endParaRPr lang="en-US" dirty="0">
              <a:latin typeface="ArialMT"/>
            </a:endParaRPr>
          </a:p>
        </p:txBody>
      </p:sp>
      <p:sp>
        <p:nvSpPr>
          <p:cNvPr id="15" name="Oval Callout 14">
            <a:extLst>
              <a:ext uri="{FF2B5EF4-FFF2-40B4-BE49-F238E27FC236}">
                <a16:creationId xmlns:a16="http://schemas.microsoft.com/office/drawing/2014/main" id="{AF60FBED-BCDF-AD43-B9A3-ABEA6443E541}"/>
              </a:ext>
            </a:extLst>
          </p:cNvPr>
          <p:cNvSpPr/>
          <p:nvPr/>
        </p:nvSpPr>
        <p:spPr>
          <a:xfrm>
            <a:off x="154744" y="1003610"/>
            <a:ext cx="2341030" cy="2207941"/>
          </a:xfrm>
          <a:prstGeom prst="wedgeEllipseCallout">
            <a:avLst>
              <a:gd name="adj1" fmla="val 134684"/>
              <a:gd name="adj2" fmla="val 601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GaramondPro"/>
              </a:rPr>
              <a:t>Technical security risk is only a portion of the overall state of secure software. </a:t>
            </a:r>
            <a:endParaRPr lang="en-US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50885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672A8-2338-7B48-BF9C-98502923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3073" name="Picture 1" descr="page62image23942224">
            <a:extLst>
              <a:ext uri="{FF2B5EF4-FFF2-40B4-BE49-F238E27FC236}">
                <a16:creationId xmlns:a16="http://schemas.microsoft.com/office/drawing/2014/main" id="{1A59DE5D-FC6F-9248-9E37-F6192CC55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75" y="1526067"/>
            <a:ext cx="7384208" cy="360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8BA26D-890F-2440-88EF-48FE838E5A53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- Five Stages </a:t>
            </a:r>
          </a:p>
        </p:txBody>
      </p:sp>
    </p:spTree>
    <p:extLst>
      <p:ext uri="{BB962C8B-B14F-4D97-AF65-F5344CB8AC3E}">
        <p14:creationId xmlns:p14="http://schemas.microsoft.com/office/powerpoint/2010/main" val="390881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923A4-623A-D340-B9CA-411C34C1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ADC5-EFC3-464A-8D92-01E67061C7A5}"/>
              </a:ext>
            </a:extLst>
          </p:cNvPr>
          <p:cNvSpPr/>
          <p:nvPr/>
        </p:nvSpPr>
        <p:spPr>
          <a:xfrm>
            <a:off x="490653" y="1382751"/>
            <a:ext cx="5084957" cy="6690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Understand the Business Context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0CA1B-3F3B-074F-BF00-DBDB795A73F8}"/>
              </a:ext>
            </a:extLst>
          </p:cNvPr>
          <p:cNvSpPr/>
          <p:nvPr/>
        </p:nvSpPr>
        <p:spPr>
          <a:xfrm>
            <a:off x="4519613" y="229276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NewRomanPSMT" panose="02020603050405020304" pitchFamily="18" charset="0"/>
              </a:rPr>
              <a:t>The purpose of this stage is to gather data to answer the all-important "Who cares?" question.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6ED8AD-E6D0-D246-8256-9E5C085E4C94}"/>
              </a:ext>
            </a:extLst>
          </p:cNvPr>
          <p:cNvSpPr/>
          <p:nvPr/>
        </p:nvSpPr>
        <p:spPr>
          <a:xfrm>
            <a:off x="4600239" y="3331964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NewRomanPSMT" panose="02020603050405020304" pitchFamily="18" charset="0"/>
              </a:rPr>
              <a:t>Extract and describe business goals, priorities, and circumstances in order to understand what kinds of software risks to care about and which business goals are paramount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CBC44-B72E-4D47-A56F-F070E8C0F58B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- Five Stages </a:t>
            </a:r>
          </a:p>
        </p:txBody>
      </p:sp>
      <p:pic>
        <p:nvPicPr>
          <p:cNvPr id="7" name="Picture 1" descr="page62image23942224">
            <a:extLst>
              <a:ext uri="{FF2B5EF4-FFF2-40B4-BE49-F238E27FC236}">
                <a16:creationId xmlns:a16="http://schemas.microsoft.com/office/drawing/2014/main" id="{C41EB14D-D3A2-0F45-B4D3-5C12D3160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18" y="2359140"/>
            <a:ext cx="4367895" cy="213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76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923A4-623A-D340-B9CA-411C34C1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ADC5-EFC3-464A-8D92-01E67061C7A5}"/>
              </a:ext>
            </a:extLst>
          </p:cNvPr>
          <p:cNvSpPr/>
          <p:nvPr/>
        </p:nvSpPr>
        <p:spPr>
          <a:xfrm>
            <a:off x="490653" y="1382751"/>
            <a:ext cx="5932449" cy="6690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Identify the Business and Technical Risks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68A09-DCE4-6540-8D65-66942BAEF0E7}"/>
              </a:ext>
            </a:extLst>
          </p:cNvPr>
          <p:cNvSpPr/>
          <p:nvPr/>
        </p:nvSpPr>
        <p:spPr>
          <a:xfrm>
            <a:off x="4953000" y="367419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NewRomanPSMT" panose="02020603050405020304" pitchFamily="18" charset="0"/>
              </a:rPr>
              <a:t>The key to making risk management work for any business lies in tying technical risks to the business context in a meaningful way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5AA76-09AB-0047-87E6-D1D50C52F6D7}"/>
              </a:ext>
            </a:extLst>
          </p:cNvPr>
          <p:cNvSpPr/>
          <p:nvPr/>
        </p:nvSpPr>
        <p:spPr>
          <a:xfrm>
            <a:off x="4953000" y="226687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NewRomanPSMT" panose="02020603050405020304" pitchFamily="18" charset="0"/>
              </a:rPr>
              <a:t>The ability to discover and describe technical risks and map them (through business risks) to business goals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6B483-D1B7-3846-8D6A-E1ECAD777D90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- Five Stages </a:t>
            </a:r>
          </a:p>
        </p:txBody>
      </p:sp>
      <p:pic>
        <p:nvPicPr>
          <p:cNvPr id="7" name="Picture 1" descr="page62image23942224">
            <a:extLst>
              <a:ext uri="{FF2B5EF4-FFF2-40B4-BE49-F238E27FC236}">
                <a16:creationId xmlns:a16="http://schemas.microsoft.com/office/drawing/2014/main" id="{EA877DE4-D5D3-F648-A516-57419330C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17" y="2348383"/>
            <a:ext cx="4367895" cy="213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98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923A4-623A-D340-B9CA-411C34C1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ADC5-EFC3-464A-8D92-01E67061C7A5}"/>
              </a:ext>
            </a:extLst>
          </p:cNvPr>
          <p:cNvSpPr/>
          <p:nvPr/>
        </p:nvSpPr>
        <p:spPr>
          <a:xfrm>
            <a:off x="490653" y="1382751"/>
            <a:ext cx="4616606" cy="6690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Synthesize and Rank the Risks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A169A5-236A-C549-B8C2-99D8F9CBD4B5}"/>
              </a:ext>
            </a:extLst>
          </p:cNvPr>
          <p:cNvSpPr/>
          <p:nvPr/>
        </p:nvSpPr>
        <p:spPr>
          <a:xfrm>
            <a:off x="4519613" y="245757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NewRomanPSMT" panose="02020603050405020304" pitchFamily="18" charset="0"/>
              </a:rPr>
              <a:t>"What shall we do first given the current risk situation?"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C8492B-0A55-F14E-A965-B8C6DDED82FE}"/>
              </a:ext>
            </a:extLst>
          </p:cNvPr>
          <p:cNvSpPr/>
          <p:nvPr/>
        </p:nvSpPr>
        <p:spPr>
          <a:xfrm>
            <a:off x="4519613" y="350966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NewRomanPSMT" panose="02020603050405020304" pitchFamily="18" charset="0"/>
              </a:rPr>
              <a:t>"What is the best allocation of resources, especially in terms of risk mitigation activities?"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77B82-8597-D846-A7B9-12539F5F5100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- Five Stages </a:t>
            </a:r>
          </a:p>
        </p:txBody>
      </p:sp>
      <p:pic>
        <p:nvPicPr>
          <p:cNvPr id="7" name="Picture 1" descr="page62image23942224">
            <a:extLst>
              <a:ext uri="{FF2B5EF4-FFF2-40B4-BE49-F238E27FC236}">
                <a16:creationId xmlns:a16="http://schemas.microsoft.com/office/drawing/2014/main" id="{C2BACA56-02E8-B447-BDDF-0F43DC7FC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18" y="2359140"/>
            <a:ext cx="4367895" cy="213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8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923A4-623A-D340-B9CA-411C34C1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ADC5-EFC3-464A-8D92-01E67061C7A5}"/>
              </a:ext>
            </a:extLst>
          </p:cNvPr>
          <p:cNvSpPr/>
          <p:nvPr/>
        </p:nvSpPr>
        <p:spPr>
          <a:xfrm>
            <a:off x="490652" y="1382751"/>
            <a:ext cx="5218771" cy="6690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Define the Risk Mitigation Strategy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0D6CA-CBFF-AB42-ABE1-4A8B9991C556}"/>
              </a:ext>
            </a:extLst>
          </p:cNvPr>
          <p:cNvSpPr/>
          <p:nvPr/>
        </p:nvSpPr>
        <p:spPr>
          <a:xfrm>
            <a:off x="4953000" y="2356189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NewRomanPSMT" panose="02020603050405020304" pitchFamily="18" charset="0"/>
              </a:rPr>
              <a:t>Nobody wants to hear about their problems without hearing some suggested fixes. A risk analysis is only as good as the mitigation strategy it contains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555CE-8088-E749-9C65-E4AC4ED70495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- Five Stages </a:t>
            </a:r>
          </a:p>
        </p:txBody>
      </p:sp>
      <p:pic>
        <p:nvPicPr>
          <p:cNvPr id="6" name="Picture 1" descr="page62image23942224">
            <a:extLst>
              <a:ext uri="{FF2B5EF4-FFF2-40B4-BE49-F238E27FC236}">
                <a16:creationId xmlns:a16="http://schemas.microsoft.com/office/drawing/2014/main" id="{EAC4A93C-6FBF-5C48-945D-41B23BF8E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89" y="2356189"/>
            <a:ext cx="4367895" cy="213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47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923A4-623A-D340-B9CA-411C34C1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ADC5-EFC3-464A-8D92-01E67061C7A5}"/>
              </a:ext>
            </a:extLst>
          </p:cNvPr>
          <p:cNvSpPr/>
          <p:nvPr/>
        </p:nvSpPr>
        <p:spPr>
          <a:xfrm>
            <a:off x="490652" y="1382751"/>
            <a:ext cx="4638909" cy="6690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Carry Out Fixes and Validate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535AAC-8C37-5B4D-82DF-6E887D90E239}"/>
              </a:ext>
            </a:extLst>
          </p:cNvPr>
          <p:cNvSpPr/>
          <p:nvPr/>
        </p:nvSpPr>
        <p:spPr>
          <a:xfrm>
            <a:off x="4667126" y="229276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NewRomanPSMT" panose="02020603050405020304" pitchFamily="18" charset="0"/>
              </a:rPr>
              <a:t>Risk mitigation is carried out according to the strategy defined in stage 4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88538-49FC-C640-B93F-6A3A37A9B4D2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- Five Stages </a:t>
            </a:r>
          </a:p>
        </p:txBody>
      </p:sp>
      <p:pic>
        <p:nvPicPr>
          <p:cNvPr id="6" name="Picture 1" descr="page62image23942224">
            <a:extLst>
              <a:ext uri="{FF2B5EF4-FFF2-40B4-BE49-F238E27FC236}">
                <a16:creationId xmlns:a16="http://schemas.microsoft.com/office/drawing/2014/main" id="{DBA34575-5BA7-9442-9C5B-E790E8A61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18" y="2359140"/>
            <a:ext cx="4367895" cy="213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95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8C7657-2C93-4249-A5B1-9E61B679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742AD-21EE-5349-B44A-E15E68DB4F7C}"/>
              </a:ext>
            </a:extLst>
          </p:cNvPr>
          <p:cNvSpPr/>
          <p:nvPr/>
        </p:nvSpPr>
        <p:spPr>
          <a:xfrm>
            <a:off x="179350" y="419733"/>
            <a:ext cx="4953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2D2D2D"/>
                </a:solidFill>
                <a:latin typeface="MyriadPro"/>
              </a:rPr>
              <a:t>Security Policies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BD153E-20D0-C24E-B232-F34E7BCA34A3}"/>
              </a:ext>
            </a:extLst>
          </p:cNvPr>
          <p:cNvSpPr/>
          <p:nvPr/>
        </p:nvSpPr>
        <p:spPr>
          <a:xfrm>
            <a:off x="179350" y="229086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‘What’ needs to be protected and the possible repercussions of non-compliance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FAC72-A281-3843-87E2-BC7131FFDB68}"/>
              </a:ext>
            </a:extLst>
          </p:cNvPr>
          <p:cNvSpPr/>
          <p:nvPr/>
        </p:nvSpPr>
        <p:spPr>
          <a:xfrm>
            <a:off x="4368330" y="1091777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Legal and regulatory compliance has been evident as an important driver of information security spending and initiatives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33990A-7FAF-F141-AF34-0C75C18E2BE5}"/>
              </a:ext>
            </a:extLst>
          </p:cNvPr>
          <p:cNvSpPr/>
          <p:nvPr/>
        </p:nvSpPr>
        <p:spPr>
          <a:xfrm>
            <a:off x="558489" y="1368776"/>
            <a:ext cx="3586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D2D2D"/>
                </a:solidFill>
                <a:latin typeface="MyriadPro"/>
              </a:rPr>
              <a:t>The ‘What’ and ‘Why’ for Security? </a:t>
            </a:r>
            <a:endParaRPr lang="en-US" dirty="0"/>
          </a:p>
        </p:txBody>
      </p:sp>
      <p:sp>
        <p:nvSpPr>
          <p:cNvPr id="7" name="Cloud Callout 6">
            <a:extLst>
              <a:ext uri="{FF2B5EF4-FFF2-40B4-BE49-F238E27FC236}">
                <a16:creationId xmlns:a16="http://schemas.microsoft.com/office/drawing/2014/main" id="{C364A1A2-E27D-EC46-9180-2C2A5D0B0623}"/>
              </a:ext>
            </a:extLst>
          </p:cNvPr>
          <p:cNvSpPr/>
          <p:nvPr/>
        </p:nvSpPr>
        <p:spPr>
          <a:xfrm>
            <a:off x="2007058" y="3147575"/>
            <a:ext cx="2138247" cy="1380794"/>
          </a:xfrm>
          <a:prstGeom prst="cloudCallout">
            <a:avLst>
              <a:gd name="adj1" fmla="val 54265"/>
              <a:gd name="adj2" fmla="val 834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functional. </a:t>
            </a:r>
            <a:endParaRPr lang="en-US" b="1" dirty="0"/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3A1531FD-8765-CB4D-813E-ACAEB3495208}"/>
              </a:ext>
            </a:extLst>
          </p:cNvPr>
          <p:cNvSpPr/>
          <p:nvPr/>
        </p:nvSpPr>
        <p:spPr>
          <a:xfrm>
            <a:off x="4145305" y="5108364"/>
            <a:ext cx="1672683" cy="84957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The Scope</a:t>
            </a:r>
          </a:p>
        </p:txBody>
      </p:sp>
      <p:sp>
        <p:nvSpPr>
          <p:cNvPr id="9" name="Cloud Callout 8">
            <a:extLst>
              <a:ext uri="{FF2B5EF4-FFF2-40B4-BE49-F238E27FC236}">
                <a16:creationId xmlns:a16="http://schemas.microsoft.com/office/drawing/2014/main" id="{7B8AF52F-D54A-B248-BB04-9F0FB9C471DD}"/>
              </a:ext>
            </a:extLst>
          </p:cNvPr>
          <p:cNvSpPr/>
          <p:nvPr/>
        </p:nvSpPr>
        <p:spPr>
          <a:xfrm>
            <a:off x="5132350" y="3212954"/>
            <a:ext cx="2740411" cy="1333120"/>
          </a:xfrm>
          <a:prstGeom prst="cloudCallout">
            <a:avLst>
              <a:gd name="adj1" fmla="val -50131"/>
              <a:gd name="adj2" fmla="val 875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Organizational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323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8C7657-2C93-4249-A5B1-9E61B679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742AD-21EE-5349-B44A-E15E68DB4F7C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pic>
        <p:nvPicPr>
          <p:cNvPr id="4097" name="Picture 1" descr="page57image23985392">
            <a:extLst>
              <a:ext uri="{FF2B5EF4-FFF2-40B4-BE49-F238E27FC236}">
                <a16:creationId xmlns:a16="http://schemas.microsoft.com/office/drawing/2014/main" id="{570340C3-FBD7-E848-933D-D8DD7DEF2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610" y="1650380"/>
            <a:ext cx="7702489" cy="418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54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8C7657-2C93-4249-A5B1-9E61B679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742AD-21EE-5349-B44A-E15E68DB4F7C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31BFFA-B5EB-6F43-BAFC-B6E0F19060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0" b="5324"/>
          <a:stretch/>
        </p:blipFill>
        <p:spPr>
          <a:xfrm>
            <a:off x="1387517" y="1032733"/>
            <a:ext cx="3860641" cy="5119223"/>
          </a:xfrm>
          <a:prstGeom prst="rect">
            <a:avLst/>
          </a:prstGeom>
        </p:spPr>
      </p:pic>
      <p:sp>
        <p:nvSpPr>
          <p:cNvPr id="14" name="Alternate Process 13">
            <a:extLst>
              <a:ext uri="{FF2B5EF4-FFF2-40B4-BE49-F238E27FC236}">
                <a16:creationId xmlns:a16="http://schemas.microsoft.com/office/drawing/2014/main" id="{7CDB8502-4C5F-D648-9074-C8E72493FFDE}"/>
              </a:ext>
            </a:extLst>
          </p:cNvPr>
          <p:cNvSpPr/>
          <p:nvPr/>
        </p:nvSpPr>
        <p:spPr>
          <a:xfrm>
            <a:off x="5746479" y="1292684"/>
            <a:ext cx="2612213" cy="417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NIST Standard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3E7830-0857-524B-AB66-8464737C4588}"/>
              </a:ext>
            </a:extLst>
          </p:cNvPr>
          <p:cNvSpPr/>
          <p:nvPr/>
        </p:nvSpPr>
        <p:spPr>
          <a:xfrm>
            <a:off x="4936370" y="1996447"/>
            <a:ext cx="4969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</a:rPr>
              <a:t>The National Institute of Standards and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48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8C7657-2C93-4249-A5B1-9E61B679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742AD-21EE-5349-B44A-E15E68DB4F7C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57A4242F-3B72-EB43-ABFF-648B2E7CD610}"/>
              </a:ext>
            </a:extLst>
          </p:cNvPr>
          <p:cNvSpPr/>
          <p:nvPr/>
        </p:nvSpPr>
        <p:spPr>
          <a:xfrm>
            <a:off x="213033" y="1312169"/>
            <a:ext cx="5419029" cy="82519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Federal Information Processing (FIPS) standards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67EA6E-06D1-2A4C-8FFE-F2C31A719B1C}"/>
              </a:ext>
            </a:extLst>
          </p:cNvPr>
          <p:cNvSpPr/>
          <p:nvPr/>
        </p:nvSpPr>
        <p:spPr>
          <a:xfrm>
            <a:off x="446047" y="2273276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Developed by </a:t>
            </a:r>
            <a:r>
              <a:rPr lang="en-US" b="1" dirty="0"/>
              <a:t>NIST</a:t>
            </a:r>
            <a:r>
              <a:rPr lang="en-US" dirty="0"/>
              <a:t> for U.S. government agencies and contractors to ensure strong security and interoperability in information system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DE2AA37-3D8A-A545-BAD2-7F9BFCF0F5AF}"/>
              </a:ext>
            </a:extLst>
          </p:cNvPr>
          <p:cNvSpPr/>
          <p:nvPr/>
        </p:nvSpPr>
        <p:spPr>
          <a:xfrm>
            <a:off x="5632062" y="2512498"/>
            <a:ext cx="1103275" cy="58754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Level 1</a:t>
            </a:r>
            <a:endParaRPr lang="en-US" dirty="0"/>
          </a:p>
        </p:txBody>
      </p:sp>
      <p:sp>
        <p:nvSpPr>
          <p:cNvPr id="14" name="Alternate Process 13">
            <a:extLst>
              <a:ext uri="{FF2B5EF4-FFF2-40B4-BE49-F238E27FC236}">
                <a16:creationId xmlns:a16="http://schemas.microsoft.com/office/drawing/2014/main" id="{A7078F50-4BD6-954B-86AB-5D599ECFE02D}"/>
              </a:ext>
            </a:extLst>
          </p:cNvPr>
          <p:cNvSpPr/>
          <p:nvPr/>
        </p:nvSpPr>
        <p:spPr>
          <a:xfrm>
            <a:off x="5614175" y="4507588"/>
            <a:ext cx="1103275" cy="58754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Level 3</a:t>
            </a:r>
            <a:endParaRPr lang="en-US" dirty="0"/>
          </a:p>
        </p:txBody>
      </p:sp>
      <p:sp>
        <p:nvSpPr>
          <p:cNvPr id="15" name="Alternate Process 14">
            <a:extLst>
              <a:ext uri="{FF2B5EF4-FFF2-40B4-BE49-F238E27FC236}">
                <a16:creationId xmlns:a16="http://schemas.microsoft.com/office/drawing/2014/main" id="{BC099801-7E36-484F-A18C-A1BDE04DA276}"/>
              </a:ext>
            </a:extLst>
          </p:cNvPr>
          <p:cNvSpPr/>
          <p:nvPr/>
        </p:nvSpPr>
        <p:spPr>
          <a:xfrm>
            <a:off x="5604881" y="3510043"/>
            <a:ext cx="1103275" cy="58754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Level 2</a:t>
            </a:r>
            <a:endParaRPr lang="en-US" dirty="0"/>
          </a:p>
        </p:txBody>
      </p:sp>
      <p:sp>
        <p:nvSpPr>
          <p:cNvPr id="16" name="Alternate Process 15">
            <a:extLst>
              <a:ext uri="{FF2B5EF4-FFF2-40B4-BE49-F238E27FC236}">
                <a16:creationId xmlns:a16="http://schemas.microsoft.com/office/drawing/2014/main" id="{F78CE42B-2181-8C42-AE16-967B48055D99}"/>
              </a:ext>
            </a:extLst>
          </p:cNvPr>
          <p:cNvSpPr/>
          <p:nvPr/>
        </p:nvSpPr>
        <p:spPr>
          <a:xfrm>
            <a:off x="5621260" y="5523250"/>
            <a:ext cx="1103275" cy="58754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Level 4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243C6B-10DF-8E4E-A7B2-D0E7BD7EA2B1}"/>
              </a:ext>
            </a:extLst>
          </p:cNvPr>
          <p:cNvSpPr/>
          <p:nvPr/>
        </p:nvSpPr>
        <p:spPr>
          <a:xfrm>
            <a:off x="6708156" y="2504820"/>
            <a:ext cx="3197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Basic security, software-only encryption allowed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1481AE-2144-0B4C-804E-05D5A8448AFB}"/>
              </a:ext>
            </a:extLst>
          </p:cNvPr>
          <p:cNvSpPr/>
          <p:nvPr/>
        </p:nvSpPr>
        <p:spPr>
          <a:xfrm>
            <a:off x="6708156" y="3367704"/>
            <a:ext cx="31978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Includes role-based authentication and tamper-evidence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97AFD-8C38-7942-9AE0-1A3193B8958F}"/>
              </a:ext>
            </a:extLst>
          </p:cNvPr>
          <p:cNvSpPr/>
          <p:nvPr/>
        </p:nvSpPr>
        <p:spPr>
          <a:xfrm>
            <a:off x="6708156" y="4377872"/>
            <a:ext cx="31978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Requires physical tamper-resistance and identity-based authentication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F70632-B90D-2940-81B5-3636FD48EAEF}"/>
              </a:ext>
            </a:extLst>
          </p:cNvPr>
          <p:cNvSpPr/>
          <p:nvPr/>
        </p:nvSpPr>
        <p:spPr>
          <a:xfrm>
            <a:off x="6735337" y="5430918"/>
            <a:ext cx="31706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Offers highest security with environmental attack resistance.</a:t>
            </a:r>
          </a:p>
        </p:txBody>
      </p:sp>
    </p:spTree>
    <p:extLst>
      <p:ext uri="{BB962C8B-B14F-4D97-AF65-F5344CB8AC3E}">
        <p14:creationId xmlns:p14="http://schemas.microsoft.com/office/powerpoint/2010/main" val="112262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8C7657-2C93-4249-A5B1-9E61B679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6742AD-21EE-5349-B44A-E15E68DB4F7C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pic>
        <p:nvPicPr>
          <p:cNvPr id="5125" name="Picture 5" descr="page63image23649392">
            <a:extLst>
              <a:ext uri="{FF2B5EF4-FFF2-40B4-BE49-F238E27FC236}">
                <a16:creationId xmlns:a16="http://schemas.microsoft.com/office/drawing/2014/main" id="{25CD6A86-F23A-434E-8B44-D8DEA387E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80" y="2316611"/>
            <a:ext cx="8773827" cy="294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86DEA88A-16F9-254A-993B-1F8E084E68CC}"/>
              </a:ext>
            </a:extLst>
          </p:cNvPr>
          <p:cNvSpPr/>
          <p:nvPr/>
        </p:nvSpPr>
        <p:spPr>
          <a:xfrm>
            <a:off x="646771" y="1204332"/>
            <a:ext cx="5687122" cy="55756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/>
              <a:t>SP 800-30: Risk Management Guide for IT</a:t>
            </a:r>
            <a:br>
              <a:rPr lang="en-US" sz="2000" b="1" i="1" dirty="0"/>
            </a:br>
            <a:endParaRPr lang="en-US" sz="2000" i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554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71023-FCF0-0645-8529-4383241A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3387F-0F71-C141-9F98-B9D890518BF3}"/>
              </a:ext>
            </a:extLst>
          </p:cNvPr>
          <p:cNvSpPr/>
          <p:nvPr/>
        </p:nvSpPr>
        <p:spPr>
          <a:xfrm>
            <a:off x="175358" y="1259418"/>
            <a:ext cx="23472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MyriadPro"/>
              </a:rPr>
              <a:t>ISO Standards 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6933E-289C-874E-8FFE-4AFD7C6A591D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AD9693-2441-EF4B-B170-34E78297D7CC}"/>
              </a:ext>
            </a:extLst>
          </p:cNvPr>
          <p:cNvSpPr/>
          <p:nvPr/>
        </p:nvSpPr>
        <p:spPr>
          <a:xfrm>
            <a:off x="713757" y="177997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Primary body that develops International Standards for all industry sectors </a:t>
            </a:r>
            <a:endParaRPr lang="en-US" dirty="0"/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261CB52-CD35-894B-9099-C93A30A1D7D8}"/>
              </a:ext>
            </a:extLst>
          </p:cNvPr>
          <p:cNvSpPr/>
          <p:nvPr/>
        </p:nvSpPr>
        <p:spPr>
          <a:xfrm>
            <a:off x="5999356" y="1782638"/>
            <a:ext cx="2542478" cy="53681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7D3FE8-3CFC-7F4A-9156-38874CC44281}"/>
              </a:ext>
            </a:extLst>
          </p:cNvPr>
          <p:cNvSpPr/>
          <p:nvPr/>
        </p:nvSpPr>
        <p:spPr>
          <a:xfrm>
            <a:off x="6197448" y="2428191"/>
            <a:ext cx="24348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GaramondPro"/>
              </a:rPr>
              <a:t>Electrotechnology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GaramondPro"/>
              </a:rPr>
              <a:t>Telecommunications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9D86AB-CBA6-CC42-9967-75378546B9DD}"/>
              </a:ext>
            </a:extLst>
          </p:cNvPr>
          <p:cNvSpPr/>
          <p:nvPr/>
        </p:nvSpPr>
        <p:spPr>
          <a:xfrm>
            <a:off x="5999356" y="3375938"/>
            <a:ext cx="35909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Electrotechnology standards are developed by International Electrotechnical Commission (IEC) and telecommunication standards are developed by the International Telecommunications Union (ITU)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BBA9B6-603F-234B-AE22-B87FFA8B9416}"/>
              </a:ext>
            </a:extLst>
          </p:cNvPr>
          <p:cNvSpPr/>
          <p:nvPr/>
        </p:nvSpPr>
        <p:spPr>
          <a:xfrm>
            <a:off x="713757" y="2531910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MyriadPro"/>
              </a:rPr>
              <a:t>ISO/IEC 15408 – </a:t>
            </a:r>
            <a:r>
              <a:rPr lang="en-US" b="1" i="1" dirty="0">
                <a:latin typeface="MyriadPro"/>
              </a:rPr>
              <a:t>Evaluating Criteria for</a:t>
            </a:r>
            <a:br>
              <a:rPr lang="en-US" b="1" i="1" dirty="0">
                <a:latin typeface="MyriadPro"/>
              </a:rPr>
            </a:br>
            <a:r>
              <a:rPr lang="en-US" b="1" i="1" dirty="0">
                <a:latin typeface="MyriadPro"/>
              </a:rPr>
              <a:t>IT Security (Common Criteria)</a:t>
            </a:r>
            <a:br>
              <a:rPr lang="en-US" b="1" i="1" dirty="0">
                <a:latin typeface="MyriadPro"/>
              </a:rPr>
            </a:b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9B6F93-1736-4A47-81A9-221601DA8696}"/>
              </a:ext>
            </a:extLst>
          </p:cNvPr>
          <p:cNvSpPr/>
          <p:nvPr/>
        </p:nvSpPr>
        <p:spPr>
          <a:xfrm>
            <a:off x="713757" y="326925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latin typeface="MyriadPro"/>
              </a:rPr>
              <a:t>The ISO/IEC 15408 Standard and Software Security 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C7175-94E3-9D40-AD62-FF7EDD337021}"/>
              </a:ext>
            </a:extLst>
          </p:cNvPr>
          <p:cNvSpPr/>
          <p:nvPr/>
        </p:nvSpPr>
        <p:spPr>
          <a:xfrm>
            <a:off x="713757" y="3929935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MyriadPro"/>
              </a:rPr>
              <a:t>ISO/IEC 21827:2008 – </a:t>
            </a:r>
            <a:r>
              <a:rPr lang="en-US" b="1" i="1" dirty="0">
                <a:latin typeface="MyriadPro"/>
              </a:rPr>
              <a:t>Systems Security Engineering Capability Maturity Model® (SSE-CMM®)</a:t>
            </a:r>
            <a:br>
              <a:rPr lang="en-US" b="1" i="1" dirty="0">
                <a:latin typeface="MyriadPro"/>
              </a:rPr>
            </a:b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B5EC49-5AE1-9A4B-82A2-CAEDBFADA3D7}"/>
              </a:ext>
            </a:extLst>
          </p:cNvPr>
          <p:cNvSpPr/>
          <p:nvPr/>
        </p:nvSpPr>
        <p:spPr>
          <a:xfrm>
            <a:off x="713757" y="480709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MyriadPro"/>
              </a:rPr>
              <a:t>ISO/IEC 25000:2005 – </a:t>
            </a:r>
            <a:r>
              <a:rPr lang="en-US" b="1" i="1" dirty="0">
                <a:latin typeface="MyriadPro"/>
              </a:rPr>
              <a:t>Software Engineering Product Quality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EA47DE-20AD-C943-8401-48DC7CB9D6B4}"/>
              </a:ext>
            </a:extLst>
          </p:cNvPr>
          <p:cNvSpPr/>
          <p:nvPr/>
        </p:nvSpPr>
        <p:spPr>
          <a:xfrm>
            <a:off x="713757" y="5453429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MyriadPro"/>
              </a:rPr>
              <a:t>ISO/IEC 27000:2009 – </a:t>
            </a:r>
            <a:r>
              <a:rPr lang="en-US" b="1" i="1" dirty="0">
                <a:latin typeface="MyriadPro"/>
              </a:rPr>
              <a:t>Information Security Management System (ISMS) Overview and Vocabulary</a:t>
            </a:r>
            <a:br>
              <a:rPr lang="en-US" b="1" i="1" dirty="0">
                <a:latin typeface="MyriadPro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8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18E21-5FB7-4049-B054-DE8FADD2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D0153-1FC9-CA40-A9C7-76DDD1DA0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50" y="1860550"/>
            <a:ext cx="51181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1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71023-FCF0-0645-8529-4383241A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3387F-0F71-C141-9F98-B9D890518BF3}"/>
              </a:ext>
            </a:extLst>
          </p:cNvPr>
          <p:cNvSpPr/>
          <p:nvPr/>
        </p:nvSpPr>
        <p:spPr>
          <a:xfrm>
            <a:off x="175358" y="1259418"/>
            <a:ext cx="81451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Payment Card Industry Data Security Standard (PCI DSS)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6933E-289C-874E-8FFE-4AFD7C6A591D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sp>
        <p:nvSpPr>
          <p:cNvPr id="14" name="Alternate Process 13">
            <a:extLst>
              <a:ext uri="{FF2B5EF4-FFF2-40B4-BE49-F238E27FC236}">
                <a16:creationId xmlns:a16="http://schemas.microsoft.com/office/drawing/2014/main" id="{32D9984D-364A-4341-81FD-3F66E52EEB3C}"/>
              </a:ext>
            </a:extLst>
          </p:cNvPr>
          <p:cNvSpPr/>
          <p:nvPr/>
        </p:nvSpPr>
        <p:spPr>
          <a:xfrm>
            <a:off x="691376" y="2096429"/>
            <a:ext cx="4103648" cy="53525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Build and Maintain a Secure Network </a:t>
            </a:r>
            <a:endParaRPr lang="en-US" dirty="0">
              <a:effectLst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783FDB-3C68-BF46-808A-FE3379249988}"/>
              </a:ext>
            </a:extLst>
          </p:cNvPr>
          <p:cNvSpPr/>
          <p:nvPr/>
        </p:nvSpPr>
        <p:spPr>
          <a:xfrm>
            <a:off x="1100506" y="2784422"/>
            <a:ext cx="1642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MyriadPro"/>
              </a:rPr>
              <a:t>Requirement 1 </a:t>
            </a:r>
            <a:endParaRPr lang="en-US" dirty="0"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BB40F0-40D2-C34F-8EFE-D3C68589D387}"/>
              </a:ext>
            </a:extLst>
          </p:cNvPr>
          <p:cNvSpPr/>
          <p:nvPr/>
        </p:nvSpPr>
        <p:spPr>
          <a:xfrm>
            <a:off x="3157538" y="271743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MyriadPro"/>
              </a:rPr>
              <a:t>Install and maintain a firewall configuration to protect cardholder data </a:t>
            </a:r>
            <a:endParaRPr lang="en-US" dirty="0"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1BEC22-F5D9-6549-A610-4E3BEC8D73A1}"/>
              </a:ext>
            </a:extLst>
          </p:cNvPr>
          <p:cNvSpPr/>
          <p:nvPr/>
        </p:nvSpPr>
        <p:spPr>
          <a:xfrm>
            <a:off x="1100506" y="3484719"/>
            <a:ext cx="1642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MyriadPro"/>
              </a:rPr>
              <a:t>Requirement 2 </a:t>
            </a:r>
            <a:endParaRPr lang="en-US" dirty="0"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734E06-CDB8-D145-BEA0-4597D8606A35}"/>
              </a:ext>
            </a:extLst>
          </p:cNvPr>
          <p:cNvSpPr/>
          <p:nvPr/>
        </p:nvSpPr>
        <p:spPr>
          <a:xfrm>
            <a:off x="3157538" y="3449511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MyriadPro"/>
              </a:rPr>
              <a:t>Do not use vendor-supplied defaults for system passwords &amp; other security parameters </a:t>
            </a:r>
            <a:endParaRPr lang="en-US" dirty="0">
              <a:effectLst/>
            </a:endParaRPr>
          </a:p>
        </p:txBody>
      </p:sp>
      <p:sp>
        <p:nvSpPr>
          <p:cNvPr id="20" name="Alternate Process 19">
            <a:extLst>
              <a:ext uri="{FF2B5EF4-FFF2-40B4-BE49-F238E27FC236}">
                <a16:creationId xmlns:a16="http://schemas.microsoft.com/office/drawing/2014/main" id="{33BD8617-7EF3-6246-842F-0F160F9E5CFD}"/>
              </a:ext>
            </a:extLst>
          </p:cNvPr>
          <p:cNvSpPr/>
          <p:nvPr/>
        </p:nvSpPr>
        <p:spPr>
          <a:xfrm>
            <a:off x="691376" y="4181588"/>
            <a:ext cx="2899317" cy="53525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Protect Cardholder Data </a:t>
            </a:r>
            <a:endParaRPr lang="en-US" dirty="0">
              <a:effectLst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0F2616-AF68-E148-9074-EAC7C5E61D75}"/>
              </a:ext>
            </a:extLst>
          </p:cNvPr>
          <p:cNvSpPr/>
          <p:nvPr/>
        </p:nvSpPr>
        <p:spPr>
          <a:xfrm>
            <a:off x="1100506" y="4881885"/>
            <a:ext cx="1642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MyriadPro"/>
              </a:rPr>
              <a:t>Requirement 3 </a:t>
            </a:r>
            <a:endParaRPr lang="en-US" dirty="0">
              <a:effectLst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1C5CC1-6A56-004C-9863-393BEA818724}"/>
              </a:ext>
            </a:extLst>
          </p:cNvPr>
          <p:cNvSpPr/>
          <p:nvPr/>
        </p:nvSpPr>
        <p:spPr>
          <a:xfrm>
            <a:off x="3157538" y="4802593"/>
            <a:ext cx="3110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MyriadPro"/>
              </a:rPr>
              <a:t>Protect stored cardholder data </a:t>
            </a:r>
            <a:endParaRPr lang="en-US" dirty="0">
              <a:effectLst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DF5D77-3D33-2845-AFB8-249C31686DB8}"/>
              </a:ext>
            </a:extLst>
          </p:cNvPr>
          <p:cNvSpPr/>
          <p:nvPr/>
        </p:nvSpPr>
        <p:spPr>
          <a:xfrm>
            <a:off x="1100506" y="5560015"/>
            <a:ext cx="1642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MyriadPro"/>
              </a:rPr>
              <a:t>Requirement 4 </a:t>
            </a:r>
            <a:endParaRPr lang="en-US" dirty="0">
              <a:effectLst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A886DE-0D02-7741-8C58-616C9FF3BFCE}"/>
              </a:ext>
            </a:extLst>
          </p:cNvPr>
          <p:cNvSpPr/>
          <p:nvPr/>
        </p:nvSpPr>
        <p:spPr>
          <a:xfrm>
            <a:off x="3157538" y="542359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MyriadPro"/>
              </a:rPr>
              <a:t>Encrypt transmission of cardholder data across open, public networks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7671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71023-FCF0-0645-8529-4383241A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3387F-0F71-C141-9F98-B9D890518BF3}"/>
              </a:ext>
            </a:extLst>
          </p:cNvPr>
          <p:cNvSpPr/>
          <p:nvPr/>
        </p:nvSpPr>
        <p:spPr>
          <a:xfrm>
            <a:off x="175358" y="1259418"/>
            <a:ext cx="81451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Payment Card Industry Data Security Standard (PCI DSS)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6933E-289C-874E-8FFE-4AFD7C6A591D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sp>
        <p:nvSpPr>
          <p:cNvPr id="14" name="Alternate Process 13">
            <a:extLst>
              <a:ext uri="{FF2B5EF4-FFF2-40B4-BE49-F238E27FC236}">
                <a16:creationId xmlns:a16="http://schemas.microsoft.com/office/drawing/2014/main" id="{32D9984D-364A-4341-81FD-3F66E52EEB3C}"/>
              </a:ext>
            </a:extLst>
          </p:cNvPr>
          <p:cNvSpPr/>
          <p:nvPr/>
        </p:nvSpPr>
        <p:spPr>
          <a:xfrm>
            <a:off x="691375" y="2096429"/>
            <a:ext cx="5263375" cy="53525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Maintain a Vulnerability Management Program </a:t>
            </a:r>
            <a:endParaRPr lang="en-US" dirty="0">
              <a:effectLst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783FDB-3C68-BF46-808A-FE3379249988}"/>
              </a:ext>
            </a:extLst>
          </p:cNvPr>
          <p:cNvSpPr/>
          <p:nvPr/>
        </p:nvSpPr>
        <p:spPr>
          <a:xfrm>
            <a:off x="1100506" y="2784422"/>
            <a:ext cx="1798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Requirement 5 </a:t>
            </a:r>
            <a:endParaRPr lang="en-US" dirty="0"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BB40F0-40D2-C34F-8EFE-D3C68589D387}"/>
              </a:ext>
            </a:extLst>
          </p:cNvPr>
          <p:cNvSpPr/>
          <p:nvPr/>
        </p:nvSpPr>
        <p:spPr>
          <a:xfrm>
            <a:off x="3157538" y="2806284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Use and regularly update anti-virus software </a:t>
            </a:r>
            <a:endParaRPr lang="en-US" dirty="0"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1BEC22-F5D9-6549-A610-4E3BEC8D73A1}"/>
              </a:ext>
            </a:extLst>
          </p:cNvPr>
          <p:cNvSpPr/>
          <p:nvPr/>
        </p:nvSpPr>
        <p:spPr>
          <a:xfrm>
            <a:off x="1100506" y="3484719"/>
            <a:ext cx="1798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Requirement 6 </a:t>
            </a:r>
            <a:endParaRPr lang="en-US" dirty="0"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734E06-CDB8-D145-BEA0-4597D8606A35}"/>
              </a:ext>
            </a:extLst>
          </p:cNvPr>
          <p:cNvSpPr/>
          <p:nvPr/>
        </p:nvSpPr>
        <p:spPr>
          <a:xfrm>
            <a:off x="3157538" y="3449511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Develop and maintain secure systems and applications </a:t>
            </a:r>
            <a:endParaRPr lang="en-US" dirty="0">
              <a:effectLst/>
            </a:endParaRPr>
          </a:p>
        </p:txBody>
      </p:sp>
      <p:sp>
        <p:nvSpPr>
          <p:cNvPr id="20" name="Alternate Process 19">
            <a:extLst>
              <a:ext uri="{FF2B5EF4-FFF2-40B4-BE49-F238E27FC236}">
                <a16:creationId xmlns:a16="http://schemas.microsoft.com/office/drawing/2014/main" id="{33BD8617-7EF3-6246-842F-0F160F9E5CFD}"/>
              </a:ext>
            </a:extLst>
          </p:cNvPr>
          <p:cNvSpPr/>
          <p:nvPr/>
        </p:nvSpPr>
        <p:spPr>
          <a:xfrm>
            <a:off x="691376" y="4181588"/>
            <a:ext cx="4839629" cy="53525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Implement Strong Access Control Measures </a:t>
            </a:r>
            <a:endParaRPr lang="en-US" dirty="0">
              <a:effectLst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0F2616-AF68-E148-9074-EAC7C5E61D75}"/>
              </a:ext>
            </a:extLst>
          </p:cNvPr>
          <p:cNvSpPr/>
          <p:nvPr/>
        </p:nvSpPr>
        <p:spPr>
          <a:xfrm>
            <a:off x="1100506" y="4881885"/>
            <a:ext cx="1798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Requirement 7 </a:t>
            </a:r>
            <a:endParaRPr lang="en-US" dirty="0">
              <a:effectLst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1C5CC1-6A56-004C-9863-393BEA818724}"/>
              </a:ext>
            </a:extLst>
          </p:cNvPr>
          <p:cNvSpPr/>
          <p:nvPr/>
        </p:nvSpPr>
        <p:spPr>
          <a:xfrm>
            <a:off x="3157538" y="4802593"/>
            <a:ext cx="3510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Restrict access to cardholder data</a:t>
            </a:r>
            <a:endParaRPr lang="en-US" dirty="0">
              <a:effectLst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DF5D77-3D33-2845-AFB8-249C31686DB8}"/>
              </a:ext>
            </a:extLst>
          </p:cNvPr>
          <p:cNvSpPr/>
          <p:nvPr/>
        </p:nvSpPr>
        <p:spPr>
          <a:xfrm>
            <a:off x="1100506" y="5375349"/>
            <a:ext cx="1798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Requirement 8 </a:t>
            </a:r>
            <a:endParaRPr lang="en-US" dirty="0">
              <a:effectLst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A886DE-0D02-7741-8C58-616C9FF3BFCE}"/>
              </a:ext>
            </a:extLst>
          </p:cNvPr>
          <p:cNvSpPr/>
          <p:nvPr/>
        </p:nvSpPr>
        <p:spPr>
          <a:xfrm>
            <a:off x="3157538" y="5258132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Assign a unique ID to each person with computer access </a:t>
            </a:r>
            <a:endParaRPr lang="en-US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C7AEFA-8C31-754E-8460-451894EEEA7A}"/>
              </a:ext>
            </a:extLst>
          </p:cNvPr>
          <p:cNvSpPr/>
          <p:nvPr/>
        </p:nvSpPr>
        <p:spPr>
          <a:xfrm>
            <a:off x="1100506" y="5888507"/>
            <a:ext cx="1642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MyriadPro"/>
              </a:rPr>
              <a:t>Requirement 9 </a:t>
            </a:r>
            <a:endParaRPr lang="en-US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E67214-89A7-6443-B738-BAAFD363A4EB}"/>
              </a:ext>
            </a:extLst>
          </p:cNvPr>
          <p:cNvSpPr/>
          <p:nvPr/>
        </p:nvSpPr>
        <p:spPr>
          <a:xfrm>
            <a:off x="3111190" y="5878676"/>
            <a:ext cx="41858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MyriadPro"/>
              </a:rPr>
              <a:t>Restrict physical access to cardholder data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8743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71023-FCF0-0645-8529-4383241A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3387F-0F71-C141-9F98-B9D890518BF3}"/>
              </a:ext>
            </a:extLst>
          </p:cNvPr>
          <p:cNvSpPr/>
          <p:nvPr/>
        </p:nvSpPr>
        <p:spPr>
          <a:xfrm>
            <a:off x="175358" y="1259418"/>
            <a:ext cx="81451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Payment Card Industry Data Security Standard (PCI DSS)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26933E-289C-874E-8FFE-4AFD7C6A591D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sp>
        <p:nvSpPr>
          <p:cNvPr id="14" name="Alternate Process 13">
            <a:extLst>
              <a:ext uri="{FF2B5EF4-FFF2-40B4-BE49-F238E27FC236}">
                <a16:creationId xmlns:a16="http://schemas.microsoft.com/office/drawing/2014/main" id="{32D9984D-364A-4341-81FD-3F66E52EEB3C}"/>
              </a:ext>
            </a:extLst>
          </p:cNvPr>
          <p:cNvSpPr/>
          <p:nvPr/>
        </p:nvSpPr>
        <p:spPr>
          <a:xfrm>
            <a:off x="691375" y="2096429"/>
            <a:ext cx="4261625" cy="53525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Regularly Monitor and Test Networks </a:t>
            </a:r>
            <a:endParaRPr lang="en-US" dirty="0">
              <a:effectLst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783FDB-3C68-BF46-808A-FE3379249988}"/>
              </a:ext>
            </a:extLst>
          </p:cNvPr>
          <p:cNvSpPr/>
          <p:nvPr/>
        </p:nvSpPr>
        <p:spPr>
          <a:xfrm>
            <a:off x="1100506" y="2784422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Requirement 10 </a:t>
            </a:r>
            <a:endParaRPr lang="en-US" dirty="0"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BB40F0-40D2-C34F-8EFE-D3C68589D387}"/>
              </a:ext>
            </a:extLst>
          </p:cNvPr>
          <p:cNvSpPr/>
          <p:nvPr/>
        </p:nvSpPr>
        <p:spPr>
          <a:xfrm>
            <a:off x="3157538" y="280628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Track and monitor all access to network resources and cardholder data </a:t>
            </a:r>
            <a:endParaRPr lang="en-US" dirty="0"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1BEC22-F5D9-6549-A610-4E3BEC8D73A1}"/>
              </a:ext>
            </a:extLst>
          </p:cNvPr>
          <p:cNvSpPr/>
          <p:nvPr/>
        </p:nvSpPr>
        <p:spPr>
          <a:xfrm>
            <a:off x="1100506" y="3484719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Requirement 11 </a:t>
            </a:r>
            <a:endParaRPr lang="en-US" dirty="0"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734E06-CDB8-D145-BEA0-4597D8606A35}"/>
              </a:ext>
            </a:extLst>
          </p:cNvPr>
          <p:cNvSpPr/>
          <p:nvPr/>
        </p:nvSpPr>
        <p:spPr>
          <a:xfrm>
            <a:off x="3157538" y="3511932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Regularly test security systems and processes </a:t>
            </a:r>
            <a:endParaRPr lang="en-US" dirty="0">
              <a:effectLst/>
            </a:endParaRPr>
          </a:p>
        </p:txBody>
      </p:sp>
      <p:sp>
        <p:nvSpPr>
          <p:cNvPr id="20" name="Alternate Process 19">
            <a:extLst>
              <a:ext uri="{FF2B5EF4-FFF2-40B4-BE49-F238E27FC236}">
                <a16:creationId xmlns:a16="http://schemas.microsoft.com/office/drawing/2014/main" id="{33BD8617-7EF3-6246-842F-0F160F9E5CFD}"/>
              </a:ext>
            </a:extLst>
          </p:cNvPr>
          <p:cNvSpPr/>
          <p:nvPr/>
        </p:nvSpPr>
        <p:spPr>
          <a:xfrm>
            <a:off x="691376" y="4181588"/>
            <a:ext cx="4527395" cy="53525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Maintain an Information Security Policy </a:t>
            </a:r>
            <a:endParaRPr lang="en-US" dirty="0">
              <a:effectLst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0F2616-AF68-E148-9074-EAC7C5E61D75}"/>
              </a:ext>
            </a:extLst>
          </p:cNvPr>
          <p:cNvSpPr/>
          <p:nvPr/>
        </p:nvSpPr>
        <p:spPr>
          <a:xfrm>
            <a:off x="1100506" y="4881885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Requirement 12 </a:t>
            </a:r>
            <a:endParaRPr lang="en-US" dirty="0">
              <a:effectLst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1C5CC1-6A56-004C-9863-393BEA818724}"/>
              </a:ext>
            </a:extLst>
          </p:cNvPr>
          <p:cNvSpPr/>
          <p:nvPr/>
        </p:nvSpPr>
        <p:spPr>
          <a:xfrm>
            <a:off x="3157538" y="4909098"/>
            <a:ext cx="5455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Maintain a policy that addresses information security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75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7A592-DD07-4740-9278-DB13E6E4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977A3-7B02-AC43-8AB4-7D49499170CF}"/>
              </a:ext>
            </a:extLst>
          </p:cNvPr>
          <p:cNvSpPr/>
          <p:nvPr/>
        </p:nvSpPr>
        <p:spPr>
          <a:xfrm>
            <a:off x="0" y="1447570"/>
            <a:ext cx="6429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MyriadPro"/>
              </a:rPr>
              <a:t>Open Web Application Security Project (OWASP) 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BB26BF-2CF5-B746-AD58-C96AD71FF3F8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029B61C3-C84E-3745-BC18-2EBD2138DE59}"/>
              </a:ext>
            </a:extLst>
          </p:cNvPr>
          <p:cNvSpPr/>
          <p:nvPr/>
        </p:nvSpPr>
        <p:spPr>
          <a:xfrm>
            <a:off x="3028933" y="3057087"/>
            <a:ext cx="4172415" cy="69137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The OWASP Development Guide </a:t>
            </a:r>
            <a:endParaRPr lang="en-US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43C90D-9DF2-B54E-80CC-8331393DD873}"/>
              </a:ext>
            </a:extLst>
          </p:cNvPr>
          <p:cNvSpPr/>
          <p:nvPr/>
        </p:nvSpPr>
        <p:spPr>
          <a:xfrm>
            <a:off x="4271963" y="4163754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Comprehensive manual for designing, developing and deploying secure web applications and web services </a:t>
            </a:r>
            <a:endParaRPr lang="en-US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6057F-440B-0741-AA06-6D521A48B898}"/>
              </a:ext>
            </a:extLst>
          </p:cNvPr>
          <p:cNvSpPr/>
          <p:nvPr/>
        </p:nvSpPr>
        <p:spPr>
          <a:xfrm>
            <a:off x="4271963" y="529472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target audiences for this guide are architects, developers, consultants and auditors </a:t>
            </a:r>
            <a:endParaRPr lang="en-US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E9F588-C78D-C344-9AB8-B35E45BDF788}"/>
              </a:ext>
            </a:extLst>
          </p:cNvPr>
          <p:cNvSpPr/>
          <p:nvPr/>
        </p:nvSpPr>
        <p:spPr>
          <a:xfrm>
            <a:off x="352102" y="2001360"/>
            <a:ext cx="7156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Worldwide free and open community that is focused on application security and predominantly web application security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24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7A592-DD07-4740-9278-DB13E6E4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977A3-7B02-AC43-8AB4-7D49499170CF}"/>
              </a:ext>
            </a:extLst>
          </p:cNvPr>
          <p:cNvSpPr/>
          <p:nvPr/>
        </p:nvSpPr>
        <p:spPr>
          <a:xfrm>
            <a:off x="0" y="1447570"/>
            <a:ext cx="6429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MyriadPro"/>
              </a:rPr>
              <a:t>Open Web Application Security Project (OWASP) 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BB26BF-2CF5-B746-AD58-C96AD71FF3F8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029B61C3-C84E-3745-BC18-2EBD2138DE59}"/>
              </a:ext>
            </a:extLst>
          </p:cNvPr>
          <p:cNvSpPr/>
          <p:nvPr/>
        </p:nvSpPr>
        <p:spPr>
          <a:xfrm>
            <a:off x="2866792" y="3657600"/>
            <a:ext cx="4172415" cy="69137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1" dirty="0"/>
              <a:t>OWASP Code Review Guide </a:t>
            </a:r>
            <a:endParaRPr lang="en-US" sz="2400" dirty="0"/>
          </a:p>
        </p:txBody>
      </p:sp>
      <p:sp>
        <p:nvSpPr>
          <p:cNvPr id="4" name="Oval Callout 3">
            <a:extLst>
              <a:ext uri="{FF2B5EF4-FFF2-40B4-BE49-F238E27FC236}">
                <a16:creationId xmlns:a16="http://schemas.microsoft.com/office/drawing/2014/main" id="{C69CBF7E-1A9D-3440-92A8-3DBE3016DB3E}"/>
              </a:ext>
            </a:extLst>
          </p:cNvPr>
          <p:cNvSpPr/>
          <p:nvPr/>
        </p:nvSpPr>
        <p:spPr>
          <a:xfrm>
            <a:off x="7181385" y="2307631"/>
            <a:ext cx="2520176" cy="970827"/>
          </a:xfrm>
          <a:prstGeom prst="wedgeEllipseCallout">
            <a:avLst>
              <a:gd name="adj1" fmla="val -97456"/>
              <a:gd name="adj2" fmla="val 789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Code </a:t>
            </a:r>
          </a:p>
          <a:p>
            <a:pPr algn="ctr"/>
            <a:r>
              <a:rPr lang="en-US" sz="1400" b="1" dirty="0"/>
              <a:t>(</a:t>
            </a:r>
            <a:r>
              <a:rPr lang="en-US" sz="1400" dirty="0"/>
              <a:t>Programming Language </a:t>
            </a:r>
            <a:r>
              <a:rPr lang="en-US" b="1" dirty="0"/>
              <a:t>)</a:t>
            </a:r>
          </a:p>
        </p:txBody>
      </p:sp>
      <p:sp>
        <p:nvSpPr>
          <p:cNvPr id="10" name="Oval Callout 9">
            <a:extLst>
              <a:ext uri="{FF2B5EF4-FFF2-40B4-BE49-F238E27FC236}">
                <a16:creationId xmlns:a16="http://schemas.microsoft.com/office/drawing/2014/main" id="{183E1B83-C798-0742-9049-5942DE250083}"/>
              </a:ext>
            </a:extLst>
          </p:cNvPr>
          <p:cNvSpPr/>
          <p:nvPr/>
        </p:nvSpPr>
        <p:spPr>
          <a:xfrm>
            <a:off x="602167" y="5033073"/>
            <a:ext cx="2264626" cy="1064268"/>
          </a:xfrm>
          <a:prstGeom prst="wedgeEllipseCallout">
            <a:avLst>
              <a:gd name="adj1" fmla="val 98050"/>
              <a:gd name="adj2" fmla="val -1099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Audience</a:t>
            </a:r>
            <a:r>
              <a:rPr lang="en-US" dirty="0"/>
              <a:t> </a:t>
            </a:r>
          </a:p>
          <a:p>
            <a:pPr algn="ctr"/>
            <a:r>
              <a:rPr lang="en-US" sz="1400" dirty="0"/>
              <a:t>(End-users</a:t>
            </a:r>
            <a:r>
              <a:rPr lang="en-US" dirty="0"/>
              <a:t>)</a:t>
            </a: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6A3AA833-2C77-E041-A0D9-75A53533C30C}"/>
              </a:ext>
            </a:extLst>
          </p:cNvPr>
          <p:cNvSpPr/>
          <p:nvPr/>
        </p:nvSpPr>
        <p:spPr>
          <a:xfrm>
            <a:off x="7484268" y="4955529"/>
            <a:ext cx="1914409" cy="1219356"/>
          </a:xfrm>
          <a:prstGeom prst="wedgeEllipseCallout">
            <a:avLst>
              <a:gd name="adj1" fmla="val -120756"/>
              <a:gd name="adj2" fmla="val -838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GaramondPro"/>
              </a:rPr>
              <a:t>Context</a:t>
            </a:r>
          </a:p>
          <a:p>
            <a:pPr algn="ctr"/>
            <a:r>
              <a:rPr lang="en-US" sz="1400" dirty="0">
                <a:latin typeface="AGaramondPro"/>
              </a:rPr>
              <a:t>(</a:t>
            </a:r>
            <a:r>
              <a:rPr lang="en-US" sz="1400" dirty="0"/>
              <a:t>Working knowledge of the software</a:t>
            </a:r>
            <a:r>
              <a:rPr lang="en-US" dirty="0">
                <a:latin typeface="AGaramondPro"/>
              </a:rPr>
              <a:t>) </a:t>
            </a:r>
            <a:endParaRPr lang="en-US" dirty="0">
              <a:latin typeface="ArialMT"/>
            </a:endParaRPr>
          </a:p>
        </p:txBody>
      </p:sp>
      <p:sp>
        <p:nvSpPr>
          <p:cNvPr id="12" name="Oval Callout 11">
            <a:extLst>
              <a:ext uri="{FF2B5EF4-FFF2-40B4-BE49-F238E27FC236}">
                <a16:creationId xmlns:a16="http://schemas.microsoft.com/office/drawing/2014/main" id="{2096746D-1693-164A-A01D-8C3A7EEB4C1E}"/>
              </a:ext>
            </a:extLst>
          </p:cNvPr>
          <p:cNvSpPr/>
          <p:nvPr/>
        </p:nvSpPr>
        <p:spPr>
          <a:xfrm>
            <a:off x="379142" y="1897412"/>
            <a:ext cx="2487650" cy="1349968"/>
          </a:xfrm>
          <a:prstGeom prst="wedgeEllipseCallout">
            <a:avLst>
              <a:gd name="adj1" fmla="val 80720"/>
              <a:gd name="adj2" fmla="val 663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Importance</a:t>
            </a:r>
          </a:p>
          <a:p>
            <a:pPr algn="ctr"/>
            <a:r>
              <a:rPr lang="en-US" sz="1400" dirty="0"/>
              <a:t>(Impact of the availability of the software to the business or its lack 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2122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7A592-DD07-4740-9278-DB13E6E4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977A3-7B02-AC43-8AB4-7D49499170CF}"/>
              </a:ext>
            </a:extLst>
          </p:cNvPr>
          <p:cNvSpPr/>
          <p:nvPr/>
        </p:nvSpPr>
        <p:spPr>
          <a:xfrm>
            <a:off x="0" y="1447570"/>
            <a:ext cx="6429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MyriadPro"/>
              </a:rPr>
              <a:t>Open Web Application Security Project (OWASP) 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BB26BF-2CF5-B746-AD58-C96AD71FF3F8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029B61C3-C84E-3745-BC18-2EBD2138DE59}"/>
              </a:ext>
            </a:extLst>
          </p:cNvPr>
          <p:cNvSpPr/>
          <p:nvPr/>
        </p:nvSpPr>
        <p:spPr>
          <a:xfrm>
            <a:off x="780585" y="2464380"/>
            <a:ext cx="4172415" cy="69137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The OWASP Testing Guide </a:t>
            </a:r>
            <a:endParaRPr lang="en-US" sz="2400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4EB171-D128-2443-987A-F404F13338FB}"/>
              </a:ext>
            </a:extLst>
          </p:cNvPr>
          <p:cNvSpPr/>
          <p:nvPr/>
        </p:nvSpPr>
        <p:spPr>
          <a:xfrm>
            <a:off x="1476196" y="338773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Covers the procedures and tools that are necessary to validate software assurance </a:t>
            </a:r>
            <a:endParaRPr lang="en-US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78A8DA-79F7-B744-B0B9-ABCE6A53684E}"/>
              </a:ext>
            </a:extLst>
          </p:cNvPr>
          <p:cNvSpPr/>
          <p:nvPr/>
        </p:nvSpPr>
        <p:spPr>
          <a:xfrm>
            <a:off x="1476196" y="426604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target audiences for this guide are software developers, software testers and security specialists.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8578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7A592-DD07-4740-9278-DB13E6E4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977A3-7B02-AC43-8AB4-7D49499170CF}"/>
              </a:ext>
            </a:extLst>
          </p:cNvPr>
          <p:cNvSpPr/>
          <p:nvPr/>
        </p:nvSpPr>
        <p:spPr>
          <a:xfrm>
            <a:off x="0" y="1447570"/>
            <a:ext cx="39212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Internal Coding Standards </a:t>
            </a:r>
            <a:endParaRPr lang="en-US" sz="2400" dirty="0"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BB26BF-2CF5-B746-AD58-C96AD71FF3F8}"/>
              </a:ext>
            </a:extLst>
          </p:cNvPr>
          <p:cNvSpPr/>
          <p:nvPr/>
        </p:nvSpPr>
        <p:spPr>
          <a:xfrm>
            <a:off x="0" y="413810"/>
            <a:ext cx="4953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Security Standards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7344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28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1110462</TotalTime>
  <Words>1140</Words>
  <Application>Microsoft Macintosh PowerPoint</Application>
  <PresentationFormat>A4 Paper (210x297 mm)</PresentationFormat>
  <Paragraphs>193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Adobe Gothic Std B</vt:lpstr>
      <vt:lpstr>AGaramondPro</vt:lpstr>
      <vt:lpstr>ArialMT</vt:lpstr>
      <vt:lpstr>等线</vt:lpstr>
      <vt:lpstr>等线</vt:lpstr>
      <vt:lpstr>等线 Light</vt:lpstr>
      <vt:lpstr>Google Sans</vt:lpstr>
      <vt:lpstr>MyriadPro</vt:lpstr>
      <vt:lpstr>SimSun</vt:lpstr>
      <vt:lpstr>Arial</vt:lpstr>
      <vt:lpstr>Calibri</vt:lpstr>
      <vt:lpstr>Times New Roman</vt:lpstr>
      <vt:lpstr>TimesNewRomanPSMT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698</cp:revision>
  <cp:lastPrinted>2025-01-23T10:52:12Z</cp:lastPrinted>
  <dcterms:created xsi:type="dcterms:W3CDTF">2018-07-17T04:46:00Z</dcterms:created>
  <dcterms:modified xsi:type="dcterms:W3CDTF">2026-02-02T11:38:15Z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