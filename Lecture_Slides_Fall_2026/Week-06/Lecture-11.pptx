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80" r:id="rId2"/>
    <p:sldId id="614" r:id="rId3"/>
    <p:sldId id="615" r:id="rId4"/>
    <p:sldId id="619" r:id="rId5"/>
    <p:sldId id="620" r:id="rId6"/>
    <p:sldId id="616" r:id="rId7"/>
    <p:sldId id="617" r:id="rId8"/>
    <p:sldId id="621" r:id="rId9"/>
    <p:sldId id="622" r:id="rId10"/>
    <p:sldId id="623" r:id="rId11"/>
    <p:sldId id="624" r:id="rId12"/>
    <p:sldId id="625" r:id="rId13"/>
    <p:sldId id="608" r:id="rId14"/>
    <p:sldId id="618" r:id="rId15"/>
    <p:sldId id="626" r:id="rId16"/>
    <p:sldId id="627" r:id="rId17"/>
    <p:sldId id="628" r:id="rId18"/>
    <p:sldId id="630" r:id="rId19"/>
    <p:sldId id="629" r:id="rId20"/>
    <p:sldId id="631" r:id="rId21"/>
    <p:sldId id="632" r:id="rId22"/>
    <p:sldId id="588" r:id="rId23"/>
    <p:sldId id="612" r:id="rId24"/>
    <p:sldId id="609" r:id="rId25"/>
    <p:sldId id="610" r:id="rId26"/>
    <p:sldId id="611" r:id="rId27"/>
    <p:sldId id="591" r:id="rId28"/>
    <p:sldId id="592" r:id="rId29"/>
    <p:sldId id="593" r:id="rId30"/>
    <p:sldId id="594" r:id="rId31"/>
    <p:sldId id="605" r:id="rId32"/>
    <p:sldId id="606" r:id="rId33"/>
    <p:sldId id="607" r:id="rId34"/>
    <p:sldId id="613" r:id="rId35"/>
    <p:sldId id="596" r:id="rId36"/>
    <p:sldId id="597" r:id="rId37"/>
    <p:sldId id="598" r:id="rId38"/>
    <p:sldId id="599" r:id="rId39"/>
    <p:sldId id="600" r:id="rId40"/>
    <p:sldId id="601" r:id="rId41"/>
    <p:sldId id="602" r:id="rId42"/>
    <p:sldId id="603" r:id="rId43"/>
    <p:sldId id="372" r:id="rId44"/>
  </p:sldIdLst>
  <p:sldSz cx="9906000" cy="6858000" type="A4"/>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4C4F4344-209C-4F70-85AC-9C0340846E2F}">
          <p14:sldIdLst>
            <p14:sldId id="280"/>
            <p14:sldId id="614"/>
            <p14:sldId id="615"/>
            <p14:sldId id="619"/>
            <p14:sldId id="620"/>
            <p14:sldId id="616"/>
            <p14:sldId id="617"/>
            <p14:sldId id="621"/>
            <p14:sldId id="622"/>
            <p14:sldId id="623"/>
            <p14:sldId id="624"/>
            <p14:sldId id="625"/>
            <p14:sldId id="608"/>
            <p14:sldId id="618"/>
            <p14:sldId id="626"/>
            <p14:sldId id="627"/>
            <p14:sldId id="628"/>
            <p14:sldId id="630"/>
            <p14:sldId id="629"/>
            <p14:sldId id="631"/>
            <p14:sldId id="632"/>
            <p14:sldId id="588"/>
            <p14:sldId id="612"/>
            <p14:sldId id="609"/>
            <p14:sldId id="610"/>
            <p14:sldId id="611"/>
            <p14:sldId id="591"/>
            <p14:sldId id="592"/>
            <p14:sldId id="593"/>
            <p14:sldId id="594"/>
            <p14:sldId id="605"/>
            <p14:sldId id="606"/>
            <p14:sldId id="607"/>
            <p14:sldId id="613"/>
            <p14:sldId id="596"/>
            <p14:sldId id="597"/>
            <p14:sldId id="598"/>
            <p14:sldId id="599"/>
            <p14:sldId id="600"/>
            <p14:sldId id="601"/>
            <p14:sldId id="602"/>
            <p14:sldId id="603"/>
            <p14:sldId id="372"/>
          </p14:sldIdLst>
        </p14:section>
        <p14:section name="无标题节" id="{3A58C67D-E970-4AF9-96C5-84664AA55BD8}">
          <p14:sldIdLst/>
        </p14:section>
      </p14:sectionLst>
    </p:ext>
    <p:ext uri="{EFAFB233-063F-42B5-8137-9DF3F51BA10A}">
      <p15:sldGuideLst xmlns:p15="http://schemas.microsoft.com/office/powerpoint/2012/main">
        <p15:guide id="1" orient="horz" pos="2306">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1C06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58" autoAdjust="0"/>
    <p:restoredTop sz="92886" autoAdjust="0"/>
  </p:normalViewPr>
  <p:slideViewPr>
    <p:cSldViewPr snapToGrid="0">
      <p:cViewPr varScale="1">
        <p:scale>
          <a:sx n="119" d="100"/>
          <a:sy n="119" d="100"/>
        </p:scale>
        <p:origin x="1720" y="184"/>
      </p:cViewPr>
      <p:guideLst>
        <p:guide orient="horz" pos="2306"/>
        <p:guide pos="3120"/>
      </p:guideLst>
    </p:cSldViewPr>
  </p:slideViewPr>
  <p:notesTextViewPr>
    <p:cViewPr>
      <p:scale>
        <a:sx n="1" d="1"/>
        <a:sy n="1" d="1"/>
      </p:scale>
      <p:origin x="0" y="0"/>
    </p:cViewPr>
  </p:notesTextViewPr>
  <p:sorterViewPr>
    <p:cViewPr>
      <p:scale>
        <a:sx n="190" d="100"/>
        <a:sy n="19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86F613-6386-45E1-B87F-1E8A4FD761EB}" type="datetimeFigureOut">
              <a:rPr lang="zh-CN" altLang="en-US" smtClean="0"/>
              <a:t>2026/2/24</a:t>
            </a:fld>
            <a:endParaRPr lang="zh-CN" altLang="en-US"/>
          </a:p>
        </p:txBody>
      </p:sp>
      <p:sp>
        <p:nvSpPr>
          <p:cNvPr id="4" name="幻灯片图像占位符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E6104B-F43C-4180-A305-CEC1284C5FF8}" type="slidenum">
              <a:rPr lang="zh-CN" altLang="en-US" smtClean="0"/>
              <a:t>‹#›</a:t>
            </a:fld>
            <a:endParaRPr lang="zh-CN" altLang="en-US"/>
          </a:p>
        </p:txBody>
      </p:sp>
    </p:spTree>
    <p:extLst>
      <p:ext uri="{BB962C8B-B14F-4D97-AF65-F5344CB8AC3E}">
        <p14:creationId xmlns:p14="http://schemas.microsoft.com/office/powerpoint/2010/main" val="12708971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00150" y="1143000"/>
            <a:ext cx="44577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58E6104B-F43C-4180-A305-CEC1284C5FF8}" type="slidenum">
              <a:rPr lang="zh-CN" altLang="en-US" smtClean="0"/>
              <a:t>1</a:t>
            </a:fld>
            <a:endParaRPr lang="zh-CN" altLang="en-US"/>
          </a:p>
        </p:txBody>
      </p:sp>
    </p:spTree>
    <p:extLst>
      <p:ext uri="{BB962C8B-B14F-4D97-AF65-F5344CB8AC3E}">
        <p14:creationId xmlns:p14="http://schemas.microsoft.com/office/powerpoint/2010/main" val="2256418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200150" y="1143000"/>
            <a:ext cx="4457700" cy="3086100"/>
          </a:xfrm>
        </p:spPr>
      </p:sp>
      <p:sp>
        <p:nvSpPr>
          <p:cNvPr id="3" name="备注占位符 2"/>
          <p:cNvSpPr>
            <a:spLocks noGrp="1"/>
          </p:cNvSpPr>
          <p:nvPr>
            <p:ph type="body" idx="1"/>
          </p:nvPr>
        </p:nvSpPr>
        <p:spPr/>
        <p:txBody>
          <a:bodyPr/>
          <a:lstStyle/>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fld id="{58E6104B-F43C-4180-A305-CEC1284C5FF8}" type="slidenum">
              <a:rPr lang="zh-CN" altLang="en-US" smtClean="0"/>
              <a:t>43</a:t>
            </a:fld>
            <a:endParaRPr lang="zh-CN" altLang="en-US"/>
          </a:p>
        </p:txBody>
      </p:sp>
    </p:spTree>
    <p:extLst>
      <p:ext uri="{BB962C8B-B14F-4D97-AF65-F5344CB8AC3E}">
        <p14:creationId xmlns:p14="http://schemas.microsoft.com/office/powerpoint/2010/main" val="777704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238250" y="1122363"/>
            <a:ext cx="74295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hasCustomPrompt="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0A901A63-A7C4-4D9E-8336-1A8A451B13AA}" type="datetime1">
              <a:rPr lang="zh-CN" altLang="en-US" smtClean="0"/>
              <a:t>2026/2/24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E6AB7285-B0D8-4CCE-9696-7B972DFD7D37}" type="datetime1">
              <a:rPr lang="zh-CN" altLang="en-US" smtClean="0"/>
              <a:t>2026/2/24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75878" y="1709738"/>
            <a:ext cx="8543925"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hasCustomPrompt="1"/>
          </p:nvPr>
        </p:nvSpPr>
        <p:spPr>
          <a:xfrm>
            <a:off x="675878" y="4589464"/>
            <a:ext cx="8543925"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2A4907B5-A00F-4D95-A944-352881DC976F}" type="datetime1">
              <a:rPr lang="zh-CN" altLang="en-US" smtClean="0"/>
              <a:t>2026/2/24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hasCustomPrompt="1"/>
          </p:nvPr>
        </p:nvSpPr>
        <p:spPr>
          <a:xfrm>
            <a:off x="681038" y="1825625"/>
            <a:ext cx="42100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hasCustomPrompt="1"/>
          </p:nvPr>
        </p:nvSpPr>
        <p:spPr>
          <a:xfrm>
            <a:off x="5014913" y="1825625"/>
            <a:ext cx="421005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B528D666-1070-47A4-93DD-CDEF7BD1F6B1}" type="datetime1">
              <a:rPr lang="zh-CN" altLang="en-US" smtClean="0"/>
              <a:t>2026/2/24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82328" y="365126"/>
            <a:ext cx="8543925" cy="1325563"/>
          </a:xfrm>
        </p:spPr>
        <p:txBody>
          <a:bodyPr/>
          <a:lstStyle/>
          <a:p>
            <a:r>
              <a:rPr lang="zh-CN" altLang="en-US"/>
              <a:t>单击此处编辑母版标题样式</a:t>
            </a:r>
          </a:p>
        </p:txBody>
      </p:sp>
      <p:sp>
        <p:nvSpPr>
          <p:cNvPr id="3" name="文本占位符 2"/>
          <p:cNvSpPr>
            <a:spLocks noGrp="1"/>
          </p:cNvSpPr>
          <p:nvPr>
            <p:ph type="body" idx="1" hasCustomPrompt="1"/>
          </p:nvPr>
        </p:nvSpPr>
        <p:spPr>
          <a:xfrm>
            <a:off x="682328"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hasCustomPrompt="1"/>
          </p:nvPr>
        </p:nvSpPr>
        <p:spPr>
          <a:xfrm>
            <a:off x="682328" y="2505075"/>
            <a:ext cx="4190702"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hasCustomPrompt="1"/>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hasCustomPrompt="1"/>
          </p:nvPr>
        </p:nvSpPr>
        <p:spPr>
          <a:xfrm>
            <a:off x="5014913" y="2505075"/>
            <a:ext cx="4211340"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33D1CCC7-9EDE-420E-93DD-85D8C3590620}" type="datetime1">
              <a:rPr lang="zh-CN" altLang="en-US" smtClean="0"/>
              <a:t>2026/2/24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538E457-A80F-46AA-AB73-6563C30B8F07}" type="datetime1">
              <a:rPr lang="zh-CN" altLang="en-US" smtClean="0"/>
              <a:t>2026/2/24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AD494D2-7C33-4737-9BFA-E0AD9F259636}" type="datetime1">
              <a:rPr lang="zh-CN" altLang="en-US" smtClean="0"/>
              <a:t>2026/2/24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2328" y="457200"/>
            <a:ext cx="3194943"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hasCustomPrompt="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hasCustomPrompt="1"/>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DB7A0A1E-52E8-41CF-B036-B709E3BEEE64}" type="datetime1">
              <a:rPr lang="zh-CN" altLang="en-US" smtClean="0"/>
              <a:t>2026/2/24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82328" y="457200"/>
            <a:ext cx="3194943"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4211340" y="987426"/>
            <a:ext cx="501491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68CCECB7-59A1-4697-8604-3431EA5C9D9C}" type="datetime1">
              <a:rPr lang="zh-CN" altLang="en-US" smtClean="0"/>
              <a:t>2026/2/24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3C5824D-C0BA-4384-BF05-F9F894E8B242}" type="datetime1">
              <a:rPr lang="zh-CN" altLang="en-US" smtClean="0"/>
              <a:t>2026/2/24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88981" y="365125"/>
            <a:ext cx="2135981" cy="5811838"/>
          </a:xfrm>
        </p:spPr>
        <p:txBody>
          <a:bodyPr vert="eaVert"/>
          <a:lstStyle/>
          <a:p>
            <a:r>
              <a:rPr lang="zh-CN" altLang="en-US"/>
              <a:t>单击此处编辑母版标题样式</a:t>
            </a:r>
          </a:p>
        </p:txBody>
      </p:sp>
      <p:sp>
        <p:nvSpPr>
          <p:cNvPr id="3" name="竖排文字占位符 2"/>
          <p:cNvSpPr>
            <a:spLocks noGrp="1"/>
          </p:cNvSpPr>
          <p:nvPr>
            <p:ph type="body" orient="vert" idx="1" hasCustomPrompt="1"/>
          </p:nvPr>
        </p:nvSpPr>
        <p:spPr>
          <a:xfrm>
            <a:off x="681037" y="365125"/>
            <a:ext cx="6284119"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BDACE58A-A4F5-4361-A1B6-594D0881072F}" type="datetime1">
              <a:rPr lang="zh-CN" altLang="en-US" smtClean="0"/>
              <a:t>2026/2/24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8758AAF-F958-4141-BDE8-5609689A4508}"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endParaRPr lang="zh-CN" altLang="en-US" dirty="0"/>
          </a:p>
        </p:txBody>
      </p:sp>
      <p:sp>
        <p:nvSpPr>
          <p:cNvPr id="3" name="文本占位符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81038" y="6356351"/>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694028-4A59-403E-B211-633674C4AE82}" type="datetime1">
              <a:rPr lang="zh-CN" altLang="en-US" smtClean="0"/>
              <a:t>2026/2/24</a:t>
            </a:fld>
            <a:endParaRPr lang="zh-CN" altLang="en-US"/>
          </a:p>
        </p:txBody>
      </p:sp>
      <p:sp>
        <p:nvSpPr>
          <p:cNvPr id="5" name="页脚占位符 4"/>
          <p:cNvSpPr>
            <a:spLocks noGrp="1"/>
          </p:cNvSpPr>
          <p:nvPr>
            <p:ph type="ftr" sz="quarter" idx="3"/>
          </p:nvPr>
        </p:nvSpPr>
        <p:spPr>
          <a:xfrm>
            <a:off x="3281363" y="6356351"/>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dirty="0"/>
          </a:p>
        </p:txBody>
      </p:sp>
      <p:sp>
        <p:nvSpPr>
          <p:cNvPr id="6" name="灯片编号占位符 5"/>
          <p:cNvSpPr>
            <a:spLocks noGrp="1"/>
          </p:cNvSpPr>
          <p:nvPr>
            <p:ph type="sldNum" sz="quarter" idx="4"/>
          </p:nvPr>
        </p:nvSpPr>
        <p:spPr>
          <a:xfrm>
            <a:off x="6996113" y="6356351"/>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758AAF-F958-4141-BDE8-5609689A4508}" type="slidenum">
              <a:rPr lang="zh-CN" altLang="en-US" smtClean="0"/>
              <a:t>‹#›</a:t>
            </a:fld>
            <a:endParaRPr lang="zh-CN" altLang="en-US" dirty="0"/>
          </a:p>
        </p:txBody>
      </p:sp>
      <p:pic>
        <p:nvPicPr>
          <p:cNvPr id="8" name="Picture 7">
            <a:extLst>
              <a:ext uri="{FF2B5EF4-FFF2-40B4-BE49-F238E27FC236}">
                <a16:creationId xmlns:a16="http://schemas.microsoft.com/office/drawing/2014/main" id="{6B86DBDA-7A39-5940-BAEA-489B2396DCC4}"/>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8642419" y="-11699"/>
            <a:ext cx="1165087" cy="104536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a:stretch>
        </a:blipFill>
        <a:effectLst/>
      </p:bgPr>
    </p:bg>
    <p:spTree>
      <p:nvGrpSpPr>
        <p:cNvPr id="1" name=""/>
        <p:cNvGrpSpPr/>
        <p:nvPr/>
      </p:nvGrpSpPr>
      <p:grpSpPr>
        <a:xfrm>
          <a:off x="0" y="0"/>
          <a:ext cx="0" cy="0"/>
          <a:chOff x="0" y="0"/>
          <a:chExt cx="0" cy="0"/>
        </a:xfrm>
      </p:grpSpPr>
      <p:sp>
        <p:nvSpPr>
          <p:cNvPr id="4" name="TextBox 1"/>
          <p:cNvSpPr txBox="1">
            <a:spLocks noChangeArrowheads="1"/>
          </p:cNvSpPr>
          <p:nvPr/>
        </p:nvSpPr>
        <p:spPr bwMode="auto">
          <a:xfrm>
            <a:off x="1" y="1654175"/>
            <a:ext cx="9905999" cy="4721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SimSun"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SimSun"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SimSun"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SimSun" panose="02010600030101010101" pitchFamily="2" charset="-122"/>
              </a:defRPr>
            </a:lvl9pPr>
          </a:lstStyle>
          <a:p>
            <a:endParaRPr lang="en-US" dirty="0"/>
          </a:p>
          <a:p>
            <a:pPr algn="ctr">
              <a:buNone/>
            </a:pPr>
            <a:endParaRPr lang="it-IT" b="1" dirty="0"/>
          </a:p>
          <a:p>
            <a:pPr algn="ctr">
              <a:buNone/>
            </a:pPr>
            <a:endParaRPr lang="en-US" b="1" dirty="0"/>
          </a:p>
          <a:p>
            <a:pPr algn="ctr">
              <a:buNone/>
            </a:pPr>
            <a:r>
              <a:rPr lang="en-US" b="1" dirty="0"/>
              <a:t>     Software Vulnerabilities </a:t>
            </a:r>
            <a:endParaRPr lang="en-US" dirty="0"/>
          </a:p>
          <a:p>
            <a:pPr algn="ctr">
              <a:buNone/>
            </a:pPr>
            <a:endParaRPr lang="en-US" b="1" dirty="0">
              <a:solidFill>
                <a:schemeClr val="accent5">
                  <a:lumMod val="50000"/>
                </a:schemeClr>
              </a:solidFill>
            </a:endParaRPr>
          </a:p>
          <a:p>
            <a:pPr algn="ctr">
              <a:buNone/>
            </a:pPr>
            <a:endParaRPr lang="en-US" b="1" dirty="0">
              <a:solidFill>
                <a:schemeClr val="accent5">
                  <a:lumMod val="50000"/>
                </a:schemeClr>
              </a:solidFill>
            </a:endParaRPr>
          </a:p>
          <a:p>
            <a:pPr algn="ctr">
              <a:buNone/>
            </a:pPr>
            <a:endParaRPr lang="en-US" b="1" dirty="0">
              <a:solidFill>
                <a:schemeClr val="accent5">
                  <a:lumMod val="50000"/>
                </a:schemeClr>
              </a:solidFill>
            </a:endParaRPr>
          </a:p>
          <a:p>
            <a:pPr algn="ctr">
              <a:buNone/>
            </a:pPr>
            <a:r>
              <a:rPr lang="en-US" dirty="0"/>
              <a:t>	</a:t>
            </a:r>
          </a:p>
        </p:txBody>
      </p:sp>
      <p:sp>
        <p:nvSpPr>
          <p:cNvPr id="49155" name="AutoShape 3" descr="C:\Users\W10\AppData\Roaming\Tencent\Users\794473416\QQ\WinTemp\RichOle\XO7~@R[DK0Y$4$RD6Y5[U.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lstStyle/>
          <a:p>
            <a:endParaRPr lang="zh-CN" altLang="en-US"/>
          </a:p>
        </p:txBody>
      </p:sp>
      <p:sp>
        <p:nvSpPr>
          <p:cNvPr id="49156" name="AutoShape 4" descr="C:\Users\W10\AppData\Roaming\Tencent\Users\794473416\QQ\WinTemp\RichOle\XO7~@R[DK0Y$4$RD6Y5[U.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lstStyle/>
          <a:p>
            <a:endParaRPr lang="zh-CN" altLang="en-US"/>
          </a:p>
        </p:txBody>
      </p:sp>
      <p:sp>
        <p:nvSpPr>
          <p:cNvPr id="49157" name="AutoShape 5" descr="C:\Users\W10\AppData\Roaming\Tencent\Users\794473416\QQ\WinTemp\RichOle\XO7~@R[DK0Y$4$RD6Y5[U.png"/>
          <p:cNvSpPr>
            <a:spLocks noChangeAspect="1" noChangeArrowheads="1"/>
          </p:cNvSpPr>
          <p:nvPr/>
        </p:nvSpPr>
        <p:spPr bwMode="auto">
          <a:xfrm>
            <a:off x="0" y="0"/>
            <a:ext cx="304800" cy="304800"/>
          </a:xfrm>
          <a:prstGeom prst="rect">
            <a:avLst/>
          </a:prstGeom>
          <a:noFill/>
        </p:spPr>
        <p:txBody>
          <a:bodyPr vert="horz" wrap="square" lIns="91440" tIns="45720" rIns="91440" bIns="45720" numCol="1" anchor="t" anchorCtr="0" compatLnSpc="1"/>
          <a:lstStyle/>
          <a:p>
            <a:endParaRPr lang="zh-CN" altLang="en-US"/>
          </a:p>
        </p:txBody>
      </p:sp>
      <p:sp>
        <p:nvSpPr>
          <p:cNvPr id="2" name="TextBox 1">
            <a:extLst>
              <a:ext uri="{FF2B5EF4-FFF2-40B4-BE49-F238E27FC236}">
                <a16:creationId xmlns:a16="http://schemas.microsoft.com/office/drawing/2014/main" id="{09A99ADA-48C1-EC4B-A15E-7A2B09F5ECE8}"/>
              </a:ext>
            </a:extLst>
          </p:cNvPr>
          <p:cNvSpPr txBox="1"/>
          <p:nvPr/>
        </p:nvSpPr>
        <p:spPr>
          <a:xfrm>
            <a:off x="2833816" y="1284843"/>
            <a:ext cx="4857902" cy="646331"/>
          </a:xfrm>
          <a:prstGeom prst="rect">
            <a:avLst/>
          </a:prstGeom>
          <a:noFill/>
        </p:spPr>
        <p:txBody>
          <a:bodyPr wrap="square" rtlCol="0">
            <a:spAutoFit/>
          </a:bodyPr>
          <a:lstStyle/>
          <a:p>
            <a:r>
              <a:rPr lang="en-US" b="1" dirty="0"/>
              <a:t>Secure Software Design and Development</a:t>
            </a:r>
          </a:p>
          <a:p>
            <a:pPr algn="ctr"/>
            <a:r>
              <a:rPr lang="en-US" b="1" dirty="0"/>
              <a:t>(CY-321)</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8C9FAC-80D9-D741-AA2E-C0214AF77421}"/>
              </a:ext>
            </a:extLst>
          </p:cNvPr>
          <p:cNvSpPr>
            <a:spLocks noGrp="1"/>
          </p:cNvSpPr>
          <p:nvPr>
            <p:ph type="sldNum" sz="quarter" idx="12"/>
          </p:nvPr>
        </p:nvSpPr>
        <p:spPr/>
        <p:txBody>
          <a:bodyPr/>
          <a:lstStyle/>
          <a:p>
            <a:fld id="{48758AAF-F958-4141-BDE8-5609689A4508}" type="slidenum">
              <a:rPr lang="zh-CN" altLang="en-US" smtClean="0"/>
              <a:t>2</a:t>
            </a:fld>
            <a:endParaRPr lang="zh-CN" altLang="en-US"/>
          </a:p>
        </p:txBody>
      </p:sp>
      <p:sp>
        <p:nvSpPr>
          <p:cNvPr id="3" name="Title 1">
            <a:extLst>
              <a:ext uri="{FF2B5EF4-FFF2-40B4-BE49-F238E27FC236}">
                <a16:creationId xmlns:a16="http://schemas.microsoft.com/office/drawing/2014/main" id="{F8CC9492-5BBD-5743-A1A6-563DFA4D7798}"/>
              </a:ext>
            </a:extLst>
          </p:cNvPr>
          <p:cNvSpPr txBox="1">
            <a:spLocks/>
          </p:cNvSpPr>
          <p:nvPr/>
        </p:nvSpPr>
        <p:spPr>
          <a:xfrm>
            <a:off x="155986" y="234949"/>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dirty="0"/>
              <a:t>Why Software Vulnerabilities Matter?</a:t>
            </a:r>
          </a:p>
        </p:txBody>
      </p:sp>
      <p:sp>
        <p:nvSpPr>
          <p:cNvPr id="4" name="Content Placeholder 2">
            <a:extLst>
              <a:ext uri="{FF2B5EF4-FFF2-40B4-BE49-F238E27FC236}">
                <a16:creationId xmlns:a16="http://schemas.microsoft.com/office/drawing/2014/main" id="{C4CF4FFF-688B-204E-9990-74FA85B3463F}"/>
              </a:ext>
            </a:extLst>
          </p:cNvPr>
          <p:cNvSpPr txBox="1">
            <a:spLocks/>
          </p:cNvSpPr>
          <p:nvPr/>
        </p:nvSpPr>
        <p:spPr>
          <a:xfrm>
            <a:off x="457200" y="1524000"/>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sz="2400" dirty="0"/>
              <a:t>When a process reads input from </a:t>
            </a:r>
            <a:r>
              <a:rPr lang="en-US" altLang="en-US" sz="2400" b="1" dirty="0">
                <a:solidFill>
                  <a:srgbClr val="FF0000"/>
                </a:solidFill>
              </a:rPr>
              <a:t>attacker</a:t>
            </a:r>
            <a:r>
              <a:rPr lang="en-US" altLang="en-US" sz="2400" dirty="0"/>
              <a:t>, the process may be </a:t>
            </a:r>
            <a:r>
              <a:rPr lang="en-US" altLang="en-US" sz="2400" dirty="0">
                <a:solidFill>
                  <a:srgbClr val="FF0000"/>
                </a:solidFill>
              </a:rPr>
              <a:t>exploited</a:t>
            </a:r>
            <a:r>
              <a:rPr lang="en-US" altLang="en-US" sz="2400" dirty="0"/>
              <a:t> if it contains vulnerabilities.</a:t>
            </a:r>
          </a:p>
          <a:p>
            <a:r>
              <a:rPr lang="en-US" altLang="en-US" sz="2400" dirty="0"/>
              <a:t>When an </a:t>
            </a:r>
            <a:r>
              <a:rPr lang="en-US" altLang="en-US" sz="2400" b="1" dirty="0">
                <a:solidFill>
                  <a:srgbClr val="FF0000"/>
                </a:solidFill>
              </a:rPr>
              <a:t>attacker</a:t>
            </a:r>
            <a:r>
              <a:rPr lang="en-US" altLang="en-US" sz="2400" dirty="0"/>
              <a:t> successfully exploits a vulnerability, he can </a:t>
            </a:r>
          </a:p>
          <a:p>
            <a:pPr lvl="1"/>
            <a:r>
              <a:rPr lang="en-US" altLang="en-US" sz="1800" dirty="0"/>
              <a:t>Crash programs: Compromises availability</a:t>
            </a:r>
          </a:p>
          <a:p>
            <a:pPr lvl="1"/>
            <a:r>
              <a:rPr lang="en-US" altLang="en-US" sz="1800" dirty="0"/>
              <a:t>Execute arbitrary code: Compromises integrity</a:t>
            </a:r>
          </a:p>
          <a:p>
            <a:pPr lvl="1"/>
            <a:r>
              <a:rPr lang="en-US" altLang="en-US" sz="1800" dirty="0"/>
              <a:t>Obtain sensitive information: Compromises confidentiality</a:t>
            </a:r>
          </a:p>
          <a:p>
            <a:endParaRPr lang="en-US" altLang="en-US" sz="2400" dirty="0"/>
          </a:p>
          <a:p>
            <a:r>
              <a:rPr lang="en-US" altLang="en-US" sz="2400" dirty="0"/>
              <a:t>Software vulnerability enables the attacker to run with privileges of other users, violating desired access control policy</a:t>
            </a:r>
          </a:p>
        </p:txBody>
      </p:sp>
    </p:spTree>
    <p:extLst>
      <p:ext uri="{BB962C8B-B14F-4D97-AF65-F5344CB8AC3E}">
        <p14:creationId xmlns:p14="http://schemas.microsoft.com/office/powerpoint/2010/main" val="3072243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FE0FF6-9692-A441-A23D-C0DD7322A5F1}"/>
              </a:ext>
            </a:extLst>
          </p:cNvPr>
          <p:cNvSpPr>
            <a:spLocks noGrp="1"/>
          </p:cNvSpPr>
          <p:nvPr>
            <p:ph type="sldNum" sz="quarter" idx="12"/>
          </p:nvPr>
        </p:nvSpPr>
        <p:spPr/>
        <p:txBody>
          <a:bodyPr/>
          <a:lstStyle/>
          <a:p>
            <a:fld id="{48758AAF-F958-4141-BDE8-5609689A4508}" type="slidenum">
              <a:rPr lang="zh-CN" altLang="en-US" smtClean="0"/>
              <a:t>3</a:t>
            </a:fld>
            <a:endParaRPr lang="zh-CN" altLang="en-US"/>
          </a:p>
        </p:txBody>
      </p:sp>
      <p:sp>
        <p:nvSpPr>
          <p:cNvPr id="3" name="Title 1">
            <a:extLst>
              <a:ext uri="{FF2B5EF4-FFF2-40B4-BE49-F238E27FC236}">
                <a16:creationId xmlns:a16="http://schemas.microsoft.com/office/drawing/2014/main" id="{0946D102-62FA-914D-9DF5-2944B9F14D9D}"/>
              </a:ext>
            </a:extLst>
          </p:cNvPr>
          <p:cNvSpPr txBox="1">
            <a:spLocks/>
          </p:cNvSpPr>
          <p:nvPr/>
        </p:nvSpPr>
        <p:spPr>
          <a:xfrm>
            <a:off x="134470" y="381000"/>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3600" b="1" dirty="0"/>
              <a:t>Attacks Exploiting Software Vulnerabilities</a:t>
            </a:r>
          </a:p>
        </p:txBody>
      </p:sp>
      <p:sp>
        <p:nvSpPr>
          <p:cNvPr id="4" name="Content Placeholder 2">
            <a:extLst>
              <a:ext uri="{FF2B5EF4-FFF2-40B4-BE49-F238E27FC236}">
                <a16:creationId xmlns:a16="http://schemas.microsoft.com/office/drawing/2014/main" id="{851357F4-CEA8-6D4B-832F-C441888101FE}"/>
              </a:ext>
            </a:extLst>
          </p:cNvPr>
          <p:cNvSpPr txBox="1">
            <a:spLocks/>
          </p:cNvSpPr>
          <p:nvPr/>
        </p:nvSpPr>
        <p:spPr>
          <a:xfrm>
            <a:off x="457200" y="1524000"/>
            <a:ext cx="8305800" cy="411480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en-US"/>
              <a:t>Drive-by download (drive-by installation) </a:t>
            </a:r>
          </a:p>
          <a:p>
            <a:pPr lvl="1"/>
            <a:r>
              <a:rPr lang="en-US" altLang="en-US"/>
              <a:t>malicious web contents exploit vulnerabilities in browsers (or plugins) to download/install malware on victim system.</a:t>
            </a:r>
          </a:p>
          <a:p>
            <a:r>
              <a:rPr lang="en-US" altLang="en-US"/>
              <a:t>Email attachments in PDF, Word, etc.</a:t>
            </a:r>
          </a:p>
          <a:p>
            <a:r>
              <a:rPr lang="en-US" altLang="en-US"/>
              <a:t>Network-facing daemon programs (such as http, ftp, mail servers, etc.) as entry points. </a:t>
            </a:r>
          </a:p>
          <a:p>
            <a:r>
              <a:rPr lang="en-US" altLang="en-US"/>
              <a:t>Privilege escalation</a:t>
            </a:r>
          </a:p>
          <a:p>
            <a:pPr lvl="1"/>
            <a:r>
              <a:rPr lang="en-US" altLang="en-US" sz="2000"/>
              <a:t>Attacker on a system exploits vulnerability in a root process and gains root privilege</a:t>
            </a:r>
          </a:p>
          <a:p>
            <a:endParaRPr lang="en-US" altLang="en-US" dirty="0"/>
          </a:p>
        </p:txBody>
      </p:sp>
    </p:spTree>
    <p:extLst>
      <p:ext uri="{BB962C8B-B14F-4D97-AF65-F5344CB8AC3E}">
        <p14:creationId xmlns:p14="http://schemas.microsoft.com/office/powerpoint/2010/main" val="44199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C34FBFA-FF92-0144-A65A-9D8A6E1680B7}"/>
              </a:ext>
            </a:extLst>
          </p:cNvPr>
          <p:cNvSpPr>
            <a:spLocks noGrp="1"/>
          </p:cNvSpPr>
          <p:nvPr>
            <p:ph type="sldNum" sz="quarter" idx="12"/>
          </p:nvPr>
        </p:nvSpPr>
        <p:spPr/>
        <p:txBody>
          <a:bodyPr/>
          <a:lstStyle/>
          <a:p>
            <a:fld id="{48758AAF-F958-4141-BDE8-5609689A4508}" type="slidenum">
              <a:rPr lang="zh-CN" altLang="en-US" smtClean="0"/>
              <a:t>4</a:t>
            </a:fld>
            <a:endParaRPr lang="zh-CN" altLang="en-US"/>
          </a:p>
        </p:txBody>
      </p:sp>
      <p:pic>
        <p:nvPicPr>
          <p:cNvPr id="4" name="Picture 3">
            <a:extLst>
              <a:ext uri="{FF2B5EF4-FFF2-40B4-BE49-F238E27FC236}">
                <a16:creationId xmlns:a16="http://schemas.microsoft.com/office/drawing/2014/main" id="{D0E5C18A-00FE-9F4B-A267-3E8A28737F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71857"/>
            <a:ext cx="9906000" cy="2735800"/>
          </a:xfrm>
          <a:prstGeom prst="rect">
            <a:avLst/>
          </a:prstGeom>
        </p:spPr>
      </p:pic>
      <p:sp>
        <p:nvSpPr>
          <p:cNvPr id="6" name="Rectangle 5">
            <a:extLst>
              <a:ext uri="{FF2B5EF4-FFF2-40B4-BE49-F238E27FC236}">
                <a16:creationId xmlns:a16="http://schemas.microsoft.com/office/drawing/2014/main" id="{64DADD70-AFB8-174B-84C9-101235F7A6B9}"/>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741202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6C64FD-00B9-A642-A20F-0CA63E165829}"/>
              </a:ext>
            </a:extLst>
          </p:cNvPr>
          <p:cNvSpPr>
            <a:spLocks noGrp="1"/>
          </p:cNvSpPr>
          <p:nvPr>
            <p:ph type="sldNum" sz="quarter" idx="12"/>
          </p:nvPr>
        </p:nvSpPr>
        <p:spPr/>
        <p:txBody>
          <a:bodyPr/>
          <a:lstStyle/>
          <a:p>
            <a:fld id="{48758AAF-F958-4141-BDE8-5609689A4508}" type="slidenum">
              <a:rPr lang="zh-CN" altLang="en-US" smtClean="0"/>
              <a:t>5</a:t>
            </a:fld>
            <a:endParaRPr lang="zh-CN" altLang="en-US"/>
          </a:p>
        </p:txBody>
      </p:sp>
      <p:pic>
        <p:nvPicPr>
          <p:cNvPr id="4" name="Picture 3">
            <a:extLst>
              <a:ext uri="{FF2B5EF4-FFF2-40B4-BE49-F238E27FC236}">
                <a16:creationId xmlns:a16="http://schemas.microsoft.com/office/drawing/2014/main" id="{A850271F-BC9B-594D-B5A7-0A741FD538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8197" y="1654094"/>
            <a:ext cx="5259884" cy="2627449"/>
          </a:xfrm>
          <a:prstGeom prst="rect">
            <a:avLst/>
          </a:prstGeom>
        </p:spPr>
      </p:pic>
      <p:sp>
        <p:nvSpPr>
          <p:cNvPr id="5" name="Rectangle 4">
            <a:extLst>
              <a:ext uri="{FF2B5EF4-FFF2-40B4-BE49-F238E27FC236}">
                <a16:creationId xmlns:a16="http://schemas.microsoft.com/office/drawing/2014/main" id="{FA17C014-F4AA-414C-95B5-6F72A6737FC8}"/>
              </a:ext>
            </a:extLst>
          </p:cNvPr>
          <p:cNvSpPr/>
          <p:nvPr/>
        </p:nvSpPr>
        <p:spPr>
          <a:xfrm>
            <a:off x="495401" y="4807657"/>
            <a:ext cx="7378469" cy="830997"/>
          </a:xfrm>
          <a:prstGeom prst="rect">
            <a:avLst/>
          </a:prstGeom>
        </p:spPr>
        <p:txBody>
          <a:bodyPr wrap="square">
            <a:spAutoFit/>
          </a:bodyPr>
          <a:lstStyle/>
          <a:p>
            <a:r>
              <a:rPr lang="en-US" sz="2400" dirty="0"/>
              <a:t>Buffers are most often used during I/O (reading or writing). </a:t>
            </a:r>
          </a:p>
        </p:txBody>
      </p:sp>
      <p:sp>
        <p:nvSpPr>
          <p:cNvPr id="6" name="Rectangle 5">
            <a:extLst>
              <a:ext uri="{FF2B5EF4-FFF2-40B4-BE49-F238E27FC236}">
                <a16:creationId xmlns:a16="http://schemas.microsoft.com/office/drawing/2014/main" id="{E50E26C1-10DB-AC46-AA7E-BA2FE181EF6A}"/>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424019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5D74EC-DF8C-394A-A141-C1DEF119DBF5}"/>
              </a:ext>
            </a:extLst>
          </p:cNvPr>
          <p:cNvSpPr>
            <a:spLocks noGrp="1"/>
          </p:cNvSpPr>
          <p:nvPr>
            <p:ph type="sldNum" sz="quarter" idx="12"/>
          </p:nvPr>
        </p:nvSpPr>
        <p:spPr/>
        <p:txBody>
          <a:bodyPr/>
          <a:lstStyle/>
          <a:p>
            <a:fld id="{48758AAF-F958-4141-BDE8-5609689A4508}" type="slidenum">
              <a:rPr lang="zh-CN" altLang="en-US" smtClean="0"/>
              <a:t>6</a:t>
            </a:fld>
            <a:endParaRPr lang="zh-CN" altLang="en-US"/>
          </a:p>
        </p:txBody>
      </p:sp>
      <p:sp>
        <p:nvSpPr>
          <p:cNvPr id="6" name="Rectangle 2">
            <a:extLst>
              <a:ext uri="{FF2B5EF4-FFF2-40B4-BE49-F238E27FC236}">
                <a16:creationId xmlns:a16="http://schemas.microsoft.com/office/drawing/2014/main" id="{46468BA1-4EF1-BF4F-B598-BA3C9F5CD9A7}"/>
              </a:ext>
            </a:extLst>
          </p:cNvPr>
          <p:cNvSpPr txBox="1">
            <a:spLocks noChangeArrowheads="1"/>
          </p:cNvSpPr>
          <p:nvPr/>
        </p:nvSpPr>
        <p:spPr>
          <a:xfrm>
            <a:off x="252804" y="212725"/>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dirty="0"/>
              <a:t>Linux process memory layout</a:t>
            </a:r>
          </a:p>
        </p:txBody>
      </p:sp>
      <p:sp>
        <p:nvSpPr>
          <p:cNvPr id="7" name="Rectangle 3">
            <a:extLst>
              <a:ext uri="{FF2B5EF4-FFF2-40B4-BE49-F238E27FC236}">
                <a16:creationId xmlns:a16="http://schemas.microsoft.com/office/drawing/2014/main" id="{8B2EF087-81E0-054C-80DC-BA17C57702C6}"/>
              </a:ext>
            </a:extLst>
          </p:cNvPr>
          <p:cNvSpPr>
            <a:spLocks noChangeArrowheads="1"/>
          </p:cNvSpPr>
          <p:nvPr/>
        </p:nvSpPr>
        <p:spPr bwMode="auto">
          <a:xfrm>
            <a:off x="2803525" y="5829300"/>
            <a:ext cx="2819400" cy="3810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Unused</a:t>
            </a:r>
          </a:p>
        </p:txBody>
      </p:sp>
      <p:sp>
        <p:nvSpPr>
          <p:cNvPr id="8" name="Text Box 4">
            <a:extLst>
              <a:ext uri="{FF2B5EF4-FFF2-40B4-BE49-F238E27FC236}">
                <a16:creationId xmlns:a16="http://schemas.microsoft.com/office/drawing/2014/main" id="{19CE08C0-8B90-7B43-A305-F3EC00990AB4}"/>
              </a:ext>
            </a:extLst>
          </p:cNvPr>
          <p:cNvSpPr txBox="1">
            <a:spLocks noChangeArrowheads="1"/>
          </p:cNvSpPr>
          <p:nvPr/>
        </p:nvSpPr>
        <p:spPr bwMode="auto">
          <a:xfrm>
            <a:off x="5622925" y="5562600"/>
            <a:ext cx="183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0x08048000</a:t>
            </a:r>
          </a:p>
        </p:txBody>
      </p:sp>
      <p:sp>
        <p:nvSpPr>
          <p:cNvPr id="9" name="Rectangle 5">
            <a:extLst>
              <a:ext uri="{FF2B5EF4-FFF2-40B4-BE49-F238E27FC236}">
                <a16:creationId xmlns:a16="http://schemas.microsoft.com/office/drawing/2014/main" id="{8F040D1E-88A2-2E43-A48C-C40088556A54}"/>
              </a:ext>
            </a:extLst>
          </p:cNvPr>
          <p:cNvSpPr>
            <a:spLocks noChangeArrowheads="1"/>
          </p:cNvSpPr>
          <p:nvPr/>
        </p:nvSpPr>
        <p:spPr bwMode="auto">
          <a:xfrm>
            <a:off x="2803525" y="5181600"/>
            <a:ext cx="2825750" cy="6477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endParaRPr lang="en-US" altLang="en-US" sz="2400">
              <a:solidFill>
                <a:schemeClr val="bg2"/>
              </a:solidFill>
              <a:latin typeface="Tahoma" panose="020B0604030504040204" pitchFamily="34" charset="0"/>
            </a:endParaRPr>
          </a:p>
        </p:txBody>
      </p:sp>
      <p:sp>
        <p:nvSpPr>
          <p:cNvPr id="10" name="Rectangle 6">
            <a:extLst>
              <a:ext uri="{FF2B5EF4-FFF2-40B4-BE49-F238E27FC236}">
                <a16:creationId xmlns:a16="http://schemas.microsoft.com/office/drawing/2014/main" id="{C8CCB722-08DC-C542-A257-4B170A83479C}"/>
              </a:ext>
            </a:extLst>
          </p:cNvPr>
          <p:cNvSpPr>
            <a:spLocks noChangeArrowheads="1"/>
          </p:cNvSpPr>
          <p:nvPr/>
        </p:nvSpPr>
        <p:spPr bwMode="auto">
          <a:xfrm>
            <a:off x="2819400" y="4343400"/>
            <a:ext cx="2819400" cy="838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Run time heap</a:t>
            </a:r>
          </a:p>
        </p:txBody>
      </p:sp>
      <p:sp>
        <p:nvSpPr>
          <p:cNvPr id="11" name="Rectangle 7">
            <a:extLst>
              <a:ext uri="{FF2B5EF4-FFF2-40B4-BE49-F238E27FC236}">
                <a16:creationId xmlns:a16="http://schemas.microsoft.com/office/drawing/2014/main" id="{BF828DAA-9B2A-AB4E-9F8B-5C3C82435F2A}"/>
              </a:ext>
            </a:extLst>
          </p:cNvPr>
          <p:cNvSpPr>
            <a:spLocks noChangeArrowheads="1"/>
          </p:cNvSpPr>
          <p:nvPr/>
        </p:nvSpPr>
        <p:spPr bwMode="auto">
          <a:xfrm>
            <a:off x="2809875" y="3276600"/>
            <a:ext cx="2813050" cy="5334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Shared libraries</a:t>
            </a:r>
          </a:p>
        </p:txBody>
      </p:sp>
      <p:sp>
        <p:nvSpPr>
          <p:cNvPr id="12" name="Rectangle 8">
            <a:extLst>
              <a:ext uri="{FF2B5EF4-FFF2-40B4-BE49-F238E27FC236}">
                <a16:creationId xmlns:a16="http://schemas.microsoft.com/office/drawing/2014/main" id="{08A9172D-9723-E841-9A18-C8A49D6BC6B4}"/>
              </a:ext>
            </a:extLst>
          </p:cNvPr>
          <p:cNvSpPr>
            <a:spLocks noChangeArrowheads="1"/>
          </p:cNvSpPr>
          <p:nvPr/>
        </p:nvSpPr>
        <p:spPr bwMode="auto">
          <a:xfrm>
            <a:off x="2809875" y="1295400"/>
            <a:ext cx="2819400" cy="7620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User Stack</a:t>
            </a:r>
          </a:p>
        </p:txBody>
      </p:sp>
      <p:sp>
        <p:nvSpPr>
          <p:cNvPr id="13" name="Rectangle 9">
            <a:extLst>
              <a:ext uri="{FF2B5EF4-FFF2-40B4-BE49-F238E27FC236}">
                <a16:creationId xmlns:a16="http://schemas.microsoft.com/office/drawing/2014/main" id="{37ABDAC4-FCCB-0044-B920-B0AB7040B0B9}"/>
              </a:ext>
            </a:extLst>
          </p:cNvPr>
          <p:cNvSpPr>
            <a:spLocks noChangeArrowheads="1"/>
          </p:cNvSpPr>
          <p:nvPr/>
        </p:nvSpPr>
        <p:spPr bwMode="auto">
          <a:xfrm>
            <a:off x="2803525" y="3810000"/>
            <a:ext cx="2819400" cy="533400"/>
          </a:xfrm>
          <a:prstGeom prst="rect">
            <a:avLst/>
          </a:prstGeom>
          <a:solidFill>
            <a:srgbClr val="808080"/>
          </a:solidFill>
          <a:ln w="9525">
            <a:solidFill>
              <a:srgbClr val="6699FF"/>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4" name="Rectangle 10">
            <a:extLst>
              <a:ext uri="{FF2B5EF4-FFF2-40B4-BE49-F238E27FC236}">
                <a16:creationId xmlns:a16="http://schemas.microsoft.com/office/drawing/2014/main" id="{34508C87-A93C-524D-B110-05E9EB4138F0}"/>
              </a:ext>
            </a:extLst>
          </p:cNvPr>
          <p:cNvSpPr>
            <a:spLocks noChangeArrowheads="1"/>
          </p:cNvSpPr>
          <p:nvPr/>
        </p:nvSpPr>
        <p:spPr bwMode="auto">
          <a:xfrm>
            <a:off x="2803525" y="2057400"/>
            <a:ext cx="2819400" cy="1219200"/>
          </a:xfrm>
          <a:prstGeom prst="rect">
            <a:avLst/>
          </a:prstGeom>
          <a:solidFill>
            <a:srgbClr val="808080"/>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15" name="Line 11">
            <a:extLst>
              <a:ext uri="{FF2B5EF4-FFF2-40B4-BE49-F238E27FC236}">
                <a16:creationId xmlns:a16="http://schemas.microsoft.com/office/drawing/2014/main" id="{60D1EC29-279D-0A45-8977-0938D71C596D}"/>
              </a:ext>
            </a:extLst>
          </p:cNvPr>
          <p:cNvSpPr>
            <a:spLocks noChangeShapeType="1"/>
          </p:cNvSpPr>
          <p:nvPr/>
        </p:nvSpPr>
        <p:spPr bwMode="auto">
          <a:xfrm flipV="1">
            <a:off x="4175125" y="3810000"/>
            <a:ext cx="0" cy="5334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2">
            <a:extLst>
              <a:ext uri="{FF2B5EF4-FFF2-40B4-BE49-F238E27FC236}">
                <a16:creationId xmlns:a16="http://schemas.microsoft.com/office/drawing/2014/main" id="{B582A5EC-1D57-5641-A086-6D3F1BBD7B40}"/>
              </a:ext>
            </a:extLst>
          </p:cNvPr>
          <p:cNvSpPr>
            <a:spLocks noChangeShapeType="1"/>
          </p:cNvSpPr>
          <p:nvPr/>
        </p:nvSpPr>
        <p:spPr bwMode="auto">
          <a:xfrm flipV="1">
            <a:off x="4175125" y="2743200"/>
            <a:ext cx="0" cy="5334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3">
            <a:extLst>
              <a:ext uri="{FF2B5EF4-FFF2-40B4-BE49-F238E27FC236}">
                <a16:creationId xmlns:a16="http://schemas.microsoft.com/office/drawing/2014/main" id="{5FFF34EE-483E-8941-94DC-899E7AB4D067}"/>
              </a:ext>
            </a:extLst>
          </p:cNvPr>
          <p:cNvSpPr>
            <a:spLocks noChangeShapeType="1"/>
          </p:cNvSpPr>
          <p:nvPr/>
        </p:nvSpPr>
        <p:spPr bwMode="auto">
          <a:xfrm>
            <a:off x="4175125" y="2057400"/>
            <a:ext cx="0" cy="5334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8" name="Text Box 14">
            <a:extLst>
              <a:ext uri="{FF2B5EF4-FFF2-40B4-BE49-F238E27FC236}">
                <a16:creationId xmlns:a16="http://schemas.microsoft.com/office/drawing/2014/main" id="{A2329358-1904-4944-8FFE-3EDA8DECA830}"/>
              </a:ext>
            </a:extLst>
          </p:cNvPr>
          <p:cNvSpPr txBox="1">
            <a:spLocks noChangeArrowheads="1"/>
          </p:cNvSpPr>
          <p:nvPr/>
        </p:nvSpPr>
        <p:spPr bwMode="auto">
          <a:xfrm>
            <a:off x="5616575" y="3581400"/>
            <a:ext cx="1835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0x40000000</a:t>
            </a:r>
          </a:p>
        </p:txBody>
      </p:sp>
      <p:sp>
        <p:nvSpPr>
          <p:cNvPr id="19" name="Text Box 15">
            <a:extLst>
              <a:ext uri="{FF2B5EF4-FFF2-40B4-BE49-F238E27FC236}">
                <a16:creationId xmlns:a16="http://schemas.microsoft.com/office/drawing/2014/main" id="{4CA534B1-A588-2341-9A39-A96A05D4F386}"/>
              </a:ext>
            </a:extLst>
          </p:cNvPr>
          <p:cNvSpPr txBox="1">
            <a:spLocks noChangeArrowheads="1"/>
          </p:cNvSpPr>
          <p:nvPr/>
        </p:nvSpPr>
        <p:spPr bwMode="auto">
          <a:xfrm>
            <a:off x="5616575" y="1066800"/>
            <a:ext cx="18510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50000"/>
              </a:spcBef>
              <a:buClrTx/>
              <a:buSzTx/>
              <a:buFontTx/>
              <a:buNone/>
            </a:pPr>
            <a:r>
              <a:rPr lang="en-US" altLang="en-US" sz="2400">
                <a:latin typeface="Tahoma" panose="020B0604030504040204" pitchFamily="34" charset="0"/>
              </a:rPr>
              <a:t>0xC0000000</a:t>
            </a:r>
          </a:p>
        </p:txBody>
      </p:sp>
      <p:sp>
        <p:nvSpPr>
          <p:cNvPr id="21" name="Line 17">
            <a:extLst>
              <a:ext uri="{FF2B5EF4-FFF2-40B4-BE49-F238E27FC236}">
                <a16:creationId xmlns:a16="http://schemas.microsoft.com/office/drawing/2014/main" id="{2B2F34EF-836D-D241-8443-5436FEEC8B2F}"/>
              </a:ext>
            </a:extLst>
          </p:cNvPr>
          <p:cNvSpPr>
            <a:spLocks noChangeShapeType="1"/>
          </p:cNvSpPr>
          <p:nvPr/>
        </p:nvSpPr>
        <p:spPr bwMode="auto">
          <a:xfrm>
            <a:off x="2227263" y="2057400"/>
            <a:ext cx="576262"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2" name="AutoShape 20">
            <a:extLst>
              <a:ext uri="{FF2B5EF4-FFF2-40B4-BE49-F238E27FC236}">
                <a16:creationId xmlns:a16="http://schemas.microsoft.com/office/drawing/2014/main" id="{55681B99-5DB7-674F-82DE-6E28B42AEA83}"/>
              </a:ext>
            </a:extLst>
          </p:cNvPr>
          <p:cNvSpPr>
            <a:spLocks/>
          </p:cNvSpPr>
          <p:nvPr/>
        </p:nvSpPr>
        <p:spPr bwMode="auto">
          <a:xfrm>
            <a:off x="2455863" y="5181600"/>
            <a:ext cx="271462" cy="647700"/>
          </a:xfrm>
          <a:prstGeom prst="leftBrace">
            <a:avLst>
              <a:gd name="adj1" fmla="val 1988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4" name="Line 22">
            <a:extLst>
              <a:ext uri="{FF2B5EF4-FFF2-40B4-BE49-F238E27FC236}">
                <a16:creationId xmlns:a16="http://schemas.microsoft.com/office/drawing/2014/main" id="{18C4F3CA-06F4-F845-A386-30019052EB7D}"/>
              </a:ext>
            </a:extLst>
          </p:cNvPr>
          <p:cNvSpPr>
            <a:spLocks noChangeShapeType="1"/>
          </p:cNvSpPr>
          <p:nvPr/>
        </p:nvSpPr>
        <p:spPr bwMode="auto">
          <a:xfrm>
            <a:off x="2809875" y="5181600"/>
            <a:ext cx="2819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23">
            <a:extLst>
              <a:ext uri="{FF2B5EF4-FFF2-40B4-BE49-F238E27FC236}">
                <a16:creationId xmlns:a16="http://schemas.microsoft.com/office/drawing/2014/main" id="{3E77E188-A309-7343-85B5-A1DE5F9D599E}"/>
              </a:ext>
            </a:extLst>
          </p:cNvPr>
          <p:cNvSpPr>
            <a:spLocks noChangeShapeType="1"/>
          </p:cNvSpPr>
          <p:nvPr/>
        </p:nvSpPr>
        <p:spPr bwMode="auto">
          <a:xfrm>
            <a:off x="2803525" y="3810000"/>
            <a:ext cx="2819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24">
            <a:extLst>
              <a:ext uri="{FF2B5EF4-FFF2-40B4-BE49-F238E27FC236}">
                <a16:creationId xmlns:a16="http://schemas.microsoft.com/office/drawing/2014/main" id="{3980C4FE-EC52-5341-A3F9-7004E8994E3A}"/>
              </a:ext>
            </a:extLst>
          </p:cNvPr>
          <p:cNvSpPr>
            <a:spLocks noChangeShapeType="1"/>
          </p:cNvSpPr>
          <p:nvPr/>
        </p:nvSpPr>
        <p:spPr bwMode="auto">
          <a:xfrm>
            <a:off x="2803525" y="1295400"/>
            <a:ext cx="2819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Text Box 25">
            <a:extLst>
              <a:ext uri="{FF2B5EF4-FFF2-40B4-BE49-F238E27FC236}">
                <a16:creationId xmlns:a16="http://schemas.microsoft.com/office/drawing/2014/main" id="{918BACB7-B81C-8A47-BB93-4C1B756B1596}"/>
              </a:ext>
            </a:extLst>
          </p:cNvPr>
          <p:cNvSpPr txBox="1">
            <a:spLocks noChangeArrowheads="1"/>
          </p:cNvSpPr>
          <p:nvPr/>
        </p:nvSpPr>
        <p:spPr bwMode="auto">
          <a:xfrm>
            <a:off x="5973763" y="5943600"/>
            <a:ext cx="3508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0</a:t>
            </a:r>
          </a:p>
        </p:txBody>
      </p:sp>
      <p:sp>
        <p:nvSpPr>
          <p:cNvPr id="28" name="Line 26">
            <a:extLst>
              <a:ext uri="{FF2B5EF4-FFF2-40B4-BE49-F238E27FC236}">
                <a16:creationId xmlns:a16="http://schemas.microsoft.com/office/drawing/2014/main" id="{F4228C29-1E5F-7941-BE17-C9215CF285FD}"/>
              </a:ext>
            </a:extLst>
          </p:cNvPr>
          <p:cNvSpPr>
            <a:spLocks noChangeShapeType="1"/>
          </p:cNvSpPr>
          <p:nvPr/>
        </p:nvSpPr>
        <p:spPr bwMode="auto">
          <a:xfrm>
            <a:off x="2803525" y="5791200"/>
            <a:ext cx="28194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21619941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D26173-291D-F647-9ED1-1B01E7256876}"/>
              </a:ext>
            </a:extLst>
          </p:cNvPr>
          <p:cNvSpPr>
            <a:spLocks noGrp="1"/>
          </p:cNvSpPr>
          <p:nvPr>
            <p:ph type="sldNum" sz="quarter" idx="12"/>
          </p:nvPr>
        </p:nvSpPr>
        <p:spPr/>
        <p:txBody>
          <a:bodyPr/>
          <a:lstStyle/>
          <a:p>
            <a:fld id="{48758AAF-F958-4141-BDE8-5609689A4508}" type="slidenum">
              <a:rPr lang="zh-CN" altLang="en-US" smtClean="0"/>
              <a:t>7</a:t>
            </a:fld>
            <a:endParaRPr lang="zh-CN" altLang="en-US"/>
          </a:p>
        </p:txBody>
      </p:sp>
      <p:sp>
        <p:nvSpPr>
          <p:cNvPr id="6" name="Rectangle 2">
            <a:extLst>
              <a:ext uri="{FF2B5EF4-FFF2-40B4-BE49-F238E27FC236}">
                <a16:creationId xmlns:a16="http://schemas.microsoft.com/office/drawing/2014/main" id="{1BBB950B-8D7D-4D49-A92A-5631528CE708}"/>
              </a:ext>
            </a:extLst>
          </p:cNvPr>
          <p:cNvSpPr txBox="1">
            <a:spLocks noChangeArrowheads="1"/>
          </p:cNvSpPr>
          <p:nvPr/>
        </p:nvSpPr>
        <p:spPr>
          <a:xfrm>
            <a:off x="457200" y="0"/>
            <a:ext cx="8229600" cy="11430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a:t>Stack Frame</a:t>
            </a:r>
          </a:p>
        </p:txBody>
      </p:sp>
      <p:sp>
        <p:nvSpPr>
          <p:cNvPr id="7" name="Rectangle 3">
            <a:extLst>
              <a:ext uri="{FF2B5EF4-FFF2-40B4-BE49-F238E27FC236}">
                <a16:creationId xmlns:a16="http://schemas.microsoft.com/office/drawing/2014/main" id="{48023620-5D8A-1F41-AF72-C06BA3BCF361}"/>
              </a:ext>
            </a:extLst>
          </p:cNvPr>
          <p:cNvSpPr>
            <a:spLocks noChangeArrowheads="1"/>
          </p:cNvSpPr>
          <p:nvPr/>
        </p:nvSpPr>
        <p:spPr bwMode="auto">
          <a:xfrm>
            <a:off x="2497138" y="2162175"/>
            <a:ext cx="3505200" cy="1219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Parameters</a:t>
            </a:r>
          </a:p>
        </p:txBody>
      </p:sp>
      <p:sp>
        <p:nvSpPr>
          <p:cNvPr id="8" name="Rectangle 4">
            <a:extLst>
              <a:ext uri="{FF2B5EF4-FFF2-40B4-BE49-F238E27FC236}">
                <a16:creationId xmlns:a16="http://schemas.microsoft.com/office/drawing/2014/main" id="{022F2A9D-685E-654C-A8E6-9AF85467743A}"/>
              </a:ext>
            </a:extLst>
          </p:cNvPr>
          <p:cNvSpPr>
            <a:spLocks noChangeArrowheads="1"/>
          </p:cNvSpPr>
          <p:nvPr/>
        </p:nvSpPr>
        <p:spPr bwMode="auto">
          <a:xfrm>
            <a:off x="2497138" y="3457575"/>
            <a:ext cx="3505200" cy="457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Return address</a:t>
            </a:r>
          </a:p>
        </p:txBody>
      </p:sp>
      <p:sp>
        <p:nvSpPr>
          <p:cNvPr id="9" name="Rectangle 5">
            <a:extLst>
              <a:ext uri="{FF2B5EF4-FFF2-40B4-BE49-F238E27FC236}">
                <a16:creationId xmlns:a16="http://schemas.microsoft.com/office/drawing/2014/main" id="{57B6AB85-2703-D644-97CA-76EF27DE8840}"/>
              </a:ext>
            </a:extLst>
          </p:cNvPr>
          <p:cNvSpPr>
            <a:spLocks noChangeArrowheads="1"/>
          </p:cNvSpPr>
          <p:nvPr/>
        </p:nvSpPr>
        <p:spPr bwMode="auto">
          <a:xfrm>
            <a:off x="2497138" y="3990975"/>
            <a:ext cx="3505200" cy="457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Stack Frame Pointer</a:t>
            </a:r>
          </a:p>
        </p:txBody>
      </p:sp>
      <p:sp>
        <p:nvSpPr>
          <p:cNvPr id="10" name="Rectangle 6">
            <a:extLst>
              <a:ext uri="{FF2B5EF4-FFF2-40B4-BE49-F238E27FC236}">
                <a16:creationId xmlns:a16="http://schemas.microsoft.com/office/drawing/2014/main" id="{EAB4C2E7-E9BB-644A-AD21-0C5D3F723BFA}"/>
              </a:ext>
            </a:extLst>
          </p:cNvPr>
          <p:cNvSpPr>
            <a:spLocks noChangeArrowheads="1"/>
          </p:cNvSpPr>
          <p:nvPr/>
        </p:nvSpPr>
        <p:spPr bwMode="auto">
          <a:xfrm>
            <a:off x="2497138" y="4524375"/>
            <a:ext cx="3505200" cy="1219200"/>
          </a:xfrm>
          <a:prstGeom prst="rect">
            <a:avLst/>
          </a:prstGeom>
          <a:solidFill>
            <a:schemeClr val="accent1"/>
          </a:solidFill>
          <a:ln w="9525">
            <a:solidFill>
              <a:schemeClr val="tx1"/>
            </a:solidFill>
            <a:miter lim="800000"/>
            <a:headEnd/>
            <a:tailEnd/>
          </a:ln>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Local variables</a:t>
            </a:r>
          </a:p>
        </p:txBody>
      </p:sp>
      <p:sp>
        <p:nvSpPr>
          <p:cNvPr id="13" name="Line 9">
            <a:extLst>
              <a:ext uri="{FF2B5EF4-FFF2-40B4-BE49-F238E27FC236}">
                <a16:creationId xmlns:a16="http://schemas.microsoft.com/office/drawing/2014/main" id="{DFD470BC-05D4-F443-94B2-CD52385D419A}"/>
              </a:ext>
            </a:extLst>
          </p:cNvPr>
          <p:cNvSpPr>
            <a:spLocks noChangeShapeType="1"/>
          </p:cNvSpPr>
          <p:nvPr/>
        </p:nvSpPr>
        <p:spPr bwMode="auto">
          <a:xfrm>
            <a:off x="6916738" y="1981200"/>
            <a:ext cx="0" cy="41148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4" name="Line 10">
            <a:extLst>
              <a:ext uri="{FF2B5EF4-FFF2-40B4-BE49-F238E27FC236}">
                <a16:creationId xmlns:a16="http://schemas.microsoft.com/office/drawing/2014/main" id="{F8A9CE71-490D-8F4C-9E9A-D612A4896D5F}"/>
              </a:ext>
            </a:extLst>
          </p:cNvPr>
          <p:cNvSpPr>
            <a:spLocks noChangeShapeType="1"/>
          </p:cNvSpPr>
          <p:nvPr/>
        </p:nvSpPr>
        <p:spPr bwMode="auto">
          <a:xfrm>
            <a:off x="2497138" y="23907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1">
            <a:extLst>
              <a:ext uri="{FF2B5EF4-FFF2-40B4-BE49-F238E27FC236}">
                <a16:creationId xmlns:a16="http://schemas.microsoft.com/office/drawing/2014/main" id="{A01C5CFB-9713-874A-8DD6-DC23D8596315}"/>
              </a:ext>
            </a:extLst>
          </p:cNvPr>
          <p:cNvSpPr>
            <a:spLocks noChangeShapeType="1"/>
          </p:cNvSpPr>
          <p:nvPr/>
        </p:nvSpPr>
        <p:spPr bwMode="auto">
          <a:xfrm>
            <a:off x="2497138" y="26193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 name="Line 12">
            <a:extLst>
              <a:ext uri="{FF2B5EF4-FFF2-40B4-BE49-F238E27FC236}">
                <a16:creationId xmlns:a16="http://schemas.microsoft.com/office/drawing/2014/main" id="{FA6DF01D-8D35-E94F-A60E-916FEDB480EC}"/>
              </a:ext>
            </a:extLst>
          </p:cNvPr>
          <p:cNvSpPr>
            <a:spLocks noChangeShapeType="1"/>
          </p:cNvSpPr>
          <p:nvPr/>
        </p:nvSpPr>
        <p:spPr bwMode="auto">
          <a:xfrm>
            <a:off x="2497138" y="31527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7" name="Line 13">
            <a:extLst>
              <a:ext uri="{FF2B5EF4-FFF2-40B4-BE49-F238E27FC236}">
                <a16:creationId xmlns:a16="http://schemas.microsoft.com/office/drawing/2014/main" id="{12E48297-EE76-364B-90FB-56CE8A732D4F}"/>
              </a:ext>
            </a:extLst>
          </p:cNvPr>
          <p:cNvSpPr>
            <a:spLocks noChangeShapeType="1"/>
          </p:cNvSpPr>
          <p:nvPr/>
        </p:nvSpPr>
        <p:spPr bwMode="auto">
          <a:xfrm>
            <a:off x="2497138" y="47529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8" name="Line 14">
            <a:extLst>
              <a:ext uri="{FF2B5EF4-FFF2-40B4-BE49-F238E27FC236}">
                <a16:creationId xmlns:a16="http://schemas.microsoft.com/office/drawing/2014/main" id="{40E47600-B5A4-CB44-9CCA-687E1A6B24A8}"/>
              </a:ext>
            </a:extLst>
          </p:cNvPr>
          <p:cNvSpPr>
            <a:spLocks noChangeShapeType="1"/>
          </p:cNvSpPr>
          <p:nvPr/>
        </p:nvSpPr>
        <p:spPr bwMode="auto">
          <a:xfrm>
            <a:off x="2497138" y="49815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9" name="Line 15">
            <a:extLst>
              <a:ext uri="{FF2B5EF4-FFF2-40B4-BE49-F238E27FC236}">
                <a16:creationId xmlns:a16="http://schemas.microsoft.com/office/drawing/2014/main" id="{1D793C7A-F67A-1E4E-A090-97AC9908E5F4}"/>
              </a:ext>
            </a:extLst>
          </p:cNvPr>
          <p:cNvSpPr>
            <a:spLocks noChangeShapeType="1"/>
          </p:cNvSpPr>
          <p:nvPr/>
        </p:nvSpPr>
        <p:spPr bwMode="auto">
          <a:xfrm>
            <a:off x="2497138" y="53625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0" name="Line 16">
            <a:extLst>
              <a:ext uri="{FF2B5EF4-FFF2-40B4-BE49-F238E27FC236}">
                <a16:creationId xmlns:a16="http://schemas.microsoft.com/office/drawing/2014/main" id="{A188A7A7-1F86-0D4E-957D-F63902080A97}"/>
              </a:ext>
            </a:extLst>
          </p:cNvPr>
          <p:cNvSpPr>
            <a:spLocks noChangeShapeType="1"/>
          </p:cNvSpPr>
          <p:nvPr/>
        </p:nvSpPr>
        <p:spPr bwMode="auto">
          <a:xfrm>
            <a:off x="2497138" y="5591175"/>
            <a:ext cx="3505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1" name="Rectangle 17">
            <a:extLst>
              <a:ext uri="{FF2B5EF4-FFF2-40B4-BE49-F238E27FC236}">
                <a16:creationId xmlns:a16="http://schemas.microsoft.com/office/drawing/2014/main" id="{218D983C-9BA5-A64A-AF86-F9460112F55A}"/>
              </a:ext>
            </a:extLst>
          </p:cNvPr>
          <p:cNvSpPr>
            <a:spLocks noChangeArrowheads="1"/>
          </p:cNvSpPr>
          <p:nvPr/>
        </p:nvSpPr>
        <p:spPr bwMode="auto">
          <a:xfrm>
            <a:off x="2497138" y="2162175"/>
            <a:ext cx="3505200" cy="3581400"/>
          </a:xfrm>
          <a:prstGeom prst="rect">
            <a:avLst/>
          </a:prstGeom>
          <a:noFill/>
          <a:ln w="571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2400">
              <a:latin typeface="Times New Roman" panose="02020603050405020304" pitchFamily="18" charset="0"/>
            </a:endParaRPr>
          </a:p>
        </p:txBody>
      </p:sp>
      <p:sp>
        <p:nvSpPr>
          <p:cNvPr id="22" name="Line 18">
            <a:extLst>
              <a:ext uri="{FF2B5EF4-FFF2-40B4-BE49-F238E27FC236}">
                <a16:creationId xmlns:a16="http://schemas.microsoft.com/office/drawing/2014/main" id="{649D0A4C-691C-8D43-AB7E-921134053E7F}"/>
              </a:ext>
            </a:extLst>
          </p:cNvPr>
          <p:cNvSpPr>
            <a:spLocks noChangeShapeType="1"/>
          </p:cNvSpPr>
          <p:nvPr/>
        </p:nvSpPr>
        <p:spPr bwMode="auto">
          <a:xfrm>
            <a:off x="2192338" y="5743575"/>
            <a:ext cx="40386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3" name="Line 19">
            <a:extLst>
              <a:ext uri="{FF2B5EF4-FFF2-40B4-BE49-F238E27FC236}">
                <a16:creationId xmlns:a16="http://schemas.microsoft.com/office/drawing/2014/main" id="{DD5A9671-1FD2-F246-8D13-78F6D15DC8EB}"/>
              </a:ext>
            </a:extLst>
          </p:cNvPr>
          <p:cNvSpPr>
            <a:spLocks noChangeShapeType="1"/>
          </p:cNvSpPr>
          <p:nvPr/>
        </p:nvSpPr>
        <p:spPr bwMode="auto">
          <a:xfrm>
            <a:off x="2192338" y="2133600"/>
            <a:ext cx="4038600" cy="0"/>
          </a:xfrm>
          <a:prstGeom prst="line">
            <a:avLst/>
          </a:prstGeom>
          <a:noFill/>
          <a:ln w="762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4" name="Text Box 20">
            <a:extLst>
              <a:ext uri="{FF2B5EF4-FFF2-40B4-BE49-F238E27FC236}">
                <a16:creationId xmlns:a16="http://schemas.microsoft.com/office/drawing/2014/main" id="{F20772D1-C9E2-B84A-BC11-82DC4CCEA108}"/>
              </a:ext>
            </a:extLst>
          </p:cNvPr>
          <p:cNvSpPr txBox="1">
            <a:spLocks noChangeArrowheads="1"/>
          </p:cNvSpPr>
          <p:nvPr/>
        </p:nvSpPr>
        <p:spPr bwMode="auto">
          <a:xfrm>
            <a:off x="6916738" y="5030788"/>
            <a:ext cx="1160462" cy="712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Clr>
                <a:schemeClr val="accent2"/>
              </a:buClr>
              <a:buSzPct val="100000"/>
              <a:buFont typeface="Times" pitchFamily="2" charset="0"/>
              <a:buChar char="•"/>
              <a:defRPr sz="2800">
                <a:solidFill>
                  <a:schemeClr val="tx1"/>
                </a:solidFill>
                <a:latin typeface="Arial" panose="020B0604020202020204" pitchFamily="34" charset="0"/>
              </a:defRPr>
            </a:lvl1pPr>
            <a:lvl2pPr marL="742950" indent="-285750" eaLnBrk="0" hangingPunct="0">
              <a:spcBef>
                <a:spcPct val="20000"/>
              </a:spcBef>
              <a:buChar char="–"/>
              <a:defRPr sz="2400">
                <a:solidFill>
                  <a:schemeClr val="tx1"/>
                </a:solidFill>
                <a:latin typeface="Arial" panose="020B0604020202020204" pitchFamily="34" charset="0"/>
              </a:defRPr>
            </a:lvl2pPr>
            <a:lvl3pPr marL="1143000" indent="-228600" eaLnBrk="0" hangingPunct="0">
              <a:spcBef>
                <a:spcPct val="20000"/>
              </a:spcBef>
              <a:buChar char="•"/>
              <a:defRPr sz="2200">
                <a:solidFill>
                  <a:schemeClr val="tx1"/>
                </a:solidFill>
                <a:latin typeface="Arial" panose="020B0604020202020204" pitchFamily="34" charset="0"/>
              </a:defRPr>
            </a:lvl3pPr>
            <a:lvl4pPr marL="1600200" indent="-228600" eaLnBrk="0" hangingPunct="0">
              <a:spcBef>
                <a:spcPct val="20000"/>
              </a:spcBef>
              <a:buChar char="–"/>
              <a:defRPr sz="2000">
                <a:solidFill>
                  <a:schemeClr val="tx1"/>
                </a:solidFill>
                <a:latin typeface="Arial" panose="020B0604020202020204" pitchFamily="34" charset="0"/>
              </a:defRPr>
            </a:lvl4pPr>
            <a:lvl5pPr marL="2057400" indent="-228600" eaLnBrk="0" hangingPunct="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50000"/>
              </a:spcBef>
              <a:buClrTx/>
              <a:buSzTx/>
              <a:buFontTx/>
              <a:buNone/>
            </a:pPr>
            <a:r>
              <a:rPr lang="en-US" altLang="en-US" sz="2400">
                <a:latin typeface="Tahoma" panose="020B0604030504040204" pitchFamily="34" charset="0"/>
              </a:rPr>
              <a:t>Stack</a:t>
            </a:r>
          </a:p>
          <a:p>
            <a:pPr algn="ctr">
              <a:lnSpc>
                <a:spcPct val="20000"/>
              </a:lnSpc>
              <a:spcBef>
                <a:spcPct val="50000"/>
              </a:spcBef>
              <a:buClrTx/>
              <a:buSzTx/>
              <a:buFontTx/>
              <a:buNone/>
            </a:pPr>
            <a:r>
              <a:rPr lang="en-US" altLang="en-US" sz="2400">
                <a:latin typeface="Tahoma" panose="020B0604030504040204" pitchFamily="34" charset="0"/>
              </a:rPr>
              <a:t>Growth</a:t>
            </a:r>
          </a:p>
        </p:txBody>
      </p:sp>
    </p:spTree>
    <p:extLst>
      <p:ext uri="{BB962C8B-B14F-4D97-AF65-F5344CB8AC3E}">
        <p14:creationId xmlns:p14="http://schemas.microsoft.com/office/powerpoint/2010/main" val="3412518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5D4C3B3-E4C8-6441-94B5-3C2D2EC0D411}"/>
              </a:ext>
            </a:extLst>
          </p:cNvPr>
          <p:cNvSpPr>
            <a:spLocks noGrp="1"/>
          </p:cNvSpPr>
          <p:nvPr>
            <p:ph type="sldNum" sz="quarter" idx="12"/>
          </p:nvPr>
        </p:nvSpPr>
        <p:spPr/>
        <p:txBody>
          <a:bodyPr/>
          <a:lstStyle/>
          <a:p>
            <a:fld id="{48758AAF-F958-4141-BDE8-5609689A4508}" type="slidenum">
              <a:rPr lang="zh-CN" altLang="en-US" smtClean="0"/>
              <a:t>8</a:t>
            </a:fld>
            <a:endParaRPr lang="zh-CN" altLang="en-US"/>
          </a:p>
        </p:txBody>
      </p:sp>
      <p:pic>
        <p:nvPicPr>
          <p:cNvPr id="4" name="Picture 3">
            <a:extLst>
              <a:ext uri="{FF2B5EF4-FFF2-40B4-BE49-F238E27FC236}">
                <a16:creationId xmlns:a16="http://schemas.microsoft.com/office/drawing/2014/main" id="{09D42BCF-D6EF-9B48-92E6-4D226E5187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599" y="1602099"/>
            <a:ext cx="7029467" cy="3905816"/>
          </a:xfrm>
          <a:prstGeom prst="rect">
            <a:avLst/>
          </a:prstGeom>
        </p:spPr>
      </p:pic>
      <p:sp>
        <p:nvSpPr>
          <p:cNvPr id="5" name="Rectangle 4">
            <a:extLst>
              <a:ext uri="{FF2B5EF4-FFF2-40B4-BE49-F238E27FC236}">
                <a16:creationId xmlns:a16="http://schemas.microsoft.com/office/drawing/2014/main" id="{0436BDD1-7748-1F49-838C-32C897126EAC}"/>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35508530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98C4836-7CEA-8F48-A57B-E97706F16970}"/>
              </a:ext>
            </a:extLst>
          </p:cNvPr>
          <p:cNvSpPr>
            <a:spLocks noGrp="1"/>
          </p:cNvSpPr>
          <p:nvPr>
            <p:ph type="sldNum" sz="quarter" idx="12"/>
          </p:nvPr>
        </p:nvSpPr>
        <p:spPr/>
        <p:txBody>
          <a:bodyPr/>
          <a:lstStyle/>
          <a:p>
            <a:fld id="{48758AAF-F958-4141-BDE8-5609689A4508}" type="slidenum">
              <a:rPr lang="zh-CN" altLang="en-US" smtClean="0"/>
              <a:t>9</a:t>
            </a:fld>
            <a:endParaRPr lang="zh-CN" altLang="en-US"/>
          </a:p>
        </p:txBody>
      </p:sp>
      <p:pic>
        <p:nvPicPr>
          <p:cNvPr id="4" name="Picture 3">
            <a:extLst>
              <a:ext uri="{FF2B5EF4-FFF2-40B4-BE49-F238E27FC236}">
                <a16:creationId xmlns:a16="http://schemas.microsoft.com/office/drawing/2014/main" id="{A4E667F4-E2BB-9E4D-8B64-0E121EDD4E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008082"/>
            <a:ext cx="9906000" cy="4841835"/>
          </a:xfrm>
          <a:prstGeom prst="rect">
            <a:avLst/>
          </a:prstGeom>
        </p:spPr>
      </p:pic>
      <p:sp>
        <p:nvSpPr>
          <p:cNvPr id="5" name="Rectangle 4">
            <a:extLst>
              <a:ext uri="{FF2B5EF4-FFF2-40B4-BE49-F238E27FC236}">
                <a16:creationId xmlns:a16="http://schemas.microsoft.com/office/drawing/2014/main" id="{C6FC4465-7A7C-F34E-8B57-77F01BE3D46C}"/>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2166377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C6E8C6C-7434-D249-83D5-E34BF6164531}"/>
              </a:ext>
            </a:extLst>
          </p:cNvPr>
          <p:cNvSpPr>
            <a:spLocks noGrp="1"/>
          </p:cNvSpPr>
          <p:nvPr>
            <p:ph type="sldNum" sz="quarter" idx="12"/>
          </p:nvPr>
        </p:nvSpPr>
        <p:spPr/>
        <p:txBody>
          <a:bodyPr/>
          <a:lstStyle/>
          <a:p>
            <a:fld id="{48758AAF-F958-4141-BDE8-5609689A4508}" type="slidenum">
              <a:rPr lang="zh-CN" altLang="en-US" smtClean="0"/>
              <a:t>10</a:t>
            </a:fld>
            <a:endParaRPr lang="zh-CN" altLang="en-US"/>
          </a:p>
        </p:txBody>
      </p:sp>
      <p:pic>
        <p:nvPicPr>
          <p:cNvPr id="4" name="Picture 3">
            <a:extLst>
              <a:ext uri="{FF2B5EF4-FFF2-40B4-BE49-F238E27FC236}">
                <a16:creationId xmlns:a16="http://schemas.microsoft.com/office/drawing/2014/main" id="{3C66D332-D6EC-474E-AE27-17D7509BADA9}"/>
              </a:ext>
            </a:extLst>
          </p:cNvPr>
          <p:cNvPicPr>
            <a:picLocks noChangeAspect="1"/>
          </p:cNvPicPr>
          <p:nvPr/>
        </p:nvPicPr>
        <p:blipFill rotWithShape="1">
          <a:blip r:embed="rId2">
            <a:extLst>
              <a:ext uri="{28A0092B-C50C-407E-A947-70E740481C1C}">
                <a14:useLocalDpi xmlns:a14="http://schemas.microsoft.com/office/drawing/2010/main" val="0"/>
              </a:ext>
            </a:extLst>
          </a:blip>
          <a:srcRect l="2498" t="31838" r="3891"/>
          <a:stretch/>
        </p:blipFill>
        <p:spPr>
          <a:xfrm>
            <a:off x="484094" y="1430767"/>
            <a:ext cx="9273092" cy="3825344"/>
          </a:xfrm>
          <a:prstGeom prst="rect">
            <a:avLst/>
          </a:prstGeom>
        </p:spPr>
      </p:pic>
      <p:sp>
        <p:nvSpPr>
          <p:cNvPr id="5" name="Rectangle 4">
            <a:extLst>
              <a:ext uri="{FF2B5EF4-FFF2-40B4-BE49-F238E27FC236}">
                <a16:creationId xmlns:a16="http://schemas.microsoft.com/office/drawing/2014/main" id="{705B8CC6-9082-CA40-89E9-D53F80ECB626}"/>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306076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835105-ED2F-504D-A404-01DCD91D1DD3}"/>
              </a:ext>
            </a:extLst>
          </p:cNvPr>
          <p:cNvSpPr>
            <a:spLocks noGrp="1"/>
          </p:cNvSpPr>
          <p:nvPr>
            <p:ph type="sldNum" sz="quarter" idx="12"/>
          </p:nvPr>
        </p:nvSpPr>
        <p:spPr/>
        <p:txBody>
          <a:bodyPr/>
          <a:lstStyle/>
          <a:p>
            <a:fld id="{48758AAF-F958-4141-BDE8-5609689A4508}" type="slidenum">
              <a:rPr lang="zh-CN" altLang="en-US" smtClean="0"/>
              <a:t>11</a:t>
            </a:fld>
            <a:endParaRPr lang="zh-CN" altLang="en-US"/>
          </a:p>
        </p:txBody>
      </p:sp>
      <p:pic>
        <p:nvPicPr>
          <p:cNvPr id="4" name="Picture 3">
            <a:extLst>
              <a:ext uri="{FF2B5EF4-FFF2-40B4-BE49-F238E27FC236}">
                <a16:creationId xmlns:a16="http://schemas.microsoft.com/office/drawing/2014/main" id="{D2CB065A-C6BB-234B-BCDB-2D829FB2F85C}"/>
              </a:ext>
            </a:extLst>
          </p:cNvPr>
          <p:cNvPicPr>
            <a:picLocks noChangeAspect="1"/>
          </p:cNvPicPr>
          <p:nvPr/>
        </p:nvPicPr>
        <p:blipFill rotWithShape="1">
          <a:blip r:embed="rId2">
            <a:extLst>
              <a:ext uri="{28A0092B-C50C-407E-A947-70E740481C1C}">
                <a14:useLocalDpi xmlns:a14="http://schemas.microsoft.com/office/drawing/2010/main" val="0"/>
              </a:ext>
            </a:extLst>
          </a:blip>
          <a:srcRect r="50697"/>
          <a:stretch/>
        </p:blipFill>
        <p:spPr>
          <a:xfrm>
            <a:off x="236668" y="1329898"/>
            <a:ext cx="4883972" cy="4241236"/>
          </a:xfrm>
          <a:prstGeom prst="rect">
            <a:avLst/>
          </a:prstGeom>
        </p:spPr>
      </p:pic>
      <p:sp>
        <p:nvSpPr>
          <p:cNvPr id="5" name="Rectangle 4">
            <a:extLst>
              <a:ext uri="{FF2B5EF4-FFF2-40B4-BE49-F238E27FC236}">
                <a16:creationId xmlns:a16="http://schemas.microsoft.com/office/drawing/2014/main" id="{A3840D22-BB2B-814B-9A79-8B72FF3FC286}"/>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333315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9835105-ED2F-504D-A404-01DCD91D1DD3}"/>
              </a:ext>
            </a:extLst>
          </p:cNvPr>
          <p:cNvSpPr>
            <a:spLocks noGrp="1"/>
          </p:cNvSpPr>
          <p:nvPr>
            <p:ph type="sldNum" sz="quarter" idx="12"/>
          </p:nvPr>
        </p:nvSpPr>
        <p:spPr/>
        <p:txBody>
          <a:bodyPr/>
          <a:lstStyle/>
          <a:p>
            <a:fld id="{48758AAF-F958-4141-BDE8-5609689A4508}" type="slidenum">
              <a:rPr lang="zh-CN" altLang="en-US" smtClean="0"/>
              <a:t>12</a:t>
            </a:fld>
            <a:endParaRPr lang="zh-CN" altLang="en-US"/>
          </a:p>
        </p:txBody>
      </p:sp>
      <p:pic>
        <p:nvPicPr>
          <p:cNvPr id="4" name="Picture 3">
            <a:extLst>
              <a:ext uri="{FF2B5EF4-FFF2-40B4-BE49-F238E27FC236}">
                <a16:creationId xmlns:a16="http://schemas.microsoft.com/office/drawing/2014/main" id="{D2CB065A-C6BB-234B-BCDB-2D829FB2F8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08382"/>
            <a:ext cx="9906000" cy="4241236"/>
          </a:xfrm>
          <a:prstGeom prst="rect">
            <a:avLst/>
          </a:prstGeom>
        </p:spPr>
      </p:pic>
      <p:sp>
        <p:nvSpPr>
          <p:cNvPr id="5" name="Rectangle 4">
            <a:extLst>
              <a:ext uri="{FF2B5EF4-FFF2-40B4-BE49-F238E27FC236}">
                <a16:creationId xmlns:a16="http://schemas.microsoft.com/office/drawing/2014/main" id="{AA24CE7C-BF80-FC4B-9743-DF04E1B68962}"/>
              </a:ext>
            </a:extLst>
          </p:cNvPr>
          <p:cNvSpPr/>
          <p:nvPr/>
        </p:nvSpPr>
        <p:spPr>
          <a:xfrm>
            <a:off x="0" y="476082"/>
            <a:ext cx="2652586" cy="523220"/>
          </a:xfrm>
          <a:prstGeom prst="rect">
            <a:avLst/>
          </a:prstGeom>
        </p:spPr>
        <p:txBody>
          <a:bodyPr wrap="none">
            <a:spAutoFit/>
          </a:bodyPr>
          <a:lstStyle/>
          <a:p>
            <a:r>
              <a:rPr lang="en-US" sz="2800" b="1" dirty="0">
                <a:solidFill>
                  <a:srgbClr val="5B5B5B"/>
                </a:solidFill>
                <a:latin typeface="MyriadPro"/>
              </a:rPr>
              <a:t>Buffer Overflow </a:t>
            </a:r>
            <a:endParaRPr lang="en-US" sz="2800" dirty="0"/>
          </a:p>
        </p:txBody>
      </p:sp>
    </p:spTree>
    <p:extLst>
      <p:ext uri="{BB962C8B-B14F-4D97-AF65-F5344CB8AC3E}">
        <p14:creationId xmlns:p14="http://schemas.microsoft.com/office/powerpoint/2010/main" val="350600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13</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4" name="Rectangle 3">
            <a:extLst>
              <a:ext uri="{FF2B5EF4-FFF2-40B4-BE49-F238E27FC236}">
                <a16:creationId xmlns:a16="http://schemas.microsoft.com/office/drawing/2014/main" id="{09772AD6-4129-E441-B91D-1DC4E3FC1DC6}"/>
              </a:ext>
            </a:extLst>
          </p:cNvPr>
          <p:cNvSpPr/>
          <p:nvPr/>
        </p:nvSpPr>
        <p:spPr>
          <a:xfrm>
            <a:off x="1227562" y="1366245"/>
            <a:ext cx="6912827" cy="830997"/>
          </a:xfrm>
          <a:prstGeom prst="rect">
            <a:avLst/>
          </a:prstGeom>
        </p:spPr>
        <p:txBody>
          <a:bodyPr wrap="square">
            <a:spAutoFit/>
          </a:bodyPr>
          <a:lstStyle/>
          <a:p>
            <a:pPr marL="285750" indent="-285750">
              <a:buFont typeface="Arial" panose="020B0604020202020204" pitchFamily="34" charset="0"/>
              <a:buChar char="•"/>
            </a:pPr>
            <a:r>
              <a:rPr lang="en-US" sz="2400" dirty="0">
                <a:latin typeface="AGaramondPro"/>
              </a:rPr>
              <a:t>Copying of data into the buffer without checking the size of input </a:t>
            </a:r>
            <a:endParaRPr lang="en-US" sz="2400" dirty="0">
              <a:latin typeface="ArialMT"/>
            </a:endParaRPr>
          </a:p>
        </p:txBody>
      </p:sp>
      <p:sp>
        <p:nvSpPr>
          <p:cNvPr id="9" name="Rectangle 8">
            <a:extLst>
              <a:ext uri="{FF2B5EF4-FFF2-40B4-BE49-F238E27FC236}">
                <a16:creationId xmlns:a16="http://schemas.microsoft.com/office/drawing/2014/main" id="{5035C9B4-E999-6841-BA9B-5360C6720B53}"/>
              </a:ext>
            </a:extLst>
          </p:cNvPr>
          <p:cNvSpPr/>
          <p:nvPr/>
        </p:nvSpPr>
        <p:spPr>
          <a:xfrm>
            <a:off x="959935" y="2661125"/>
            <a:ext cx="4953000" cy="1754326"/>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string.h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copy me(</a:t>
            </a:r>
            <a:r>
              <a:rPr lang="en-US" dirty="0" err="1">
                <a:latin typeface="Consolas" panose="020B0609020204030204" pitchFamily="49" charset="0"/>
                <a:cs typeface="Consolas" panose="020B0609020204030204" pitchFamily="49" charset="0"/>
              </a:rPr>
              <a:t>const</a:t>
            </a:r>
            <a:r>
              <a:rPr lang="en-US" dirty="0">
                <a:latin typeface="Consolas" panose="020B0609020204030204" pitchFamily="49" charset="0"/>
                <a:cs typeface="Consolas" panose="020B0609020204030204" pitchFamily="49" charset="0"/>
              </a:rPr>
              <a:t> char *s) {</a:t>
            </a:r>
          </a:p>
          <a:p>
            <a:r>
              <a:rPr lang="en-US" dirty="0">
                <a:latin typeface="Consolas" panose="020B0609020204030204" pitchFamily="49" charset="0"/>
                <a:cs typeface="Consolas" panose="020B0609020204030204" pitchFamily="49" charset="0"/>
              </a:rPr>
              <a:t>    char copy[1024];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strcpy</a:t>
            </a:r>
            <a:r>
              <a:rPr lang="en-US" dirty="0">
                <a:latin typeface="Consolas" panose="020B0609020204030204" pitchFamily="49" charset="0"/>
                <a:cs typeface="Consolas" panose="020B0609020204030204" pitchFamily="49" charset="0"/>
              </a:rPr>
              <a:t>(copy, s);  </a:t>
            </a:r>
          </a:p>
          <a:p>
            <a:r>
              <a:rPr lang="en-US"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7954777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14</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4" name="Rectangle 3">
            <a:extLst>
              <a:ext uri="{FF2B5EF4-FFF2-40B4-BE49-F238E27FC236}">
                <a16:creationId xmlns:a16="http://schemas.microsoft.com/office/drawing/2014/main" id="{09772AD6-4129-E441-B91D-1DC4E3FC1DC6}"/>
              </a:ext>
            </a:extLst>
          </p:cNvPr>
          <p:cNvSpPr/>
          <p:nvPr/>
        </p:nvSpPr>
        <p:spPr>
          <a:xfrm>
            <a:off x="1227562" y="1366245"/>
            <a:ext cx="6912827" cy="830997"/>
          </a:xfrm>
          <a:prstGeom prst="rect">
            <a:avLst/>
          </a:prstGeom>
        </p:spPr>
        <p:txBody>
          <a:bodyPr wrap="square">
            <a:spAutoFit/>
          </a:bodyPr>
          <a:lstStyle/>
          <a:p>
            <a:pPr marL="285750" indent="-285750">
              <a:buFont typeface="Arial" panose="020B0604020202020204" pitchFamily="34" charset="0"/>
              <a:buChar char="•"/>
            </a:pPr>
            <a:r>
              <a:rPr lang="en-US" sz="2400" dirty="0">
                <a:latin typeface="AGaramondPro"/>
              </a:rPr>
              <a:t>Copying of data into the buffer without checking the size of input </a:t>
            </a:r>
            <a:endParaRPr lang="en-US" sz="2400" dirty="0">
              <a:latin typeface="ArialMT"/>
            </a:endParaRPr>
          </a:p>
        </p:txBody>
      </p:sp>
      <p:sp>
        <p:nvSpPr>
          <p:cNvPr id="9" name="Rectangle 8">
            <a:extLst>
              <a:ext uri="{FF2B5EF4-FFF2-40B4-BE49-F238E27FC236}">
                <a16:creationId xmlns:a16="http://schemas.microsoft.com/office/drawing/2014/main" id="{5035C9B4-E999-6841-BA9B-5360C6720B53}"/>
              </a:ext>
            </a:extLst>
          </p:cNvPr>
          <p:cNvSpPr/>
          <p:nvPr/>
        </p:nvSpPr>
        <p:spPr>
          <a:xfrm>
            <a:off x="959935" y="2661125"/>
            <a:ext cx="4953000" cy="1754326"/>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string.h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copy me(</a:t>
            </a:r>
            <a:r>
              <a:rPr lang="en-US" dirty="0" err="1">
                <a:latin typeface="Consolas" panose="020B0609020204030204" pitchFamily="49" charset="0"/>
                <a:cs typeface="Consolas" panose="020B0609020204030204" pitchFamily="49" charset="0"/>
              </a:rPr>
              <a:t>const</a:t>
            </a:r>
            <a:r>
              <a:rPr lang="en-US" dirty="0">
                <a:latin typeface="Consolas" panose="020B0609020204030204" pitchFamily="49" charset="0"/>
                <a:cs typeface="Consolas" panose="020B0609020204030204" pitchFamily="49" charset="0"/>
              </a:rPr>
              <a:t> char *s) {</a:t>
            </a:r>
          </a:p>
          <a:p>
            <a:r>
              <a:rPr lang="en-US" dirty="0">
                <a:latin typeface="Consolas" panose="020B0609020204030204" pitchFamily="49" charset="0"/>
                <a:cs typeface="Consolas" panose="020B0609020204030204" pitchFamily="49" charset="0"/>
              </a:rPr>
              <a:t>    char copy[1024];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strcpy</a:t>
            </a:r>
            <a:r>
              <a:rPr lang="en-US" dirty="0">
                <a:latin typeface="Consolas" panose="020B0609020204030204" pitchFamily="49" charset="0"/>
                <a:cs typeface="Consolas" panose="020B0609020204030204" pitchFamily="49" charset="0"/>
              </a:rPr>
              <a:t>(copy, s);  </a:t>
            </a:r>
          </a:p>
          <a:p>
            <a:r>
              <a:rPr lang="en-US" dirty="0">
                <a:latin typeface="Consolas" panose="020B0609020204030204" pitchFamily="49" charset="0"/>
                <a:cs typeface="Consolas" panose="020B0609020204030204" pitchFamily="49" charset="0"/>
              </a:rPr>
              <a:t>}</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1376979" y="3835732"/>
            <a:ext cx="2302136" cy="316720"/>
          </a:xfrm>
          <a:prstGeom prst="round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0706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15</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6" name="Rectangle 5">
            <a:extLst>
              <a:ext uri="{FF2B5EF4-FFF2-40B4-BE49-F238E27FC236}">
                <a16:creationId xmlns:a16="http://schemas.microsoft.com/office/drawing/2014/main" id="{CBD69C2F-F761-A542-B4D7-5C49F0B86A09}"/>
              </a:ext>
            </a:extLst>
          </p:cNvPr>
          <p:cNvSpPr/>
          <p:nvPr/>
        </p:nvSpPr>
        <p:spPr>
          <a:xfrm>
            <a:off x="688489" y="1075424"/>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("Control Hijacked! We are inside secret()!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88109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16</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544606" y="4255281"/>
            <a:ext cx="2302136" cy="316720"/>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D69C2F-F761-A542-B4D7-5C49F0B86A09}"/>
              </a:ext>
            </a:extLst>
          </p:cNvPr>
          <p:cNvSpPr/>
          <p:nvPr/>
        </p:nvSpPr>
        <p:spPr>
          <a:xfrm>
            <a:off x="688489" y="1075424"/>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("\n Control Hijacked! We are inside secret()!\n\n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923803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17</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1269401" y="4502707"/>
            <a:ext cx="1835523" cy="359750"/>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D69C2F-F761-A542-B4D7-5C49F0B86A09}"/>
              </a:ext>
            </a:extLst>
          </p:cNvPr>
          <p:cNvSpPr/>
          <p:nvPr/>
        </p:nvSpPr>
        <p:spPr>
          <a:xfrm>
            <a:off x="968188" y="1129212"/>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("\n Control Hijacked! We are inside secret()!\n\n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64294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18</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1204857" y="4582757"/>
            <a:ext cx="1900068" cy="271361"/>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D69C2F-F761-A542-B4D7-5C49F0B86A09}"/>
              </a:ext>
            </a:extLst>
          </p:cNvPr>
          <p:cNvSpPr/>
          <p:nvPr/>
        </p:nvSpPr>
        <p:spPr>
          <a:xfrm>
            <a:off x="968188" y="1129212"/>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("\n Control Hijacked! We are inside secret()!\n\n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
        <p:nvSpPr>
          <p:cNvPr id="7" name="Rounded Rectangle 6">
            <a:extLst>
              <a:ext uri="{FF2B5EF4-FFF2-40B4-BE49-F238E27FC236}">
                <a16:creationId xmlns:a16="http://schemas.microsoft.com/office/drawing/2014/main" id="{993A0F00-E48A-164E-83DC-4060B2B01DF2}"/>
              </a:ext>
            </a:extLst>
          </p:cNvPr>
          <p:cNvSpPr/>
          <p:nvPr/>
        </p:nvSpPr>
        <p:spPr>
          <a:xfrm>
            <a:off x="1441525" y="4854119"/>
            <a:ext cx="4260028" cy="226849"/>
          </a:xfrm>
          <a:prstGeom prst="roundRect">
            <a:avLst/>
          </a:prstGeom>
          <a:noFill/>
          <a:ln w="508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95778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19</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1807283" y="2749211"/>
            <a:ext cx="2076228" cy="295203"/>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D69C2F-F761-A542-B4D7-5C49F0B86A09}"/>
              </a:ext>
            </a:extLst>
          </p:cNvPr>
          <p:cNvSpPr/>
          <p:nvPr/>
        </p:nvSpPr>
        <p:spPr>
          <a:xfrm>
            <a:off x="1807283" y="1258304"/>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("\n Control Hijacked! We are inside secret()!\n\n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688051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20</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2237589" y="2996637"/>
            <a:ext cx="2076228" cy="295203"/>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D69C2F-F761-A542-B4D7-5C49F0B86A09}"/>
              </a:ext>
            </a:extLst>
          </p:cNvPr>
          <p:cNvSpPr/>
          <p:nvPr/>
        </p:nvSpPr>
        <p:spPr>
          <a:xfrm>
            <a:off x="1807283" y="1258304"/>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("\n Control Hijacked! We are inside secret()!\n\n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92530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21</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ounded Rectangle 4">
            <a:extLst>
              <a:ext uri="{FF2B5EF4-FFF2-40B4-BE49-F238E27FC236}">
                <a16:creationId xmlns:a16="http://schemas.microsoft.com/office/drawing/2014/main" id="{9D6B9E65-F20E-4644-8ACA-D0C588A1D5BF}"/>
              </a:ext>
            </a:extLst>
          </p:cNvPr>
          <p:cNvSpPr/>
          <p:nvPr/>
        </p:nvSpPr>
        <p:spPr>
          <a:xfrm>
            <a:off x="2614107" y="3771188"/>
            <a:ext cx="2076228" cy="295203"/>
          </a:xfrm>
          <a:prstGeom prst="roundRect">
            <a:avLst/>
          </a:prstGeom>
          <a:noFill/>
          <a:ln w="508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CBD69C2F-F761-A542-B4D7-5C49F0B86A09}"/>
              </a:ext>
            </a:extLst>
          </p:cNvPr>
          <p:cNvSpPr/>
          <p:nvPr/>
        </p:nvSpPr>
        <p:spPr>
          <a:xfrm>
            <a:off x="2409711" y="1301335"/>
            <a:ext cx="6493585" cy="4524315"/>
          </a:xfrm>
          <a:prstGeom prst="rect">
            <a:avLst/>
          </a:prstGeom>
        </p:spPr>
        <p:txBody>
          <a:bodyPr wrap="square">
            <a:spAutoFit/>
          </a:bodyPr>
          <a:lstStyle/>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secret</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err="1">
                <a:latin typeface="Consolas" panose="020B0609020204030204" pitchFamily="49" charset="0"/>
                <a:cs typeface="Consolas" panose="020B0609020204030204" pitchFamily="49" charset="0"/>
              </a:rPr>
              <a:t>printf</a:t>
            </a:r>
            <a:r>
              <a:rPr lang="en-US" sz="1600" dirty="0">
                <a:solidFill>
                  <a:schemeClr val="accent6"/>
                </a:solidFill>
                <a:latin typeface="Consolas" panose="020B0609020204030204" pitchFamily="49" charset="0"/>
                <a:cs typeface="Consolas" panose="020B0609020204030204" pitchFamily="49" charset="0"/>
              </a:rPr>
              <a:t>("\n Control Hijacked! We are inside secret()!\n\n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a:solidFill>
                  <a:srgbClr val="7030A0"/>
                </a:solidFill>
                <a:latin typeface="Consolas" panose="020B0609020204030204" pitchFamily="49" charset="0"/>
                <a:cs typeface="Consolas" panose="020B0609020204030204" pitchFamily="49" charset="0"/>
              </a:rPr>
              <a:t>void vulnerable</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char buffer</a:t>
            </a:r>
            <a:r>
              <a:rPr lang="en-US" sz="1600" dirty="0">
                <a:latin typeface="Consolas" panose="020B0609020204030204" pitchFamily="49" charset="0"/>
                <a:cs typeface="Consolas" panose="020B0609020204030204" pitchFamily="49" charset="0"/>
              </a:rPr>
              <a:t>[32];</a:t>
            </a:r>
          </a:p>
          <a:p>
            <a:endParaRPr lang="en-US" sz="1600" dirty="0">
              <a:latin typeface="Consolas" panose="020B0609020204030204" pitchFamily="49" charset="0"/>
              <a:cs typeface="Consolas" panose="020B0609020204030204" pitchFamily="49" charset="0"/>
            </a:endParaRP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Enter input: </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gets(buffer)</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a:t>
            </a:r>
          </a:p>
          <a:p>
            <a:endParaRPr lang="en-US" sz="1600" dirty="0">
              <a:latin typeface="Consolas" panose="020B0609020204030204" pitchFamily="49" charset="0"/>
              <a:cs typeface="Consolas" panose="020B0609020204030204" pitchFamily="49" charset="0"/>
            </a:endParaRPr>
          </a:p>
          <a:p>
            <a:r>
              <a:rPr lang="en-US" sz="1600" dirty="0" err="1">
                <a:solidFill>
                  <a:srgbClr val="7030A0"/>
                </a:solidFill>
                <a:latin typeface="Consolas" panose="020B0609020204030204" pitchFamily="49" charset="0"/>
                <a:cs typeface="Consolas" panose="020B0609020204030204" pitchFamily="49" charset="0"/>
              </a:rPr>
              <a:t>int</a:t>
            </a:r>
            <a:r>
              <a:rPr lang="en-US" sz="1600" dirty="0">
                <a:solidFill>
                  <a:srgbClr val="7030A0"/>
                </a:solidFill>
                <a:latin typeface="Consolas" panose="020B0609020204030204" pitchFamily="49" charset="0"/>
                <a:cs typeface="Consolas" panose="020B0609020204030204" pitchFamily="49" charset="0"/>
              </a:rPr>
              <a:t> main</a:t>
            </a:r>
            <a:r>
              <a:rPr lang="en-US" sz="1600" dirty="0">
                <a:latin typeface="Consolas" panose="020B0609020204030204" pitchFamily="49" charset="0"/>
                <a:cs typeface="Consolas" panose="020B0609020204030204" pitchFamily="49" charset="0"/>
              </a:rPr>
              <a:t>() {</a:t>
            </a:r>
          </a:p>
          <a:p>
            <a:r>
              <a:rPr lang="en-US" sz="1600" dirty="0">
                <a:latin typeface="Consolas" panose="020B0609020204030204" pitchFamily="49" charset="0"/>
                <a:cs typeface="Consolas" panose="020B0609020204030204" pitchFamily="49" charset="0"/>
              </a:rPr>
              <a:t>    </a:t>
            </a:r>
            <a:r>
              <a:rPr lang="en-US" sz="1600" dirty="0">
                <a:solidFill>
                  <a:srgbClr val="7030A0"/>
                </a:solidFill>
                <a:latin typeface="Consolas" panose="020B0609020204030204" pitchFamily="49" charset="0"/>
                <a:cs typeface="Consolas" panose="020B0609020204030204" pitchFamily="49" charset="0"/>
              </a:rPr>
              <a:t>vulnerable</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err="1">
                <a:solidFill>
                  <a:srgbClr val="7030A0"/>
                </a:solidFill>
                <a:latin typeface="Consolas" panose="020B0609020204030204" pitchFamily="49" charset="0"/>
                <a:cs typeface="Consolas" panose="020B0609020204030204" pitchFamily="49" charset="0"/>
              </a:rPr>
              <a:t>printf</a:t>
            </a:r>
            <a:r>
              <a:rPr lang="en-US" sz="1600" dirty="0">
                <a:latin typeface="Consolas" panose="020B0609020204030204" pitchFamily="49" charset="0"/>
                <a:cs typeface="Consolas" panose="020B0609020204030204" pitchFamily="49" charset="0"/>
              </a:rPr>
              <a:t>("</a:t>
            </a:r>
            <a:r>
              <a:rPr lang="en-US" sz="1600" dirty="0">
                <a:solidFill>
                  <a:schemeClr val="accent6"/>
                </a:solidFill>
                <a:latin typeface="Consolas" panose="020B0609020204030204" pitchFamily="49" charset="0"/>
                <a:cs typeface="Consolas" panose="020B0609020204030204" pitchFamily="49" charset="0"/>
              </a:rPr>
              <a:t>Returned safely to main.\n</a:t>
            </a:r>
            <a:r>
              <a:rPr lang="en-US" sz="1600" dirty="0">
                <a:latin typeface="Consolas" panose="020B0609020204030204" pitchFamily="49" charset="0"/>
                <a:cs typeface="Consolas" panose="020B0609020204030204" pitchFamily="49" charset="0"/>
              </a:rPr>
              <a:t>");</a:t>
            </a:r>
          </a:p>
          <a:p>
            <a:r>
              <a:rPr lang="en-US" sz="1600" dirty="0">
                <a:latin typeface="Consolas" panose="020B0609020204030204" pitchFamily="49" charset="0"/>
                <a:cs typeface="Consolas" panose="020B0609020204030204" pitchFamily="49" charset="0"/>
              </a:rPr>
              <a:t>    </a:t>
            </a:r>
            <a:r>
              <a:rPr lang="en-US" sz="1600" dirty="0">
                <a:solidFill>
                  <a:srgbClr val="C00000"/>
                </a:solidFill>
                <a:latin typeface="Consolas" panose="020B0609020204030204" pitchFamily="49" charset="0"/>
                <a:cs typeface="Consolas" panose="020B0609020204030204" pitchFamily="49" charset="0"/>
              </a:rPr>
              <a:t>return 0;</a:t>
            </a:r>
          </a:p>
          <a:p>
            <a:r>
              <a:rPr lang="en-US" sz="1600"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5292477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B93D2B2-6AA6-5347-909B-18A5432026F1}"/>
              </a:ext>
            </a:extLst>
          </p:cNvPr>
          <p:cNvSpPr>
            <a:spLocks noGrp="1"/>
          </p:cNvSpPr>
          <p:nvPr>
            <p:ph type="sldNum" sz="quarter" idx="12"/>
          </p:nvPr>
        </p:nvSpPr>
        <p:spPr/>
        <p:txBody>
          <a:bodyPr/>
          <a:lstStyle/>
          <a:p>
            <a:fld id="{48758AAF-F958-4141-BDE8-5609689A4508}" type="slidenum">
              <a:rPr lang="zh-CN" altLang="en-US" smtClean="0"/>
              <a:t>22</a:t>
            </a:fld>
            <a:endParaRPr lang="zh-CN" altLang="en-US"/>
          </a:p>
        </p:txBody>
      </p:sp>
      <p:sp>
        <p:nvSpPr>
          <p:cNvPr id="3" name="Rectangle 2">
            <a:extLst>
              <a:ext uri="{FF2B5EF4-FFF2-40B4-BE49-F238E27FC236}">
                <a16:creationId xmlns:a16="http://schemas.microsoft.com/office/drawing/2014/main" id="{BDA67216-E830-0E4B-AA98-024687DD8D2A}"/>
              </a:ext>
            </a:extLst>
          </p:cNvPr>
          <p:cNvSpPr/>
          <p:nvPr/>
        </p:nvSpPr>
        <p:spPr>
          <a:xfrm>
            <a:off x="4271963" y="1731464"/>
            <a:ext cx="4953000" cy="4801314"/>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stdio.h</a:t>
            </a:r>
            <a:r>
              <a:rPr lang="en-US" dirty="0">
                <a:latin typeface="Consolas" panose="020B0609020204030204" pitchFamily="49" charset="0"/>
                <a:cs typeface="Consolas" panose="020B0609020204030204" pitchFamily="49" charset="0"/>
              </a:rPr>
              <a:t>&gt;</a:t>
            </a:r>
          </a:p>
          <a:p>
            <a:r>
              <a:rPr lang="en-US" dirty="0">
                <a:latin typeface="Consolas" panose="020B0609020204030204" pitchFamily="49" charset="0"/>
                <a:cs typeface="Consolas" panose="020B0609020204030204" pitchFamily="49" charset="0"/>
              </a:rPr>
              <a:t>#define BUFFER_SIZE 1024</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fill_buffer</a:t>
            </a:r>
            <a:r>
              <a:rPr lang="en-US" dirty="0">
                <a:latin typeface="Consolas" panose="020B0609020204030204" pitchFamily="49" charset="0"/>
                <a:cs typeface="Consolas" panose="020B0609020204030204" pitchFamily="49" charset="0"/>
              </a:rPr>
              <a:t>(char *</a:t>
            </a:r>
            <a:r>
              <a:rPr lang="en-US" dirty="0" err="1">
                <a:latin typeface="Consolas" panose="020B0609020204030204" pitchFamily="49" charset="0"/>
                <a:cs typeface="Consolas" panose="020B0609020204030204" pitchFamily="49" charset="0"/>
              </a:rPr>
              <a:t>buf</a:t>
            </a:r>
            <a:r>
              <a:rPr lang="en-US" dirty="0">
                <a:latin typeface="Consolas" panose="020B0609020204030204" pitchFamily="49" charset="0"/>
                <a:cs typeface="Consolas" panose="020B0609020204030204" pitchFamily="49" charset="0"/>
              </a:rPr>
              <a:t>, FILE *</a:t>
            </a:r>
            <a:r>
              <a:rPr lang="en-US" dirty="0" err="1">
                <a:latin typeface="Consolas" panose="020B0609020204030204" pitchFamily="49" charset="0"/>
                <a:cs typeface="Consolas" panose="020B0609020204030204" pitchFamily="49" charset="0"/>
              </a:rPr>
              <a:t>fp</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fread</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buf</a:t>
            </a:r>
            <a:r>
              <a:rPr lang="en-US" dirty="0">
                <a:latin typeface="Consolas" panose="020B0609020204030204" pitchFamily="49" charset="0"/>
                <a:cs typeface="Consolas" panose="020B0609020204030204" pitchFamily="49" charset="0"/>
              </a:rPr>
              <a:t>, 1, BUFFER SIZE, </a:t>
            </a:r>
            <a:r>
              <a:rPr lang="en-US" dirty="0" err="1">
                <a:latin typeface="Consolas" panose="020B0609020204030204" pitchFamily="49" charset="0"/>
                <a:cs typeface="Consolas" panose="020B0609020204030204" pitchFamily="49" charset="0"/>
              </a:rPr>
              <a:t>fp</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if (!</a:t>
            </a:r>
            <a:r>
              <a:rPr lang="en-US" dirty="0" err="1">
                <a:latin typeface="Consolas" panose="020B0609020204030204" pitchFamily="49" charset="0"/>
                <a:cs typeface="Consolas" panose="020B0609020204030204" pitchFamily="49" charset="0"/>
              </a:rPr>
              <a:t>ferror</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fp</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buf</a:t>
            </a:r>
            <a:r>
              <a:rPr lang="en-US" dirty="0">
                <a:latin typeface="Consolas" panose="020B0609020204030204" pitchFamily="49" charset="0"/>
                <a:cs typeface="Consolas" panose="020B0609020204030204" pitchFamily="49" charset="0"/>
              </a:rPr>
              <a:t>[BUFFER SIZE] = ’\0’; /* Must null-terminate string */</a:t>
            </a:r>
          </a:p>
          <a:p>
            <a:r>
              <a:rPr lang="en-US" dirty="0">
                <a:latin typeface="Consolas" panose="020B0609020204030204" pitchFamily="49" charset="0"/>
                <a:cs typeface="Consolas" panose="020B0609020204030204" pitchFamily="49" charset="0"/>
              </a:rPr>
              <a: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10</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f() {</a:t>
            </a:r>
          </a:p>
          <a:p>
            <a:r>
              <a:rPr lang="en-US" dirty="0">
                <a:latin typeface="Consolas" panose="020B0609020204030204" pitchFamily="49" charset="0"/>
                <a:cs typeface="Consolas" panose="020B0609020204030204" pitchFamily="49" charset="0"/>
              </a:rPr>
              <a:t>    char </a:t>
            </a:r>
            <a:r>
              <a:rPr lang="en-US" dirty="0" err="1">
                <a:latin typeface="Consolas" panose="020B0609020204030204" pitchFamily="49" charset="0"/>
                <a:cs typeface="Consolas" panose="020B0609020204030204" pitchFamily="49" charset="0"/>
              </a:rPr>
              <a:t>buf</a:t>
            </a:r>
            <a:r>
              <a:rPr lang="en-US" dirty="0">
                <a:latin typeface="Consolas" panose="020B0609020204030204" pitchFamily="49" charset="0"/>
                <a:cs typeface="Consolas" panose="020B0609020204030204" pitchFamily="49" charset="0"/>
              </a:rPr>
              <a:t>[BUFFER SIZE];</a:t>
            </a:r>
          </a:p>
          <a:p>
            <a:r>
              <a:rPr lang="en-US" dirty="0">
                <a:latin typeface="Consolas" panose="020B0609020204030204" pitchFamily="49" charset="0"/>
                <a:cs typeface="Consolas" panose="020B0609020204030204" pitchFamily="49" charset="0"/>
              </a:rPr>
              <a:t>    fill buffer(</a:t>
            </a:r>
            <a:r>
              <a:rPr lang="en-US" dirty="0" err="1">
                <a:latin typeface="Consolas" panose="020B0609020204030204" pitchFamily="49" charset="0"/>
                <a:cs typeface="Consolas" panose="020B0609020204030204" pitchFamily="49" charset="0"/>
              </a:rPr>
              <a:t>buf</a:t>
            </a:r>
            <a:r>
              <a:rPr lang="en-US" dirty="0">
                <a:latin typeface="Consolas" panose="020B0609020204030204" pitchFamily="49" charset="0"/>
                <a:cs typeface="Consolas" panose="020B0609020204030204" pitchFamily="49" charset="0"/>
              </a:rPr>
              <a:t>, stdin);</a:t>
            </a:r>
          </a:p>
          <a:p>
            <a:r>
              <a:rPr lang="en-US" dirty="0">
                <a:latin typeface="Consolas" panose="020B0609020204030204" pitchFamily="49" charset="0"/>
                <a:cs typeface="Consolas" panose="020B0609020204030204" pitchFamily="49" charset="0"/>
              </a:rPr>
              <a:t>}</a:t>
            </a:r>
          </a:p>
        </p:txBody>
      </p:sp>
      <p:sp>
        <p:nvSpPr>
          <p:cNvPr id="4" name="Rectangle 3">
            <a:extLst>
              <a:ext uri="{FF2B5EF4-FFF2-40B4-BE49-F238E27FC236}">
                <a16:creationId xmlns:a16="http://schemas.microsoft.com/office/drawing/2014/main" id="{20B17893-88FA-A44B-BC7E-78E04557F30F}"/>
              </a:ext>
            </a:extLst>
          </p:cNvPr>
          <p:cNvSpPr/>
          <p:nvPr/>
        </p:nvSpPr>
        <p:spPr>
          <a:xfrm>
            <a:off x="380069" y="1139538"/>
            <a:ext cx="6912827" cy="830997"/>
          </a:xfrm>
          <a:prstGeom prst="rect">
            <a:avLst/>
          </a:prstGeom>
        </p:spPr>
        <p:txBody>
          <a:bodyPr wrap="square">
            <a:spAutoFit/>
          </a:bodyPr>
          <a:lstStyle/>
          <a:p>
            <a:pPr marL="285750" indent="-285750">
              <a:buFont typeface="Arial" panose="020B0604020202020204" pitchFamily="34" charset="0"/>
              <a:buChar char="•"/>
            </a:pPr>
            <a:r>
              <a:rPr lang="en-US" sz="2400" dirty="0">
                <a:latin typeface="AGaramondPro"/>
              </a:rPr>
              <a:t>Copying of data into the buffer without checking the size of input </a:t>
            </a:r>
            <a:endParaRPr lang="en-US" sz="2400" dirty="0">
              <a:latin typeface="ArialMT"/>
            </a:endParaRPr>
          </a:p>
        </p:txBody>
      </p:sp>
      <p:sp>
        <p:nvSpPr>
          <p:cNvPr id="5" name="TextBox 4">
            <a:extLst>
              <a:ext uri="{FF2B5EF4-FFF2-40B4-BE49-F238E27FC236}">
                <a16:creationId xmlns:a16="http://schemas.microsoft.com/office/drawing/2014/main" id="{70324B97-96FD-E447-A63D-73693B9B9A11}"/>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Tree>
    <p:extLst>
      <p:ext uri="{BB962C8B-B14F-4D97-AF65-F5344CB8AC3E}">
        <p14:creationId xmlns:p14="http://schemas.microsoft.com/office/powerpoint/2010/main" val="3740837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23</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5" name="Rectangle 4">
            <a:extLst>
              <a:ext uri="{FF2B5EF4-FFF2-40B4-BE49-F238E27FC236}">
                <a16:creationId xmlns:a16="http://schemas.microsoft.com/office/drawing/2014/main" id="{1E2F6F55-AE65-524B-96E2-26CCBDB91F87}"/>
              </a:ext>
            </a:extLst>
          </p:cNvPr>
          <p:cNvSpPr/>
          <p:nvPr/>
        </p:nvSpPr>
        <p:spPr>
          <a:xfrm>
            <a:off x="1249864" y="1351967"/>
            <a:ext cx="6599051" cy="461665"/>
          </a:xfrm>
          <a:prstGeom prst="rect">
            <a:avLst/>
          </a:prstGeom>
        </p:spPr>
        <p:txBody>
          <a:bodyPr wrap="none">
            <a:spAutoFit/>
          </a:bodyPr>
          <a:lstStyle/>
          <a:p>
            <a:pPr marL="285750" indent="-285750">
              <a:buFont typeface="Arial" panose="020B0604020202020204" pitchFamily="34" charset="0"/>
              <a:buChar char="•"/>
            </a:pPr>
            <a:r>
              <a:rPr lang="en-US" sz="2400" dirty="0">
                <a:latin typeface="AGaramondPro"/>
              </a:rPr>
              <a:t>Accessing the buffer with incorrect length values </a:t>
            </a:r>
            <a:endParaRPr lang="en-US" sz="2400" dirty="0">
              <a:latin typeface="ArialMT"/>
            </a:endParaRPr>
          </a:p>
        </p:txBody>
      </p:sp>
      <p:sp>
        <p:nvSpPr>
          <p:cNvPr id="9" name="Rectangle 8">
            <a:extLst>
              <a:ext uri="{FF2B5EF4-FFF2-40B4-BE49-F238E27FC236}">
                <a16:creationId xmlns:a16="http://schemas.microsoft.com/office/drawing/2014/main" id="{FBB78EAB-D043-3542-A2AA-ABFBE8FB5368}"/>
              </a:ext>
            </a:extLst>
          </p:cNvPr>
          <p:cNvSpPr/>
          <p:nvPr/>
        </p:nvSpPr>
        <p:spPr>
          <a:xfrm>
            <a:off x="2498803" y="2084664"/>
            <a:ext cx="4953000" cy="4247317"/>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stdio.h</a:t>
            </a:r>
            <a:r>
              <a:rPr lang="en-US" dirty="0">
                <a:latin typeface="Consolas" panose="020B0609020204030204" pitchFamily="49" charset="0"/>
                <a:cs typeface="Consolas" panose="020B0609020204030204" pitchFamily="49" charset="0"/>
              </a:rPr>
              <a:t>&gt;</a:t>
            </a:r>
          </a:p>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string.h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unsafe_copy</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char buffer[10];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("Enter a string: ");</a:t>
            </a:r>
          </a:p>
          <a:p>
            <a:r>
              <a:rPr lang="en-US" dirty="0">
                <a:latin typeface="Consolas" panose="020B0609020204030204" pitchFamily="49" charset="0"/>
                <a:cs typeface="Consolas" panose="020B0609020204030204" pitchFamily="49" charset="0"/>
              </a:rPr>
              <a:t>    gets(buffer);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("You entered: %s\n", buffer);</a:t>
            </a:r>
          </a:p>
          <a:p>
            <a:r>
              <a:rPr lang="en-US" dirty="0">
                <a:latin typeface="Consolas" panose="020B0609020204030204" pitchFamily="49" charset="0"/>
                <a:cs typeface="Consolas" panose="020B0609020204030204" pitchFamily="49" charset="0"/>
              </a:rPr>
              <a:t>}</a:t>
            </a:r>
          </a:p>
          <a:p>
            <a:endParaRPr lang="en-US" dirty="0">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main()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unsafe_copy</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return 0;</a:t>
            </a:r>
          </a:p>
          <a:p>
            <a:r>
              <a:rPr lang="en-US"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5737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24</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6" name="Rectangle 5">
            <a:extLst>
              <a:ext uri="{FF2B5EF4-FFF2-40B4-BE49-F238E27FC236}">
                <a16:creationId xmlns:a16="http://schemas.microsoft.com/office/drawing/2014/main" id="{3CFE68E0-4E51-DF4B-AFEF-94D5F2611601}"/>
              </a:ext>
            </a:extLst>
          </p:cNvPr>
          <p:cNvSpPr/>
          <p:nvPr/>
        </p:nvSpPr>
        <p:spPr>
          <a:xfrm>
            <a:off x="480453" y="1139538"/>
            <a:ext cx="8744509" cy="461665"/>
          </a:xfrm>
          <a:prstGeom prst="rect">
            <a:avLst/>
          </a:prstGeom>
        </p:spPr>
        <p:txBody>
          <a:bodyPr wrap="square">
            <a:spAutoFit/>
          </a:bodyPr>
          <a:lstStyle/>
          <a:p>
            <a:pPr marL="285750" indent="-285750">
              <a:buFont typeface="Arial" panose="020B0604020202020204" pitchFamily="34" charset="0"/>
              <a:buChar char="•"/>
            </a:pPr>
            <a:r>
              <a:rPr lang="en-US" sz="2400" dirty="0">
                <a:latin typeface="AGaramondPro"/>
              </a:rPr>
              <a:t>Improper validation of array (simplest expression of a buffer) index </a:t>
            </a:r>
            <a:endParaRPr lang="en-US" sz="2400" dirty="0">
              <a:latin typeface="ArialMT"/>
            </a:endParaRPr>
          </a:p>
        </p:txBody>
      </p:sp>
      <p:sp>
        <p:nvSpPr>
          <p:cNvPr id="9" name="Rectangle 8">
            <a:extLst>
              <a:ext uri="{FF2B5EF4-FFF2-40B4-BE49-F238E27FC236}">
                <a16:creationId xmlns:a16="http://schemas.microsoft.com/office/drawing/2014/main" id="{C967F7A3-2B09-C94B-8ADC-9853699DD950}"/>
              </a:ext>
            </a:extLst>
          </p:cNvPr>
          <p:cNvSpPr/>
          <p:nvPr/>
        </p:nvSpPr>
        <p:spPr>
          <a:xfrm>
            <a:off x="2476500" y="1555037"/>
            <a:ext cx="4953000" cy="4801314"/>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stdio.h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unsafe_access</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arr</a:t>
            </a:r>
            <a:r>
              <a:rPr lang="en-US" dirty="0">
                <a:latin typeface="Consolas" panose="020B0609020204030204" pitchFamily="49" charset="0"/>
                <a:cs typeface="Consolas" panose="020B0609020204030204" pitchFamily="49" charset="0"/>
              </a:rPr>
              <a:t>[5] = {1, 2, 3, 4, 5};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index;</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("Enter an index (0-4):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scanf</a:t>
            </a:r>
            <a:r>
              <a:rPr lang="en-US" dirty="0">
                <a:latin typeface="Consolas" panose="020B0609020204030204" pitchFamily="49" charset="0"/>
                <a:cs typeface="Consolas" panose="020B0609020204030204" pitchFamily="49" charset="0"/>
              </a:rPr>
              <a:t>("%d", &amp;index);</a:t>
            </a:r>
          </a:p>
          <a:p>
            <a:r>
              <a:rPr lang="en-US" dirty="0">
                <a:latin typeface="Consolas" panose="020B0609020204030204" pitchFamily="49" charset="0"/>
                <a:cs typeface="Consolas" panose="020B0609020204030204" pitchFamily="49" charset="0"/>
              </a:rPr>
              <a:t>    </a:t>
            </a:r>
          </a:p>
          <a:p>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("Array element at index %d: %d\n", index, </a:t>
            </a:r>
            <a:r>
              <a:rPr lang="en-US" dirty="0" err="1">
                <a:latin typeface="Consolas" panose="020B0609020204030204" pitchFamily="49" charset="0"/>
                <a:cs typeface="Consolas" panose="020B0609020204030204" pitchFamily="49" charset="0"/>
              </a:rPr>
              <a:t>arr</a:t>
            </a:r>
            <a:r>
              <a:rPr lang="en-US" dirty="0">
                <a:latin typeface="Consolas" panose="020B0609020204030204" pitchFamily="49" charset="0"/>
                <a:cs typeface="Consolas" panose="020B0609020204030204" pitchFamily="49" charset="0"/>
              </a:rPr>
              <a:t>[index]);  </a:t>
            </a:r>
          </a:p>
          <a:p>
            <a:r>
              <a:rPr lang="en-US" dirty="0">
                <a:latin typeface="Consolas" panose="020B0609020204030204" pitchFamily="49" charset="0"/>
                <a:cs typeface="Consolas" panose="020B0609020204030204" pitchFamily="49" charset="0"/>
              </a:rPr>
              <a:t>}</a:t>
            </a:r>
          </a:p>
          <a:p>
            <a:endParaRPr lang="en-US" dirty="0">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main()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unsafe_access</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return 0;</a:t>
            </a:r>
          </a:p>
          <a:p>
            <a:r>
              <a:rPr lang="en-US"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4096857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25</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7" name="Rectangle 6">
            <a:extLst>
              <a:ext uri="{FF2B5EF4-FFF2-40B4-BE49-F238E27FC236}">
                <a16:creationId xmlns:a16="http://schemas.microsoft.com/office/drawing/2014/main" id="{EA296A65-B8EF-3649-B84B-87A23E947478}"/>
              </a:ext>
            </a:extLst>
          </p:cNvPr>
          <p:cNvSpPr/>
          <p:nvPr/>
        </p:nvSpPr>
        <p:spPr>
          <a:xfrm>
            <a:off x="1112472" y="1268710"/>
            <a:ext cx="7763899" cy="461665"/>
          </a:xfrm>
          <a:prstGeom prst="rect">
            <a:avLst/>
          </a:prstGeom>
        </p:spPr>
        <p:txBody>
          <a:bodyPr wrap="square">
            <a:spAutoFit/>
          </a:bodyPr>
          <a:lstStyle/>
          <a:p>
            <a:pPr marL="285750" indent="-285750">
              <a:buFont typeface="Arial" panose="020B0604020202020204" pitchFamily="34" charset="0"/>
              <a:buChar char="•"/>
            </a:pPr>
            <a:r>
              <a:rPr lang="en-US" sz="2400" dirty="0">
                <a:latin typeface="AGaramondPro"/>
              </a:rPr>
              <a:t>Incorrect calculation of buffer size before its allocation </a:t>
            </a:r>
            <a:endParaRPr lang="en-US" sz="2400" dirty="0">
              <a:latin typeface="ArialMT"/>
            </a:endParaRPr>
          </a:p>
        </p:txBody>
      </p:sp>
      <p:sp>
        <p:nvSpPr>
          <p:cNvPr id="9" name="Rectangle 8">
            <a:extLst>
              <a:ext uri="{FF2B5EF4-FFF2-40B4-BE49-F238E27FC236}">
                <a16:creationId xmlns:a16="http://schemas.microsoft.com/office/drawing/2014/main" id="{6AE65DFC-8F47-3146-B3F3-8B081EAAD6DB}"/>
              </a:ext>
            </a:extLst>
          </p:cNvPr>
          <p:cNvSpPr/>
          <p:nvPr/>
        </p:nvSpPr>
        <p:spPr>
          <a:xfrm>
            <a:off x="2231173" y="1737599"/>
            <a:ext cx="4953000" cy="4801314"/>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stdio.h</a:t>
            </a:r>
            <a:r>
              <a:rPr lang="en-US" dirty="0">
                <a:latin typeface="Consolas" panose="020B0609020204030204" pitchFamily="49" charset="0"/>
                <a:cs typeface="Consolas" panose="020B0609020204030204" pitchFamily="49" charset="0"/>
              </a:rPr>
              <a:t>&gt;</a:t>
            </a:r>
          </a:p>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string.h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unsafe_allocation</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char input[10];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("Enter a string: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fgets</a:t>
            </a:r>
            <a:r>
              <a:rPr lang="en-US" dirty="0">
                <a:latin typeface="Consolas" panose="020B0609020204030204" pitchFamily="49" charset="0"/>
                <a:cs typeface="Consolas" panose="020B0609020204030204" pitchFamily="49" charset="0"/>
              </a:rPr>
              <a:t>(input, 50, stdin);  </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("You entered: %s\n", input);</a:t>
            </a:r>
          </a:p>
          <a:p>
            <a:r>
              <a:rPr lang="en-US" dirty="0">
                <a:latin typeface="Consolas" panose="020B0609020204030204" pitchFamily="49" charset="0"/>
                <a:cs typeface="Consolas" panose="020B0609020204030204" pitchFamily="49" charset="0"/>
              </a:rPr>
              <a:t>}</a:t>
            </a:r>
          </a:p>
          <a:p>
            <a:endParaRPr lang="en-US" dirty="0">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main()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unsafe_allocation</a:t>
            </a:r>
            <a:r>
              <a:rPr lang="en-US" dirty="0">
                <a:latin typeface="Consolas" panose="020B0609020204030204" pitchFamily="49" charset="0"/>
                <a:cs typeface="Consolas" panose="020B0609020204030204" pitchFamily="49" charset="0"/>
              </a:rPr>
              <a:t>();</a:t>
            </a:r>
          </a:p>
          <a:p>
            <a:r>
              <a:rPr lang="en-US" dirty="0">
                <a:latin typeface="Consolas" panose="020B0609020204030204" pitchFamily="49" charset="0"/>
                <a:cs typeface="Consolas" panose="020B0609020204030204" pitchFamily="49" charset="0"/>
              </a:rPr>
              <a:t>    return 0;</a:t>
            </a:r>
          </a:p>
          <a:p>
            <a:r>
              <a:rPr lang="en-US"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978603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79AC92-975E-3F44-B52F-44CB03B70E6B}"/>
              </a:ext>
            </a:extLst>
          </p:cNvPr>
          <p:cNvSpPr>
            <a:spLocks noGrp="1"/>
          </p:cNvSpPr>
          <p:nvPr>
            <p:ph type="sldNum" sz="quarter" idx="12"/>
          </p:nvPr>
        </p:nvSpPr>
        <p:spPr/>
        <p:txBody>
          <a:bodyPr/>
          <a:lstStyle/>
          <a:p>
            <a:fld id="{48758AAF-F958-4141-BDE8-5609689A4508}" type="slidenum">
              <a:rPr lang="zh-CN" altLang="en-US" smtClean="0"/>
              <a:t>26</a:t>
            </a:fld>
            <a:endParaRPr lang="zh-CN" altLang="en-US"/>
          </a:p>
        </p:txBody>
      </p:sp>
      <p:sp>
        <p:nvSpPr>
          <p:cNvPr id="3" name="TextBox 2">
            <a:extLst>
              <a:ext uri="{FF2B5EF4-FFF2-40B4-BE49-F238E27FC236}">
                <a16:creationId xmlns:a16="http://schemas.microsoft.com/office/drawing/2014/main" id="{957FAA11-7529-6040-BCB9-C824789633CD}"/>
              </a:ext>
            </a:extLst>
          </p:cNvPr>
          <p:cNvSpPr txBox="1"/>
          <p:nvPr/>
        </p:nvSpPr>
        <p:spPr>
          <a:xfrm>
            <a:off x="0" y="379142"/>
            <a:ext cx="5531005" cy="523220"/>
          </a:xfrm>
          <a:prstGeom prst="rect">
            <a:avLst/>
          </a:prstGeom>
          <a:noFill/>
        </p:spPr>
        <p:txBody>
          <a:bodyPr wrap="square" rtlCol="0">
            <a:spAutoFit/>
          </a:bodyPr>
          <a:lstStyle/>
          <a:p>
            <a:r>
              <a:rPr lang="en-US" sz="2800" b="1" dirty="0"/>
              <a:t>Why Buffer Overflow happens?</a:t>
            </a:r>
          </a:p>
        </p:txBody>
      </p:sp>
      <p:sp>
        <p:nvSpPr>
          <p:cNvPr id="8" name="Rectangle 7">
            <a:extLst>
              <a:ext uri="{FF2B5EF4-FFF2-40B4-BE49-F238E27FC236}">
                <a16:creationId xmlns:a16="http://schemas.microsoft.com/office/drawing/2014/main" id="{880773B5-D6C3-0D44-9807-D0C0DB5A447C}"/>
              </a:ext>
            </a:extLst>
          </p:cNvPr>
          <p:cNvSpPr/>
          <p:nvPr/>
        </p:nvSpPr>
        <p:spPr>
          <a:xfrm>
            <a:off x="1491614" y="1164857"/>
            <a:ext cx="4779450" cy="461665"/>
          </a:xfrm>
          <a:prstGeom prst="rect">
            <a:avLst/>
          </a:prstGeom>
        </p:spPr>
        <p:txBody>
          <a:bodyPr wrap="none">
            <a:spAutoFit/>
          </a:bodyPr>
          <a:lstStyle/>
          <a:p>
            <a:pPr marL="285750" indent="-285750">
              <a:buFont typeface="Arial" panose="020B0604020202020204" pitchFamily="34" charset="0"/>
              <a:buChar char="•"/>
            </a:pPr>
            <a:r>
              <a:rPr lang="en-US" sz="2400" dirty="0">
                <a:latin typeface="AGaramondPro"/>
              </a:rPr>
              <a:t>Integer overflows or wraparounds </a:t>
            </a:r>
            <a:endParaRPr lang="en-US" sz="2400" dirty="0">
              <a:latin typeface="ArialMT"/>
            </a:endParaRPr>
          </a:p>
        </p:txBody>
      </p:sp>
      <p:sp>
        <p:nvSpPr>
          <p:cNvPr id="9" name="Rectangle 8">
            <a:extLst>
              <a:ext uri="{FF2B5EF4-FFF2-40B4-BE49-F238E27FC236}">
                <a16:creationId xmlns:a16="http://schemas.microsoft.com/office/drawing/2014/main" id="{803DB0C5-C20A-7A48-AB3F-A734A37887A9}"/>
              </a:ext>
            </a:extLst>
          </p:cNvPr>
          <p:cNvSpPr/>
          <p:nvPr/>
        </p:nvSpPr>
        <p:spPr>
          <a:xfrm>
            <a:off x="2431895" y="2097993"/>
            <a:ext cx="4953000" cy="3693319"/>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stdio.h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main() {</a:t>
            </a:r>
          </a:p>
          <a:p>
            <a:r>
              <a:rPr lang="en-US" dirty="0">
                <a:latin typeface="Consolas" panose="020B0609020204030204" pitchFamily="49" charset="0"/>
                <a:cs typeface="Consolas" panose="020B0609020204030204" pitchFamily="49" charset="0"/>
              </a:rPr>
              <a:t>    unsigned char x = 255;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("Initial value of x: %u\n", x);</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 Adding 1 will cause an overflow</a:t>
            </a:r>
          </a:p>
          <a:p>
            <a:r>
              <a:rPr lang="en-US" dirty="0">
                <a:latin typeface="Consolas" panose="020B0609020204030204" pitchFamily="49" charset="0"/>
                <a:cs typeface="Consolas" panose="020B0609020204030204" pitchFamily="49" charset="0"/>
              </a:rPr>
              <a:t>    x = x + 1;</a:t>
            </a:r>
          </a:p>
          <a:p>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("Value of x after overflow: %u\n", x); return 0;</a:t>
            </a:r>
          </a:p>
          <a:p>
            <a:r>
              <a:rPr lang="en-US" dirty="0">
                <a:latin typeface="Consolas" panose="020B0609020204030204" pitchFamily="49" charset="0"/>
                <a:cs typeface="Consolas" panose="020B0609020204030204" pitchFamily="49" charset="0"/>
              </a:rPr>
              <a:t>}</a:t>
            </a:r>
          </a:p>
        </p:txBody>
      </p:sp>
    </p:spTree>
    <p:extLst>
      <p:ext uri="{BB962C8B-B14F-4D97-AF65-F5344CB8AC3E}">
        <p14:creationId xmlns:p14="http://schemas.microsoft.com/office/powerpoint/2010/main" val="325143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5CAAC03-7533-0044-953D-A789D20F1985}"/>
              </a:ext>
            </a:extLst>
          </p:cNvPr>
          <p:cNvSpPr>
            <a:spLocks noGrp="1"/>
          </p:cNvSpPr>
          <p:nvPr>
            <p:ph type="sldNum" sz="quarter" idx="12"/>
          </p:nvPr>
        </p:nvSpPr>
        <p:spPr/>
        <p:txBody>
          <a:bodyPr/>
          <a:lstStyle/>
          <a:p>
            <a:fld id="{48758AAF-F958-4141-BDE8-5609689A4508}" type="slidenum">
              <a:rPr lang="zh-CN" altLang="en-US" smtClean="0"/>
              <a:t>27</a:t>
            </a:fld>
            <a:endParaRPr lang="zh-CN" altLang="en-US"/>
          </a:p>
        </p:txBody>
      </p:sp>
      <p:sp>
        <p:nvSpPr>
          <p:cNvPr id="3" name="Rectangle 2">
            <a:extLst>
              <a:ext uri="{FF2B5EF4-FFF2-40B4-BE49-F238E27FC236}">
                <a16:creationId xmlns:a16="http://schemas.microsoft.com/office/drawing/2014/main" id="{0A50D2D9-C2FF-274B-8EBE-5BC5602ECB72}"/>
              </a:ext>
            </a:extLst>
          </p:cNvPr>
          <p:cNvSpPr/>
          <p:nvPr/>
        </p:nvSpPr>
        <p:spPr>
          <a:xfrm>
            <a:off x="1450588" y="5621580"/>
            <a:ext cx="7448084" cy="400110"/>
          </a:xfrm>
          <a:prstGeom prst="rect">
            <a:avLst/>
          </a:prstGeom>
        </p:spPr>
        <p:txBody>
          <a:bodyPr wrap="square">
            <a:spAutoFit/>
          </a:bodyPr>
          <a:lstStyle/>
          <a:p>
            <a:r>
              <a:rPr lang="en-US" sz="2000" dirty="0"/>
              <a:t>This is what is meant </a:t>
            </a:r>
            <a:r>
              <a:rPr lang="en-US" sz="2000" b="1" dirty="0"/>
              <a:t>“allows execution of arbitrary code”</a:t>
            </a:r>
          </a:p>
        </p:txBody>
      </p:sp>
      <p:sp>
        <p:nvSpPr>
          <p:cNvPr id="4" name="Rectangle 3">
            <a:extLst>
              <a:ext uri="{FF2B5EF4-FFF2-40B4-BE49-F238E27FC236}">
                <a16:creationId xmlns:a16="http://schemas.microsoft.com/office/drawing/2014/main" id="{DB98F408-8724-764B-90E1-16175D953E8C}"/>
              </a:ext>
            </a:extLst>
          </p:cNvPr>
          <p:cNvSpPr/>
          <p:nvPr/>
        </p:nvSpPr>
        <p:spPr>
          <a:xfrm>
            <a:off x="1450588" y="1254733"/>
            <a:ext cx="7091246" cy="707886"/>
          </a:xfrm>
          <a:prstGeom prst="rect">
            <a:avLst/>
          </a:prstGeom>
        </p:spPr>
        <p:txBody>
          <a:bodyPr wrap="square">
            <a:spAutoFit/>
          </a:bodyPr>
          <a:lstStyle/>
          <a:p>
            <a:r>
              <a:rPr lang="en-US" sz="2000" dirty="0"/>
              <a:t>First, note that there is data as well as control flow information on the stack </a:t>
            </a:r>
          </a:p>
        </p:txBody>
      </p:sp>
      <p:sp>
        <p:nvSpPr>
          <p:cNvPr id="5" name="Rectangle 4">
            <a:extLst>
              <a:ext uri="{FF2B5EF4-FFF2-40B4-BE49-F238E27FC236}">
                <a16:creationId xmlns:a16="http://schemas.microsoft.com/office/drawing/2014/main" id="{B4E916AA-63E9-0F43-AF3D-7DE65E95BB62}"/>
              </a:ext>
            </a:extLst>
          </p:cNvPr>
          <p:cNvSpPr/>
          <p:nvPr/>
        </p:nvSpPr>
        <p:spPr>
          <a:xfrm>
            <a:off x="1450588" y="2143366"/>
            <a:ext cx="7091246" cy="707886"/>
          </a:xfrm>
          <a:prstGeom prst="rect">
            <a:avLst/>
          </a:prstGeom>
        </p:spPr>
        <p:txBody>
          <a:bodyPr wrap="square">
            <a:spAutoFit/>
          </a:bodyPr>
          <a:lstStyle/>
          <a:p>
            <a:r>
              <a:rPr lang="en-US" sz="2000" dirty="0"/>
              <a:t>If there is an automatic variable there that we can overflow, maybe we can overwrite the return address </a:t>
            </a:r>
          </a:p>
        </p:txBody>
      </p:sp>
      <p:sp>
        <p:nvSpPr>
          <p:cNvPr id="6" name="Rectangle 5">
            <a:extLst>
              <a:ext uri="{FF2B5EF4-FFF2-40B4-BE49-F238E27FC236}">
                <a16:creationId xmlns:a16="http://schemas.microsoft.com/office/drawing/2014/main" id="{26F07262-3B9C-0E4A-9153-3B21A3D73F57}"/>
              </a:ext>
            </a:extLst>
          </p:cNvPr>
          <p:cNvSpPr/>
          <p:nvPr/>
        </p:nvSpPr>
        <p:spPr>
          <a:xfrm>
            <a:off x="1450587" y="3308998"/>
            <a:ext cx="7448085" cy="707886"/>
          </a:xfrm>
          <a:prstGeom prst="rect">
            <a:avLst/>
          </a:prstGeom>
        </p:spPr>
        <p:txBody>
          <a:bodyPr wrap="square">
            <a:spAutoFit/>
          </a:bodyPr>
          <a:lstStyle/>
          <a:p>
            <a:r>
              <a:rPr lang="en-US" sz="2000" dirty="0"/>
              <a:t>If we can overwrite the return address, we can (usually) make the program execute code anywhere in the process address space </a:t>
            </a:r>
          </a:p>
        </p:txBody>
      </p:sp>
      <p:sp>
        <p:nvSpPr>
          <p:cNvPr id="7" name="Rectangle 6">
            <a:extLst>
              <a:ext uri="{FF2B5EF4-FFF2-40B4-BE49-F238E27FC236}">
                <a16:creationId xmlns:a16="http://schemas.microsoft.com/office/drawing/2014/main" id="{721B69D2-0571-7F46-A712-D0AEB3073F12}"/>
              </a:ext>
            </a:extLst>
          </p:cNvPr>
          <p:cNvSpPr/>
          <p:nvPr/>
        </p:nvSpPr>
        <p:spPr>
          <a:xfrm>
            <a:off x="1450588" y="4474630"/>
            <a:ext cx="7448084" cy="707886"/>
          </a:xfrm>
          <a:prstGeom prst="rect">
            <a:avLst/>
          </a:prstGeom>
        </p:spPr>
        <p:txBody>
          <a:bodyPr wrap="square">
            <a:spAutoFit/>
          </a:bodyPr>
          <a:lstStyle/>
          <a:p>
            <a:r>
              <a:rPr lang="en-US" sz="2000" dirty="0"/>
              <a:t>And if the variable we have overflowed is a buffer, why not fill the buffer with our code to execute? </a:t>
            </a:r>
          </a:p>
        </p:txBody>
      </p:sp>
      <p:sp>
        <p:nvSpPr>
          <p:cNvPr id="8" name="Rectangle 7">
            <a:extLst>
              <a:ext uri="{FF2B5EF4-FFF2-40B4-BE49-F238E27FC236}">
                <a16:creationId xmlns:a16="http://schemas.microsoft.com/office/drawing/2014/main" id="{D2C5825D-A8ED-AC48-9D30-D743F861CF3F}"/>
              </a:ext>
            </a:extLst>
          </p:cNvPr>
          <p:cNvSpPr/>
          <p:nvPr/>
        </p:nvSpPr>
        <p:spPr>
          <a:xfrm>
            <a:off x="256991" y="481203"/>
            <a:ext cx="3408305" cy="523220"/>
          </a:xfrm>
          <a:prstGeom prst="rect">
            <a:avLst/>
          </a:prstGeom>
        </p:spPr>
        <p:txBody>
          <a:bodyPr wrap="none">
            <a:spAutoFit/>
          </a:bodyPr>
          <a:lstStyle/>
          <a:p>
            <a:r>
              <a:rPr lang="en-US" sz="2800" b="1" dirty="0"/>
              <a:t>So </a:t>
            </a:r>
            <a:r>
              <a:rPr lang="en-US" sz="2800" b="1" dirty="0" err="1"/>
              <a:t>Whats</a:t>
            </a:r>
            <a:r>
              <a:rPr lang="en-US" sz="2800" b="1" dirty="0"/>
              <a:t> The Deal?</a:t>
            </a:r>
          </a:p>
        </p:txBody>
      </p:sp>
    </p:spTree>
    <p:extLst>
      <p:ext uri="{BB962C8B-B14F-4D97-AF65-F5344CB8AC3E}">
        <p14:creationId xmlns:p14="http://schemas.microsoft.com/office/powerpoint/2010/main" val="709960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93B9F88-92B2-3849-9099-76ED8FD6651C}"/>
              </a:ext>
            </a:extLst>
          </p:cNvPr>
          <p:cNvSpPr>
            <a:spLocks noGrp="1"/>
          </p:cNvSpPr>
          <p:nvPr>
            <p:ph type="sldNum" sz="quarter" idx="12"/>
          </p:nvPr>
        </p:nvSpPr>
        <p:spPr/>
        <p:txBody>
          <a:bodyPr/>
          <a:lstStyle/>
          <a:p>
            <a:fld id="{48758AAF-F958-4141-BDE8-5609689A4508}" type="slidenum">
              <a:rPr lang="zh-CN" altLang="en-US" smtClean="0"/>
              <a:t>28</a:t>
            </a:fld>
            <a:endParaRPr lang="zh-CN" altLang="en-US"/>
          </a:p>
        </p:txBody>
      </p:sp>
      <p:sp>
        <p:nvSpPr>
          <p:cNvPr id="4" name="Rectangle 3">
            <a:extLst>
              <a:ext uri="{FF2B5EF4-FFF2-40B4-BE49-F238E27FC236}">
                <a16:creationId xmlns:a16="http://schemas.microsoft.com/office/drawing/2014/main" id="{86222C61-09E8-AB43-B732-E43E9147D73C}"/>
              </a:ext>
            </a:extLst>
          </p:cNvPr>
          <p:cNvSpPr/>
          <p:nvPr/>
        </p:nvSpPr>
        <p:spPr>
          <a:xfrm>
            <a:off x="1248937" y="2677403"/>
            <a:ext cx="7025268" cy="1200329"/>
          </a:xfrm>
          <a:prstGeom prst="rect">
            <a:avLst/>
          </a:prstGeom>
        </p:spPr>
        <p:txBody>
          <a:bodyPr wrap="square">
            <a:spAutoFit/>
          </a:bodyPr>
          <a:lstStyle/>
          <a:p>
            <a:r>
              <a:rPr lang="en-US" sz="2400" dirty="0"/>
              <a:t>Your Media Player application has a buffer overflow that is activated whenever an MP3 IDv3 tag is longer than anticipated</a:t>
            </a:r>
          </a:p>
        </p:txBody>
      </p:sp>
    </p:spTree>
    <p:extLst>
      <p:ext uri="{BB962C8B-B14F-4D97-AF65-F5344CB8AC3E}">
        <p14:creationId xmlns:p14="http://schemas.microsoft.com/office/powerpoint/2010/main" val="4263174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EF88189-F783-2F44-9711-20E318114E5C}"/>
              </a:ext>
            </a:extLst>
          </p:cNvPr>
          <p:cNvSpPr>
            <a:spLocks noGrp="1"/>
          </p:cNvSpPr>
          <p:nvPr>
            <p:ph type="sldNum" sz="quarter" idx="12"/>
          </p:nvPr>
        </p:nvSpPr>
        <p:spPr/>
        <p:txBody>
          <a:bodyPr/>
          <a:lstStyle/>
          <a:p>
            <a:fld id="{48758AAF-F958-4141-BDE8-5609689A4508}" type="slidenum">
              <a:rPr lang="zh-CN" altLang="en-US" smtClean="0"/>
              <a:t>29</a:t>
            </a:fld>
            <a:endParaRPr lang="zh-CN" altLang="en-US"/>
          </a:p>
        </p:txBody>
      </p:sp>
      <p:sp>
        <p:nvSpPr>
          <p:cNvPr id="4" name="Rectangle 3">
            <a:extLst>
              <a:ext uri="{FF2B5EF4-FFF2-40B4-BE49-F238E27FC236}">
                <a16:creationId xmlns:a16="http://schemas.microsoft.com/office/drawing/2014/main" id="{F59FE6CB-5A68-BC48-8922-FB11F2B10F5B}"/>
              </a:ext>
            </a:extLst>
          </p:cNvPr>
          <p:cNvSpPr/>
          <p:nvPr/>
        </p:nvSpPr>
        <p:spPr>
          <a:xfrm>
            <a:off x="1450588" y="1090566"/>
            <a:ext cx="4953000" cy="5355312"/>
          </a:xfrm>
          <a:prstGeom prst="rect">
            <a:avLst/>
          </a:prstGeom>
        </p:spPr>
        <p:txBody>
          <a:bodyPr>
            <a:spAutoFit/>
          </a:bodyPr>
          <a:lstStyle/>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stdio.h</a:t>
            </a:r>
            <a:r>
              <a:rPr lang="en-US" dirty="0">
                <a:latin typeface="Consolas" panose="020B0609020204030204" pitchFamily="49" charset="0"/>
                <a:cs typeface="Consolas" panose="020B0609020204030204" pitchFamily="49" charset="0"/>
              </a:rPr>
              <a:t>&gt;</a:t>
            </a:r>
          </a:p>
          <a:p>
            <a:r>
              <a:rPr lang="en-US" dirty="0">
                <a:latin typeface="Consolas" panose="020B0609020204030204" pitchFamily="49" charset="0"/>
                <a:cs typeface="Consolas" panose="020B0609020204030204" pitchFamily="49" charset="0"/>
              </a:rPr>
              <a:t>#include &lt;</a:t>
            </a:r>
            <a:r>
              <a:rPr lang="en-US" dirty="0" err="1">
                <a:latin typeface="Consolas" panose="020B0609020204030204" pitchFamily="49" charset="0"/>
                <a:cs typeface="Consolas" panose="020B0609020204030204" pitchFamily="49" charset="0"/>
              </a:rPr>
              <a:t>string.h</a:t>
            </a:r>
            <a:r>
              <a:rPr lang="en-US" dirty="0">
                <a:latin typeface="Consolas" panose="020B0609020204030204" pitchFamily="49" charset="0"/>
                <a:cs typeface="Consolas" panose="020B0609020204030204" pitchFamily="49" charset="0"/>
              </a:rPr>
              <a:t>&gt;</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void </a:t>
            </a:r>
            <a:r>
              <a:rPr lang="en-US" dirty="0" err="1">
                <a:latin typeface="Consolas" panose="020B0609020204030204" pitchFamily="49" charset="0"/>
                <a:cs typeface="Consolas" panose="020B0609020204030204" pitchFamily="49" charset="0"/>
              </a:rPr>
              <a:t>vulnerableFunction</a:t>
            </a:r>
            <a:r>
              <a:rPr lang="en-US" dirty="0">
                <a:latin typeface="Consolas" panose="020B0609020204030204" pitchFamily="49" charset="0"/>
                <a:cs typeface="Consolas" panose="020B0609020204030204" pitchFamily="49" charset="0"/>
              </a:rPr>
              <a:t>(char *input) {</a:t>
            </a:r>
          </a:p>
          <a:p>
            <a:r>
              <a:rPr lang="en-US" dirty="0">
                <a:latin typeface="Consolas" panose="020B0609020204030204" pitchFamily="49" charset="0"/>
                <a:cs typeface="Consolas" panose="020B0609020204030204" pitchFamily="49" charset="0"/>
              </a:rPr>
              <a:t>    char buffer[16];</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strcpy</a:t>
            </a:r>
            <a:r>
              <a:rPr lang="en-US" dirty="0">
                <a:latin typeface="Consolas" panose="020B0609020204030204" pitchFamily="49" charset="0"/>
                <a:cs typeface="Consolas" panose="020B0609020204030204" pitchFamily="49" charset="0"/>
              </a:rPr>
              <a:t>(buffer, input);</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("Received: %s\n", buffer);</a:t>
            </a:r>
          </a:p>
          <a:p>
            <a:r>
              <a:rPr lang="en-US" dirty="0">
                <a:latin typeface="Consolas" panose="020B0609020204030204" pitchFamily="49" charset="0"/>
                <a:cs typeface="Consolas" panose="020B0609020204030204" pitchFamily="49" charset="0"/>
              </a:rPr>
              <a:t>}</a:t>
            </a:r>
          </a:p>
          <a:p>
            <a:endParaRPr lang="en-US" dirty="0">
              <a:latin typeface="Consolas" panose="020B0609020204030204" pitchFamily="49" charset="0"/>
              <a:cs typeface="Consolas" panose="020B0609020204030204" pitchFamily="49" charset="0"/>
            </a:endParaRPr>
          </a:p>
          <a:p>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main(</a:t>
            </a:r>
            <a:r>
              <a:rPr lang="en-US" dirty="0" err="1">
                <a:latin typeface="Consolas" panose="020B0609020204030204" pitchFamily="49" charset="0"/>
                <a:cs typeface="Consolas" panose="020B0609020204030204" pitchFamily="49" charset="0"/>
              </a:rPr>
              <a:t>int</a:t>
            </a:r>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argc</a:t>
            </a:r>
            <a:r>
              <a:rPr lang="en-US" dirty="0">
                <a:latin typeface="Consolas" panose="020B0609020204030204" pitchFamily="49" charset="0"/>
                <a:cs typeface="Consolas" panose="020B0609020204030204" pitchFamily="49" charset="0"/>
              </a:rPr>
              <a:t>, char *</a:t>
            </a:r>
            <a:r>
              <a:rPr lang="en-US" dirty="0" err="1">
                <a:latin typeface="Consolas" panose="020B0609020204030204" pitchFamily="49" charset="0"/>
                <a:cs typeface="Consolas" panose="020B0609020204030204" pitchFamily="49" charset="0"/>
              </a:rPr>
              <a:t>argv</a:t>
            </a:r>
            <a:r>
              <a:rPr lang="en-US" dirty="0">
                <a:latin typeface="Consolas" panose="020B0609020204030204" pitchFamily="49" charset="0"/>
                <a:cs typeface="Consolas" panose="020B0609020204030204" pitchFamily="49" charset="0"/>
              </a:rPr>
              <a:t>[]) {</a:t>
            </a:r>
          </a:p>
          <a:p>
            <a:r>
              <a:rPr lang="en-US" dirty="0">
                <a:latin typeface="Consolas" panose="020B0609020204030204" pitchFamily="49" charset="0"/>
                <a:cs typeface="Consolas" panose="020B0609020204030204" pitchFamily="49" charset="0"/>
              </a:rPr>
              <a:t>    if (</a:t>
            </a:r>
            <a:r>
              <a:rPr lang="en-US" dirty="0" err="1">
                <a:latin typeface="Consolas" panose="020B0609020204030204" pitchFamily="49" charset="0"/>
                <a:cs typeface="Consolas" panose="020B0609020204030204" pitchFamily="49" charset="0"/>
              </a:rPr>
              <a:t>argc</a:t>
            </a:r>
            <a:r>
              <a:rPr lang="en-US" dirty="0">
                <a:latin typeface="Consolas" panose="020B0609020204030204" pitchFamily="49" charset="0"/>
                <a:cs typeface="Consolas" panose="020B0609020204030204" pitchFamily="49" charset="0"/>
              </a:rPr>
              <a:t> &gt; 1)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vulnerableFunction</a:t>
            </a:r>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argv</a:t>
            </a:r>
            <a:r>
              <a:rPr lang="en-US" dirty="0">
                <a:latin typeface="Consolas" panose="020B0609020204030204" pitchFamily="49" charset="0"/>
                <a:cs typeface="Consolas" panose="020B0609020204030204" pitchFamily="49" charset="0"/>
              </a:rPr>
              <a:t>[1]);</a:t>
            </a:r>
          </a:p>
          <a:p>
            <a:r>
              <a:rPr lang="en-US" dirty="0">
                <a:latin typeface="Consolas" panose="020B0609020204030204" pitchFamily="49" charset="0"/>
                <a:cs typeface="Consolas" panose="020B0609020204030204" pitchFamily="49" charset="0"/>
              </a:rPr>
              <a:t>    } else {</a:t>
            </a:r>
          </a:p>
          <a:p>
            <a:r>
              <a:rPr lang="en-US" dirty="0">
                <a:latin typeface="Consolas" panose="020B0609020204030204" pitchFamily="49" charset="0"/>
                <a:cs typeface="Consolas" panose="020B0609020204030204" pitchFamily="49" charset="0"/>
              </a:rPr>
              <a:t>        </a:t>
            </a:r>
            <a:r>
              <a:rPr lang="en-US" dirty="0" err="1">
                <a:latin typeface="Consolas" panose="020B0609020204030204" pitchFamily="49" charset="0"/>
                <a:cs typeface="Consolas" panose="020B0609020204030204" pitchFamily="49" charset="0"/>
              </a:rPr>
              <a:t>printf</a:t>
            </a:r>
            <a:r>
              <a:rPr lang="en-US" dirty="0">
                <a:latin typeface="Consolas" panose="020B0609020204030204" pitchFamily="49" charset="0"/>
                <a:cs typeface="Consolas" panose="020B0609020204030204" pitchFamily="49" charset="0"/>
              </a:rPr>
              <a:t>("Usage: %s &lt;input&gt;\n", </a:t>
            </a:r>
            <a:r>
              <a:rPr lang="en-US" dirty="0" err="1">
                <a:latin typeface="Consolas" panose="020B0609020204030204" pitchFamily="49" charset="0"/>
                <a:cs typeface="Consolas" panose="020B0609020204030204" pitchFamily="49" charset="0"/>
              </a:rPr>
              <a:t>argv</a:t>
            </a:r>
            <a:r>
              <a:rPr lang="en-US" dirty="0">
                <a:latin typeface="Consolas" panose="020B0609020204030204" pitchFamily="49" charset="0"/>
                <a:cs typeface="Consolas" panose="020B0609020204030204" pitchFamily="49" charset="0"/>
              </a:rPr>
              <a:t>[0]);</a:t>
            </a:r>
          </a:p>
          <a:p>
            <a:r>
              <a:rPr lang="en-US" dirty="0">
                <a:latin typeface="Consolas" panose="020B0609020204030204" pitchFamily="49" charset="0"/>
                <a:cs typeface="Consolas" panose="020B0609020204030204" pitchFamily="49" charset="0"/>
              </a:rPr>
              <a:t>    }</a:t>
            </a:r>
          </a:p>
          <a:p>
            <a:endParaRPr lang="en-US" dirty="0">
              <a:latin typeface="Consolas" panose="020B0609020204030204" pitchFamily="49" charset="0"/>
              <a:cs typeface="Consolas" panose="020B0609020204030204" pitchFamily="49" charset="0"/>
            </a:endParaRPr>
          </a:p>
          <a:p>
            <a:r>
              <a:rPr lang="en-US" dirty="0">
                <a:latin typeface="Consolas" panose="020B0609020204030204" pitchFamily="49" charset="0"/>
                <a:cs typeface="Consolas" panose="020B0609020204030204" pitchFamily="49" charset="0"/>
              </a:rPr>
              <a:t>    return 0;</a:t>
            </a:r>
          </a:p>
          <a:p>
            <a:r>
              <a:rPr lang="en-US" dirty="0">
                <a:latin typeface="Consolas" panose="020B0609020204030204" pitchFamily="49" charset="0"/>
                <a:cs typeface="Consolas" panose="020B0609020204030204" pitchFamily="49" charset="0"/>
              </a:rPr>
              <a:t>}</a:t>
            </a:r>
          </a:p>
        </p:txBody>
      </p:sp>
      <p:sp>
        <p:nvSpPr>
          <p:cNvPr id="5" name="Rectangle 4">
            <a:extLst>
              <a:ext uri="{FF2B5EF4-FFF2-40B4-BE49-F238E27FC236}">
                <a16:creationId xmlns:a16="http://schemas.microsoft.com/office/drawing/2014/main" id="{66A3D93D-ED6E-6B4F-8326-16887C628581}"/>
              </a:ext>
            </a:extLst>
          </p:cNvPr>
          <p:cNvSpPr/>
          <p:nvPr/>
        </p:nvSpPr>
        <p:spPr>
          <a:xfrm>
            <a:off x="92366" y="433135"/>
            <a:ext cx="3126177" cy="523220"/>
          </a:xfrm>
          <a:prstGeom prst="rect">
            <a:avLst/>
          </a:prstGeom>
        </p:spPr>
        <p:txBody>
          <a:bodyPr wrap="none">
            <a:spAutoFit/>
          </a:bodyPr>
          <a:lstStyle/>
          <a:p>
            <a:r>
              <a:rPr lang="en-US" sz="2800" b="1" dirty="0"/>
              <a:t>Making an Exploit</a:t>
            </a:r>
          </a:p>
        </p:txBody>
      </p:sp>
    </p:spTree>
    <p:extLst>
      <p:ext uri="{BB962C8B-B14F-4D97-AF65-F5344CB8AC3E}">
        <p14:creationId xmlns:p14="http://schemas.microsoft.com/office/powerpoint/2010/main" val="2597998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E8C167-CEFA-324E-B3CF-D75760766B2B}"/>
              </a:ext>
            </a:extLst>
          </p:cNvPr>
          <p:cNvSpPr>
            <a:spLocks noGrp="1"/>
          </p:cNvSpPr>
          <p:nvPr>
            <p:ph type="sldNum" sz="quarter" idx="12"/>
          </p:nvPr>
        </p:nvSpPr>
        <p:spPr/>
        <p:txBody>
          <a:bodyPr/>
          <a:lstStyle/>
          <a:p>
            <a:fld id="{48758AAF-F958-4141-BDE8-5609689A4508}" type="slidenum">
              <a:rPr lang="zh-CN" altLang="en-US" smtClean="0"/>
              <a:t>30</a:t>
            </a:fld>
            <a:endParaRPr lang="zh-CN" altLang="en-US"/>
          </a:p>
        </p:txBody>
      </p:sp>
      <p:sp>
        <p:nvSpPr>
          <p:cNvPr id="3" name="Rectangle 2">
            <a:extLst>
              <a:ext uri="{FF2B5EF4-FFF2-40B4-BE49-F238E27FC236}">
                <a16:creationId xmlns:a16="http://schemas.microsoft.com/office/drawing/2014/main" id="{7BDD621C-196F-404A-840C-63DF22418FDD}"/>
              </a:ext>
            </a:extLst>
          </p:cNvPr>
          <p:cNvSpPr/>
          <p:nvPr/>
        </p:nvSpPr>
        <p:spPr>
          <a:xfrm>
            <a:off x="826120" y="1473072"/>
            <a:ext cx="4953000" cy="923330"/>
          </a:xfrm>
          <a:prstGeom prst="rect">
            <a:avLst/>
          </a:prstGeom>
        </p:spPr>
        <p:txBody>
          <a:bodyPr>
            <a:spAutoFit/>
          </a:bodyPr>
          <a:lstStyle/>
          <a:p>
            <a:r>
              <a:rPr lang="en-US" dirty="0"/>
              <a:t>The function </a:t>
            </a:r>
            <a:r>
              <a:rPr lang="en-US" b="1" dirty="0" err="1">
                <a:solidFill>
                  <a:srgbClr val="C00000"/>
                </a:solidFill>
                <a:latin typeface="Consolas" panose="020B0609020204030204" pitchFamily="49" charset="0"/>
                <a:cs typeface="Consolas" panose="020B0609020204030204" pitchFamily="49" charset="0"/>
              </a:rPr>
              <a:t>vulnerableFunction</a:t>
            </a:r>
            <a:r>
              <a:rPr lang="en-US" dirty="0"/>
              <a:t> defines a local buffer char </a:t>
            </a:r>
            <a:r>
              <a:rPr lang="en-US" dirty="0">
                <a:solidFill>
                  <a:srgbClr val="C00000"/>
                </a:solidFill>
                <a:latin typeface="Consolas" panose="020B0609020204030204" pitchFamily="49" charset="0"/>
                <a:cs typeface="Consolas" panose="020B0609020204030204" pitchFamily="49" charset="0"/>
              </a:rPr>
              <a:t>buffer[16]; </a:t>
            </a:r>
            <a:r>
              <a:rPr lang="en-US" dirty="0"/>
              <a:t>that can hold up to 16 characters.</a:t>
            </a:r>
          </a:p>
        </p:txBody>
      </p:sp>
      <p:sp>
        <p:nvSpPr>
          <p:cNvPr id="4" name="Rectangle 3">
            <a:extLst>
              <a:ext uri="{FF2B5EF4-FFF2-40B4-BE49-F238E27FC236}">
                <a16:creationId xmlns:a16="http://schemas.microsoft.com/office/drawing/2014/main" id="{DCFEE80A-750E-F54C-B845-27B0D620CE7F}"/>
              </a:ext>
            </a:extLst>
          </p:cNvPr>
          <p:cNvSpPr/>
          <p:nvPr/>
        </p:nvSpPr>
        <p:spPr>
          <a:xfrm>
            <a:off x="826120" y="2953281"/>
            <a:ext cx="4953000" cy="2031325"/>
          </a:xfrm>
          <a:prstGeom prst="rect">
            <a:avLst/>
          </a:prstGeom>
        </p:spPr>
        <p:txBody>
          <a:bodyPr>
            <a:spAutoFit/>
          </a:bodyPr>
          <a:lstStyle/>
          <a:p>
            <a:r>
              <a:rPr lang="en-US" dirty="0"/>
              <a:t>The function uses </a:t>
            </a:r>
            <a:r>
              <a:rPr lang="en-US" b="1" dirty="0" err="1">
                <a:solidFill>
                  <a:srgbClr val="C00000"/>
                </a:solidFill>
                <a:latin typeface="Consolas" panose="020B0609020204030204" pitchFamily="49" charset="0"/>
                <a:cs typeface="Consolas" panose="020B0609020204030204" pitchFamily="49" charset="0"/>
              </a:rPr>
              <a:t>strcpy</a:t>
            </a:r>
            <a:r>
              <a:rPr lang="en-US" dirty="0"/>
              <a:t> to copy the contents of the input (provided by the user via </a:t>
            </a:r>
            <a:r>
              <a:rPr lang="en-US" dirty="0" err="1"/>
              <a:t>argv</a:t>
            </a:r>
            <a:r>
              <a:rPr lang="en-US" dirty="0"/>
              <a:t>[1]) into the buffer. However, </a:t>
            </a:r>
            <a:r>
              <a:rPr lang="en-US" b="1" dirty="0" err="1">
                <a:solidFill>
                  <a:srgbClr val="C00000"/>
                </a:solidFill>
                <a:latin typeface="Consolas" panose="020B0609020204030204" pitchFamily="49" charset="0"/>
                <a:cs typeface="Consolas" panose="020B0609020204030204" pitchFamily="49" charset="0"/>
              </a:rPr>
              <a:t>strcpy</a:t>
            </a:r>
            <a:r>
              <a:rPr lang="en-US" dirty="0"/>
              <a:t> does not check the length of the input, so if the input is larger than 16 characters, it will overflow the buffer and overwrite adjacent memory on the stack.</a:t>
            </a:r>
          </a:p>
        </p:txBody>
      </p:sp>
      <p:sp>
        <p:nvSpPr>
          <p:cNvPr id="5" name="Rectangle 4">
            <a:extLst>
              <a:ext uri="{FF2B5EF4-FFF2-40B4-BE49-F238E27FC236}">
                <a16:creationId xmlns:a16="http://schemas.microsoft.com/office/drawing/2014/main" id="{584508A9-40D0-2045-B53F-FF73CA563F67}"/>
              </a:ext>
            </a:extLst>
          </p:cNvPr>
          <p:cNvSpPr/>
          <p:nvPr/>
        </p:nvSpPr>
        <p:spPr>
          <a:xfrm>
            <a:off x="5634038" y="1152788"/>
            <a:ext cx="3998477" cy="4185761"/>
          </a:xfrm>
          <a:prstGeom prst="rect">
            <a:avLst/>
          </a:prstGeom>
        </p:spPr>
        <p:txBody>
          <a:bodyPr wrap="square">
            <a:spAutoFit/>
          </a:bodyPr>
          <a:lstStyle/>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stdio.h</a:t>
            </a:r>
            <a:r>
              <a:rPr lang="en-US" sz="1400" dirty="0">
                <a:latin typeface="Consolas" panose="020B0609020204030204" pitchFamily="49" charset="0"/>
                <a:cs typeface="Consolas" panose="020B0609020204030204" pitchFamily="49" charset="0"/>
              </a:rPr>
              <a:t>&gt;</a:t>
            </a:r>
          </a:p>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string.h</a:t>
            </a:r>
            <a:r>
              <a:rPr lang="en-US" sz="1400" dirty="0">
                <a:latin typeface="Consolas" panose="020B0609020204030204" pitchFamily="49" charset="0"/>
                <a:cs typeface="Consolas" panose="020B0609020204030204" pitchFamily="49" charset="0"/>
              </a:rPr>
              <a:t>&gt;</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(char *input) {</a:t>
            </a:r>
          </a:p>
          <a:p>
            <a:r>
              <a:rPr lang="en-US" sz="1400" dirty="0">
                <a:latin typeface="Consolas" panose="020B0609020204030204" pitchFamily="49" charset="0"/>
                <a:cs typeface="Consolas" panose="020B0609020204030204" pitchFamily="49" charset="0"/>
              </a:rPr>
              <a:t>    char buffer[16];</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strcpy</a:t>
            </a:r>
            <a:r>
              <a:rPr lang="en-US" sz="1400" dirty="0">
                <a:latin typeface="Consolas" panose="020B0609020204030204" pitchFamily="49" charset="0"/>
                <a:cs typeface="Consolas" panose="020B0609020204030204" pitchFamily="49" charset="0"/>
              </a:rPr>
              <a:t>(buffer, input);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("Received: %s\n", buffer);</a:t>
            </a:r>
          </a:p>
          <a:p>
            <a:r>
              <a:rPr lang="en-US" sz="1400" dirty="0">
                <a:latin typeface="Consolas" panose="020B0609020204030204" pitchFamily="49" charset="0"/>
                <a:cs typeface="Consolas" panose="020B0609020204030204" pitchFamily="49" charset="0"/>
              </a:rPr>
              <a:t>}</a:t>
            </a:r>
          </a:p>
          <a:p>
            <a:endParaRPr lang="en-US" sz="1400" dirty="0">
              <a:latin typeface="Consolas" panose="020B0609020204030204" pitchFamily="49" charset="0"/>
              <a:cs typeface="Consolas" panose="020B0609020204030204" pitchFamily="49" charset="0"/>
            </a:endParaRPr>
          </a:p>
          <a:p>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char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 {</a:t>
            </a:r>
          </a:p>
          <a:p>
            <a:r>
              <a:rPr lang="en-US" sz="1400" dirty="0">
                <a:latin typeface="Consolas" panose="020B0609020204030204" pitchFamily="49" charset="0"/>
                <a:cs typeface="Consolas" panose="020B0609020204030204" pitchFamily="49" charset="0"/>
              </a:rPr>
              <a:t>    if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&gt; 1)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[1]);</a:t>
            </a:r>
          </a:p>
          <a:p>
            <a:r>
              <a:rPr lang="en-US" sz="1400" dirty="0">
                <a:latin typeface="Consolas" panose="020B0609020204030204" pitchFamily="49" charset="0"/>
                <a:cs typeface="Consolas" panose="020B0609020204030204" pitchFamily="49" charset="0"/>
              </a:rPr>
              <a:t>    } else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("Usage: %s &lt;input&gt;\n",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[0]);</a:t>
            </a:r>
          </a:p>
          <a:p>
            <a:r>
              <a:rPr lang="en-US" sz="1400" dirty="0">
                <a:latin typeface="Consolas" panose="020B0609020204030204" pitchFamily="49" charset="0"/>
                <a:cs typeface="Consolas" panose="020B0609020204030204" pitchFamily="49" charset="0"/>
              </a:rPr>
              <a:t>    }</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return 0;</a:t>
            </a:r>
          </a:p>
          <a:p>
            <a:r>
              <a:rPr lang="en-US" sz="1400" dirty="0">
                <a:latin typeface="Consolas" panose="020B0609020204030204" pitchFamily="49" charset="0"/>
                <a:cs typeface="Consolas" panose="020B0609020204030204" pitchFamily="49" charset="0"/>
              </a:rPr>
              <a:t>}</a:t>
            </a:r>
          </a:p>
        </p:txBody>
      </p:sp>
      <p:sp>
        <p:nvSpPr>
          <p:cNvPr id="6" name="Rectangle 5">
            <a:extLst>
              <a:ext uri="{FF2B5EF4-FFF2-40B4-BE49-F238E27FC236}">
                <a16:creationId xmlns:a16="http://schemas.microsoft.com/office/drawing/2014/main" id="{8B5EB267-9C54-DA47-9077-8A569BFB65D2}"/>
              </a:ext>
            </a:extLst>
          </p:cNvPr>
          <p:cNvSpPr/>
          <p:nvPr/>
        </p:nvSpPr>
        <p:spPr>
          <a:xfrm>
            <a:off x="263805" y="472798"/>
            <a:ext cx="5416868" cy="523220"/>
          </a:xfrm>
          <a:prstGeom prst="rect">
            <a:avLst/>
          </a:prstGeom>
        </p:spPr>
        <p:txBody>
          <a:bodyPr wrap="none">
            <a:spAutoFit/>
          </a:bodyPr>
          <a:lstStyle/>
          <a:p>
            <a:r>
              <a:rPr lang="en-US" sz="2800" b="1" dirty="0"/>
              <a:t>Explanation of the Vulnerability</a:t>
            </a:r>
          </a:p>
        </p:txBody>
      </p:sp>
    </p:spTree>
    <p:extLst>
      <p:ext uri="{BB962C8B-B14F-4D97-AF65-F5344CB8AC3E}">
        <p14:creationId xmlns:p14="http://schemas.microsoft.com/office/powerpoint/2010/main" val="2780967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E8C167-CEFA-324E-B3CF-D75760766B2B}"/>
              </a:ext>
            </a:extLst>
          </p:cNvPr>
          <p:cNvSpPr>
            <a:spLocks noGrp="1"/>
          </p:cNvSpPr>
          <p:nvPr>
            <p:ph type="sldNum" sz="quarter" idx="12"/>
          </p:nvPr>
        </p:nvSpPr>
        <p:spPr/>
        <p:txBody>
          <a:bodyPr/>
          <a:lstStyle/>
          <a:p>
            <a:fld id="{48758AAF-F958-4141-BDE8-5609689A4508}" type="slidenum">
              <a:rPr lang="zh-CN" altLang="en-US" smtClean="0"/>
              <a:t>31</a:t>
            </a:fld>
            <a:endParaRPr lang="zh-CN" altLang="en-US"/>
          </a:p>
        </p:txBody>
      </p:sp>
      <p:sp>
        <p:nvSpPr>
          <p:cNvPr id="5" name="Rectangle 4">
            <a:extLst>
              <a:ext uri="{FF2B5EF4-FFF2-40B4-BE49-F238E27FC236}">
                <a16:creationId xmlns:a16="http://schemas.microsoft.com/office/drawing/2014/main" id="{584508A9-40D0-2045-B53F-FF73CA563F67}"/>
              </a:ext>
            </a:extLst>
          </p:cNvPr>
          <p:cNvSpPr/>
          <p:nvPr/>
        </p:nvSpPr>
        <p:spPr>
          <a:xfrm>
            <a:off x="5634038" y="1152788"/>
            <a:ext cx="3998477" cy="4185761"/>
          </a:xfrm>
          <a:prstGeom prst="rect">
            <a:avLst/>
          </a:prstGeom>
        </p:spPr>
        <p:txBody>
          <a:bodyPr wrap="square">
            <a:spAutoFit/>
          </a:bodyPr>
          <a:lstStyle/>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stdio.h</a:t>
            </a:r>
            <a:r>
              <a:rPr lang="en-US" sz="1400" dirty="0">
                <a:latin typeface="Consolas" panose="020B0609020204030204" pitchFamily="49" charset="0"/>
                <a:cs typeface="Consolas" panose="020B0609020204030204" pitchFamily="49" charset="0"/>
              </a:rPr>
              <a:t>&gt;</a:t>
            </a:r>
          </a:p>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string.h</a:t>
            </a:r>
            <a:r>
              <a:rPr lang="en-US" sz="1400" dirty="0">
                <a:latin typeface="Consolas" panose="020B0609020204030204" pitchFamily="49" charset="0"/>
                <a:cs typeface="Consolas" panose="020B0609020204030204" pitchFamily="49" charset="0"/>
              </a:rPr>
              <a:t>&gt;</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(char *input) {</a:t>
            </a:r>
          </a:p>
          <a:p>
            <a:r>
              <a:rPr lang="en-US" sz="1400" dirty="0">
                <a:latin typeface="Consolas" panose="020B0609020204030204" pitchFamily="49" charset="0"/>
                <a:cs typeface="Consolas" panose="020B0609020204030204" pitchFamily="49" charset="0"/>
              </a:rPr>
              <a:t>    char buffer[16];</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strcpy</a:t>
            </a:r>
            <a:r>
              <a:rPr lang="en-US" sz="1400" dirty="0">
                <a:latin typeface="Consolas" panose="020B0609020204030204" pitchFamily="49" charset="0"/>
                <a:cs typeface="Consolas" panose="020B0609020204030204" pitchFamily="49" charset="0"/>
              </a:rPr>
              <a:t>(buffer, input);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("Received: %s\n", buffer);</a:t>
            </a:r>
          </a:p>
          <a:p>
            <a:r>
              <a:rPr lang="en-US" sz="1400" dirty="0">
                <a:latin typeface="Consolas" panose="020B0609020204030204" pitchFamily="49" charset="0"/>
                <a:cs typeface="Consolas" panose="020B0609020204030204" pitchFamily="49" charset="0"/>
              </a:rPr>
              <a:t>}</a:t>
            </a:r>
          </a:p>
          <a:p>
            <a:endParaRPr lang="en-US" sz="1400" dirty="0">
              <a:latin typeface="Consolas" panose="020B0609020204030204" pitchFamily="49" charset="0"/>
              <a:cs typeface="Consolas" panose="020B0609020204030204" pitchFamily="49" charset="0"/>
            </a:endParaRPr>
          </a:p>
          <a:p>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char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 {</a:t>
            </a:r>
          </a:p>
          <a:p>
            <a:r>
              <a:rPr lang="en-US" sz="1400" dirty="0">
                <a:latin typeface="Consolas" panose="020B0609020204030204" pitchFamily="49" charset="0"/>
                <a:cs typeface="Consolas" panose="020B0609020204030204" pitchFamily="49" charset="0"/>
              </a:rPr>
              <a:t>    if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&gt; 1)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[1]);</a:t>
            </a:r>
          </a:p>
          <a:p>
            <a:r>
              <a:rPr lang="en-US" sz="1400" dirty="0">
                <a:latin typeface="Consolas" panose="020B0609020204030204" pitchFamily="49" charset="0"/>
                <a:cs typeface="Consolas" panose="020B0609020204030204" pitchFamily="49" charset="0"/>
              </a:rPr>
              <a:t>    } else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("Usage: %s &lt;input&gt;\n",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[0]);</a:t>
            </a:r>
          </a:p>
          <a:p>
            <a:r>
              <a:rPr lang="en-US" sz="1400" dirty="0">
                <a:latin typeface="Consolas" panose="020B0609020204030204" pitchFamily="49" charset="0"/>
                <a:cs typeface="Consolas" panose="020B0609020204030204" pitchFamily="49" charset="0"/>
              </a:rPr>
              <a:t>    }</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return 0;</a:t>
            </a:r>
          </a:p>
          <a:p>
            <a:r>
              <a:rPr lang="en-US" sz="1400" dirty="0">
                <a:latin typeface="Consolas" panose="020B0609020204030204" pitchFamily="49" charset="0"/>
                <a:cs typeface="Consolas" panose="020B0609020204030204" pitchFamily="49" charset="0"/>
              </a:rPr>
              <a:t>}</a:t>
            </a:r>
          </a:p>
        </p:txBody>
      </p:sp>
      <p:sp>
        <p:nvSpPr>
          <p:cNvPr id="7" name="Rectangle 6">
            <a:extLst>
              <a:ext uri="{FF2B5EF4-FFF2-40B4-BE49-F238E27FC236}">
                <a16:creationId xmlns:a16="http://schemas.microsoft.com/office/drawing/2014/main" id="{2F9650AC-5123-4344-898E-A9D44D5FA6EA}"/>
              </a:ext>
            </a:extLst>
          </p:cNvPr>
          <p:cNvSpPr/>
          <p:nvPr/>
        </p:nvSpPr>
        <p:spPr>
          <a:xfrm>
            <a:off x="246317" y="546861"/>
            <a:ext cx="3698448" cy="523220"/>
          </a:xfrm>
          <a:prstGeom prst="rect">
            <a:avLst/>
          </a:prstGeom>
        </p:spPr>
        <p:txBody>
          <a:bodyPr wrap="none">
            <a:spAutoFit/>
          </a:bodyPr>
          <a:lstStyle/>
          <a:p>
            <a:r>
              <a:rPr lang="en-US" sz="2800" b="1" dirty="0"/>
              <a:t>Potential Exploitation</a:t>
            </a:r>
          </a:p>
        </p:txBody>
      </p:sp>
      <p:sp>
        <p:nvSpPr>
          <p:cNvPr id="8" name="Rectangle 7">
            <a:extLst>
              <a:ext uri="{FF2B5EF4-FFF2-40B4-BE49-F238E27FC236}">
                <a16:creationId xmlns:a16="http://schemas.microsoft.com/office/drawing/2014/main" id="{1B024FAF-9720-9848-AE75-304C1C08FBC2}"/>
              </a:ext>
            </a:extLst>
          </p:cNvPr>
          <p:cNvSpPr/>
          <p:nvPr/>
        </p:nvSpPr>
        <p:spPr>
          <a:xfrm>
            <a:off x="681038" y="4924120"/>
            <a:ext cx="4953000" cy="923330"/>
          </a:xfrm>
          <a:prstGeom prst="rect">
            <a:avLst/>
          </a:prstGeom>
        </p:spPr>
        <p:txBody>
          <a:bodyPr>
            <a:spAutoFit/>
          </a:bodyPr>
          <a:lstStyle/>
          <a:p>
            <a:pPr marL="285750" indent="-285750">
              <a:buFont typeface="Arial" panose="020B0604020202020204" pitchFamily="34" charset="0"/>
              <a:buChar char="•"/>
            </a:pPr>
            <a:r>
              <a:rPr lang="en-US" dirty="0"/>
              <a:t>Redirect the program's execution flow to malicious code (e.g., jumping to the attacker's payload).</a:t>
            </a:r>
          </a:p>
        </p:txBody>
      </p:sp>
      <p:sp>
        <p:nvSpPr>
          <p:cNvPr id="9" name="Rectangle 8">
            <a:extLst>
              <a:ext uri="{FF2B5EF4-FFF2-40B4-BE49-F238E27FC236}">
                <a16:creationId xmlns:a16="http://schemas.microsoft.com/office/drawing/2014/main" id="{1782CB7B-B6C8-0F4F-8873-D2E737E4FFBB}"/>
              </a:ext>
            </a:extLst>
          </p:cNvPr>
          <p:cNvSpPr/>
          <p:nvPr/>
        </p:nvSpPr>
        <p:spPr>
          <a:xfrm>
            <a:off x="413409" y="1491342"/>
            <a:ext cx="4953000" cy="2031325"/>
          </a:xfrm>
          <a:prstGeom prst="rect">
            <a:avLst/>
          </a:prstGeom>
        </p:spPr>
        <p:txBody>
          <a:bodyPr>
            <a:spAutoFit/>
          </a:bodyPr>
          <a:lstStyle/>
          <a:p>
            <a:r>
              <a:rPr lang="en-US" dirty="0"/>
              <a:t>When more than 16 characters are passed to the program as an argument, the </a:t>
            </a:r>
            <a:r>
              <a:rPr lang="en-US" dirty="0" err="1">
                <a:latin typeface="Consolas" panose="020B0609020204030204" pitchFamily="49" charset="0"/>
                <a:cs typeface="Consolas" panose="020B0609020204030204" pitchFamily="49" charset="0"/>
              </a:rPr>
              <a:t>strcpy</a:t>
            </a:r>
            <a:r>
              <a:rPr lang="en-US" dirty="0"/>
              <a:t> function will copy the excess characters into memory locations beyond the buffer. This can overwrite the </a:t>
            </a:r>
            <a:r>
              <a:rPr lang="en-US" b="1" dirty="0">
                <a:solidFill>
                  <a:srgbClr val="C00000"/>
                </a:solidFill>
              </a:rPr>
              <a:t>return address</a:t>
            </a:r>
            <a:r>
              <a:rPr lang="en-US" dirty="0">
                <a:solidFill>
                  <a:srgbClr val="C00000"/>
                </a:solidFill>
              </a:rPr>
              <a:t> </a:t>
            </a:r>
            <a:r>
              <a:rPr lang="en-US" dirty="0"/>
              <a:t>or other critical data on the stack, potentially allowing the attacker to:</a:t>
            </a:r>
          </a:p>
        </p:txBody>
      </p:sp>
      <p:sp>
        <p:nvSpPr>
          <p:cNvPr id="10" name="Rectangle 9">
            <a:extLst>
              <a:ext uri="{FF2B5EF4-FFF2-40B4-BE49-F238E27FC236}">
                <a16:creationId xmlns:a16="http://schemas.microsoft.com/office/drawing/2014/main" id="{BE31BE54-B39A-E843-B658-0302C24114C7}"/>
              </a:ext>
            </a:extLst>
          </p:cNvPr>
          <p:cNvSpPr/>
          <p:nvPr/>
        </p:nvSpPr>
        <p:spPr>
          <a:xfrm>
            <a:off x="681038" y="3836238"/>
            <a:ext cx="4953000" cy="646331"/>
          </a:xfrm>
          <a:prstGeom prst="rect">
            <a:avLst/>
          </a:prstGeom>
        </p:spPr>
        <p:txBody>
          <a:bodyPr>
            <a:spAutoFit/>
          </a:bodyPr>
          <a:lstStyle/>
          <a:p>
            <a:pPr marL="285750" indent="-285750">
              <a:buFont typeface="Arial" panose="020B0604020202020204" pitchFamily="34" charset="0"/>
              <a:buChar char="•"/>
            </a:pPr>
            <a:r>
              <a:rPr lang="en-US" dirty="0"/>
              <a:t>Execute arbitrary code (e.g., shellcode placed by the attacker).</a:t>
            </a:r>
          </a:p>
        </p:txBody>
      </p:sp>
    </p:spTree>
    <p:extLst>
      <p:ext uri="{BB962C8B-B14F-4D97-AF65-F5344CB8AC3E}">
        <p14:creationId xmlns:p14="http://schemas.microsoft.com/office/powerpoint/2010/main" val="3365369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E8C167-CEFA-324E-B3CF-D75760766B2B}"/>
              </a:ext>
            </a:extLst>
          </p:cNvPr>
          <p:cNvSpPr>
            <a:spLocks noGrp="1"/>
          </p:cNvSpPr>
          <p:nvPr>
            <p:ph type="sldNum" sz="quarter" idx="12"/>
          </p:nvPr>
        </p:nvSpPr>
        <p:spPr/>
        <p:txBody>
          <a:bodyPr/>
          <a:lstStyle/>
          <a:p>
            <a:fld id="{48758AAF-F958-4141-BDE8-5609689A4508}" type="slidenum">
              <a:rPr lang="zh-CN" altLang="en-US" smtClean="0"/>
              <a:t>32</a:t>
            </a:fld>
            <a:endParaRPr lang="zh-CN" altLang="en-US"/>
          </a:p>
        </p:txBody>
      </p:sp>
      <p:sp>
        <p:nvSpPr>
          <p:cNvPr id="5" name="Rectangle 4">
            <a:extLst>
              <a:ext uri="{FF2B5EF4-FFF2-40B4-BE49-F238E27FC236}">
                <a16:creationId xmlns:a16="http://schemas.microsoft.com/office/drawing/2014/main" id="{584508A9-40D0-2045-B53F-FF73CA563F67}"/>
              </a:ext>
            </a:extLst>
          </p:cNvPr>
          <p:cNvSpPr/>
          <p:nvPr/>
        </p:nvSpPr>
        <p:spPr>
          <a:xfrm>
            <a:off x="5634038" y="1152788"/>
            <a:ext cx="3998477" cy="4185761"/>
          </a:xfrm>
          <a:prstGeom prst="rect">
            <a:avLst/>
          </a:prstGeom>
        </p:spPr>
        <p:txBody>
          <a:bodyPr wrap="square">
            <a:spAutoFit/>
          </a:bodyPr>
          <a:lstStyle/>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stdio.h</a:t>
            </a:r>
            <a:r>
              <a:rPr lang="en-US" sz="1400" dirty="0">
                <a:latin typeface="Consolas" panose="020B0609020204030204" pitchFamily="49" charset="0"/>
                <a:cs typeface="Consolas" panose="020B0609020204030204" pitchFamily="49" charset="0"/>
              </a:rPr>
              <a:t>&gt;</a:t>
            </a:r>
          </a:p>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string.h</a:t>
            </a:r>
            <a:r>
              <a:rPr lang="en-US" sz="1400" dirty="0">
                <a:latin typeface="Consolas" panose="020B0609020204030204" pitchFamily="49" charset="0"/>
                <a:cs typeface="Consolas" panose="020B0609020204030204" pitchFamily="49" charset="0"/>
              </a:rPr>
              <a:t>&gt;</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(char *input) {</a:t>
            </a:r>
          </a:p>
          <a:p>
            <a:r>
              <a:rPr lang="en-US" sz="1400" dirty="0">
                <a:latin typeface="Consolas" panose="020B0609020204030204" pitchFamily="49" charset="0"/>
                <a:cs typeface="Consolas" panose="020B0609020204030204" pitchFamily="49" charset="0"/>
              </a:rPr>
              <a:t>    char buffer[16];</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strcpy</a:t>
            </a:r>
            <a:r>
              <a:rPr lang="en-US" sz="1400" dirty="0">
                <a:latin typeface="Consolas" panose="020B0609020204030204" pitchFamily="49" charset="0"/>
                <a:cs typeface="Consolas" panose="020B0609020204030204" pitchFamily="49" charset="0"/>
              </a:rPr>
              <a:t>(buffer, input);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("Received: %s\n", buffer);</a:t>
            </a:r>
          </a:p>
          <a:p>
            <a:r>
              <a:rPr lang="en-US" sz="1400" dirty="0">
                <a:latin typeface="Consolas" panose="020B0609020204030204" pitchFamily="49" charset="0"/>
                <a:cs typeface="Consolas" panose="020B0609020204030204" pitchFamily="49" charset="0"/>
              </a:rPr>
              <a:t>}</a:t>
            </a:r>
          </a:p>
          <a:p>
            <a:endParaRPr lang="en-US" sz="1400" dirty="0">
              <a:latin typeface="Consolas" panose="020B0609020204030204" pitchFamily="49" charset="0"/>
              <a:cs typeface="Consolas" panose="020B0609020204030204" pitchFamily="49" charset="0"/>
            </a:endParaRPr>
          </a:p>
          <a:p>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char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 {</a:t>
            </a:r>
          </a:p>
          <a:p>
            <a:r>
              <a:rPr lang="en-US" sz="1400" dirty="0">
                <a:latin typeface="Consolas" panose="020B0609020204030204" pitchFamily="49" charset="0"/>
                <a:cs typeface="Consolas" panose="020B0609020204030204" pitchFamily="49" charset="0"/>
              </a:rPr>
              <a:t>    if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&gt; 1)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[1]);</a:t>
            </a:r>
          </a:p>
          <a:p>
            <a:r>
              <a:rPr lang="en-US" sz="1400" dirty="0">
                <a:latin typeface="Consolas" panose="020B0609020204030204" pitchFamily="49" charset="0"/>
                <a:cs typeface="Consolas" panose="020B0609020204030204" pitchFamily="49" charset="0"/>
              </a:rPr>
              <a:t>    } else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("Usage: %s &lt;input&gt;\n",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[0]);</a:t>
            </a:r>
          </a:p>
          <a:p>
            <a:r>
              <a:rPr lang="en-US" sz="1400" dirty="0">
                <a:latin typeface="Consolas" panose="020B0609020204030204" pitchFamily="49" charset="0"/>
                <a:cs typeface="Consolas" panose="020B0609020204030204" pitchFamily="49" charset="0"/>
              </a:rPr>
              <a:t>    }</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return 0;</a:t>
            </a:r>
          </a:p>
          <a:p>
            <a:r>
              <a:rPr lang="en-US" sz="1400" dirty="0">
                <a:latin typeface="Consolas" panose="020B0609020204030204" pitchFamily="49" charset="0"/>
                <a:cs typeface="Consolas" panose="020B0609020204030204" pitchFamily="49" charset="0"/>
              </a:rPr>
              <a:t>}</a:t>
            </a:r>
          </a:p>
        </p:txBody>
      </p:sp>
      <p:sp>
        <p:nvSpPr>
          <p:cNvPr id="7" name="Rectangle 6">
            <a:extLst>
              <a:ext uri="{FF2B5EF4-FFF2-40B4-BE49-F238E27FC236}">
                <a16:creationId xmlns:a16="http://schemas.microsoft.com/office/drawing/2014/main" id="{2F9650AC-5123-4344-898E-A9D44D5FA6EA}"/>
              </a:ext>
            </a:extLst>
          </p:cNvPr>
          <p:cNvSpPr/>
          <p:nvPr/>
        </p:nvSpPr>
        <p:spPr>
          <a:xfrm>
            <a:off x="246317" y="546861"/>
            <a:ext cx="3608680" cy="523220"/>
          </a:xfrm>
          <a:prstGeom prst="rect">
            <a:avLst/>
          </a:prstGeom>
        </p:spPr>
        <p:txBody>
          <a:bodyPr wrap="none">
            <a:spAutoFit/>
          </a:bodyPr>
          <a:lstStyle/>
          <a:p>
            <a:r>
              <a:rPr lang="en-US" sz="2800" b="1" dirty="0"/>
              <a:t>Exploitation Example</a:t>
            </a:r>
          </a:p>
        </p:txBody>
      </p:sp>
      <p:sp>
        <p:nvSpPr>
          <p:cNvPr id="11" name="Rectangle 10">
            <a:extLst>
              <a:ext uri="{FF2B5EF4-FFF2-40B4-BE49-F238E27FC236}">
                <a16:creationId xmlns:a16="http://schemas.microsoft.com/office/drawing/2014/main" id="{A919B718-DA12-264B-92AA-44C88A1CF7AD}"/>
              </a:ext>
            </a:extLst>
          </p:cNvPr>
          <p:cNvSpPr/>
          <p:nvPr/>
        </p:nvSpPr>
        <p:spPr>
          <a:xfrm>
            <a:off x="246317" y="1511632"/>
            <a:ext cx="5387721" cy="369332"/>
          </a:xfrm>
          <a:prstGeom prst="rect">
            <a:avLst/>
          </a:prstGeom>
        </p:spPr>
        <p:txBody>
          <a:bodyPr wrap="square">
            <a:spAutoFit/>
          </a:bodyPr>
          <a:lstStyle/>
          <a:p>
            <a:r>
              <a:rPr lang="en-US" dirty="0">
                <a:latin typeface="Consolas" panose="020B0609020204030204" pitchFamily="49" charset="0"/>
                <a:cs typeface="Consolas" panose="020B0609020204030204" pitchFamily="49" charset="0"/>
              </a:rPr>
              <a:t>./</a:t>
            </a:r>
            <a:r>
              <a:rPr lang="en-US" dirty="0" err="1">
                <a:latin typeface="Consolas" panose="020B0609020204030204" pitchFamily="49" charset="0"/>
                <a:cs typeface="Consolas" panose="020B0609020204030204" pitchFamily="49" charset="0"/>
              </a:rPr>
              <a:t>vulnerable_program</a:t>
            </a:r>
            <a:r>
              <a:rPr lang="en-US" dirty="0">
                <a:latin typeface="Consolas" panose="020B0609020204030204" pitchFamily="49" charset="0"/>
                <a:cs typeface="Consolas" panose="020B0609020204030204" pitchFamily="49" charset="0"/>
              </a:rPr>
              <a:t> AAAAAAAAAAAAAAAAAAAA</a:t>
            </a:r>
          </a:p>
        </p:txBody>
      </p:sp>
      <p:sp>
        <p:nvSpPr>
          <p:cNvPr id="3" name="Rectangle 2">
            <a:extLst>
              <a:ext uri="{FF2B5EF4-FFF2-40B4-BE49-F238E27FC236}">
                <a16:creationId xmlns:a16="http://schemas.microsoft.com/office/drawing/2014/main" id="{35FE39F3-C190-3F4C-8739-3D135163017A}"/>
              </a:ext>
            </a:extLst>
          </p:cNvPr>
          <p:cNvSpPr/>
          <p:nvPr/>
        </p:nvSpPr>
        <p:spPr>
          <a:xfrm>
            <a:off x="463677" y="3286591"/>
            <a:ext cx="3773786" cy="923330"/>
          </a:xfrm>
          <a:prstGeom prst="rect">
            <a:avLst/>
          </a:prstGeom>
        </p:spPr>
        <p:txBody>
          <a:bodyPr wrap="square">
            <a:spAutoFit/>
          </a:bodyPr>
          <a:lstStyle/>
          <a:p>
            <a:r>
              <a:rPr lang="en-US" dirty="0"/>
              <a:t>Here, the input string has 18 A characters, which exceeds the size of buffer (16 characters)</a:t>
            </a:r>
          </a:p>
        </p:txBody>
      </p:sp>
    </p:spTree>
    <p:extLst>
      <p:ext uri="{BB962C8B-B14F-4D97-AF65-F5344CB8AC3E}">
        <p14:creationId xmlns:p14="http://schemas.microsoft.com/office/powerpoint/2010/main" val="4157291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3"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E8C167-CEFA-324E-B3CF-D75760766B2B}"/>
              </a:ext>
            </a:extLst>
          </p:cNvPr>
          <p:cNvSpPr>
            <a:spLocks noGrp="1"/>
          </p:cNvSpPr>
          <p:nvPr>
            <p:ph type="sldNum" sz="quarter" idx="12"/>
          </p:nvPr>
        </p:nvSpPr>
        <p:spPr/>
        <p:txBody>
          <a:bodyPr/>
          <a:lstStyle/>
          <a:p>
            <a:fld id="{48758AAF-F958-4141-BDE8-5609689A4508}" type="slidenum">
              <a:rPr lang="zh-CN" altLang="en-US" smtClean="0"/>
              <a:t>33</a:t>
            </a:fld>
            <a:endParaRPr lang="zh-CN" altLang="en-US"/>
          </a:p>
        </p:txBody>
      </p:sp>
      <p:sp>
        <p:nvSpPr>
          <p:cNvPr id="5" name="Rectangle 4">
            <a:extLst>
              <a:ext uri="{FF2B5EF4-FFF2-40B4-BE49-F238E27FC236}">
                <a16:creationId xmlns:a16="http://schemas.microsoft.com/office/drawing/2014/main" id="{584508A9-40D0-2045-B53F-FF73CA563F67}"/>
              </a:ext>
            </a:extLst>
          </p:cNvPr>
          <p:cNvSpPr/>
          <p:nvPr/>
        </p:nvSpPr>
        <p:spPr>
          <a:xfrm>
            <a:off x="5634038" y="1152788"/>
            <a:ext cx="3998477" cy="4185761"/>
          </a:xfrm>
          <a:prstGeom prst="rect">
            <a:avLst/>
          </a:prstGeom>
        </p:spPr>
        <p:txBody>
          <a:bodyPr wrap="square">
            <a:spAutoFit/>
          </a:bodyPr>
          <a:lstStyle/>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stdio.h</a:t>
            </a:r>
            <a:r>
              <a:rPr lang="en-US" sz="1400" dirty="0">
                <a:latin typeface="Consolas" panose="020B0609020204030204" pitchFamily="49" charset="0"/>
                <a:cs typeface="Consolas" panose="020B0609020204030204" pitchFamily="49" charset="0"/>
              </a:rPr>
              <a:t>&gt;</a:t>
            </a:r>
          </a:p>
          <a:p>
            <a:r>
              <a:rPr lang="en-US" sz="1400" dirty="0">
                <a:latin typeface="Consolas" panose="020B0609020204030204" pitchFamily="49" charset="0"/>
                <a:cs typeface="Consolas" panose="020B0609020204030204" pitchFamily="49" charset="0"/>
              </a:rPr>
              <a:t>#include &lt;</a:t>
            </a:r>
            <a:r>
              <a:rPr lang="en-US" sz="1400" dirty="0" err="1">
                <a:latin typeface="Consolas" panose="020B0609020204030204" pitchFamily="49" charset="0"/>
                <a:cs typeface="Consolas" panose="020B0609020204030204" pitchFamily="49" charset="0"/>
              </a:rPr>
              <a:t>string.h</a:t>
            </a:r>
            <a:r>
              <a:rPr lang="en-US" sz="1400" dirty="0">
                <a:latin typeface="Consolas" panose="020B0609020204030204" pitchFamily="49" charset="0"/>
                <a:cs typeface="Consolas" panose="020B0609020204030204" pitchFamily="49" charset="0"/>
              </a:rPr>
              <a:t>&gt;</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void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(char *input) {</a:t>
            </a:r>
          </a:p>
          <a:p>
            <a:r>
              <a:rPr lang="en-US" sz="1400" dirty="0">
                <a:latin typeface="Consolas" panose="020B0609020204030204" pitchFamily="49" charset="0"/>
                <a:cs typeface="Consolas" panose="020B0609020204030204" pitchFamily="49" charset="0"/>
              </a:rPr>
              <a:t>    char buffer[16];</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strcpy</a:t>
            </a:r>
            <a:r>
              <a:rPr lang="en-US" sz="1400" dirty="0">
                <a:latin typeface="Consolas" panose="020B0609020204030204" pitchFamily="49" charset="0"/>
                <a:cs typeface="Consolas" panose="020B0609020204030204" pitchFamily="49" charset="0"/>
              </a:rPr>
              <a:t>(buffer, input);</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("Received: %s\n", buffer);</a:t>
            </a:r>
          </a:p>
          <a:p>
            <a:r>
              <a:rPr lang="en-US" sz="1400" dirty="0">
                <a:latin typeface="Consolas" panose="020B0609020204030204" pitchFamily="49" charset="0"/>
                <a:cs typeface="Consolas" panose="020B0609020204030204" pitchFamily="49" charset="0"/>
              </a:rPr>
              <a:t>}</a:t>
            </a:r>
          </a:p>
          <a:p>
            <a:endParaRPr lang="en-US" sz="1400" dirty="0">
              <a:latin typeface="Consolas" panose="020B0609020204030204" pitchFamily="49" charset="0"/>
              <a:cs typeface="Consolas" panose="020B0609020204030204" pitchFamily="49" charset="0"/>
            </a:endParaRPr>
          </a:p>
          <a:p>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main(</a:t>
            </a:r>
            <a:r>
              <a:rPr lang="en-US" sz="1400" dirty="0" err="1">
                <a:latin typeface="Consolas" panose="020B0609020204030204" pitchFamily="49" charset="0"/>
                <a:cs typeface="Consolas" panose="020B0609020204030204" pitchFamily="49" charset="0"/>
              </a:rPr>
              <a:t>int</a:t>
            </a:r>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char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 {</a:t>
            </a:r>
          </a:p>
          <a:p>
            <a:r>
              <a:rPr lang="en-US" sz="1400" dirty="0">
                <a:latin typeface="Consolas" panose="020B0609020204030204" pitchFamily="49" charset="0"/>
                <a:cs typeface="Consolas" panose="020B0609020204030204" pitchFamily="49" charset="0"/>
              </a:rPr>
              <a:t>    if (</a:t>
            </a:r>
            <a:r>
              <a:rPr lang="en-US" sz="1400" dirty="0" err="1">
                <a:latin typeface="Consolas" panose="020B0609020204030204" pitchFamily="49" charset="0"/>
                <a:cs typeface="Consolas" panose="020B0609020204030204" pitchFamily="49" charset="0"/>
              </a:rPr>
              <a:t>argc</a:t>
            </a:r>
            <a:r>
              <a:rPr lang="en-US" sz="1400" dirty="0">
                <a:latin typeface="Consolas" panose="020B0609020204030204" pitchFamily="49" charset="0"/>
                <a:cs typeface="Consolas" panose="020B0609020204030204" pitchFamily="49" charset="0"/>
              </a:rPr>
              <a:t> &gt; 1)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vulnerableFunction</a:t>
            </a:r>
            <a:r>
              <a:rPr lang="en-US" sz="1400" dirty="0">
                <a:latin typeface="Consolas" panose="020B0609020204030204" pitchFamily="49" charset="0"/>
                <a:cs typeface="Consolas" panose="020B0609020204030204" pitchFamily="49" charset="0"/>
              </a:rPr>
              <a:t>(</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[1]);</a:t>
            </a:r>
          </a:p>
          <a:p>
            <a:r>
              <a:rPr lang="en-US" sz="1400" dirty="0">
                <a:latin typeface="Consolas" panose="020B0609020204030204" pitchFamily="49" charset="0"/>
                <a:cs typeface="Consolas" panose="020B0609020204030204" pitchFamily="49" charset="0"/>
              </a:rPr>
              <a:t>    } else {</a:t>
            </a:r>
          </a:p>
          <a:p>
            <a:r>
              <a:rPr lang="en-US" sz="1400" dirty="0">
                <a:latin typeface="Consolas" panose="020B0609020204030204" pitchFamily="49" charset="0"/>
                <a:cs typeface="Consolas" panose="020B0609020204030204" pitchFamily="49" charset="0"/>
              </a:rPr>
              <a:t>        </a:t>
            </a:r>
            <a:r>
              <a:rPr lang="en-US" sz="1400" dirty="0" err="1">
                <a:latin typeface="Consolas" panose="020B0609020204030204" pitchFamily="49" charset="0"/>
                <a:cs typeface="Consolas" panose="020B0609020204030204" pitchFamily="49" charset="0"/>
              </a:rPr>
              <a:t>printf</a:t>
            </a:r>
            <a:r>
              <a:rPr lang="en-US" sz="1400" dirty="0">
                <a:latin typeface="Consolas" panose="020B0609020204030204" pitchFamily="49" charset="0"/>
                <a:cs typeface="Consolas" panose="020B0609020204030204" pitchFamily="49" charset="0"/>
              </a:rPr>
              <a:t>("Usage: %s &lt;input&gt;\n", </a:t>
            </a:r>
            <a:r>
              <a:rPr lang="en-US" sz="1400" dirty="0" err="1">
                <a:latin typeface="Consolas" panose="020B0609020204030204" pitchFamily="49" charset="0"/>
                <a:cs typeface="Consolas" panose="020B0609020204030204" pitchFamily="49" charset="0"/>
              </a:rPr>
              <a:t>argv</a:t>
            </a:r>
            <a:r>
              <a:rPr lang="en-US" sz="1400" dirty="0">
                <a:latin typeface="Consolas" panose="020B0609020204030204" pitchFamily="49" charset="0"/>
                <a:cs typeface="Consolas" panose="020B0609020204030204" pitchFamily="49" charset="0"/>
              </a:rPr>
              <a:t>[0]);</a:t>
            </a:r>
          </a:p>
          <a:p>
            <a:r>
              <a:rPr lang="en-US" sz="1400" dirty="0">
                <a:latin typeface="Consolas" panose="020B0609020204030204" pitchFamily="49" charset="0"/>
                <a:cs typeface="Consolas" panose="020B0609020204030204" pitchFamily="49" charset="0"/>
              </a:rPr>
              <a:t>    }</a:t>
            </a:r>
          </a:p>
          <a:p>
            <a:endParaRPr lang="en-US" sz="1400" dirty="0">
              <a:latin typeface="Consolas" panose="020B0609020204030204" pitchFamily="49" charset="0"/>
              <a:cs typeface="Consolas" panose="020B0609020204030204" pitchFamily="49" charset="0"/>
            </a:endParaRPr>
          </a:p>
          <a:p>
            <a:r>
              <a:rPr lang="en-US" sz="1400" dirty="0">
                <a:latin typeface="Consolas" panose="020B0609020204030204" pitchFamily="49" charset="0"/>
                <a:cs typeface="Consolas" panose="020B0609020204030204" pitchFamily="49" charset="0"/>
              </a:rPr>
              <a:t>    return 0;</a:t>
            </a:r>
          </a:p>
          <a:p>
            <a:r>
              <a:rPr lang="en-US" sz="1400" dirty="0">
                <a:latin typeface="Consolas" panose="020B0609020204030204" pitchFamily="49" charset="0"/>
                <a:cs typeface="Consolas" panose="020B0609020204030204" pitchFamily="49" charset="0"/>
              </a:rPr>
              <a:t>}</a:t>
            </a:r>
          </a:p>
        </p:txBody>
      </p:sp>
      <p:sp>
        <p:nvSpPr>
          <p:cNvPr id="7" name="Rectangle 6">
            <a:extLst>
              <a:ext uri="{FF2B5EF4-FFF2-40B4-BE49-F238E27FC236}">
                <a16:creationId xmlns:a16="http://schemas.microsoft.com/office/drawing/2014/main" id="{2F9650AC-5123-4344-898E-A9D44D5FA6EA}"/>
              </a:ext>
            </a:extLst>
          </p:cNvPr>
          <p:cNvSpPr/>
          <p:nvPr/>
        </p:nvSpPr>
        <p:spPr>
          <a:xfrm>
            <a:off x="246317" y="546861"/>
            <a:ext cx="4443845" cy="523220"/>
          </a:xfrm>
          <a:prstGeom prst="rect">
            <a:avLst/>
          </a:prstGeom>
        </p:spPr>
        <p:txBody>
          <a:bodyPr wrap="none">
            <a:spAutoFit/>
          </a:bodyPr>
          <a:lstStyle/>
          <a:p>
            <a:r>
              <a:rPr lang="en-US" sz="2800" b="1" dirty="0"/>
              <a:t>Common Exploit Methods</a:t>
            </a:r>
          </a:p>
        </p:txBody>
      </p:sp>
      <p:sp>
        <p:nvSpPr>
          <p:cNvPr id="4" name="Rectangle 3">
            <a:extLst>
              <a:ext uri="{FF2B5EF4-FFF2-40B4-BE49-F238E27FC236}">
                <a16:creationId xmlns:a16="http://schemas.microsoft.com/office/drawing/2014/main" id="{764FF2E1-615A-4847-A1C3-9F763698458D}"/>
              </a:ext>
            </a:extLst>
          </p:cNvPr>
          <p:cNvSpPr/>
          <p:nvPr/>
        </p:nvSpPr>
        <p:spPr>
          <a:xfrm>
            <a:off x="766923" y="1537508"/>
            <a:ext cx="4953000" cy="1477328"/>
          </a:xfrm>
          <a:prstGeom prst="rect">
            <a:avLst/>
          </a:prstGeom>
        </p:spPr>
        <p:txBody>
          <a:bodyPr>
            <a:spAutoFit/>
          </a:bodyPr>
          <a:lstStyle/>
          <a:p>
            <a:r>
              <a:rPr lang="en-US" b="1" dirty="0"/>
              <a:t>Stack Smashing</a:t>
            </a:r>
            <a:r>
              <a:rPr lang="en-US" dirty="0"/>
              <a:t>: By overflowing the buffer and overwriting the return address, the attacker can cause the program to jump to a location where they have injected malicious code (such as shellcode).</a:t>
            </a:r>
          </a:p>
        </p:txBody>
      </p:sp>
      <p:sp>
        <p:nvSpPr>
          <p:cNvPr id="6" name="Rectangle 5">
            <a:extLst>
              <a:ext uri="{FF2B5EF4-FFF2-40B4-BE49-F238E27FC236}">
                <a16:creationId xmlns:a16="http://schemas.microsoft.com/office/drawing/2014/main" id="{A2A8F93E-E953-E74B-AA0C-E281ED3260B2}"/>
              </a:ext>
            </a:extLst>
          </p:cNvPr>
          <p:cNvSpPr/>
          <p:nvPr/>
        </p:nvSpPr>
        <p:spPr>
          <a:xfrm>
            <a:off x="766923" y="3702194"/>
            <a:ext cx="4953000" cy="2308324"/>
          </a:xfrm>
          <a:prstGeom prst="rect">
            <a:avLst/>
          </a:prstGeom>
        </p:spPr>
        <p:txBody>
          <a:bodyPr>
            <a:spAutoFit/>
          </a:bodyPr>
          <a:lstStyle/>
          <a:p>
            <a:r>
              <a:rPr lang="en-US" b="1" dirty="0"/>
              <a:t>Return-to-</a:t>
            </a:r>
            <a:r>
              <a:rPr lang="en-US" b="1" dirty="0" err="1"/>
              <a:t>libc</a:t>
            </a:r>
            <a:r>
              <a:rPr lang="en-US" b="1" dirty="0"/>
              <a:t> Attacks</a:t>
            </a:r>
            <a:r>
              <a:rPr lang="en-US" dirty="0"/>
              <a:t>: In the absence of executable stack protections (like DEP - Data Execution Prevention), an attacker might use a return-to-</a:t>
            </a:r>
            <a:r>
              <a:rPr lang="en-US" dirty="0" err="1"/>
              <a:t>libc</a:t>
            </a:r>
            <a:r>
              <a:rPr lang="en-US" dirty="0"/>
              <a:t> attack. Instead of injecting shellcode, they may overwrite the return address with the address of a function like system() in the C standard library to execute arbitrary commands</a:t>
            </a:r>
          </a:p>
        </p:txBody>
      </p:sp>
    </p:spTree>
    <p:extLst>
      <p:ext uri="{BB962C8B-B14F-4D97-AF65-F5344CB8AC3E}">
        <p14:creationId xmlns:p14="http://schemas.microsoft.com/office/powerpoint/2010/main" val="3065415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623D044-2C48-4847-B606-3508CABB6457}"/>
              </a:ext>
            </a:extLst>
          </p:cNvPr>
          <p:cNvSpPr>
            <a:spLocks noGrp="1"/>
          </p:cNvSpPr>
          <p:nvPr>
            <p:ph type="sldNum" sz="quarter" idx="12"/>
          </p:nvPr>
        </p:nvSpPr>
        <p:spPr/>
        <p:txBody>
          <a:bodyPr/>
          <a:lstStyle/>
          <a:p>
            <a:fld id="{48758AAF-F958-4141-BDE8-5609689A4508}" type="slidenum">
              <a:rPr lang="zh-CN" altLang="en-US" smtClean="0"/>
              <a:t>34</a:t>
            </a:fld>
            <a:endParaRPr lang="zh-CN" altLang="en-US"/>
          </a:p>
        </p:txBody>
      </p:sp>
      <p:sp>
        <p:nvSpPr>
          <p:cNvPr id="3" name="Rectangle 2">
            <a:extLst>
              <a:ext uri="{FF2B5EF4-FFF2-40B4-BE49-F238E27FC236}">
                <a16:creationId xmlns:a16="http://schemas.microsoft.com/office/drawing/2014/main" id="{A7E356FC-4B2F-AE4A-B125-6E0BE3BC492C}"/>
              </a:ext>
            </a:extLst>
          </p:cNvPr>
          <p:cNvSpPr/>
          <p:nvPr/>
        </p:nvSpPr>
        <p:spPr>
          <a:xfrm>
            <a:off x="1234273" y="2617929"/>
            <a:ext cx="7627435" cy="1200329"/>
          </a:xfrm>
          <a:prstGeom prst="rect">
            <a:avLst/>
          </a:prstGeom>
        </p:spPr>
        <p:txBody>
          <a:bodyPr wrap="square">
            <a:spAutoFit/>
          </a:bodyPr>
          <a:lstStyle/>
          <a:p>
            <a:pPr algn="ctr"/>
            <a:r>
              <a:rPr lang="en-US" sz="2400" dirty="0"/>
              <a:t>Can it be a coincidence that Buffer Overflow and Body Odor have the same acronym? After all, they are very much alike: it </a:t>
            </a:r>
            <a:r>
              <a:rPr lang="en-US" sz="2400" dirty="0" err="1"/>
              <a:t>happend</a:t>
            </a:r>
            <a:r>
              <a:rPr lang="en-US" sz="2400" dirty="0"/>
              <a:t>, but nobody wants it.</a:t>
            </a:r>
          </a:p>
        </p:txBody>
      </p:sp>
    </p:spTree>
    <p:extLst>
      <p:ext uri="{BB962C8B-B14F-4D97-AF65-F5344CB8AC3E}">
        <p14:creationId xmlns:p14="http://schemas.microsoft.com/office/powerpoint/2010/main" val="27775946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50B56EE-9186-194D-B44C-70671F87D6CD}"/>
              </a:ext>
            </a:extLst>
          </p:cNvPr>
          <p:cNvSpPr>
            <a:spLocks noGrp="1"/>
          </p:cNvSpPr>
          <p:nvPr>
            <p:ph type="sldNum" sz="quarter" idx="12"/>
          </p:nvPr>
        </p:nvSpPr>
        <p:spPr>
          <a:xfrm>
            <a:off x="6996112" y="6345991"/>
            <a:ext cx="7593131" cy="375486"/>
          </a:xfrm>
        </p:spPr>
        <p:txBody>
          <a:bodyPr/>
          <a:lstStyle/>
          <a:p>
            <a:fld id="{48758AAF-F958-4141-BDE8-5609689A4508}" type="slidenum">
              <a:rPr lang="zh-CN" altLang="en-US" smtClean="0"/>
              <a:t>35</a:t>
            </a:fld>
            <a:endParaRPr lang="zh-CN" altLang="en-US"/>
          </a:p>
        </p:txBody>
      </p:sp>
      <p:sp>
        <p:nvSpPr>
          <p:cNvPr id="6" name="Cloud Callout 5">
            <a:extLst>
              <a:ext uri="{FF2B5EF4-FFF2-40B4-BE49-F238E27FC236}">
                <a16:creationId xmlns:a16="http://schemas.microsoft.com/office/drawing/2014/main" id="{3419622A-16FD-2E40-9404-1D0A2CF3FE6E}"/>
              </a:ext>
            </a:extLst>
          </p:cNvPr>
          <p:cNvSpPr/>
          <p:nvPr/>
        </p:nvSpPr>
        <p:spPr>
          <a:xfrm>
            <a:off x="323385" y="1570799"/>
            <a:ext cx="2743200" cy="1036394"/>
          </a:xfrm>
          <a:prstGeom prst="cloudCallout">
            <a:avLst>
              <a:gd name="adj1" fmla="val 59655"/>
              <a:gd name="adj2" fmla="val 6465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Compiler Support</a:t>
            </a:r>
          </a:p>
        </p:txBody>
      </p:sp>
      <p:sp>
        <p:nvSpPr>
          <p:cNvPr id="8" name="Cloud Callout 7">
            <a:extLst>
              <a:ext uri="{FF2B5EF4-FFF2-40B4-BE49-F238E27FC236}">
                <a16:creationId xmlns:a16="http://schemas.microsoft.com/office/drawing/2014/main" id="{B639E6E6-32EE-4241-A3F6-BCA7DA8279D1}"/>
              </a:ext>
            </a:extLst>
          </p:cNvPr>
          <p:cNvSpPr/>
          <p:nvPr/>
        </p:nvSpPr>
        <p:spPr>
          <a:xfrm>
            <a:off x="0" y="4421268"/>
            <a:ext cx="2743200" cy="1036394"/>
          </a:xfrm>
          <a:prstGeom prst="cloudCallout">
            <a:avLst>
              <a:gd name="adj1" fmla="val 72663"/>
              <a:gd name="adj2" fmla="val -752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Library Support</a:t>
            </a:r>
          </a:p>
        </p:txBody>
      </p:sp>
      <p:sp>
        <p:nvSpPr>
          <p:cNvPr id="9" name="Cloud Callout 8">
            <a:extLst>
              <a:ext uri="{FF2B5EF4-FFF2-40B4-BE49-F238E27FC236}">
                <a16:creationId xmlns:a16="http://schemas.microsoft.com/office/drawing/2014/main" id="{A91BA367-2289-8142-8041-F701123B9C1B}"/>
              </a:ext>
            </a:extLst>
          </p:cNvPr>
          <p:cNvSpPr/>
          <p:nvPr/>
        </p:nvSpPr>
        <p:spPr>
          <a:xfrm>
            <a:off x="4663068" y="4865432"/>
            <a:ext cx="2743200" cy="1036394"/>
          </a:xfrm>
          <a:prstGeom prst="cloudCallout">
            <a:avLst>
              <a:gd name="adj1" fmla="val -25711"/>
              <a:gd name="adj2" fmla="val -13978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Operating System Support</a:t>
            </a:r>
          </a:p>
        </p:txBody>
      </p:sp>
      <p:sp>
        <p:nvSpPr>
          <p:cNvPr id="10" name="Cloud Callout 9">
            <a:extLst>
              <a:ext uri="{FF2B5EF4-FFF2-40B4-BE49-F238E27FC236}">
                <a16:creationId xmlns:a16="http://schemas.microsoft.com/office/drawing/2014/main" id="{5C8E4BBC-FC0D-C14A-A2C6-BED6A9A3F70B}"/>
              </a:ext>
            </a:extLst>
          </p:cNvPr>
          <p:cNvSpPr/>
          <p:nvPr/>
        </p:nvSpPr>
        <p:spPr>
          <a:xfrm>
            <a:off x="4834633" y="1315844"/>
            <a:ext cx="2743200" cy="1106669"/>
          </a:xfrm>
          <a:prstGeom prst="cloudCallout">
            <a:avLst>
              <a:gd name="adj1" fmla="val -26524"/>
              <a:gd name="adj2" fmla="val 8466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Dynamic Checking</a:t>
            </a:r>
          </a:p>
        </p:txBody>
      </p:sp>
      <p:sp>
        <p:nvSpPr>
          <p:cNvPr id="11" name="Cloud Callout 10">
            <a:extLst>
              <a:ext uri="{FF2B5EF4-FFF2-40B4-BE49-F238E27FC236}">
                <a16:creationId xmlns:a16="http://schemas.microsoft.com/office/drawing/2014/main" id="{54CADDA9-8CC5-8146-98C7-8B83D1054F71}"/>
              </a:ext>
            </a:extLst>
          </p:cNvPr>
          <p:cNvSpPr/>
          <p:nvPr/>
        </p:nvSpPr>
        <p:spPr>
          <a:xfrm>
            <a:off x="7162800" y="2981246"/>
            <a:ext cx="2743200" cy="1036394"/>
          </a:xfrm>
          <a:prstGeom prst="cloudCallout">
            <a:avLst>
              <a:gd name="adj1" fmla="val -68800"/>
              <a:gd name="adj2" fmla="val 9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Static Checking</a:t>
            </a:r>
          </a:p>
        </p:txBody>
      </p:sp>
      <p:sp>
        <p:nvSpPr>
          <p:cNvPr id="12" name="TextBox 11">
            <a:extLst>
              <a:ext uri="{FF2B5EF4-FFF2-40B4-BE49-F238E27FC236}">
                <a16:creationId xmlns:a16="http://schemas.microsoft.com/office/drawing/2014/main" id="{FF2917A7-7B8B-E542-8C90-6FE8EEABB071}"/>
              </a:ext>
            </a:extLst>
          </p:cNvPr>
          <p:cNvSpPr txBox="1"/>
          <p:nvPr/>
        </p:nvSpPr>
        <p:spPr>
          <a:xfrm>
            <a:off x="3713554" y="3130111"/>
            <a:ext cx="2242158" cy="369332"/>
          </a:xfrm>
          <a:prstGeom prst="rect">
            <a:avLst/>
          </a:prstGeom>
          <a:noFill/>
        </p:spPr>
        <p:txBody>
          <a:bodyPr wrap="square" rtlCol="0">
            <a:spAutoFit/>
          </a:bodyPr>
          <a:lstStyle/>
          <a:p>
            <a:r>
              <a:rPr lang="en-US" b="1" dirty="0"/>
              <a:t>Means to Avoid BO</a:t>
            </a:r>
          </a:p>
        </p:txBody>
      </p:sp>
    </p:spTree>
    <p:extLst>
      <p:ext uri="{BB962C8B-B14F-4D97-AF65-F5344CB8AC3E}">
        <p14:creationId xmlns:p14="http://schemas.microsoft.com/office/powerpoint/2010/main" val="451785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0" grpId="0" animBg="1"/>
      <p:bldP spid="11"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E1CDEEB-D37A-F54D-B87D-9369176B6709}"/>
              </a:ext>
            </a:extLst>
          </p:cNvPr>
          <p:cNvSpPr>
            <a:spLocks noGrp="1"/>
          </p:cNvSpPr>
          <p:nvPr>
            <p:ph type="sldNum" sz="quarter" idx="12"/>
          </p:nvPr>
        </p:nvSpPr>
        <p:spPr/>
        <p:txBody>
          <a:bodyPr/>
          <a:lstStyle/>
          <a:p>
            <a:fld id="{48758AAF-F958-4141-BDE8-5609689A4508}" type="slidenum">
              <a:rPr lang="zh-CN" altLang="en-US" smtClean="0"/>
              <a:t>36</a:t>
            </a:fld>
            <a:endParaRPr lang="zh-CN" altLang="en-US"/>
          </a:p>
        </p:txBody>
      </p:sp>
      <p:sp>
        <p:nvSpPr>
          <p:cNvPr id="5" name="Rectangle 4">
            <a:extLst>
              <a:ext uri="{FF2B5EF4-FFF2-40B4-BE49-F238E27FC236}">
                <a16:creationId xmlns:a16="http://schemas.microsoft.com/office/drawing/2014/main" id="{8206A8EB-08F4-3F43-8F15-3A77E699831E}"/>
              </a:ext>
            </a:extLst>
          </p:cNvPr>
          <p:cNvSpPr/>
          <p:nvPr/>
        </p:nvSpPr>
        <p:spPr>
          <a:xfrm>
            <a:off x="1004539" y="1135393"/>
            <a:ext cx="7158154" cy="1200329"/>
          </a:xfrm>
          <a:prstGeom prst="rect">
            <a:avLst/>
          </a:prstGeom>
        </p:spPr>
        <p:txBody>
          <a:bodyPr wrap="square">
            <a:spAutoFit/>
          </a:bodyPr>
          <a:lstStyle/>
          <a:p>
            <a:r>
              <a:rPr lang="en-US" dirty="0"/>
              <a:t>Products like</a:t>
            </a:r>
            <a:r>
              <a:rPr lang="en-US" b="1" dirty="0"/>
              <a:t> </a:t>
            </a:r>
            <a:r>
              <a:rPr lang="en-US" b="1" dirty="0" err="1"/>
              <a:t>MemGuard</a:t>
            </a:r>
            <a:r>
              <a:rPr lang="en-US" b="1" dirty="0"/>
              <a:t> </a:t>
            </a:r>
            <a:r>
              <a:rPr lang="en-US" dirty="0"/>
              <a:t>protect the return address on the stack by writing certain random values (</a:t>
            </a:r>
            <a:r>
              <a:rPr lang="en-US" b="1" dirty="0"/>
              <a:t>canaries</a:t>
            </a:r>
            <a:r>
              <a:rPr lang="en-US" dirty="0"/>
              <a:t>) on the stack in front of the return address and checking whether these values have changed just before returning. </a:t>
            </a:r>
          </a:p>
        </p:txBody>
      </p:sp>
      <p:sp>
        <p:nvSpPr>
          <p:cNvPr id="9" name="Rectangle 8">
            <a:extLst>
              <a:ext uri="{FF2B5EF4-FFF2-40B4-BE49-F238E27FC236}">
                <a16:creationId xmlns:a16="http://schemas.microsoft.com/office/drawing/2014/main" id="{67E9F922-BEEA-2E46-B6BE-67C4503FC570}"/>
              </a:ext>
            </a:extLst>
          </p:cNvPr>
          <p:cNvSpPr/>
          <p:nvPr/>
        </p:nvSpPr>
        <p:spPr>
          <a:xfrm>
            <a:off x="258345" y="454709"/>
            <a:ext cx="3084499" cy="523220"/>
          </a:xfrm>
          <a:prstGeom prst="rect">
            <a:avLst/>
          </a:prstGeom>
        </p:spPr>
        <p:txBody>
          <a:bodyPr wrap="none">
            <a:spAutoFit/>
          </a:bodyPr>
          <a:lstStyle/>
          <a:p>
            <a:r>
              <a:rPr lang="en-US" sz="2800" b="1" dirty="0"/>
              <a:t>Compiler Support</a:t>
            </a:r>
          </a:p>
        </p:txBody>
      </p:sp>
      <p:sp>
        <p:nvSpPr>
          <p:cNvPr id="10" name="Rounded Rectangle 9">
            <a:extLst>
              <a:ext uri="{FF2B5EF4-FFF2-40B4-BE49-F238E27FC236}">
                <a16:creationId xmlns:a16="http://schemas.microsoft.com/office/drawing/2014/main" id="{D86D6F9E-CAD0-0B41-96ED-8A44FE1ACB29}"/>
              </a:ext>
            </a:extLst>
          </p:cNvPr>
          <p:cNvSpPr/>
          <p:nvPr/>
        </p:nvSpPr>
        <p:spPr>
          <a:xfrm>
            <a:off x="2542479" y="2531757"/>
            <a:ext cx="3292514" cy="5644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Large performance impact </a:t>
            </a:r>
          </a:p>
        </p:txBody>
      </p:sp>
      <p:sp>
        <p:nvSpPr>
          <p:cNvPr id="11" name="Rounded Rectangle 10">
            <a:extLst>
              <a:ext uri="{FF2B5EF4-FFF2-40B4-BE49-F238E27FC236}">
                <a16:creationId xmlns:a16="http://schemas.microsoft.com/office/drawing/2014/main" id="{6F773B04-5029-2445-8F8A-4E7A8C2A4EB0}"/>
              </a:ext>
            </a:extLst>
          </p:cNvPr>
          <p:cNvSpPr/>
          <p:nvPr/>
        </p:nvSpPr>
        <p:spPr>
          <a:xfrm>
            <a:off x="2542479" y="4524342"/>
            <a:ext cx="6869150" cy="5644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err="1"/>
              <a:t>Doesnt</a:t>
            </a:r>
            <a:r>
              <a:rPr lang="en-US" dirty="0"/>
              <a:t> help against buffer overflows that </a:t>
            </a:r>
            <a:r>
              <a:rPr lang="en-US" dirty="0" err="1"/>
              <a:t>dont</a:t>
            </a:r>
            <a:r>
              <a:rPr lang="en-US" dirty="0"/>
              <a:t> overwrite the return address</a:t>
            </a:r>
          </a:p>
        </p:txBody>
      </p:sp>
      <p:sp>
        <p:nvSpPr>
          <p:cNvPr id="12" name="Rounded Rectangle 11">
            <a:extLst>
              <a:ext uri="{FF2B5EF4-FFF2-40B4-BE49-F238E27FC236}">
                <a16:creationId xmlns:a16="http://schemas.microsoft.com/office/drawing/2014/main" id="{D1D79ECD-9B9F-4341-95ED-6C0ED014BDA2}"/>
              </a:ext>
            </a:extLst>
          </p:cNvPr>
          <p:cNvSpPr/>
          <p:nvPr/>
        </p:nvSpPr>
        <p:spPr>
          <a:xfrm>
            <a:off x="2542479" y="3485625"/>
            <a:ext cx="6682484" cy="56447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An attacker that can guess a canary value can attack the system </a:t>
            </a:r>
          </a:p>
        </p:txBody>
      </p:sp>
    </p:spTree>
    <p:extLst>
      <p:ext uri="{BB962C8B-B14F-4D97-AF65-F5344CB8AC3E}">
        <p14:creationId xmlns:p14="http://schemas.microsoft.com/office/powerpoint/2010/main" val="4150016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4BBFDB-3A70-914B-B6B5-4243D5CFC15B}"/>
              </a:ext>
            </a:extLst>
          </p:cNvPr>
          <p:cNvSpPr>
            <a:spLocks noGrp="1"/>
          </p:cNvSpPr>
          <p:nvPr>
            <p:ph type="sldNum" sz="quarter" idx="12"/>
          </p:nvPr>
        </p:nvSpPr>
        <p:spPr/>
        <p:txBody>
          <a:bodyPr/>
          <a:lstStyle/>
          <a:p>
            <a:fld id="{48758AAF-F958-4141-BDE8-5609689A4508}" type="slidenum">
              <a:rPr lang="zh-CN" altLang="en-US" smtClean="0"/>
              <a:t>37</a:t>
            </a:fld>
            <a:endParaRPr lang="zh-CN" altLang="en-US"/>
          </a:p>
        </p:txBody>
      </p:sp>
      <p:sp>
        <p:nvSpPr>
          <p:cNvPr id="3" name="Rectangle 2">
            <a:extLst>
              <a:ext uri="{FF2B5EF4-FFF2-40B4-BE49-F238E27FC236}">
                <a16:creationId xmlns:a16="http://schemas.microsoft.com/office/drawing/2014/main" id="{235DE03C-74DA-D643-B070-10C658717E43}"/>
              </a:ext>
            </a:extLst>
          </p:cNvPr>
          <p:cNvSpPr/>
          <p:nvPr/>
        </p:nvSpPr>
        <p:spPr>
          <a:xfrm>
            <a:off x="1116049" y="3780398"/>
            <a:ext cx="7760321" cy="923330"/>
          </a:xfrm>
          <a:prstGeom prst="rect">
            <a:avLst/>
          </a:prstGeom>
        </p:spPr>
        <p:txBody>
          <a:bodyPr wrap="square">
            <a:spAutoFit/>
          </a:bodyPr>
          <a:lstStyle/>
          <a:p>
            <a:r>
              <a:rPr lang="en-US" dirty="0"/>
              <a:t>Helps, but not totally: The attacker can perhaps not execute arbitrary code that he wrote, but he can still execute arbitrary code that is already in the application, because he can still jump to any location in the code.</a:t>
            </a:r>
          </a:p>
        </p:txBody>
      </p:sp>
      <p:sp>
        <p:nvSpPr>
          <p:cNvPr id="4" name="Rectangle 3">
            <a:extLst>
              <a:ext uri="{FF2B5EF4-FFF2-40B4-BE49-F238E27FC236}">
                <a16:creationId xmlns:a16="http://schemas.microsoft.com/office/drawing/2014/main" id="{A833F679-02FF-9D43-A665-72B9A04AFAC0}"/>
              </a:ext>
            </a:extLst>
          </p:cNvPr>
          <p:cNvSpPr/>
          <p:nvPr/>
        </p:nvSpPr>
        <p:spPr>
          <a:xfrm>
            <a:off x="1116051" y="1718398"/>
            <a:ext cx="8108912" cy="646331"/>
          </a:xfrm>
          <a:prstGeom prst="rect">
            <a:avLst/>
          </a:prstGeom>
        </p:spPr>
        <p:txBody>
          <a:bodyPr wrap="square">
            <a:spAutoFit/>
          </a:bodyPr>
          <a:lstStyle/>
          <a:p>
            <a:r>
              <a:rPr lang="en-US" dirty="0"/>
              <a:t>Memory on the stack can be marked as non-executable by the Memory Management Unit (MMU), under control by the operating system. </a:t>
            </a:r>
          </a:p>
        </p:txBody>
      </p:sp>
      <p:sp>
        <p:nvSpPr>
          <p:cNvPr id="5" name="Rectangle 4">
            <a:extLst>
              <a:ext uri="{FF2B5EF4-FFF2-40B4-BE49-F238E27FC236}">
                <a16:creationId xmlns:a16="http://schemas.microsoft.com/office/drawing/2014/main" id="{2921F3E3-C14C-1B4E-AFFC-EE7AC2E9C882}"/>
              </a:ext>
            </a:extLst>
          </p:cNvPr>
          <p:cNvSpPr/>
          <p:nvPr/>
        </p:nvSpPr>
        <p:spPr>
          <a:xfrm>
            <a:off x="1116050" y="2616866"/>
            <a:ext cx="7537295" cy="646331"/>
          </a:xfrm>
          <a:prstGeom prst="rect">
            <a:avLst/>
          </a:prstGeom>
        </p:spPr>
        <p:txBody>
          <a:bodyPr wrap="square">
            <a:spAutoFit/>
          </a:bodyPr>
          <a:lstStyle/>
          <a:p>
            <a:r>
              <a:rPr lang="en-US" dirty="0"/>
              <a:t>When the processor fetches an instruction from a memory location that is not OK for execution, it raises a trap. The instruction is not executed</a:t>
            </a:r>
          </a:p>
        </p:txBody>
      </p:sp>
      <p:sp>
        <p:nvSpPr>
          <p:cNvPr id="6" name="Rectangle 5">
            <a:extLst>
              <a:ext uri="{FF2B5EF4-FFF2-40B4-BE49-F238E27FC236}">
                <a16:creationId xmlns:a16="http://schemas.microsoft.com/office/drawing/2014/main" id="{3AD7769B-B279-A140-A14F-9FEABB4ACD4D}"/>
              </a:ext>
            </a:extLst>
          </p:cNvPr>
          <p:cNvSpPr/>
          <p:nvPr/>
        </p:nvSpPr>
        <p:spPr>
          <a:xfrm>
            <a:off x="134326" y="502578"/>
            <a:ext cx="3900427" cy="461665"/>
          </a:xfrm>
          <a:prstGeom prst="rect">
            <a:avLst/>
          </a:prstGeom>
        </p:spPr>
        <p:txBody>
          <a:bodyPr wrap="none">
            <a:spAutoFit/>
          </a:bodyPr>
          <a:lstStyle/>
          <a:p>
            <a:pPr algn="ctr"/>
            <a:r>
              <a:rPr lang="en-US" sz="2400" b="1" dirty="0"/>
              <a:t>Operating System Support</a:t>
            </a:r>
          </a:p>
        </p:txBody>
      </p:sp>
    </p:spTree>
    <p:extLst>
      <p:ext uri="{BB962C8B-B14F-4D97-AF65-F5344CB8AC3E}">
        <p14:creationId xmlns:p14="http://schemas.microsoft.com/office/powerpoint/2010/main" val="3957699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B12B1FD-DBBB-4A40-A5E1-593DAAC66D49}"/>
              </a:ext>
            </a:extLst>
          </p:cNvPr>
          <p:cNvSpPr>
            <a:spLocks noGrp="1"/>
          </p:cNvSpPr>
          <p:nvPr>
            <p:ph type="sldNum" sz="quarter" idx="12"/>
          </p:nvPr>
        </p:nvSpPr>
        <p:spPr/>
        <p:txBody>
          <a:bodyPr/>
          <a:lstStyle/>
          <a:p>
            <a:fld id="{48758AAF-F958-4141-BDE8-5609689A4508}" type="slidenum">
              <a:rPr lang="zh-CN" altLang="en-US" smtClean="0"/>
              <a:t>38</a:t>
            </a:fld>
            <a:endParaRPr lang="zh-CN" altLang="en-US"/>
          </a:p>
        </p:txBody>
      </p:sp>
      <p:sp>
        <p:nvSpPr>
          <p:cNvPr id="4" name="Rectangle 3">
            <a:extLst>
              <a:ext uri="{FF2B5EF4-FFF2-40B4-BE49-F238E27FC236}">
                <a16:creationId xmlns:a16="http://schemas.microsoft.com/office/drawing/2014/main" id="{12CFE25C-9FCC-3643-9598-A3BC731D1B7F}"/>
              </a:ext>
            </a:extLst>
          </p:cNvPr>
          <p:cNvSpPr/>
          <p:nvPr/>
        </p:nvSpPr>
        <p:spPr>
          <a:xfrm>
            <a:off x="1160656" y="1544665"/>
            <a:ext cx="6444476" cy="369332"/>
          </a:xfrm>
          <a:prstGeom prst="rect">
            <a:avLst/>
          </a:prstGeom>
        </p:spPr>
        <p:txBody>
          <a:bodyPr wrap="square">
            <a:spAutoFit/>
          </a:bodyPr>
          <a:lstStyle/>
          <a:p>
            <a:r>
              <a:rPr lang="en-US" dirty="0"/>
              <a:t>One weakness of C is that strings carry no intrinsic length.</a:t>
            </a:r>
          </a:p>
        </p:txBody>
      </p:sp>
      <p:sp>
        <p:nvSpPr>
          <p:cNvPr id="5" name="Rectangle 4">
            <a:extLst>
              <a:ext uri="{FF2B5EF4-FFF2-40B4-BE49-F238E27FC236}">
                <a16:creationId xmlns:a16="http://schemas.microsoft.com/office/drawing/2014/main" id="{A478DD65-25A7-FF4A-AABB-AC902EE24500}"/>
              </a:ext>
            </a:extLst>
          </p:cNvPr>
          <p:cNvSpPr/>
          <p:nvPr/>
        </p:nvSpPr>
        <p:spPr>
          <a:xfrm>
            <a:off x="1160656" y="2302947"/>
            <a:ext cx="7158154" cy="646331"/>
          </a:xfrm>
          <a:prstGeom prst="rect">
            <a:avLst/>
          </a:prstGeom>
        </p:spPr>
        <p:txBody>
          <a:bodyPr wrap="square">
            <a:spAutoFit/>
          </a:bodyPr>
          <a:lstStyle/>
          <a:p>
            <a:r>
              <a:rPr lang="en-US" dirty="0"/>
              <a:t>Therefore, operations like </a:t>
            </a:r>
            <a:r>
              <a:rPr lang="en-US" dirty="0" err="1">
                <a:latin typeface="Consolas" panose="020B0609020204030204" pitchFamily="49" charset="0"/>
                <a:cs typeface="Consolas" panose="020B0609020204030204" pitchFamily="49" charset="0"/>
              </a:rPr>
              <a:t>memcpy</a:t>
            </a:r>
            <a:r>
              <a:rPr lang="en-US" dirty="0">
                <a:latin typeface="Consolas" panose="020B0609020204030204" pitchFamily="49" charset="0"/>
                <a:cs typeface="Consolas" panose="020B0609020204030204" pitchFamily="49" charset="0"/>
              </a:rPr>
              <a:t> </a:t>
            </a:r>
            <a:r>
              <a:rPr lang="en-US" dirty="0"/>
              <a:t>or </a:t>
            </a:r>
            <a:r>
              <a:rPr lang="en-US" dirty="0" err="1">
                <a:latin typeface="Consolas" panose="020B0609020204030204" pitchFamily="49" charset="0"/>
                <a:cs typeface="Consolas" panose="020B0609020204030204" pitchFamily="49" charset="0"/>
              </a:rPr>
              <a:t>strcpy</a:t>
            </a:r>
            <a:r>
              <a:rPr lang="en-US" dirty="0">
                <a:latin typeface="Consolas" panose="020B0609020204030204" pitchFamily="49" charset="0"/>
                <a:cs typeface="Consolas" panose="020B0609020204030204" pitchFamily="49" charset="0"/>
              </a:rPr>
              <a:t> </a:t>
            </a:r>
            <a:r>
              <a:rPr lang="en-US" dirty="0"/>
              <a:t>can write beyond the end of the string.</a:t>
            </a:r>
          </a:p>
        </p:txBody>
      </p:sp>
      <p:sp>
        <p:nvSpPr>
          <p:cNvPr id="6" name="Rectangle 5">
            <a:extLst>
              <a:ext uri="{FF2B5EF4-FFF2-40B4-BE49-F238E27FC236}">
                <a16:creationId xmlns:a16="http://schemas.microsoft.com/office/drawing/2014/main" id="{28A2715C-3BD6-D94C-B6AD-21EA0F69F5DB}"/>
              </a:ext>
            </a:extLst>
          </p:cNvPr>
          <p:cNvSpPr/>
          <p:nvPr/>
        </p:nvSpPr>
        <p:spPr>
          <a:xfrm>
            <a:off x="1160656" y="3267819"/>
            <a:ext cx="6377568" cy="923330"/>
          </a:xfrm>
          <a:prstGeom prst="rect">
            <a:avLst/>
          </a:prstGeom>
        </p:spPr>
        <p:txBody>
          <a:bodyPr wrap="square">
            <a:spAutoFit/>
          </a:bodyPr>
          <a:lstStyle/>
          <a:p>
            <a:r>
              <a:rPr lang="en-US" dirty="0"/>
              <a:t>That cant be changed, but libraries can find the extent of the stack frame the variable is in and refuse to copy more bytes than are in the stack frame.</a:t>
            </a:r>
          </a:p>
        </p:txBody>
      </p:sp>
      <p:sp>
        <p:nvSpPr>
          <p:cNvPr id="7" name="Rectangle 6">
            <a:extLst>
              <a:ext uri="{FF2B5EF4-FFF2-40B4-BE49-F238E27FC236}">
                <a16:creationId xmlns:a16="http://schemas.microsoft.com/office/drawing/2014/main" id="{8924A874-D674-0841-9348-B8535124BB64}"/>
              </a:ext>
            </a:extLst>
          </p:cNvPr>
          <p:cNvSpPr/>
          <p:nvPr/>
        </p:nvSpPr>
        <p:spPr>
          <a:xfrm>
            <a:off x="2263233" y="4304253"/>
            <a:ext cx="4953000" cy="646331"/>
          </a:xfrm>
          <a:prstGeom prst="rect">
            <a:avLst/>
          </a:prstGeom>
        </p:spPr>
        <p:txBody>
          <a:bodyPr>
            <a:spAutoFit/>
          </a:bodyPr>
          <a:lstStyle/>
          <a:p>
            <a:r>
              <a:rPr lang="en-US" b="1" dirty="0"/>
              <a:t>Pros: </a:t>
            </a:r>
            <a:r>
              <a:rPr lang="en-US" dirty="0"/>
              <a:t>works for a large class of stack smashing attacks.</a:t>
            </a:r>
          </a:p>
        </p:txBody>
      </p:sp>
      <p:sp>
        <p:nvSpPr>
          <p:cNvPr id="8" name="Rectangle 7">
            <a:extLst>
              <a:ext uri="{FF2B5EF4-FFF2-40B4-BE49-F238E27FC236}">
                <a16:creationId xmlns:a16="http://schemas.microsoft.com/office/drawing/2014/main" id="{D81B0478-33A5-2F48-84F9-AB105106C67C}"/>
              </a:ext>
            </a:extLst>
          </p:cNvPr>
          <p:cNvSpPr/>
          <p:nvPr/>
        </p:nvSpPr>
        <p:spPr>
          <a:xfrm>
            <a:off x="2263233" y="5209438"/>
            <a:ext cx="4953000" cy="923330"/>
          </a:xfrm>
          <a:prstGeom prst="rect">
            <a:avLst/>
          </a:prstGeom>
        </p:spPr>
        <p:txBody>
          <a:bodyPr>
            <a:spAutoFit/>
          </a:bodyPr>
          <a:lstStyle/>
          <a:p>
            <a:r>
              <a:rPr lang="en-US" b="1" dirty="0"/>
              <a:t>Cons: </a:t>
            </a:r>
            <a:r>
              <a:rPr lang="en-US" dirty="0"/>
              <a:t>buffer overflows happen not only through library functions (though most do); performance impact; removes the symptoms, not the illness.</a:t>
            </a:r>
          </a:p>
        </p:txBody>
      </p:sp>
      <p:sp>
        <p:nvSpPr>
          <p:cNvPr id="9" name="Rectangle 8">
            <a:extLst>
              <a:ext uri="{FF2B5EF4-FFF2-40B4-BE49-F238E27FC236}">
                <a16:creationId xmlns:a16="http://schemas.microsoft.com/office/drawing/2014/main" id="{5C2F8A89-F444-3A41-AEB4-3DA5EC71F442}"/>
              </a:ext>
            </a:extLst>
          </p:cNvPr>
          <p:cNvSpPr/>
          <p:nvPr/>
        </p:nvSpPr>
        <p:spPr>
          <a:xfrm>
            <a:off x="258284" y="517493"/>
            <a:ext cx="2722220" cy="523220"/>
          </a:xfrm>
          <a:prstGeom prst="rect">
            <a:avLst/>
          </a:prstGeom>
        </p:spPr>
        <p:txBody>
          <a:bodyPr wrap="none">
            <a:spAutoFit/>
          </a:bodyPr>
          <a:lstStyle/>
          <a:p>
            <a:r>
              <a:rPr lang="en-US" sz="2800" b="1" dirty="0"/>
              <a:t>Library Support</a:t>
            </a:r>
          </a:p>
        </p:txBody>
      </p:sp>
    </p:spTree>
    <p:extLst>
      <p:ext uri="{BB962C8B-B14F-4D97-AF65-F5344CB8AC3E}">
        <p14:creationId xmlns:p14="http://schemas.microsoft.com/office/powerpoint/2010/main" val="1598611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35E5720-6169-9340-95BF-35F53A203464}"/>
              </a:ext>
            </a:extLst>
          </p:cNvPr>
          <p:cNvSpPr>
            <a:spLocks noGrp="1"/>
          </p:cNvSpPr>
          <p:nvPr>
            <p:ph type="sldNum" sz="quarter" idx="12"/>
          </p:nvPr>
        </p:nvSpPr>
        <p:spPr/>
        <p:txBody>
          <a:bodyPr/>
          <a:lstStyle/>
          <a:p>
            <a:fld id="{48758AAF-F958-4141-BDE8-5609689A4508}" type="slidenum">
              <a:rPr lang="zh-CN" altLang="en-US" smtClean="0"/>
              <a:t>39</a:t>
            </a:fld>
            <a:endParaRPr lang="zh-CN" altLang="en-US"/>
          </a:p>
        </p:txBody>
      </p:sp>
      <p:sp>
        <p:nvSpPr>
          <p:cNvPr id="3" name="Rectangle 2">
            <a:extLst>
              <a:ext uri="{FF2B5EF4-FFF2-40B4-BE49-F238E27FC236}">
                <a16:creationId xmlns:a16="http://schemas.microsoft.com/office/drawing/2014/main" id="{FC001850-1174-C24E-9464-ADA5164FD6C5}"/>
              </a:ext>
            </a:extLst>
          </p:cNvPr>
          <p:cNvSpPr/>
          <p:nvPr/>
        </p:nvSpPr>
        <p:spPr>
          <a:xfrm>
            <a:off x="625398" y="5391396"/>
            <a:ext cx="8250973" cy="830997"/>
          </a:xfrm>
          <a:prstGeom prst="rect">
            <a:avLst/>
          </a:prstGeom>
        </p:spPr>
        <p:txBody>
          <a:bodyPr wrap="square">
            <a:spAutoFit/>
          </a:bodyPr>
          <a:lstStyle/>
          <a:p>
            <a:r>
              <a:rPr lang="en-US" sz="2400" dirty="0"/>
              <a:t>The general problem is </a:t>
            </a:r>
            <a:r>
              <a:rPr lang="en-US" sz="2400" dirty="0" err="1"/>
              <a:t>uncomputable</a:t>
            </a:r>
            <a:r>
              <a:rPr lang="en-US" sz="2400" dirty="0"/>
              <a:t>. Some partial success is possible for simple cases.</a:t>
            </a:r>
          </a:p>
        </p:txBody>
      </p:sp>
      <p:sp>
        <p:nvSpPr>
          <p:cNvPr id="4" name="Rectangle 3">
            <a:extLst>
              <a:ext uri="{FF2B5EF4-FFF2-40B4-BE49-F238E27FC236}">
                <a16:creationId xmlns:a16="http://schemas.microsoft.com/office/drawing/2014/main" id="{343161FB-E7E6-7341-9683-32E138844817}"/>
              </a:ext>
            </a:extLst>
          </p:cNvPr>
          <p:cNvSpPr/>
          <p:nvPr/>
        </p:nvSpPr>
        <p:spPr>
          <a:xfrm>
            <a:off x="625398" y="1490008"/>
            <a:ext cx="7693412" cy="830997"/>
          </a:xfrm>
          <a:prstGeom prst="rect">
            <a:avLst/>
          </a:prstGeom>
        </p:spPr>
        <p:txBody>
          <a:bodyPr wrap="square">
            <a:spAutoFit/>
          </a:bodyPr>
          <a:lstStyle/>
          <a:p>
            <a:r>
              <a:rPr lang="en-US" sz="2400" dirty="0"/>
              <a:t>Some tools look at the source code to decide whether it is vulnerable. </a:t>
            </a:r>
          </a:p>
        </p:txBody>
      </p:sp>
      <p:sp>
        <p:nvSpPr>
          <p:cNvPr id="5" name="Rectangle 4">
            <a:extLst>
              <a:ext uri="{FF2B5EF4-FFF2-40B4-BE49-F238E27FC236}">
                <a16:creationId xmlns:a16="http://schemas.microsoft.com/office/drawing/2014/main" id="{A83DDE45-7AF7-A44F-AEEE-29AABDCC90A3}"/>
              </a:ext>
            </a:extLst>
          </p:cNvPr>
          <p:cNvSpPr/>
          <p:nvPr/>
        </p:nvSpPr>
        <p:spPr>
          <a:xfrm>
            <a:off x="625398" y="2417758"/>
            <a:ext cx="8027948" cy="830997"/>
          </a:xfrm>
          <a:prstGeom prst="rect">
            <a:avLst/>
          </a:prstGeom>
        </p:spPr>
        <p:txBody>
          <a:bodyPr wrap="square">
            <a:spAutoFit/>
          </a:bodyPr>
          <a:lstStyle/>
          <a:p>
            <a:r>
              <a:rPr lang="en-US" sz="2400" dirty="0"/>
              <a:t>A tool decomposes the source text into tokens and looks for patterns</a:t>
            </a:r>
          </a:p>
        </p:txBody>
      </p:sp>
      <p:sp>
        <p:nvSpPr>
          <p:cNvPr id="6" name="Rectangle 5">
            <a:extLst>
              <a:ext uri="{FF2B5EF4-FFF2-40B4-BE49-F238E27FC236}">
                <a16:creationId xmlns:a16="http://schemas.microsoft.com/office/drawing/2014/main" id="{A73E4F32-00ED-784D-B56B-205941D16619}"/>
              </a:ext>
            </a:extLst>
          </p:cNvPr>
          <p:cNvSpPr/>
          <p:nvPr/>
        </p:nvSpPr>
        <p:spPr>
          <a:xfrm>
            <a:off x="625398" y="3382712"/>
            <a:ext cx="7693412" cy="830997"/>
          </a:xfrm>
          <a:prstGeom prst="rect">
            <a:avLst/>
          </a:prstGeom>
        </p:spPr>
        <p:txBody>
          <a:bodyPr wrap="square">
            <a:spAutoFit/>
          </a:bodyPr>
          <a:lstStyle/>
          <a:p>
            <a:r>
              <a:rPr lang="en-US" sz="2400" dirty="0"/>
              <a:t>Another tool computes slices to check dependencies between variables in a program</a:t>
            </a:r>
          </a:p>
        </p:txBody>
      </p:sp>
      <p:sp>
        <p:nvSpPr>
          <p:cNvPr id="7" name="Rectangle 6">
            <a:extLst>
              <a:ext uri="{FF2B5EF4-FFF2-40B4-BE49-F238E27FC236}">
                <a16:creationId xmlns:a16="http://schemas.microsoft.com/office/drawing/2014/main" id="{B0EA5964-D623-8842-9C10-0EA424AA1130}"/>
              </a:ext>
            </a:extLst>
          </p:cNvPr>
          <p:cNvSpPr/>
          <p:nvPr/>
        </p:nvSpPr>
        <p:spPr>
          <a:xfrm>
            <a:off x="625398" y="4387054"/>
            <a:ext cx="8027948" cy="830997"/>
          </a:xfrm>
          <a:prstGeom prst="rect">
            <a:avLst/>
          </a:prstGeom>
        </p:spPr>
        <p:txBody>
          <a:bodyPr wrap="square">
            <a:spAutoFit/>
          </a:bodyPr>
          <a:lstStyle/>
          <a:p>
            <a:r>
              <a:rPr lang="en-US" sz="2400" dirty="0"/>
              <a:t>Still another tool makes symbolic bounds analyses for array and pointer accesses. </a:t>
            </a:r>
          </a:p>
        </p:txBody>
      </p:sp>
      <p:sp>
        <p:nvSpPr>
          <p:cNvPr id="8" name="Rectangle 7">
            <a:extLst>
              <a:ext uri="{FF2B5EF4-FFF2-40B4-BE49-F238E27FC236}">
                <a16:creationId xmlns:a16="http://schemas.microsoft.com/office/drawing/2014/main" id="{DAB197E4-EB1A-2149-A27E-78E958F15952}"/>
              </a:ext>
            </a:extLst>
          </p:cNvPr>
          <p:cNvSpPr/>
          <p:nvPr/>
        </p:nvSpPr>
        <p:spPr>
          <a:xfrm>
            <a:off x="185363" y="351709"/>
            <a:ext cx="5982728" cy="523220"/>
          </a:xfrm>
          <a:prstGeom prst="rect">
            <a:avLst/>
          </a:prstGeom>
        </p:spPr>
        <p:txBody>
          <a:bodyPr wrap="none">
            <a:spAutoFit/>
          </a:bodyPr>
          <a:lstStyle/>
          <a:p>
            <a:r>
              <a:rPr lang="en-US" sz="2800" b="1" dirty="0"/>
              <a:t>Static Code Analysis (aka Grepping)</a:t>
            </a:r>
          </a:p>
        </p:txBody>
      </p:sp>
    </p:spTree>
    <p:extLst>
      <p:ext uri="{BB962C8B-B14F-4D97-AF65-F5344CB8AC3E}">
        <p14:creationId xmlns:p14="http://schemas.microsoft.com/office/powerpoint/2010/main" val="605754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8AA8E9-EC84-5346-A581-DEC41BEA1C61}"/>
              </a:ext>
            </a:extLst>
          </p:cNvPr>
          <p:cNvSpPr>
            <a:spLocks noGrp="1"/>
          </p:cNvSpPr>
          <p:nvPr>
            <p:ph type="sldNum" sz="quarter" idx="12"/>
          </p:nvPr>
        </p:nvSpPr>
        <p:spPr/>
        <p:txBody>
          <a:bodyPr/>
          <a:lstStyle/>
          <a:p>
            <a:fld id="{48758AAF-F958-4141-BDE8-5609689A4508}" type="slidenum">
              <a:rPr lang="zh-CN" altLang="en-US" smtClean="0"/>
              <a:t>40</a:t>
            </a:fld>
            <a:endParaRPr lang="zh-CN" altLang="en-US"/>
          </a:p>
        </p:txBody>
      </p:sp>
      <p:sp>
        <p:nvSpPr>
          <p:cNvPr id="3" name="Rectangle 2">
            <a:extLst>
              <a:ext uri="{FF2B5EF4-FFF2-40B4-BE49-F238E27FC236}">
                <a16:creationId xmlns:a16="http://schemas.microsoft.com/office/drawing/2014/main" id="{ADF59121-F7AD-B646-BB55-631F71D1C701}"/>
              </a:ext>
            </a:extLst>
          </p:cNvPr>
          <p:cNvSpPr/>
          <p:nvPr/>
        </p:nvSpPr>
        <p:spPr>
          <a:xfrm>
            <a:off x="1316771" y="4968271"/>
            <a:ext cx="7180455" cy="1200329"/>
          </a:xfrm>
          <a:prstGeom prst="rect">
            <a:avLst/>
          </a:prstGeom>
        </p:spPr>
        <p:txBody>
          <a:bodyPr wrap="square">
            <a:spAutoFit/>
          </a:bodyPr>
          <a:lstStyle/>
          <a:p>
            <a:r>
              <a:rPr lang="en-US" sz="2400" dirty="0"/>
              <a:t>Can only be used to find overflows as they occur (actual faults) as opposed to overflows that could occur (potential faults).</a:t>
            </a:r>
          </a:p>
        </p:txBody>
      </p:sp>
      <p:sp>
        <p:nvSpPr>
          <p:cNvPr id="4" name="Rectangle 3">
            <a:extLst>
              <a:ext uri="{FF2B5EF4-FFF2-40B4-BE49-F238E27FC236}">
                <a16:creationId xmlns:a16="http://schemas.microsoft.com/office/drawing/2014/main" id="{0E6D3427-3FC9-9D4E-AD06-587FF6CFA2E4}"/>
              </a:ext>
            </a:extLst>
          </p:cNvPr>
          <p:cNvSpPr/>
          <p:nvPr/>
        </p:nvSpPr>
        <p:spPr>
          <a:xfrm>
            <a:off x="1294469" y="1227745"/>
            <a:ext cx="7403481" cy="830997"/>
          </a:xfrm>
          <a:prstGeom prst="rect">
            <a:avLst/>
          </a:prstGeom>
        </p:spPr>
        <p:txBody>
          <a:bodyPr wrap="square">
            <a:spAutoFit/>
          </a:bodyPr>
          <a:lstStyle/>
          <a:p>
            <a:r>
              <a:rPr lang="en-US" sz="2400" dirty="0"/>
              <a:t>Work by checking every array and pointer access at run time</a:t>
            </a:r>
          </a:p>
        </p:txBody>
      </p:sp>
      <p:sp>
        <p:nvSpPr>
          <p:cNvPr id="5" name="Rectangle 4">
            <a:extLst>
              <a:ext uri="{FF2B5EF4-FFF2-40B4-BE49-F238E27FC236}">
                <a16:creationId xmlns:a16="http://schemas.microsoft.com/office/drawing/2014/main" id="{D59BC800-45E5-FF44-984C-7CA88FDA10FD}"/>
              </a:ext>
            </a:extLst>
          </p:cNvPr>
          <p:cNvSpPr/>
          <p:nvPr/>
        </p:nvSpPr>
        <p:spPr>
          <a:xfrm>
            <a:off x="1294468" y="2327251"/>
            <a:ext cx="7225063" cy="830997"/>
          </a:xfrm>
          <a:prstGeom prst="rect">
            <a:avLst/>
          </a:prstGeom>
        </p:spPr>
        <p:txBody>
          <a:bodyPr wrap="square">
            <a:spAutoFit/>
          </a:bodyPr>
          <a:lstStyle/>
          <a:p>
            <a:r>
              <a:rPr lang="en-US" sz="2400" dirty="0"/>
              <a:t>Since C has such an unwieldy array model, this has a huge performance impact</a:t>
            </a:r>
          </a:p>
        </p:txBody>
      </p:sp>
      <p:sp>
        <p:nvSpPr>
          <p:cNvPr id="6" name="Rectangle 5">
            <a:extLst>
              <a:ext uri="{FF2B5EF4-FFF2-40B4-BE49-F238E27FC236}">
                <a16:creationId xmlns:a16="http://schemas.microsoft.com/office/drawing/2014/main" id="{3B8464B4-B3E7-BF49-9CC0-87A66AB4EBAA}"/>
              </a:ext>
            </a:extLst>
          </p:cNvPr>
          <p:cNvSpPr/>
          <p:nvPr/>
        </p:nvSpPr>
        <p:spPr>
          <a:xfrm>
            <a:off x="1294467" y="3463095"/>
            <a:ext cx="7715717" cy="1200329"/>
          </a:xfrm>
          <a:prstGeom prst="rect">
            <a:avLst/>
          </a:prstGeom>
        </p:spPr>
        <p:txBody>
          <a:bodyPr wrap="square">
            <a:spAutoFit/>
          </a:bodyPr>
          <a:lstStyle/>
          <a:p>
            <a:r>
              <a:rPr lang="en-US" sz="2400" dirty="0"/>
              <a:t>Also, the program cannot meaningfully continue to run after a buffer </a:t>
            </a:r>
            <a:r>
              <a:rPr lang="en-US" sz="2400" dirty="0" err="1"/>
              <a:t>pverflow</a:t>
            </a:r>
            <a:r>
              <a:rPr lang="en-US" sz="2400" dirty="0"/>
              <a:t> has been detected ⇒ can be used only in development, not in production </a:t>
            </a:r>
          </a:p>
        </p:txBody>
      </p:sp>
      <p:sp>
        <p:nvSpPr>
          <p:cNvPr id="7" name="Rectangle 6">
            <a:extLst>
              <a:ext uri="{FF2B5EF4-FFF2-40B4-BE49-F238E27FC236}">
                <a16:creationId xmlns:a16="http://schemas.microsoft.com/office/drawing/2014/main" id="{21C27A35-B375-374E-A0D1-E9A102F11007}"/>
              </a:ext>
            </a:extLst>
          </p:cNvPr>
          <p:cNvSpPr/>
          <p:nvPr/>
        </p:nvSpPr>
        <p:spPr>
          <a:xfrm>
            <a:off x="324351" y="508492"/>
            <a:ext cx="3150221" cy="523220"/>
          </a:xfrm>
          <a:prstGeom prst="rect">
            <a:avLst/>
          </a:prstGeom>
        </p:spPr>
        <p:txBody>
          <a:bodyPr wrap="none">
            <a:spAutoFit/>
          </a:bodyPr>
          <a:lstStyle/>
          <a:p>
            <a:r>
              <a:rPr lang="en-US" sz="2800" b="1" dirty="0"/>
              <a:t>Dynamic Methods</a:t>
            </a:r>
          </a:p>
        </p:txBody>
      </p:sp>
    </p:spTree>
    <p:extLst>
      <p:ext uri="{BB962C8B-B14F-4D97-AF65-F5344CB8AC3E}">
        <p14:creationId xmlns:p14="http://schemas.microsoft.com/office/powerpoint/2010/main" val="565038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8B85760-FD0C-3E43-B3E5-1CD0919BE655}"/>
              </a:ext>
            </a:extLst>
          </p:cNvPr>
          <p:cNvSpPr>
            <a:spLocks noGrp="1"/>
          </p:cNvSpPr>
          <p:nvPr>
            <p:ph type="sldNum" sz="quarter" idx="12"/>
          </p:nvPr>
        </p:nvSpPr>
        <p:spPr/>
        <p:txBody>
          <a:bodyPr/>
          <a:lstStyle/>
          <a:p>
            <a:fld id="{48758AAF-F958-4141-BDE8-5609689A4508}" type="slidenum">
              <a:rPr lang="zh-CN" altLang="en-US" smtClean="0"/>
              <a:t>41</a:t>
            </a:fld>
            <a:endParaRPr lang="zh-CN" altLang="en-US"/>
          </a:p>
        </p:txBody>
      </p:sp>
      <p:sp>
        <p:nvSpPr>
          <p:cNvPr id="3" name="Rectangle 2">
            <a:extLst>
              <a:ext uri="{FF2B5EF4-FFF2-40B4-BE49-F238E27FC236}">
                <a16:creationId xmlns:a16="http://schemas.microsoft.com/office/drawing/2014/main" id="{8B0063CB-DFE1-794D-87D4-E487FE4A309C}"/>
              </a:ext>
            </a:extLst>
          </p:cNvPr>
          <p:cNvSpPr/>
          <p:nvPr/>
        </p:nvSpPr>
        <p:spPr>
          <a:xfrm>
            <a:off x="2043113" y="5360367"/>
            <a:ext cx="4953000" cy="646331"/>
          </a:xfrm>
          <a:prstGeom prst="rect">
            <a:avLst/>
          </a:prstGeom>
        </p:spPr>
        <p:txBody>
          <a:bodyPr>
            <a:spAutoFit/>
          </a:bodyPr>
          <a:lstStyle/>
          <a:p>
            <a:r>
              <a:rPr lang="en-US" dirty="0"/>
              <a:t>. • Buffer overflows continue to be found in </a:t>
            </a:r>
            <a:r>
              <a:rPr lang="en-US" dirty="0" err="1"/>
              <a:t>sendmail</a:t>
            </a:r>
            <a:r>
              <a:rPr lang="en-US" dirty="0"/>
              <a:t>. Therefore:</a:t>
            </a:r>
          </a:p>
        </p:txBody>
      </p:sp>
      <p:sp>
        <p:nvSpPr>
          <p:cNvPr id="4" name="Rectangle 3">
            <a:extLst>
              <a:ext uri="{FF2B5EF4-FFF2-40B4-BE49-F238E27FC236}">
                <a16:creationId xmlns:a16="http://schemas.microsoft.com/office/drawing/2014/main" id="{69224C13-F0DA-034C-8A4B-23454D36B477}"/>
              </a:ext>
            </a:extLst>
          </p:cNvPr>
          <p:cNvSpPr/>
          <p:nvPr/>
        </p:nvSpPr>
        <p:spPr>
          <a:xfrm>
            <a:off x="1606706" y="1176761"/>
            <a:ext cx="4953000" cy="646331"/>
          </a:xfrm>
          <a:prstGeom prst="rect">
            <a:avLst/>
          </a:prstGeom>
        </p:spPr>
        <p:txBody>
          <a:bodyPr>
            <a:spAutoFit/>
          </a:bodyPr>
          <a:lstStyle/>
          <a:p>
            <a:r>
              <a:rPr lang="en-US" dirty="0"/>
              <a:t>In practice, its hard to avoid them if they are at all possible</a:t>
            </a:r>
          </a:p>
        </p:txBody>
      </p:sp>
      <p:sp>
        <p:nvSpPr>
          <p:cNvPr id="5" name="Rectangle 4">
            <a:extLst>
              <a:ext uri="{FF2B5EF4-FFF2-40B4-BE49-F238E27FC236}">
                <a16:creationId xmlns:a16="http://schemas.microsoft.com/office/drawing/2014/main" id="{92E32396-CFE3-6C41-A1E3-F588B4836A1D}"/>
              </a:ext>
            </a:extLst>
          </p:cNvPr>
          <p:cNvSpPr/>
          <p:nvPr/>
        </p:nvSpPr>
        <p:spPr>
          <a:xfrm>
            <a:off x="1606706" y="2104317"/>
            <a:ext cx="4953000" cy="646331"/>
          </a:xfrm>
          <a:prstGeom prst="rect">
            <a:avLst/>
          </a:prstGeom>
        </p:spPr>
        <p:txBody>
          <a:bodyPr>
            <a:spAutoFit/>
          </a:bodyPr>
          <a:lstStyle/>
          <a:p>
            <a:r>
              <a:rPr lang="en-US" dirty="0"/>
              <a:t>Its not enough simply to avoid certain functions (although that helps). </a:t>
            </a:r>
          </a:p>
        </p:txBody>
      </p:sp>
      <p:sp>
        <p:nvSpPr>
          <p:cNvPr id="6" name="Rectangle 5">
            <a:extLst>
              <a:ext uri="{FF2B5EF4-FFF2-40B4-BE49-F238E27FC236}">
                <a16:creationId xmlns:a16="http://schemas.microsoft.com/office/drawing/2014/main" id="{4684A2B6-8DE7-174F-BED5-2BEFCFDEF933}"/>
              </a:ext>
            </a:extLst>
          </p:cNvPr>
          <p:cNvSpPr/>
          <p:nvPr/>
        </p:nvSpPr>
        <p:spPr>
          <a:xfrm>
            <a:off x="1606706" y="2992419"/>
            <a:ext cx="4953000" cy="923330"/>
          </a:xfrm>
          <a:prstGeom prst="rect">
            <a:avLst/>
          </a:prstGeom>
        </p:spPr>
        <p:txBody>
          <a:bodyPr>
            <a:spAutoFit/>
          </a:bodyPr>
          <a:lstStyle/>
          <a:p>
            <a:r>
              <a:rPr lang="en-US" dirty="0"/>
              <a:t>Its also not enough to make your source code open for peer review because most people simply </a:t>
            </a:r>
            <a:r>
              <a:rPr lang="en-US" dirty="0" err="1"/>
              <a:t>dont</a:t>
            </a:r>
            <a:r>
              <a:rPr lang="en-US" dirty="0"/>
              <a:t> do peer review: </a:t>
            </a:r>
          </a:p>
        </p:txBody>
      </p:sp>
      <p:sp>
        <p:nvSpPr>
          <p:cNvPr id="7" name="Rectangle 6">
            <a:extLst>
              <a:ext uri="{FF2B5EF4-FFF2-40B4-BE49-F238E27FC236}">
                <a16:creationId xmlns:a16="http://schemas.microsoft.com/office/drawing/2014/main" id="{9BA71716-493B-1A41-80DE-406FCF1A4866}"/>
              </a:ext>
            </a:extLst>
          </p:cNvPr>
          <p:cNvSpPr/>
          <p:nvPr/>
        </p:nvSpPr>
        <p:spPr>
          <a:xfrm>
            <a:off x="2043113" y="4160038"/>
            <a:ext cx="4953000" cy="923330"/>
          </a:xfrm>
          <a:prstGeom prst="rect">
            <a:avLst/>
          </a:prstGeom>
        </p:spPr>
        <p:txBody>
          <a:bodyPr>
            <a:spAutoFit/>
          </a:bodyPr>
          <a:lstStyle/>
          <a:p>
            <a:r>
              <a:rPr lang="en-US" dirty="0"/>
              <a:t>• A buffer overflow was present for almost a decade in </a:t>
            </a:r>
            <a:r>
              <a:rPr lang="en-US" dirty="0" err="1"/>
              <a:t>wu-ftpd</a:t>
            </a:r>
            <a:r>
              <a:rPr lang="en-US" dirty="0"/>
              <a:t>, an FTP server program before it was finally noticed and removed. </a:t>
            </a:r>
          </a:p>
        </p:txBody>
      </p:sp>
      <p:sp>
        <p:nvSpPr>
          <p:cNvPr id="8" name="Rectangle 7">
            <a:extLst>
              <a:ext uri="{FF2B5EF4-FFF2-40B4-BE49-F238E27FC236}">
                <a16:creationId xmlns:a16="http://schemas.microsoft.com/office/drawing/2014/main" id="{255BB7E3-A362-6B47-BBA5-F987CCBCADDF}"/>
              </a:ext>
            </a:extLst>
          </p:cNvPr>
          <p:cNvSpPr/>
          <p:nvPr/>
        </p:nvSpPr>
        <p:spPr>
          <a:xfrm>
            <a:off x="0" y="335700"/>
            <a:ext cx="4778872" cy="523220"/>
          </a:xfrm>
          <a:prstGeom prst="rect">
            <a:avLst/>
          </a:prstGeom>
        </p:spPr>
        <p:txBody>
          <a:bodyPr wrap="none">
            <a:spAutoFit/>
          </a:bodyPr>
          <a:lstStyle/>
          <a:p>
            <a:r>
              <a:rPr lang="en-US" sz="2800" b="1" dirty="0"/>
              <a:t>How to Write BO-Free Code</a:t>
            </a:r>
          </a:p>
        </p:txBody>
      </p:sp>
    </p:spTree>
    <p:extLst>
      <p:ext uri="{BB962C8B-B14F-4D97-AF65-F5344CB8AC3E}">
        <p14:creationId xmlns:p14="http://schemas.microsoft.com/office/powerpoint/2010/main" val="3851846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E9A2778-BD77-9F45-AC63-B4A04310AA27}"/>
              </a:ext>
            </a:extLst>
          </p:cNvPr>
          <p:cNvSpPr>
            <a:spLocks noGrp="1"/>
          </p:cNvSpPr>
          <p:nvPr>
            <p:ph type="sldNum" sz="quarter" idx="12"/>
          </p:nvPr>
        </p:nvSpPr>
        <p:spPr/>
        <p:txBody>
          <a:bodyPr/>
          <a:lstStyle/>
          <a:p>
            <a:fld id="{48758AAF-F958-4141-BDE8-5609689A4508}" type="slidenum">
              <a:rPr lang="zh-CN" altLang="en-US" smtClean="0"/>
              <a:t>42</a:t>
            </a:fld>
            <a:endParaRPr lang="zh-CN" altLang="en-US"/>
          </a:p>
        </p:txBody>
      </p:sp>
      <p:sp>
        <p:nvSpPr>
          <p:cNvPr id="3" name="Rectangle 2">
            <a:extLst>
              <a:ext uri="{FF2B5EF4-FFF2-40B4-BE49-F238E27FC236}">
                <a16:creationId xmlns:a16="http://schemas.microsoft.com/office/drawing/2014/main" id="{0D24D504-25E2-714A-A17E-C31DD5068AE0}"/>
              </a:ext>
            </a:extLst>
          </p:cNvPr>
          <p:cNvSpPr/>
          <p:nvPr/>
        </p:nvSpPr>
        <p:spPr>
          <a:xfrm>
            <a:off x="282556" y="568042"/>
            <a:ext cx="4657044" cy="523220"/>
          </a:xfrm>
          <a:prstGeom prst="rect">
            <a:avLst/>
          </a:prstGeom>
        </p:spPr>
        <p:txBody>
          <a:bodyPr wrap="none">
            <a:spAutoFit/>
          </a:bodyPr>
          <a:lstStyle/>
          <a:p>
            <a:r>
              <a:rPr lang="en-US" sz="2800" b="1" dirty="0"/>
              <a:t>Some Hard-And-Fast Rules</a:t>
            </a:r>
          </a:p>
        </p:txBody>
      </p:sp>
      <p:sp>
        <p:nvSpPr>
          <p:cNvPr id="4" name="Rectangle 3">
            <a:extLst>
              <a:ext uri="{FF2B5EF4-FFF2-40B4-BE49-F238E27FC236}">
                <a16:creationId xmlns:a16="http://schemas.microsoft.com/office/drawing/2014/main" id="{8084CA41-3FF8-7047-9A90-7A904DE9E065}"/>
              </a:ext>
            </a:extLst>
          </p:cNvPr>
          <p:cNvSpPr/>
          <p:nvPr/>
        </p:nvSpPr>
        <p:spPr>
          <a:xfrm>
            <a:off x="1187097" y="5597620"/>
            <a:ext cx="7533157" cy="461665"/>
          </a:xfrm>
          <a:prstGeom prst="rect">
            <a:avLst/>
          </a:prstGeom>
        </p:spPr>
        <p:txBody>
          <a:bodyPr wrap="square">
            <a:spAutoFit/>
          </a:bodyPr>
          <a:lstStyle/>
          <a:p>
            <a:r>
              <a:rPr lang="en-US" sz="2400" dirty="0"/>
              <a:t>• Design your program so that it is secure from the start</a:t>
            </a:r>
          </a:p>
        </p:txBody>
      </p:sp>
      <p:sp>
        <p:nvSpPr>
          <p:cNvPr id="5" name="Rectangle 4">
            <a:extLst>
              <a:ext uri="{FF2B5EF4-FFF2-40B4-BE49-F238E27FC236}">
                <a16:creationId xmlns:a16="http://schemas.microsoft.com/office/drawing/2014/main" id="{7F7E621F-935D-3C4B-881B-348E0268463A}"/>
              </a:ext>
            </a:extLst>
          </p:cNvPr>
          <p:cNvSpPr/>
          <p:nvPr/>
        </p:nvSpPr>
        <p:spPr>
          <a:xfrm>
            <a:off x="1187098" y="1164067"/>
            <a:ext cx="1947969" cy="461665"/>
          </a:xfrm>
          <a:prstGeom prst="rect">
            <a:avLst/>
          </a:prstGeom>
        </p:spPr>
        <p:txBody>
          <a:bodyPr wrap="none">
            <a:spAutoFit/>
          </a:bodyPr>
          <a:lstStyle/>
          <a:p>
            <a:r>
              <a:rPr lang="en-US" sz="2400" dirty="0"/>
              <a:t>• </a:t>
            </a:r>
            <a:r>
              <a:rPr lang="en-US" sz="2400" dirty="0" err="1"/>
              <a:t>Dont</a:t>
            </a:r>
            <a:r>
              <a:rPr lang="en-US" sz="2400" dirty="0"/>
              <a:t> use C </a:t>
            </a:r>
          </a:p>
        </p:txBody>
      </p:sp>
      <p:sp>
        <p:nvSpPr>
          <p:cNvPr id="7" name="Rectangle 6">
            <a:extLst>
              <a:ext uri="{FF2B5EF4-FFF2-40B4-BE49-F238E27FC236}">
                <a16:creationId xmlns:a16="http://schemas.microsoft.com/office/drawing/2014/main" id="{09C34033-7F43-3747-8448-4B2D9BDEF6C8}"/>
              </a:ext>
            </a:extLst>
          </p:cNvPr>
          <p:cNvSpPr/>
          <p:nvPr/>
        </p:nvSpPr>
        <p:spPr>
          <a:xfrm>
            <a:off x="1187097" y="1747261"/>
            <a:ext cx="6797175" cy="830997"/>
          </a:xfrm>
          <a:prstGeom prst="rect">
            <a:avLst/>
          </a:prstGeom>
        </p:spPr>
        <p:txBody>
          <a:bodyPr wrap="square">
            <a:spAutoFit/>
          </a:bodyPr>
          <a:lstStyle/>
          <a:p>
            <a:r>
              <a:rPr lang="en-US" sz="2400" dirty="0"/>
              <a:t>• If you use C++, use smart buffers that do their own range checking </a:t>
            </a:r>
          </a:p>
        </p:txBody>
      </p:sp>
      <p:sp>
        <p:nvSpPr>
          <p:cNvPr id="8" name="Rectangle 7">
            <a:extLst>
              <a:ext uri="{FF2B5EF4-FFF2-40B4-BE49-F238E27FC236}">
                <a16:creationId xmlns:a16="http://schemas.microsoft.com/office/drawing/2014/main" id="{D1FF7C70-415C-934F-A998-D7BC17F58DC0}"/>
              </a:ext>
            </a:extLst>
          </p:cNvPr>
          <p:cNvSpPr/>
          <p:nvPr/>
        </p:nvSpPr>
        <p:spPr>
          <a:xfrm>
            <a:off x="1187097" y="2742663"/>
            <a:ext cx="5253361" cy="461665"/>
          </a:xfrm>
          <a:prstGeom prst="rect">
            <a:avLst/>
          </a:prstGeom>
        </p:spPr>
        <p:txBody>
          <a:bodyPr wrap="none">
            <a:spAutoFit/>
          </a:bodyPr>
          <a:lstStyle/>
          <a:p>
            <a:r>
              <a:rPr lang="en-US" sz="2400" dirty="0"/>
              <a:t>• Always include range checking code </a:t>
            </a:r>
          </a:p>
        </p:txBody>
      </p:sp>
      <p:sp>
        <p:nvSpPr>
          <p:cNvPr id="9" name="Rectangle 8">
            <a:extLst>
              <a:ext uri="{FF2B5EF4-FFF2-40B4-BE49-F238E27FC236}">
                <a16:creationId xmlns:a16="http://schemas.microsoft.com/office/drawing/2014/main" id="{E18EB9FB-F48B-5946-88B2-F47B003DE36C}"/>
              </a:ext>
            </a:extLst>
          </p:cNvPr>
          <p:cNvSpPr/>
          <p:nvPr/>
        </p:nvSpPr>
        <p:spPr>
          <a:xfrm>
            <a:off x="1187098" y="3489988"/>
            <a:ext cx="7243224" cy="830997"/>
          </a:xfrm>
          <a:prstGeom prst="rect">
            <a:avLst/>
          </a:prstGeom>
        </p:spPr>
        <p:txBody>
          <a:bodyPr wrap="square">
            <a:spAutoFit/>
          </a:bodyPr>
          <a:lstStyle/>
          <a:p>
            <a:r>
              <a:rPr lang="en-US" sz="2400" dirty="0"/>
              <a:t>• Never disable range checking code “for performance reasons”</a:t>
            </a:r>
          </a:p>
        </p:txBody>
      </p:sp>
      <p:sp>
        <p:nvSpPr>
          <p:cNvPr id="10" name="Rectangle 9">
            <a:extLst>
              <a:ext uri="{FF2B5EF4-FFF2-40B4-BE49-F238E27FC236}">
                <a16:creationId xmlns:a16="http://schemas.microsoft.com/office/drawing/2014/main" id="{4DA16AAF-6D8B-9048-955F-1313E3022AD8}"/>
              </a:ext>
            </a:extLst>
          </p:cNvPr>
          <p:cNvSpPr/>
          <p:nvPr/>
        </p:nvSpPr>
        <p:spPr>
          <a:xfrm>
            <a:off x="1173021" y="4536757"/>
            <a:ext cx="7243224" cy="830997"/>
          </a:xfrm>
          <a:prstGeom prst="rect">
            <a:avLst/>
          </a:prstGeom>
        </p:spPr>
        <p:txBody>
          <a:bodyPr wrap="square">
            <a:spAutoFit/>
          </a:bodyPr>
          <a:lstStyle/>
          <a:p>
            <a:r>
              <a:rPr lang="en-US" sz="2400" dirty="0"/>
              <a:t> • Use languages with managed memory like Java, Perl, Python</a:t>
            </a:r>
          </a:p>
        </p:txBody>
      </p:sp>
    </p:spTree>
    <p:extLst>
      <p:ext uri="{BB962C8B-B14F-4D97-AF65-F5344CB8AC3E}">
        <p14:creationId xmlns:p14="http://schemas.microsoft.com/office/powerpoint/2010/main" val="36621178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0"/>
          <p:cNvSpPr txBox="1">
            <a:spLocks noChangeArrowheads="1"/>
          </p:cNvSpPr>
          <p:nvPr/>
        </p:nvSpPr>
        <p:spPr bwMode="auto">
          <a:xfrm>
            <a:off x="114796" y="177016"/>
            <a:ext cx="881913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SimSun" panose="02010600030101010101" pitchFamily="2" charset="-122"/>
              </a:defRPr>
            </a:lvl1pPr>
            <a:lvl2pPr marL="742950" indent="-285750" eaLnBrk="0" hangingPunct="0">
              <a:defRPr>
                <a:solidFill>
                  <a:schemeClr val="tx1"/>
                </a:solidFill>
                <a:latin typeface="Calibri" panose="020F0502020204030204" pitchFamily="34" charset="0"/>
                <a:ea typeface="SimSun" panose="02010600030101010101" pitchFamily="2" charset="-122"/>
              </a:defRPr>
            </a:lvl2pPr>
            <a:lvl3pPr marL="1143000" indent="-228600" eaLnBrk="0" hangingPunct="0">
              <a:defRPr>
                <a:solidFill>
                  <a:schemeClr val="tx1"/>
                </a:solidFill>
                <a:latin typeface="Calibri" panose="020F0502020204030204" pitchFamily="34" charset="0"/>
                <a:ea typeface="SimSun" panose="02010600030101010101" pitchFamily="2" charset="-122"/>
              </a:defRPr>
            </a:lvl3pPr>
            <a:lvl4pPr marL="1600200" indent="-228600" eaLnBrk="0" hangingPunct="0">
              <a:defRPr>
                <a:solidFill>
                  <a:schemeClr val="tx1"/>
                </a:solidFill>
                <a:latin typeface="Calibri" panose="020F0502020204030204" pitchFamily="34" charset="0"/>
                <a:ea typeface="SimSun" panose="02010600030101010101" pitchFamily="2" charset="-122"/>
              </a:defRPr>
            </a:lvl4pPr>
            <a:lvl5pPr marL="2057400" indent="-228600" eaLnBrk="0" hangingPunct="0">
              <a:defRPr>
                <a:solidFill>
                  <a:schemeClr val="tx1"/>
                </a:solidFill>
                <a:latin typeface="Calibri" panose="020F0502020204030204" pitchFamily="34" charset="0"/>
                <a:ea typeface="SimSun"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SimSun" panose="02010600030101010101" pitchFamily="2" charset="-122"/>
              </a:defRPr>
            </a:lvl9pPr>
          </a:lstStyle>
          <a:p>
            <a:pPr eaLnBrk="1" fontAlgn="base" hangingPunct="1">
              <a:spcBef>
                <a:spcPct val="0"/>
              </a:spcBef>
              <a:spcAft>
                <a:spcPct val="0"/>
              </a:spcAft>
            </a:pPr>
            <a:r>
              <a:rPr lang="en-US" altLang="zh-CN" sz="3600" i="1" dirty="0">
                <a:solidFill>
                  <a:prstClr val="black"/>
                </a:solidFill>
                <a:cs typeface="Calibri" panose="020F0502020204030204" pitchFamily="34" charset="0"/>
              </a:rPr>
              <a:t> </a:t>
            </a:r>
            <a:r>
              <a:rPr lang="en-US" altLang="zh-CN" sz="3600" i="1" dirty="0">
                <a:ea typeface="Adobe Gothic Std B" pitchFamily="34" charset="-128"/>
                <a:cs typeface="Calibri" panose="020F0502020204030204" pitchFamily="34" charset="0"/>
              </a:rPr>
              <a:t> </a:t>
            </a:r>
            <a:endParaRPr lang="zh-CN" altLang="en-US" sz="2800" b="1" dirty="0">
              <a:latin typeface="Times New Roman" panose="02020603050405020304" pitchFamily="18" charset="0"/>
              <a:ea typeface="Adobe Gothic Std B" pitchFamily="34" charset="-128"/>
              <a:cs typeface="Times New Roman" panose="02020603050405020304" pitchFamily="18" charset="0"/>
            </a:endParaRPr>
          </a:p>
        </p:txBody>
      </p:sp>
      <p:sp>
        <p:nvSpPr>
          <p:cNvPr id="7" name="灯片编号占位符 1"/>
          <p:cNvSpPr>
            <a:spLocks noGrp="1"/>
          </p:cNvSpPr>
          <p:nvPr>
            <p:ph type="sldNum" sz="quarter" idx="12"/>
          </p:nvPr>
        </p:nvSpPr>
        <p:spPr>
          <a:xfrm>
            <a:off x="7460456" y="6394451"/>
            <a:ext cx="2228850" cy="365125"/>
          </a:xfrm>
        </p:spPr>
        <p:txBody>
          <a:bodyPr/>
          <a:lstStyle/>
          <a:p>
            <a:fld id="{48758AAF-F958-4141-BDE8-5609689A4508}" type="slidenum">
              <a:rPr lang="zh-CN" altLang="en-US" sz="2000" smtClean="0">
                <a:solidFill>
                  <a:schemeClr val="bg1"/>
                </a:solidFill>
                <a:latin typeface="Calibri" panose="020F0502020204030204" pitchFamily="34" charset="0"/>
                <a:cs typeface="Calibri" panose="020F0502020204030204" pitchFamily="34" charset="0"/>
              </a:rPr>
              <a:t>43</a:t>
            </a:fld>
            <a:endParaRPr lang="zh-CN" altLang="en-US" sz="2000" dirty="0">
              <a:solidFill>
                <a:schemeClr val="bg1"/>
              </a:solidFill>
              <a:latin typeface="Calibri" panose="020F0502020204030204" pitchFamily="34" charset="0"/>
              <a:cs typeface="Calibri" panose="020F0502020204030204" pitchFamily="34" charset="0"/>
            </a:endParaRPr>
          </a:p>
        </p:txBody>
      </p:sp>
      <p:sp>
        <p:nvSpPr>
          <p:cNvPr id="9" name="矩形 8"/>
          <p:cNvSpPr/>
          <p:nvPr/>
        </p:nvSpPr>
        <p:spPr>
          <a:xfrm>
            <a:off x="1156812" y="1967221"/>
            <a:ext cx="4934499" cy="994952"/>
          </a:xfrm>
          <a:prstGeom prst="rect">
            <a:avLst/>
          </a:prstGeom>
        </p:spPr>
        <p:txBody>
          <a:bodyPr wrap="square">
            <a:spAutoFit/>
          </a:bodyPr>
          <a:lstStyle/>
          <a:p>
            <a:pPr>
              <a:spcAft>
                <a:spcPts val="0"/>
              </a:spcAft>
            </a:pPr>
            <a:r>
              <a:rPr lang="en-US" sz="3600" dirty="0">
                <a:latin typeface="Calibri" panose="020F0502020204030204" pitchFamily="34" charset="0"/>
                <a:ea typeface="DengXian" panose="02010600030101010101" pitchFamily="2" charset="-122"/>
                <a:cs typeface="Times New Roman" panose="02020603050405020304" pitchFamily="18" charset="0"/>
              </a:rPr>
              <a:t> </a:t>
            </a:r>
            <a:endParaRPr lang="it-IT" sz="3600" dirty="0">
              <a:latin typeface="Calibri" panose="020F0502020204030204" pitchFamily="34" charset="0"/>
              <a:ea typeface="DengXian" panose="02010600030101010101" pitchFamily="2" charset="-122"/>
              <a:cs typeface="Times New Roman" panose="02020603050405020304" pitchFamily="18" charset="0"/>
            </a:endParaRPr>
          </a:p>
          <a:p>
            <a:pPr algn="just">
              <a:lnSpc>
                <a:spcPct val="125000"/>
              </a:lnSpc>
              <a:buClr>
                <a:schemeClr val="accent5"/>
              </a:buClr>
              <a:buSzPct val="75000"/>
            </a:pPr>
            <a:endParaRPr lang="en-US" altLang="zh-CN" sz="2000" dirty="0">
              <a:latin typeface="Times New Roman" panose="02020603050405020304" pitchFamily="18" charset="0"/>
              <a:cs typeface="Times New Roman" panose="02020603050405020304" pitchFamily="18" charset="0"/>
            </a:endParaRPr>
          </a:p>
        </p:txBody>
      </p:sp>
      <p:sp>
        <p:nvSpPr>
          <p:cNvPr id="10" name="矩形 8">
            <a:extLst>
              <a:ext uri="{FF2B5EF4-FFF2-40B4-BE49-F238E27FC236}">
                <a16:creationId xmlns:a16="http://schemas.microsoft.com/office/drawing/2014/main" id="{B50F3C67-F206-0644-9881-E95BE68F9B62}"/>
              </a:ext>
            </a:extLst>
          </p:cNvPr>
          <p:cNvSpPr/>
          <p:nvPr/>
        </p:nvSpPr>
        <p:spPr>
          <a:xfrm>
            <a:off x="704879" y="2383536"/>
            <a:ext cx="7870002" cy="520784"/>
          </a:xfrm>
          <a:prstGeom prst="rect">
            <a:avLst/>
          </a:prstGeom>
        </p:spPr>
        <p:txBody>
          <a:bodyPr wrap="square">
            <a:spAutoFit/>
          </a:bodyPr>
          <a:lstStyle/>
          <a:p>
            <a:pPr algn="ctr">
              <a:lnSpc>
                <a:spcPct val="125000"/>
              </a:lnSpc>
              <a:buClr>
                <a:schemeClr val="accent5"/>
              </a:buClr>
              <a:buSzPct val="75000"/>
            </a:pPr>
            <a:r>
              <a:rPr lang="en-US" altLang="zh-CN" sz="2400" b="1" dirty="0">
                <a:solidFill>
                  <a:schemeClr val="accent5"/>
                </a:solidFill>
                <a:cs typeface="Times New Roman" panose="02020603050405020304" pitchFamily="18" charset="0"/>
              </a:rPr>
              <a:t>Questions??</a:t>
            </a:r>
            <a:endParaRPr lang="en-US" altLang="zh-CN" sz="2400" b="1" dirty="0">
              <a:cs typeface="Times New Roman" panose="02020603050405020304" pitchFamily="18" charset="0"/>
            </a:endParaRPr>
          </a:p>
        </p:txBody>
      </p:sp>
      <p:sp>
        <p:nvSpPr>
          <p:cNvPr id="8" name="矩形 8">
            <a:extLst>
              <a:ext uri="{FF2B5EF4-FFF2-40B4-BE49-F238E27FC236}">
                <a16:creationId xmlns:a16="http://schemas.microsoft.com/office/drawing/2014/main" id="{64398696-03BA-0540-B525-6DD16F72E4B0}"/>
              </a:ext>
            </a:extLst>
          </p:cNvPr>
          <p:cNvSpPr/>
          <p:nvPr/>
        </p:nvSpPr>
        <p:spPr>
          <a:xfrm>
            <a:off x="114796" y="3320635"/>
            <a:ext cx="7209544" cy="520784"/>
          </a:xfrm>
          <a:prstGeom prst="rect">
            <a:avLst/>
          </a:prstGeom>
        </p:spPr>
        <p:txBody>
          <a:bodyPr wrap="square">
            <a:spAutoFit/>
          </a:bodyPr>
          <a:lstStyle/>
          <a:p>
            <a:pPr>
              <a:lnSpc>
                <a:spcPct val="125000"/>
              </a:lnSpc>
              <a:buClr>
                <a:schemeClr val="accent5"/>
              </a:buClr>
              <a:buSzPct val="75000"/>
            </a:pPr>
            <a:r>
              <a:rPr lang="en-US" altLang="zh-CN" b="1" dirty="0">
                <a:solidFill>
                  <a:schemeClr val="accent5"/>
                </a:solidFill>
                <a:cs typeface="Times New Roman" panose="02020603050405020304" pitchFamily="18" charset="0"/>
              </a:rPr>
              <a:t>			</a:t>
            </a:r>
            <a:r>
              <a:rPr lang="en-US" altLang="zh-CN" sz="2400" b="1" dirty="0" err="1">
                <a:solidFill>
                  <a:schemeClr val="accent5"/>
                </a:solidFill>
                <a:cs typeface="Times New Roman" panose="02020603050405020304" pitchFamily="18" charset="0"/>
              </a:rPr>
              <a:t>zubair.ahmad@giki.edu.pk</a:t>
            </a:r>
            <a:r>
              <a:rPr lang="en-US" altLang="zh-CN" sz="2400" b="1" dirty="0">
                <a:solidFill>
                  <a:schemeClr val="accent5"/>
                </a:solidFill>
                <a:cs typeface="Times New Roman" panose="02020603050405020304" pitchFamily="18" charset="0"/>
              </a:rPr>
              <a:t> </a:t>
            </a:r>
          </a:p>
        </p:txBody>
      </p:sp>
      <p:sp>
        <p:nvSpPr>
          <p:cNvPr id="3" name="TextBox 2">
            <a:extLst>
              <a:ext uri="{FF2B5EF4-FFF2-40B4-BE49-F238E27FC236}">
                <a16:creationId xmlns:a16="http://schemas.microsoft.com/office/drawing/2014/main" id="{68BE4CAA-2776-8148-9C8F-90037E259AAF}"/>
              </a:ext>
            </a:extLst>
          </p:cNvPr>
          <p:cNvSpPr txBox="1"/>
          <p:nvPr/>
        </p:nvSpPr>
        <p:spPr>
          <a:xfrm>
            <a:off x="2743200" y="4522362"/>
            <a:ext cx="3983277" cy="369332"/>
          </a:xfrm>
          <a:prstGeom prst="rect">
            <a:avLst/>
          </a:prstGeom>
          <a:noFill/>
        </p:spPr>
        <p:txBody>
          <a:bodyPr wrap="square" rtlCol="0">
            <a:spAutoFit/>
          </a:bodyPr>
          <a:lstStyle/>
          <a:p>
            <a:pPr algn="ctr"/>
            <a:r>
              <a:rPr lang="en-US" dirty="0"/>
              <a:t>Office: G14 FCSE lobby</a:t>
            </a:r>
          </a:p>
        </p:txBody>
      </p:sp>
    </p:spTree>
    <p:extLst>
      <p:ext uri="{BB962C8B-B14F-4D97-AF65-F5344CB8AC3E}">
        <p14:creationId xmlns:p14="http://schemas.microsoft.com/office/powerpoint/2010/main" val="1935760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3342364</TotalTime>
  <Words>2848</Words>
  <Application>Microsoft Macintosh PowerPoint</Application>
  <PresentationFormat>A4 Paper (210x297 mm)</PresentationFormat>
  <Paragraphs>479</Paragraphs>
  <Slides>43</Slides>
  <Notes>2</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43</vt:i4>
      </vt:variant>
    </vt:vector>
  </HeadingPairs>
  <TitlesOfParts>
    <vt:vector size="57" baseType="lpstr">
      <vt:lpstr>Adobe Gothic Std B</vt:lpstr>
      <vt:lpstr>AGaramondPro</vt:lpstr>
      <vt:lpstr>ArialMT</vt:lpstr>
      <vt:lpstr>等线</vt:lpstr>
      <vt:lpstr>等线</vt:lpstr>
      <vt:lpstr>等线 Light</vt:lpstr>
      <vt:lpstr>MyriadPro</vt:lpstr>
      <vt:lpstr>SimSun</vt:lpstr>
      <vt:lpstr>Arial</vt:lpstr>
      <vt:lpstr>Calibri</vt:lpstr>
      <vt:lpstr>Consolas</vt:lpstr>
      <vt:lpstr>Tahoma</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China</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Microsoft Office User</cp:lastModifiedBy>
  <cp:revision>781</cp:revision>
  <cp:lastPrinted>2025-01-23T10:52:12Z</cp:lastPrinted>
  <dcterms:created xsi:type="dcterms:W3CDTF">2018-07-17T04:46:00Z</dcterms:created>
  <dcterms:modified xsi:type="dcterms:W3CDTF">2026-02-24T08:49:37Z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2052-11.1.0.8567</vt:lpwstr>
  </property>
</Properties>
</file>