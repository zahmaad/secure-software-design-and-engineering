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80" r:id="rId2"/>
    <p:sldId id="566" r:id="rId3"/>
    <p:sldId id="567" r:id="rId4"/>
    <p:sldId id="568" r:id="rId5"/>
    <p:sldId id="569" r:id="rId6"/>
    <p:sldId id="570" r:id="rId7"/>
    <p:sldId id="571" r:id="rId8"/>
    <p:sldId id="572" r:id="rId9"/>
    <p:sldId id="595" r:id="rId10"/>
    <p:sldId id="594" r:id="rId11"/>
    <p:sldId id="573" r:id="rId12"/>
    <p:sldId id="574" r:id="rId13"/>
    <p:sldId id="575" r:id="rId14"/>
    <p:sldId id="576" r:id="rId15"/>
    <p:sldId id="577" r:id="rId16"/>
    <p:sldId id="578" r:id="rId17"/>
    <p:sldId id="579" r:id="rId18"/>
    <p:sldId id="580" r:id="rId19"/>
    <p:sldId id="581" r:id="rId20"/>
    <p:sldId id="582" r:id="rId21"/>
    <p:sldId id="583" r:id="rId22"/>
    <p:sldId id="584" r:id="rId23"/>
    <p:sldId id="585" r:id="rId24"/>
    <p:sldId id="586" r:id="rId25"/>
    <p:sldId id="587" r:id="rId26"/>
    <p:sldId id="588" r:id="rId27"/>
    <p:sldId id="589" r:id="rId28"/>
    <p:sldId id="590" r:id="rId29"/>
    <p:sldId id="591" r:id="rId30"/>
    <p:sldId id="592" r:id="rId31"/>
    <p:sldId id="593" r:id="rId32"/>
    <p:sldId id="372" r:id="rId33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566"/>
            <p14:sldId id="567"/>
            <p14:sldId id="568"/>
            <p14:sldId id="569"/>
            <p14:sldId id="570"/>
            <p14:sldId id="571"/>
            <p14:sldId id="572"/>
            <p14:sldId id="595"/>
            <p14:sldId id="594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854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2267361"/>
            <a:ext cx="9905999" cy="2087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marL="12066" marR="5080" algn="just">
              <a:lnSpc>
                <a:spcPct val="100000"/>
              </a:lnSpc>
              <a:spcBef>
                <a:spcPts val="100"/>
              </a:spcBef>
              <a:buNone/>
            </a:pPr>
            <a:endParaRPr lang="en-US" b="1" dirty="0">
              <a:solidFill>
                <a:schemeClr val="tx2"/>
              </a:solidFill>
              <a:latin typeface="Arial"/>
              <a:cs typeface="Arial"/>
            </a:endParaRPr>
          </a:p>
          <a:p>
            <a:pPr marL="12066" marR="5080" algn="just">
              <a:lnSpc>
                <a:spcPct val="100000"/>
              </a:lnSpc>
              <a:spcBef>
                <a:spcPts val="100"/>
              </a:spcBef>
              <a:buNone/>
            </a:pPr>
            <a:endParaRPr lang="en-US" b="1" dirty="0">
              <a:solidFill>
                <a:schemeClr val="tx2"/>
              </a:solidFill>
              <a:latin typeface="Arial"/>
              <a:cs typeface="Arial"/>
            </a:endParaRPr>
          </a:p>
          <a:p>
            <a:pPr marL="12066" marR="5080" algn="ctr">
              <a:lnSpc>
                <a:spcPct val="100000"/>
              </a:lnSpc>
              <a:spcBef>
                <a:spcPts val="100"/>
              </a:spcBef>
              <a:buNone/>
            </a:pPr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How</a:t>
            </a:r>
            <a:r>
              <a:rPr lang="en-US" b="1" spc="-229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05" dirty="0">
                <a:solidFill>
                  <a:schemeClr val="tx2"/>
                </a:solidFill>
                <a:latin typeface="Arial"/>
                <a:cs typeface="Arial"/>
              </a:rPr>
              <a:t>Does</a:t>
            </a:r>
            <a:r>
              <a:rPr lang="en-US" b="1" spc="-15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30" dirty="0">
                <a:solidFill>
                  <a:schemeClr val="tx2"/>
                </a:solidFill>
                <a:latin typeface="Arial"/>
                <a:cs typeface="Arial"/>
              </a:rPr>
              <a:t>Usable</a:t>
            </a:r>
            <a:r>
              <a:rPr lang="en-US" b="1" spc="-15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90" dirty="0">
                <a:solidFill>
                  <a:schemeClr val="tx2"/>
                </a:solidFill>
                <a:latin typeface="Arial"/>
                <a:cs typeface="Arial"/>
              </a:rPr>
              <a:t>Security</a:t>
            </a:r>
            <a:r>
              <a:rPr lang="en-US" b="1" spc="-9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0" dirty="0">
                <a:solidFill>
                  <a:schemeClr val="tx2"/>
                </a:solidFill>
                <a:latin typeface="Arial"/>
                <a:cs typeface="Arial"/>
              </a:rPr>
              <a:t>(Not) </a:t>
            </a:r>
            <a:r>
              <a:rPr lang="en-US" b="1" spc="-125" dirty="0">
                <a:solidFill>
                  <a:schemeClr val="tx2"/>
                </a:solidFill>
                <a:latin typeface="Arial"/>
                <a:cs typeface="Arial"/>
              </a:rPr>
              <a:t>End</a:t>
            </a:r>
            <a:r>
              <a:rPr lang="en-US" b="1" spc="-1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Up</a:t>
            </a:r>
            <a:r>
              <a:rPr lang="en-US" b="1" spc="-1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14" dirty="0">
                <a:solidFill>
                  <a:schemeClr val="tx2"/>
                </a:solidFill>
                <a:latin typeface="Arial"/>
                <a:cs typeface="Arial"/>
              </a:rPr>
              <a:t>in</a:t>
            </a:r>
            <a:r>
              <a:rPr lang="en-US" b="1" spc="-1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25" dirty="0">
                <a:solidFill>
                  <a:schemeClr val="tx2"/>
                </a:solidFill>
                <a:latin typeface="Arial"/>
                <a:cs typeface="Arial"/>
              </a:rPr>
              <a:t>Software</a:t>
            </a:r>
            <a:r>
              <a:rPr lang="en-US" b="1" spc="-1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110" dirty="0">
                <a:solidFill>
                  <a:schemeClr val="tx2"/>
                </a:solidFill>
                <a:latin typeface="Arial"/>
                <a:cs typeface="Arial"/>
              </a:rPr>
              <a:t>Products?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629421" y="1177267"/>
            <a:ext cx="48579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624336-B81F-C249-93C5-1E0914BEF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6BBECEC-B648-E146-BBB8-24FAC9E07B4C}"/>
              </a:ext>
            </a:extLst>
          </p:cNvPr>
          <p:cNvSpPr txBox="1">
            <a:spLocks/>
          </p:cNvSpPr>
          <p:nvPr/>
        </p:nvSpPr>
        <p:spPr>
          <a:xfrm>
            <a:off x="250049" y="264997"/>
            <a:ext cx="8643900" cy="635000"/>
          </a:xfrm>
          <a:prstGeom prst="rect">
            <a:avLst/>
          </a:prstGeom>
        </p:spPr>
        <p:txBody>
          <a:bodyPr vert="horz" wrap="square" lIns="0" tIns="78676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55" dirty="0"/>
              <a:t>Motivation</a:t>
            </a:r>
            <a:r>
              <a:rPr lang="en-US" sz="3200" dirty="0"/>
              <a:t> –</a:t>
            </a:r>
            <a:r>
              <a:rPr lang="en-US" sz="3200" spc="5" dirty="0"/>
              <a:t> </a:t>
            </a:r>
            <a:r>
              <a:rPr lang="en-US" sz="3200" dirty="0"/>
              <a:t>Cryptography is</a:t>
            </a:r>
            <a:r>
              <a:rPr lang="en-US" sz="3200" spc="5" dirty="0"/>
              <a:t> </a:t>
            </a:r>
            <a:r>
              <a:rPr lang="en-US" sz="3200" dirty="0"/>
              <a:t>Hard</a:t>
            </a:r>
            <a:r>
              <a:rPr lang="en-US" sz="3200" spc="5" dirty="0"/>
              <a:t> </a:t>
            </a:r>
            <a:r>
              <a:rPr lang="en-US" sz="3200" spc="145" dirty="0"/>
              <a:t>to</a:t>
            </a:r>
            <a:r>
              <a:rPr lang="en-US" sz="3200" dirty="0"/>
              <a:t> </a:t>
            </a:r>
            <a:r>
              <a:rPr lang="en-US" sz="3200" spc="-25" dirty="0"/>
              <a:t>Use</a:t>
            </a:r>
            <a:endParaRPr lang="en-US" sz="3200" dirty="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AA922FAB-5EDA-F042-8983-10A7AF8444DC}"/>
              </a:ext>
            </a:extLst>
          </p:cNvPr>
          <p:cNvSpPr txBox="1"/>
          <p:nvPr/>
        </p:nvSpPr>
        <p:spPr>
          <a:xfrm>
            <a:off x="530225" y="1110117"/>
            <a:ext cx="5631180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20</a:t>
            </a:r>
            <a:r>
              <a:rPr sz="2400" spc="-10" dirty="0">
                <a:latin typeface="Arial MT"/>
                <a:cs typeface="Arial MT"/>
              </a:rPr>
              <a:t> years: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865"/>
              </a:lnSpc>
            </a:pPr>
            <a:r>
              <a:rPr sz="2400" spc="-20" dirty="0">
                <a:latin typeface="Arial MT"/>
                <a:cs typeface="Arial MT"/>
              </a:rPr>
              <a:t>Usable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 </a:t>
            </a:r>
            <a:r>
              <a:rPr sz="2400" spc="-145" dirty="0">
                <a:latin typeface="Arial MT"/>
                <a:cs typeface="Arial MT"/>
              </a:rPr>
              <a:t>PGP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[1]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7BE282C9-5C16-504D-BE31-E3B7EA8E291C}"/>
              </a:ext>
            </a:extLst>
          </p:cNvPr>
          <p:cNvSpPr txBox="1"/>
          <p:nvPr/>
        </p:nvSpPr>
        <p:spPr>
          <a:xfrm>
            <a:off x="530225" y="2342764"/>
            <a:ext cx="4152900" cy="75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spc="55" dirty="0">
                <a:latin typeface="Arial MT"/>
                <a:cs typeface="Arial MT"/>
              </a:rPr>
              <a:t>And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today?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865"/>
              </a:lnSpc>
            </a:pP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0.06%</a:t>
            </a:r>
            <a:r>
              <a:rPr sz="2400" spc="-3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encrypted</a:t>
            </a:r>
            <a:r>
              <a:rPr sz="2400" spc="-3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emails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[2]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B7B7E87D-8255-D64F-9E97-37CE2A069ACE}"/>
              </a:ext>
            </a:extLst>
          </p:cNvPr>
          <p:cNvSpPr txBox="1"/>
          <p:nvPr/>
        </p:nvSpPr>
        <p:spPr>
          <a:xfrm>
            <a:off x="530225" y="3733414"/>
            <a:ext cx="40443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→</a:t>
            </a:r>
            <a:r>
              <a:rPr sz="2400" spc="-1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Hard</a:t>
            </a:r>
            <a:r>
              <a:rPr sz="2400" spc="-1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110" dirty="0">
                <a:solidFill>
                  <a:srgbClr val="801620"/>
                </a:solidFill>
                <a:latin typeface="Arial MT"/>
                <a:cs typeface="Arial MT"/>
              </a:rPr>
              <a:t>to</a:t>
            </a:r>
            <a:r>
              <a:rPr sz="2400" spc="-1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use,</a:t>
            </a:r>
            <a:r>
              <a:rPr sz="2400" spc="-1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low</a:t>
            </a:r>
            <a:r>
              <a:rPr sz="2400" spc="-1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40" dirty="0">
                <a:solidFill>
                  <a:srgbClr val="801620"/>
                </a:solidFill>
                <a:latin typeface="Arial MT"/>
                <a:cs typeface="Arial MT"/>
              </a:rPr>
              <a:t>adoption!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C4285D9F-12D5-714B-8F52-59C340E15743}"/>
              </a:ext>
            </a:extLst>
          </p:cNvPr>
          <p:cNvSpPr txBox="1"/>
          <p:nvPr/>
        </p:nvSpPr>
        <p:spPr>
          <a:xfrm>
            <a:off x="250049" y="5455361"/>
            <a:ext cx="82651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0495" indent="-137795">
              <a:lnSpc>
                <a:spcPct val="100000"/>
              </a:lnSpc>
              <a:spcBef>
                <a:spcPts val="100"/>
              </a:spcBef>
              <a:buAutoNum type="arabicPlain"/>
              <a:tabLst>
                <a:tab pos="150495" algn="l"/>
              </a:tabLst>
            </a:pP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Whitten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J.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D.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666666"/>
                </a:solidFill>
                <a:latin typeface="Arial MT"/>
                <a:cs typeface="Arial MT"/>
              </a:rPr>
              <a:t>Tygar,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“Why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Johnny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Can’t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Encrypt: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Usability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Evaluation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65" dirty="0">
                <a:solidFill>
                  <a:srgbClr val="666666"/>
                </a:solidFill>
                <a:latin typeface="Arial MT"/>
                <a:cs typeface="Arial MT"/>
              </a:rPr>
              <a:t>PGP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5.0,”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in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Proceedings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the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8th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666666"/>
                </a:solidFill>
                <a:latin typeface="Arial MT"/>
                <a:cs typeface="Arial MT"/>
              </a:rPr>
              <a:t>USENIX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Security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Symposium,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Washington,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D.C.,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1999.</a:t>
            </a:r>
            <a:endParaRPr sz="800" dirty="0">
              <a:latin typeface="Arial MT"/>
              <a:cs typeface="Arial MT"/>
            </a:endParaRPr>
          </a:p>
          <a:p>
            <a:pPr marL="12700" marR="5080" indent="137795">
              <a:lnSpc>
                <a:spcPct val="100000"/>
              </a:lnSpc>
              <a:buAutoNum type="arabicPlain"/>
              <a:tabLst>
                <a:tab pos="150495" algn="l"/>
              </a:tabLst>
            </a:pP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C.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666666"/>
                </a:solidFill>
                <a:latin typeface="Arial MT"/>
                <a:cs typeface="Arial MT"/>
              </a:rPr>
              <a:t>Stransky,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Wiese,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85" dirty="0">
                <a:solidFill>
                  <a:srgbClr val="666666"/>
                </a:solidFill>
                <a:latin typeface="Arial MT"/>
                <a:cs typeface="Arial MT"/>
              </a:rPr>
              <a:t>V.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Roth,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85" dirty="0">
                <a:solidFill>
                  <a:srgbClr val="666666"/>
                </a:solidFill>
                <a:latin typeface="Arial MT"/>
                <a:cs typeface="Arial MT"/>
              </a:rPr>
              <a:t>Y.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Acar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666666"/>
                </a:solidFill>
                <a:latin typeface="Arial MT"/>
                <a:cs typeface="Arial MT"/>
              </a:rPr>
              <a:t>S.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Fahl,</a:t>
            </a:r>
            <a:r>
              <a:rPr sz="800" spc="254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“27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60" dirty="0">
                <a:solidFill>
                  <a:srgbClr val="666666"/>
                </a:solidFill>
                <a:latin typeface="Arial MT"/>
                <a:cs typeface="Arial MT"/>
              </a:rPr>
              <a:t>Years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81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Million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Opportunities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Later: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Investigating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the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30" dirty="0">
                <a:solidFill>
                  <a:srgbClr val="666666"/>
                </a:solidFill>
                <a:latin typeface="Arial MT"/>
                <a:cs typeface="Arial MT"/>
              </a:rPr>
              <a:t>Use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Email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Encryption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for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Entire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University,”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in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Proceedings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of</a:t>
            </a:r>
            <a:r>
              <a:rPr sz="800" spc="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the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43rd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60" dirty="0">
                <a:solidFill>
                  <a:srgbClr val="666666"/>
                </a:solidFill>
                <a:latin typeface="Arial MT"/>
                <a:cs typeface="Arial MT"/>
              </a:rPr>
              <a:t>IEEE</a:t>
            </a:r>
            <a:r>
              <a:rPr sz="800" spc="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Symposium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on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Security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800" spc="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66666"/>
                </a:solidFill>
                <a:latin typeface="Arial MT"/>
                <a:cs typeface="Arial MT"/>
              </a:rPr>
              <a:t>Privacy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35" dirty="0">
                <a:solidFill>
                  <a:srgbClr val="666666"/>
                </a:solidFill>
                <a:latin typeface="Arial MT"/>
                <a:cs typeface="Arial MT"/>
              </a:rPr>
              <a:t>(SP’22),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666666"/>
                </a:solidFill>
                <a:latin typeface="Arial MT"/>
                <a:cs typeface="Arial MT"/>
              </a:rPr>
              <a:t>San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666666"/>
                </a:solidFill>
                <a:latin typeface="Arial MT"/>
                <a:cs typeface="Arial MT"/>
              </a:rPr>
              <a:t>Francisco,</a:t>
            </a:r>
            <a:r>
              <a:rPr sz="800" spc="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CA,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666666"/>
                </a:solidFill>
                <a:latin typeface="Arial MT"/>
                <a:cs typeface="Arial MT"/>
              </a:rPr>
              <a:t>US,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2022.</a:t>
            </a:r>
            <a:endParaRPr sz="800" dirty="0">
              <a:latin typeface="Arial MT"/>
              <a:cs typeface="Arial MT"/>
            </a:endParaRPr>
          </a:p>
        </p:txBody>
      </p:sp>
      <p:pic>
        <p:nvPicPr>
          <p:cNvPr id="8" name="object 7">
            <a:extLst>
              <a:ext uri="{FF2B5EF4-FFF2-40B4-BE49-F238E27FC236}">
                <a16:creationId xmlns:a16="http://schemas.microsoft.com/office/drawing/2014/main" id="{63A5FDF6-291F-BD49-8F0B-C96E9587D28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3005" y="1863227"/>
            <a:ext cx="3644967" cy="1030587"/>
          </a:xfrm>
          <a:prstGeom prst="rect">
            <a:avLst/>
          </a:prstGeom>
        </p:spPr>
      </p:pic>
      <p:sp>
        <p:nvSpPr>
          <p:cNvPr id="9" name="object 8">
            <a:extLst>
              <a:ext uri="{FF2B5EF4-FFF2-40B4-BE49-F238E27FC236}">
                <a16:creationId xmlns:a16="http://schemas.microsoft.com/office/drawing/2014/main" id="{0BBDF497-56B1-5E4C-92E4-E0DF1F22194E}"/>
              </a:ext>
            </a:extLst>
          </p:cNvPr>
          <p:cNvSpPr txBox="1"/>
          <p:nvPr/>
        </p:nvSpPr>
        <p:spPr>
          <a:xfrm>
            <a:off x="7455489" y="2874185"/>
            <a:ext cx="136017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666666"/>
                </a:solidFill>
                <a:latin typeface="Arial MT"/>
                <a:cs typeface="Arial MT"/>
              </a:rPr>
              <a:t>Source: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Whitten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800" spc="1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666666"/>
                </a:solidFill>
                <a:latin typeface="Arial MT"/>
                <a:cs typeface="Arial MT"/>
              </a:rPr>
              <a:t>Tygar</a:t>
            </a:r>
            <a:r>
              <a:rPr sz="800" spc="2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666666"/>
                </a:solidFill>
                <a:latin typeface="Arial MT"/>
                <a:cs typeface="Arial MT"/>
              </a:rPr>
              <a:t>[1]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F23940D1-6641-004B-9EB5-CB15C4B2F4A8}"/>
              </a:ext>
            </a:extLst>
          </p:cNvPr>
          <p:cNvSpPr txBox="1"/>
          <p:nvPr/>
        </p:nvSpPr>
        <p:spPr>
          <a:xfrm>
            <a:off x="8858704" y="4776644"/>
            <a:ext cx="132080" cy="2489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400" spc="-50" dirty="0">
                <a:solidFill>
                  <a:srgbClr val="888888"/>
                </a:solidFill>
                <a:latin typeface="Courier New"/>
                <a:cs typeface="Courier New"/>
              </a:rPr>
              <a:t>2</a:t>
            </a:r>
            <a:endParaRPr sz="1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003581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7B9B9E-F99E-E743-87E0-16D68BE8F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653074BD-ACF5-6B46-84FF-C8B2AC2957A8}"/>
              </a:ext>
            </a:extLst>
          </p:cNvPr>
          <p:cNvSpPr txBox="1">
            <a:spLocks/>
          </p:cNvSpPr>
          <p:nvPr/>
        </p:nvSpPr>
        <p:spPr>
          <a:xfrm>
            <a:off x="272352" y="386091"/>
            <a:ext cx="8643900" cy="635000"/>
          </a:xfrm>
          <a:prstGeom prst="rect">
            <a:avLst/>
          </a:prstGeom>
        </p:spPr>
        <p:txBody>
          <a:bodyPr vert="horz" wrap="square" lIns="0" tIns="78676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200" spc="55"/>
              <a:t>Motivation</a:t>
            </a:r>
            <a:r>
              <a:rPr lang="en-US" sz="3200"/>
              <a:t> – </a:t>
            </a:r>
            <a:r>
              <a:rPr lang="en-US" sz="3200" spc="-100"/>
              <a:t>Passwords</a:t>
            </a:r>
            <a:r>
              <a:rPr lang="en-US" sz="3200" spc="5"/>
              <a:t> </a:t>
            </a:r>
            <a:r>
              <a:rPr lang="en-US" sz="3200"/>
              <a:t>and their </a:t>
            </a:r>
            <a:r>
              <a:rPr lang="en-US" sz="3200" spc="-10"/>
              <a:t>Challenges</a:t>
            </a:r>
            <a:endParaRPr lang="en-US" sz="32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44CADBD2-4D02-C14B-988C-87F1CB624EC3}"/>
              </a:ext>
            </a:extLst>
          </p:cNvPr>
          <p:cNvSpPr txBox="1"/>
          <p:nvPr/>
        </p:nvSpPr>
        <p:spPr>
          <a:xfrm>
            <a:off x="552528" y="1219894"/>
            <a:ext cx="7703184" cy="271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One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60" dirty="0">
                <a:latin typeface="Arial MT"/>
                <a:cs typeface="Arial MT"/>
              </a:rPr>
              <a:t>of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oldest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usable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fields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problems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[3]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400" dirty="0">
              <a:latin typeface="Arial MT"/>
              <a:cs typeface="Arial MT"/>
            </a:endParaRPr>
          </a:p>
          <a:p>
            <a:pPr marL="469265" indent="-335280">
              <a:lnSpc>
                <a:spcPts val="2865"/>
              </a:lnSpc>
              <a:buChar char="•"/>
              <a:tabLst>
                <a:tab pos="469265" algn="l"/>
              </a:tabLst>
            </a:pPr>
            <a:r>
              <a:rPr sz="2400" spc="-60" dirty="0">
                <a:latin typeface="Arial MT"/>
                <a:cs typeface="Arial MT"/>
              </a:rPr>
              <a:t>Password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55" dirty="0">
                <a:latin typeface="Arial MT"/>
                <a:cs typeface="Arial MT"/>
              </a:rPr>
              <a:t>re-</a:t>
            </a:r>
            <a:r>
              <a:rPr sz="2400" spc="-25" dirty="0">
                <a:latin typeface="Arial MT"/>
                <a:cs typeface="Arial MT"/>
              </a:rPr>
              <a:t>use</a:t>
            </a:r>
            <a:endParaRPr sz="2400" dirty="0">
              <a:latin typeface="Arial MT"/>
              <a:cs typeface="Arial MT"/>
            </a:endParaRPr>
          </a:p>
          <a:p>
            <a:pPr marL="469265" indent="-335280">
              <a:lnSpc>
                <a:spcPts val="2850"/>
              </a:lnSpc>
              <a:buChar char="•"/>
              <a:tabLst>
                <a:tab pos="469265" algn="l"/>
              </a:tabLst>
            </a:pPr>
            <a:r>
              <a:rPr sz="2400" dirty="0">
                <a:latin typeface="Arial MT"/>
                <a:cs typeface="Arial MT"/>
              </a:rPr>
              <a:t>Written</a:t>
            </a:r>
            <a:r>
              <a:rPr sz="2400" spc="2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post-</a:t>
            </a:r>
            <a:r>
              <a:rPr sz="2400" spc="-25" dirty="0">
                <a:latin typeface="Arial MT"/>
                <a:cs typeface="Arial MT"/>
              </a:rPr>
              <a:t>its</a:t>
            </a:r>
            <a:endParaRPr sz="2400" dirty="0">
              <a:latin typeface="Arial MT"/>
              <a:cs typeface="Arial MT"/>
            </a:endParaRPr>
          </a:p>
          <a:p>
            <a:pPr marL="469265" indent="-335280">
              <a:lnSpc>
                <a:spcPts val="2850"/>
              </a:lnSpc>
              <a:buChar char="•"/>
              <a:tabLst>
                <a:tab pos="469265" algn="l"/>
              </a:tabLst>
            </a:pPr>
            <a:r>
              <a:rPr sz="2400" spc="-20" dirty="0">
                <a:latin typeface="Arial MT"/>
                <a:cs typeface="Arial MT"/>
              </a:rPr>
              <a:t>Too</a:t>
            </a:r>
            <a:r>
              <a:rPr sz="2400" spc="-1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short</a:t>
            </a:r>
            <a:endParaRPr sz="2400" dirty="0">
              <a:latin typeface="Arial MT"/>
              <a:cs typeface="Arial MT"/>
            </a:endParaRPr>
          </a:p>
          <a:p>
            <a:pPr marL="469265" indent="-335280">
              <a:lnSpc>
                <a:spcPts val="2850"/>
              </a:lnSpc>
              <a:buChar char="•"/>
              <a:tabLst>
                <a:tab pos="469265" algn="l"/>
              </a:tabLst>
            </a:pPr>
            <a:r>
              <a:rPr sz="2400" spc="-65" dirty="0">
                <a:latin typeface="Arial MT"/>
                <a:cs typeface="Arial MT"/>
              </a:rPr>
              <a:t>Easily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guessable</a:t>
            </a:r>
            <a:endParaRPr sz="2400" dirty="0">
              <a:latin typeface="Arial MT"/>
              <a:cs typeface="Arial MT"/>
            </a:endParaRPr>
          </a:p>
          <a:p>
            <a:pPr marL="469265" indent="-335280">
              <a:lnSpc>
                <a:spcPts val="2865"/>
              </a:lnSpc>
              <a:buChar char="•"/>
              <a:tabLst>
                <a:tab pos="469265" algn="l"/>
              </a:tabLst>
            </a:pPr>
            <a:r>
              <a:rPr sz="2400" spc="-50" dirty="0">
                <a:latin typeface="Arial MT"/>
                <a:cs typeface="Arial MT"/>
              </a:rPr>
              <a:t>…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BD86507-4070-0B48-AC1F-354031F0C8F2}"/>
              </a:ext>
            </a:extLst>
          </p:cNvPr>
          <p:cNvSpPr txBox="1"/>
          <p:nvPr/>
        </p:nvSpPr>
        <p:spPr>
          <a:xfrm>
            <a:off x="272352" y="4646643"/>
            <a:ext cx="5213985" cy="499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>
              <a:lnSpc>
                <a:spcPts val="2825"/>
              </a:lnSpc>
              <a:spcBef>
                <a:spcPts val="100"/>
              </a:spcBef>
            </a:pP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→</a:t>
            </a:r>
            <a:r>
              <a:rPr sz="24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Human factors</a:t>
            </a:r>
            <a:r>
              <a:rPr sz="24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impact </a:t>
            </a: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security.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ts val="905"/>
              </a:lnSpc>
            </a:pP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[3]</a:t>
            </a:r>
            <a:r>
              <a:rPr sz="800" spc="5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Adams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and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M.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45" dirty="0">
                <a:solidFill>
                  <a:srgbClr val="666666"/>
                </a:solidFill>
                <a:latin typeface="Arial MT"/>
                <a:cs typeface="Arial MT"/>
              </a:rPr>
              <a:t>Sasse,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“Users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Are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Not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the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Enemy,”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Commun.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ACM,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vol.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42,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no.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12,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Art.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no.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12,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666666"/>
                </a:solidFill>
                <a:latin typeface="Arial MT"/>
                <a:cs typeface="Arial MT"/>
              </a:rPr>
              <a:t>Dec.</a:t>
            </a:r>
            <a:r>
              <a:rPr sz="800" spc="10" dirty="0">
                <a:solidFill>
                  <a:srgbClr val="666666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666666"/>
                </a:solidFill>
                <a:latin typeface="Arial MT"/>
                <a:cs typeface="Arial MT"/>
              </a:rPr>
              <a:t>1999.</a:t>
            </a:r>
            <a:endParaRPr sz="800" dirty="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FA6B0D12-CE59-2849-9517-B1C28B34EF6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29152" y="2236028"/>
            <a:ext cx="1579973" cy="157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10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8370E7-F9B0-F746-999A-4DCC38936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C59841DA-E7D9-6945-A42B-3CF15BD91FBF}"/>
              </a:ext>
            </a:extLst>
          </p:cNvPr>
          <p:cNvSpPr txBox="1"/>
          <p:nvPr/>
        </p:nvSpPr>
        <p:spPr>
          <a:xfrm>
            <a:off x="930478" y="2653609"/>
            <a:ext cx="7552055" cy="185673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065" marR="5080" algn="ctr">
              <a:lnSpc>
                <a:spcPts val="4800"/>
              </a:lnSpc>
              <a:spcBef>
                <a:spcPts val="215"/>
              </a:spcBef>
            </a:pPr>
            <a:r>
              <a:rPr sz="4000" spc="-175" dirty="0">
                <a:solidFill>
                  <a:srgbClr val="801620"/>
                </a:solidFill>
                <a:latin typeface="Arial MT"/>
                <a:cs typeface="Arial MT"/>
              </a:rPr>
              <a:t>To</a:t>
            </a:r>
            <a:r>
              <a:rPr sz="4000" spc="-8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801620"/>
                </a:solidFill>
                <a:latin typeface="Arial MT"/>
                <a:cs typeface="Arial MT"/>
              </a:rPr>
              <a:t>achieve</a:t>
            </a:r>
            <a:r>
              <a:rPr sz="4000" spc="-8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801620"/>
                </a:solidFill>
                <a:latin typeface="Arial MT"/>
                <a:cs typeface="Arial MT"/>
              </a:rPr>
              <a:t>effective</a:t>
            </a:r>
            <a:r>
              <a:rPr sz="4000" spc="-8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801620"/>
                </a:solidFill>
                <a:latin typeface="Arial MT"/>
                <a:cs typeface="Arial MT"/>
              </a:rPr>
              <a:t>security, </a:t>
            </a:r>
            <a:r>
              <a:rPr sz="4000" dirty="0">
                <a:solidFill>
                  <a:srgbClr val="801620"/>
                </a:solidFill>
                <a:latin typeface="Arial MT"/>
                <a:cs typeface="Arial MT"/>
              </a:rPr>
              <a:t>security</a:t>
            </a:r>
            <a:r>
              <a:rPr sz="4000" spc="-6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spc="-10" dirty="0">
                <a:solidFill>
                  <a:srgbClr val="801620"/>
                </a:solidFill>
                <a:latin typeface="Arial MT"/>
                <a:cs typeface="Arial MT"/>
              </a:rPr>
              <a:t>features</a:t>
            </a:r>
            <a:r>
              <a:rPr sz="4000" spc="-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dirty="0">
                <a:solidFill>
                  <a:srgbClr val="801620"/>
                </a:solidFill>
                <a:latin typeface="Arial MT"/>
                <a:cs typeface="Arial MT"/>
              </a:rPr>
              <a:t>need</a:t>
            </a:r>
            <a:r>
              <a:rPr sz="4000" spc="-6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spc="165" dirty="0">
                <a:solidFill>
                  <a:srgbClr val="801620"/>
                </a:solidFill>
                <a:latin typeface="Arial MT"/>
                <a:cs typeface="Arial MT"/>
              </a:rPr>
              <a:t>to</a:t>
            </a:r>
            <a:r>
              <a:rPr sz="4000" spc="-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spc="85" dirty="0">
                <a:solidFill>
                  <a:srgbClr val="801620"/>
                </a:solidFill>
                <a:latin typeface="Arial MT"/>
                <a:cs typeface="Arial MT"/>
              </a:rPr>
              <a:t>be</a:t>
            </a:r>
            <a:r>
              <a:rPr sz="4000" spc="-6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4000" spc="110" dirty="0">
                <a:solidFill>
                  <a:srgbClr val="801620"/>
                </a:solidFill>
                <a:latin typeface="Arial MT"/>
                <a:cs typeface="Arial MT"/>
              </a:rPr>
              <a:t>both </a:t>
            </a:r>
            <a:r>
              <a:rPr sz="4050" i="1" spc="-25" dirty="0">
                <a:solidFill>
                  <a:srgbClr val="801620"/>
                </a:solidFill>
                <a:latin typeface="Arial"/>
                <a:cs typeface="Arial"/>
              </a:rPr>
              <a:t>usable</a:t>
            </a:r>
            <a:r>
              <a:rPr sz="4050" i="1" spc="-15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4050" i="1" dirty="0">
                <a:solidFill>
                  <a:srgbClr val="801620"/>
                </a:solidFill>
                <a:latin typeface="Arial"/>
                <a:cs typeface="Arial"/>
              </a:rPr>
              <a:t>and</a:t>
            </a:r>
            <a:r>
              <a:rPr sz="4050" i="1" spc="-15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4050" i="1" spc="-10" dirty="0">
                <a:solidFill>
                  <a:srgbClr val="801620"/>
                </a:solidFill>
                <a:latin typeface="Arial"/>
                <a:cs typeface="Arial"/>
              </a:rPr>
              <a:t>secure.</a:t>
            </a:r>
            <a:endParaRPr sz="4050" dirty="0">
              <a:latin typeface="Arial"/>
              <a:cs typeface="Arial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B3FB38A-1EDC-8542-9954-3EF73C0AD5C2}"/>
              </a:ext>
            </a:extLst>
          </p:cNvPr>
          <p:cNvSpPr txBox="1">
            <a:spLocks/>
          </p:cNvSpPr>
          <p:nvPr/>
        </p:nvSpPr>
        <p:spPr>
          <a:xfrm>
            <a:off x="272673" y="409790"/>
            <a:ext cx="443314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-40" dirty="0">
                <a:solidFill>
                  <a:srgbClr val="888888"/>
                </a:solidFill>
              </a:rPr>
              <a:t>Previous</a:t>
            </a:r>
            <a:r>
              <a:rPr lang="en-US" sz="2800" spc="-100" dirty="0">
                <a:solidFill>
                  <a:srgbClr val="888888"/>
                </a:solidFill>
              </a:rPr>
              <a:t> </a:t>
            </a:r>
            <a:r>
              <a:rPr lang="en-US" sz="2800" spc="-40" dirty="0">
                <a:solidFill>
                  <a:srgbClr val="888888"/>
                </a:solidFill>
              </a:rPr>
              <a:t>research</a:t>
            </a:r>
            <a:r>
              <a:rPr lang="en-US" sz="2800" spc="-95" dirty="0">
                <a:solidFill>
                  <a:srgbClr val="888888"/>
                </a:solidFill>
              </a:rPr>
              <a:t> </a:t>
            </a:r>
            <a:r>
              <a:rPr lang="en-US" sz="2800" spc="-10" dirty="0">
                <a:solidFill>
                  <a:srgbClr val="888888"/>
                </a:solidFill>
              </a:rPr>
              <a:t>showed…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4117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D52D4-C84B-064E-911F-795BFEC1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629AAFE5-EBB2-E74A-A71A-AE13A15DE75B}"/>
              </a:ext>
            </a:extLst>
          </p:cNvPr>
          <p:cNvSpPr txBox="1">
            <a:spLocks/>
          </p:cNvSpPr>
          <p:nvPr/>
        </p:nvSpPr>
        <p:spPr>
          <a:xfrm>
            <a:off x="205444" y="341486"/>
            <a:ext cx="8643900" cy="635000"/>
          </a:xfrm>
          <a:prstGeom prst="rect">
            <a:avLst/>
          </a:prstGeom>
        </p:spPr>
        <p:txBody>
          <a:bodyPr vert="horz" wrap="square" lIns="0" tIns="93979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000" spc="-60"/>
              <a:t>Lack</a:t>
            </a:r>
            <a:r>
              <a:rPr lang="en-US" sz="3000" spc="-25"/>
              <a:t> </a:t>
            </a:r>
            <a:r>
              <a:rPr lang="en-US" sz="3000" spc="75"/>
              <a:t>of</a:t>
            </a:r>
            <a:r>
              <a:rPr lang="en-US" sz="3000" spc="-20"/>
              <a:t> Usable Security </a:t>
            </a:r>
            <a:r>
              <a:rPr lang="en-US" sz="3000"/>
              <a:t>Knowledge</a:t>
            </a:r>
            <a:r>
              <a:rPr lang="en-US" sz="3000" spc="-20"/>
              <a:t> </a:t>
            </a:r>
            <a:r>
              <a:rPr lang="en-US" sz="3000"/>
              <a:t>in</a:t>
            </a:r>
            <a:r>
              <a:rPr lang="en-US" sz="3000" spc="-20"/>
              <a:t> </a:t>
            </a:r>
            <a:r>
              <a:rPr lang="en-US" sz="3000" spc="-10"/>
              <a:t>Industry</a:t>
            </a:r>
            <a:endParaRPr lang="en-US" sz="300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D61754-C32A-2649-B2E9-9F7741E4FE5D}"/>
              </a:ext>
            </a:extLst>
          </p:cNvPr>
          <p:cNvSpPr txBox="1"/>
          <p:nvPr/>
        </p:nvSpPr>
        <p:spPr>
          <a:xfrm>
            <a:off x="485620" y="1173107"/>
            <a:ext cx="7183120" cy="3633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latin typeface="Arial MT"/>
                <a:cs typeface="Arial MT"/>
              </a:rPr>
              <a:t>Lots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70" dirty="0">
                <a:latin typeface="Arial MT"/>
                <a:cs typeface="Arial MT"/>
              </a:rPr>
              <a:t>of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50" dirty="0">
                <a:latin typeface="Arial MT"/>
                <a:cs typeface="Arial MT"/>
              </a:rPr>
              <a:t>research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usable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security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55"/>
              </a:spcBef>
            </a:pPr>
            <a:endParaRPr sz="2800" dirty="0">
              <a:latin typeface="Arial MT"/>
              <a:cs typeface="Arial MT"/>
            </a:endParaRPr>
          </a:p>
          <a:p>
            <a:pPr marL="12700" marR="107950">
              <a:lnSpc>
                <a:spcPct val="100400"/>
              </a:lnSpc>
            </a:pPr>
            <a:r>
              <a:rPr sz="2800" dirty="0">
                <a:latin typeface="Arial MT"/>
                <a:cs typeface="Arial MT"/>
              </a:rPr>
              <a:t>Many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insights,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especially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end-</a:t>
            </a:r>
            <a:r>
              <a:rPr sz="2800" dirty="0">
                <a:latin typeface="Arial MT"/>
                <a:cs typeface="Arial MT"/>
              </a:rPr>
              <a:t>user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usable security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55"/>
              </a:spcBef>
            </a:pPr>
            <a:endParaRPr sz="2800" dirty="0">
              <a:latin typeface="Arial MT"/>
              <a:cs typeface="Arial MT"/>
            </a:endParaRPr>
          </a:p>
          <a:p>
            <a:pPr marL="12700" marR="5080">
              <a:lnSpc>
                <a:spcPct val="100400"/>
              </a:lnSpc>
            </a:pPr>
            <a:r>
              <a:rPr sz="2800" dirty="0">
                <a:solidFill>
                  <a:srgbClr val="801620"/>
                </a:solidFill>
                <a:latin typeface="Arial MT"/>
                <a:cs typeface="Arial MT"/>
              </a:rPr>
              <a:t>→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1620"/>
                </a:solidFill>
                <a:latin typeface="Arial MT"/>
                <a:cs typeface="Arial MT"/>
              </a:rPr>
              <a:t>But: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1620"/>
                </a:solidFill>
                <a:latin typeface="Arial MT"/>
                <a:cs typeface="Arial MT"/>
              </a:rPr>
              <a:t>software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1620"/>
                </a:solidFill>
                <a:latin typeface="Arial MT"/>
                <a:cs typeface="Arial MT"/>
              </a:rPr>
              <a:t>still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1620"/>
                </a:solidFill>
                <a:latin typeface="Arial MT"/>
                <a:cs typeface="Arial MT"/>
              </a:rPr>
              <a:t>often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spc="-90" dirty="0">
                <a:solidFill>
                  <a:srgbClr val="801620"/>
                </a:solidFill>
                <a:latin typeface="Arial MT"/>
                <a:cs typeface="Arial MT"/>
              </a:rPr>
              <a:t>has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801620"/>
                </a:solidFill>
                <a:latin typeface="Arial MT"/>
                <a:cs typeface="Arial MT"/>
              </a:rPr>
              <a:t>usable</a:t>
            </a:r>
            <a:r>
              <a:rPr sz="2800" spc="-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801620"/>
                </a:solidFill>
                <a:latin typeface="Arial MT"/>
                <a:cs typeface="Arial MT"/>
              </a:rPr>
              <a:t>security issues!</a:t>
            </a:r>
            <a:endParaRPr sz="2800" dirty="0">
              <a:latin typeface="Arial MT"/>
              <a:cs typeface="Arial MT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995045FD-70F9-E044-9F75-FD816765C56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7370" y="1038250"/>
            <a:ext cx="1274824" cy="127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20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92B6D1-65BC-894A-B716-0E60E9E0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3FBA190-2366-CF47-8819-A1931D771258}"/>
              </a:ext>
            </a:extLst>
          </p:cNvPr>
          <p:cNvSpPr txBox="1">
            <a:spLocks/>
          </p:cNvSpPr>
          <p:nvPr/>
        </p:nvSpPr>
        <p:spPr>
          <a:xfrm>
            <a:off x="153706" y="383619"/>
            <a:ext cx="4242497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b="1" dirty="0"/>
              <a:t>What They </a:t>
            </a:r>
            <a:r>
              <a:rPr lang="en-US" sz="3600" b="1" spc="135" dirty="0"/>
              <a:t>did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2A748D-BDCB-3040-8D28-AA17C8E7C9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828" y="1208574"/>
            <a:ext cx="6996113" cy="4030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A17660C-85BA-B248-A67A-2065383E4A11}"/>
              </a:ext>
            </a:extLst>
          </p:cNvPr>
          <p:cNvSpPr/>
          <p:nvPr/>
        </p:nvSpPr>
        <p:spPr>
          <a:xfrm>
            <a:off x="540123" y="5632058"/>
            <a:ext cx="82596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 err="1">
                <a:solidFill>
                  <a:srgbClr val="222222"/>
                </a:solidFill>
                <a:latin typeface="Arial" panose="020B0604020202020204" pitchFamily="34" charset="0"/>
              </a:rPr>
              <a:t>Gutfleisch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, Marco, et al. "How does usable security (not) end up in software products? results from a qualitative interview study." </a:t>
            </a:r>
            <a:r>
              <a:rPr lang="en-US" sz="900" i="1" dirty="0">
                <a:solidFill>
                  <a:srgbClr val="222222"/>
                </a:solidFill>
                <a:latin typeface="Arial" panose="020B0604020202020204" pitchFamily="34" charset="0"/>
              </a:rPr>
              <a:t>2022 IEEE Symposium on Security and Privacy (SP)</a:t>
            </a:r>
            <a:r>
              <a:rPr lang="en-US" sz="900" dirty="0">
                <a:solidFill>
                  <a:srgbClr val="222222"/>
                </a:solidFill>
                <a:latin typeface="Arial" panose="020B0604020202020204" pitchFamily="34" charset="0"/>
              </a:rPr>
              <a:t>. IEEE, 2022.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7916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EF8BE1-A68C-3044-B971-D518067B6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886F6ABA-6A89-6B43-BD8B-24501D1C7EBB}"/>
              </a:ext>
            </a:extLst>
          </p:cNvPr>
          <p:cNvSpPr txBox="1">
            <a:spLocks/>
          </p:cNvSpPr>
          <p:nvPr/>
        </p:nvSpPr>
        <p:spPr>
          <a:xfrm>
            <a:off x="205445" y="319183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/>
              <a:t>Problem</a:t>
            </a:r>
            <a:r>
              <a:rPr lang="en-US" spc="-50"/>
              <a:t> </a:t>
            </a:r>
            <a:r>
              <a:rPr lang="en-US" spc="130"/>
              <a:t>&amp;</a:t>
            </a:r>
            <a:r>
              <a:rPr lang="en-US" spc="-50"/>
              <a:t> </a:t>
            </a:r>
            <a:r>
              <a:rPr lang="en-US" spc="-135"/>
              <a:t>Research</a:t>
            </a:r>
            <a:r>
              <a:rPr lang="en-US" spc="-50"/>
              <a:t> </a:t>
            </a:r>
            <a:r>
              <a:rPr lang="en-US" spc="-10"/>
              <a:t>Questions</a:t>
            </a:r>
            <a:endParaRPr lang="en-US" spc="-10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2180394D-B7F3-EF4C-868A-6364DC037ACE}"/>
              </a:ext>
            </a:extLst>
          </p:cNvPr>
          <p:cNvSpPr txBox="1"/>
          <p:nvPr/>
        </p:nvSpPr>
        <p:spPr>
          <a:xfrm>
            <a:off x="464105" y="2682961"/>
            <a:ext cx="7909559" cy="2957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9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latin typeface="Arial"/>
                <a:cs typeface="Arial"/>
              </a:rPr>
              <a:t>RQs:</a:t>
            </a:r>
            <a:endParaRPr sz="2000" dirty="0">
              <a:latin typeface="Arial"/>
              <a:cs typeface="Arial"/>
            </a:endParaRPr>
          </a:p>
          <a:p>
            <a:pPr marL="469900" marR="181610" indent="-454659">
              <a:lnSpc>
                <a:spcPct val="100000"/>
              </a:lnSpc>
              <a:spcBef>
                <a:spcPts val="1200"/>
              </a:spcBef>
              <a:buAutoNum type="arabicParenR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Which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b="1" spc="-85" dirty="0">
                <a:solidFill>
                  <a:srgbClr val="801620"/>
                </a:solidFill>
                <a:latin typeface="Arial"/>
                <a:cs typeface="Arial"/>
              </a:rPr>
              <a:t>factors</a:t>
            </a:r>
            <a:r>
              <a:rPr sz="2000" b="1" spc="2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(SDP)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in </a:t>
            </a:r>
            <a:r>
              <a:rPr sz="2000" dirty="0">
                <a:latin typeface="Arial MT"/>
                <a:cs typeface="Arial MT"/>
              </a:rPr>
              <a:t>companies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influence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usable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security?</a:t>
            </a:r>
            <a:endParaRPr sz="2000" dirty="0">
              <a:latin typeface="Arial MT"/>
              <a:cs typeface="Arial MT"/>
            </a:endParaRPr>
          </a:p>
          <a:p>
            <a:pPr marL="469900" marR="5080" indent="-454659">
              <a:lnSpc>
                <a:spcPct val="100000"/>
              </a:lnSpc>
              <a:buAutoNum type="arabicParenR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What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b="1" spc="-75" dirty="0">
                <a:solidFill>
                  <a:srgbClr val="801620"/>
                </a:solidFill>
                <a:latin typeface="Arial"/>
                <a:cs typeface="Arial"/>
              </a:rPr>
              <a:t>contributors</a:t>
            </a:r>
            <a:r>
              <a:rPr sz="2000" b="1" spc="-2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2000" b="1" spc="-45" dirty="0">
                <a:solidFill>
                  <a:srgbClr val="801620"/>
                </a:solidFill>
                <a:latin typeface="Arial"/>
                <a:cs typeface="Arial"/>
              </a:rPr>
              <a:t>and</a:t>
            </a:r>
            <a:r>
              <a:rPr sz="2000" b="1" spc="-30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2000" b="1" spc="-95" dirty="0">
                <a:solidFill>
                  <a:srgbClr val="801620"/>
                </a:solidFill>
                <a:latin typeface="Arial"/>
                <a:cs typeface="Arial"/>
              </a:rPr>
              <a:t>blockers</a:t>
            </a:r>
            <a:r>
              <a:rPr sz="2000" b="1" spc="-3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usable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security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software development?</a:t>
            </a:r>
            <a:endParaRPr sz="2000" dirty="0">
              <a:latin typeface="Arial MT"/>
              <a:cs typeface="Arial MT"/>
            </a:endParaRPr>
          </a:p>
          <a:p>
            <a:pPr marL="469900" marR="306705" indent="-454659">
              <a:lnSpc>
                <a:spcPct val="100000"/>
              </a:lnSpc>
              <a:buAutoNum type="arabicParenR"/>
              <a:tabLst>
                <a:tab pos="469900" algn="l"/>
              </a:tabLst>
            </a:pPr>
            <a:r>
              <a:rPr sz="2000" dirty="0">
                <a:latin typeface="Arial MT"/>
                <a:cs typeface="Arial MT"/>
              </a:rPr>
              <a:t>When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40" dirty="0">
                <a:latin typeface="Arial MT"/>
                <a:cs typeface="Arial MT"/>
              </a:rPr>
              <a:t>SDP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are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important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b="1" spc="-114" dirty="0">
                <a:solidFill>
                  <a:srgbClr val="801620"/>
                </a:solidFill>
                <a:latin typeface="Arial"/>
                <a:cs typeface="Arial"/>
              </a:rPr>
              <a:t>decisions</a:t>
            </a:r>
            <a:r>
              <a:rPr sz="2000" b="1" spc="2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made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that </a:t>
            </a:r>
            <a:r>
              <a:rPr sz="2000" dirty="0">
                <a:latin typeface="Arial MT"/>
                <a:cs typeface="Arial MT"/>
              </a:rPr>
              <a:t>influence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usable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security?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60835B-A5AB-E34E-B050-02A4105CEAA1}"/>
              </a:ext>
            </a:extLst>
          </p:cNvPr>
          <p:cNvSpPr/>
          <p:nvPr/>
        </p:nvSpPr>
        <p:spPr>
          <a:xfrm>
            <a:off x="342499" y="1488775"/>
            <a:ext cx="8152770" cy="956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ts val="2265"/>
              </a:lnSpc>
              <a:spcBef>
                <a:spcPts val="100"/>
              </a:spcBef>
            </a:pPr>
            <a:r>
              <a:rPr lang="en-US" dirty="0">
                <a:latin typeface="Arial MT"/>
                <a:cs typeface="Arial MT"/>
              </a:rPr>
              <a:t>It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is</a:t>
            </a:r>
            <a:r>
              <a:rPr lang="en-US" spc="-20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unclear…</a:t>
            </a:r>
            <a:endParaRPr lang="en-US" dirty="0">
              <a:latin typeface="Arial MT"/>
              <a:cs typeface="Arial MT"/>
            </a:endParaRPr>
          </a:p>
          <a:p>
            <a:pPr marL="469900">
              <a:lnSpc>
                <a:spcPts val="2250"/>
              </a:lnSpc>
            </a:pPr>
            <a:r>
              <a:rPr lang="en-US" dirty="0">
                <a:latin typeface="Arial MT"/>
                <a:cs typeface="Arial MT"/>
              </a:rPr>
              <a:t>…whether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companies/software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teams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take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20" dirty="0">
                <a:latin typeface="Arial MT"/>
                <a:cs typeface="Arial MT"/>
              </a:rPr>
              <a:t>care</a:t>
            </a:r>
            <a:r>
              <a:rPr lang="en-US" spc="-40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of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usable</a:t>
            </a:r>
            <a:r>
              <a:rPr lang="en-US" spc="-4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security.</a:t>
            </a:r>
            <a:endParaRPr lang="en-US" dirty="0">
              <a:latin typeface="Arial MT"/>
              <a:cs typeface="Arial MT"/>
            </a:endParaRPr>
          </a:p>
          <a:p>
            <a:pPr marL="469900">
              <a:lnSpc>
                <a:spcPts val="2265"/>
              </a:lnSpc>
            </a:pPr>
            <a:r>
              <a:rPr lang="en-US" dirty="0">
                <a:latin typeface="Arial MT"/>
                <a:cs typeface="Arial MT"/>
              </a:rPr>
              <a:t>…how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spc="-35" dirty="0">
                <a:latin typeface="Arial MT"/>
                <a:cs typeface="Arial MT"/>
              </a:rPr>
              <a:t>processes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for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usable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security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look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in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dirty="0">
                <a:latin typeface="Arial MT"/>
                <a:cs typeface="Arial MT"/>
              </a:rPr>
              <a:t>the</a:t>
            </a:r>
            <a:r>
              <a:rPr lang="en-US" spc="5" dirty="0">
                <a:latin typeface="Arial MT"/>
                <a:cs typeface="Arial MT"/>
              </a:rPr>
              <a:t> </a:t>
            </a:r>
            <a:r>
              <a:rPr lang="en-US" spc="-10" dirty="0">
                <a:latin typeface="Arial MT"/>
                <a:cs typeface="Arial MT"/>
              </a:rPr>
              <a:t>wild.</a:t>
            </a:r>
            <a:endParaRPr lang="en-US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51688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E80595-9C52-FD4F-AA96-5FA53D408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1FF26E6-7612-1C42-B15F-0E9E7AD4CDDD}"/>
              </a:ext>
            </a:extLst>
          </p:cNvPr>
          <p:cNvSpPr txBox="1">
            <a:spLocks/>
          </p:cNvSpPr>
          <p:nvPr/>
        </p:nvSpPr>
        <p:spPr>
          <a:xfrm>
            <a:off x="219870" y="448412"/>
            <a:ext cx="864390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dirty="0"/>
              <a:t>25</a:t>
            </a:r>
            <a:r>
              <a:rPr lang="en-US" sz="2800" spc="-75" dirty="0"/>
              <a:t> </a:t>
            </a:r>
            <a:r>
              <a:rPr lang="en-US" sz="2800" dirty="0"/>
              <a:t>Interviews</a:t>
            </a:r>
            <a:r>
              <a:rPr lang="en-US" sz="2800" spc="-75" dirty="0"/>
              <a:t> </a:t>
            </a:r>
            <a:r>
              <a:rPr lang="en-US" sz="2800" spc="55" dirty="0"/>
              <a:t>with</a:t>
            </a:r>
            <a:r>
              <a:rPr lang="en-US" sz="2800" spc="-75" dirty="0"/>
              <a:t> </a:t>
            </a:r>
            <a:r>
              <a:rPr lang="en-US" sz="2800" spc="-20" dirty="0"/>
              <a:t>Stakeholders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A3B1187B-D32C-6E40-B817-C968F09E84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202" y="2543134"/>
            <a:ext cx="812344" cy="812344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84100923-91A4-7645-A0FF-682AB1E4FFB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668" y="2410659"/>
            <a:ext cx="914440" cy="914440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1FE630F8-C22E-424C-B909-E390360C3872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00016" y="3461299"/>
            <a:ext cx="1055705" cy="1055705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E04742D8-9342-ED43-9867-042E9846401F}"/>
              </a:ext>
            </a:extLst>
          </p:cNvPr>
          <p:cNvSpPr/>
          <p:nvPr/>
        </p:nvSpPr>
        <p:spPr>
          <a:xfrm>
            <a:off x="2815625" y="2949565"/>
            <a:ext cx="2955925" cy="1184910"/>
          </a:xfrm>
          <a:custGeom>
            <a:avLst/>
            <a:gdLst/>
            <a:ahLst/>
            <a:cxnLst/>
            <a:rect l="l" t="t" r="r" b="b"/>
            <a:pathLst>
              <a:path w="2955925" h="1184910">
                <a:moveTo>
                  <a:pt x="2578054" y="1184459"/>
                </a:moveTo>
                <a:lnTo>
                  <a:pt x="2619754" y="1037534"/>
                </a:lnTo>
                <a:lnTo>
                  <a:pt x="0" y="293849"/>
                </a:lnTo>
                <a:lnTo>
                  <a:pt x="83399" y="0"/>
                </a:lnTo>
                <a:lnTo>
                  <a:pt x="2703154" y="743684"/>
                </a:lnTo>
                <a:lnTo>
                  <a:pt x="2744854" y="596759"/>
                </a:lnTo>
                <a:lnTo>
                  <a:pt x="2955300" y="974025"/>
                </a:lnTo>
                <a:lnTo>
                  <a:pt x="2578054" y="1184459"/>
                </a:lnTo>
                <a:close/>
              </a:path>
            </a:pathLst>
          </a:custGeom>
          <a:solidFill>
            <a:srgbClr val="CDD4D7">
              <a:alpha val="4830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2953863-77D3-094F-B075-BC9D1FA41DC0}"/>
              </a:ext>
            </a:extLst>
          </p:cNvPr>
          <p:cNvSpPr txBox="1"/>
          <p:nvPr/>
        </p:nvSpPr>
        <p:spPr>
          <a:xfrm>
            <a:off x="348280" y="1546205"/>
            <a:ext cx="8387080" cy="330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956810" algn="ctr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latin typeface="Arial MT"/>
                <a:cs typeface="Arial MT"/>
              </a:rPr>
              <a:t>Getting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insights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from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different </a:t>
            </a:r>
            <a:r>
              <a:rPr sz="2000" dirty="0">
                <a:latin typeface="Arial MT"/>
                <a:cs typeface="Arial MT"/>
              </a:rPr>
              <a:t>software</a:t>
            </a:r>
            <a:r>
              <a:rPr sz="2000" spc="1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1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teams</a:t>
            </a:r>
            <a:endParaRPr sz="2000">
              <a:latin typeface="Arial MT"/>
              <a:cs typeface="Arial MT"/>
            </a:endParaRPr>
          </a:p>
          <a:p>
            <a:pPr marL="4881245" marR="332105" indent="-635" algn="ctr">
              <a:lnSpc>
                <a:spcPct val="100000"/>
              </a:lnSpc>
              <a:spcBef>
                <a:spcPts val="850"/>
              </a:spcBef>
            </a:pPr>
            <a:r>
              <a:rPr sz="2000" dirty="0">
                <a:latin typeface="Arial MT"/>
                <a:cs typeface="Arial MT"/>
              </a:rPr>
              <a:t>Interview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important </a:t>
            </a:r>
            <a:r>
              <a:rPr sz="2000" dirty="0">
                <a:latin typeface="Arial MT"/>
                <a:cs typeface="Arial MT"/>
              </a:rPr>
              <a:t>stakeholders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 </a:t>
            </a:r>
            <a:r>
              <a:rPr sz="2000" spc="-10" dirty="0">
                <a:latin typeface="Arial MT"/>
                <a:cs typeface="Arial MT"/>
              </a:rPr>
              <a:t>software </a:t>
            </a:r>
            <a:r>
              <a:rPr sz="2000" dirty="0">
                <a:latin typeface="Arial MT"/>
                <a:cs typeface="Arial MT"/>
              </a:rPr>
              <a:t>development</a:t>
            </a:r>
            <a:r>
              <a:rPr sz="2000" spc="3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15"/>
              </a:spcBef>
            </a:pPr>
            <a:endParaRPr sz="2000">
              <a:latin typeface="Arial MT"/>
              <a:cs typeface="Arial MT"/>
            </a:endParaRPr>
          </a:p>
          <a:p>
            <a:pPr marR="541655" algn="r">
              <a:lnSpc>
                <a:spcPct val="100000"/>
              </a:lnSpc>
            </a:pPr>
            <a:r>
              <a:rPr sz="2200" b="1" spc="-25" dirty="0">
                <a:latin typeface="Arial"/>
                <a:cs typeface="Arial"/>
              </a:rPr>
              <a:t>25x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2200">
              <a:latin typeface="Arial"/>
              <a:cs typeface="Arial"/>
            </a:endParaRPr>
          </a:p>
          <a:p>
            <a:pPr marL="4539615" algn="ctr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801620"/>
                </a:solidFill>
                <a:latin typeface="Arial MT"/>
                <a:cs typeface="Arial MT"/>
              </a:rPr>
              <a:t>90-minute,</a:t>
            </a:r>
            <a:r>
              <a:rPr sz="1800" spc="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801620"/>
                </a:solidFill>
                <a:latin typeface="Arial MT"/>
                <a:cs typeface="Arial MT"/>
              </a:rPr>
              <a:t>semi-</a:t>
            </a:r>
            <a:r>
              <a:rPr sz="1800" dirty="0">
                <a:solidFill>
                  <a:srgbClr val="801620"/>
                </a:solidFill>
                <a:latin typeface="Arial MT"/>
                <a:cs typeface="Arial MT"/>
              </a:rPr>
              <a:t>structured</a:t>
            </a:r>
            <a:r>
              <a:rPr sz="1800" spc="6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801620"/>
                </a:solidFill>
                <a:latin typeface="Arial MT"/>
                <a:cs typeface="Arial MT"/>
              </a:rPr>
              <a:t>interviews</a:t>
            </a:r>
            <a:endParaRPr sz="18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000009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4AF18A-F2FC-714F-A7EE-404D4A4E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5AABB-EE63-E34B-AC88-57E3FA7352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988" y="1376233"/>
            <a:ext cx="5410591" cy="480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9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F566FC-0264-394A-A96A-FF3E0152E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347EA9-6986-2344-99CD-B68F960E8D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965" y="1322021"/>
            <a:ext cx="4497148" cy="490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565F41-8B06-644B-8021-97BCE29BC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179EA3A-4362-FC45-B79C-22FD818FBDF4}"/>
              </a:ext>
            </a:extLst>
          </p:cNvPr>
          <p:cNvSpPr/>
          <p:nvPr/>
        </p:nvSpPr>
        <p:spPr>
          <a:xfrm>
            <a:off x="5170703" y="994907"/>
            <a:ext cx="3141345" cy="675640"/>
          </a:xfrm>
          <a:custGeom>
            <a:avLst/>
            <a:gdLst/>
            <a:ahLst/>
            <a:cxnLst/>
            <a:rect l="l" t="t" r="r" b="b"/>
            <a:pathLst>
              <a:path w="3141345" h="675640">
                <a:moveTo>
                  <a:pt x="0" y="112602"/>
                </a:moveTo>
                <a:lnTo>
                  <a:pt x="8848" y="68772"/>
                </a:lnTo>
                <a:lnTo>
                  <a:pt x="32980" y="32980"/>
                </a:lnTo>
                <a:lnTo>
                  <a:pt x="68772" y="8848"/>
                </a:lnTo>
                <a:lnTo>
                  <a:pt x="112602" y="0"/>
                </a:lnTo>
                <a:lnTo>
                  <a:pt x="3028397" y="0"/>
                </a:lnTo>
                <a:lnTo>
                  <a:pt x="3071488" y="8571"/>
                </a:lnTo>
                <a:lnTo>
                  <a:pt x="3108019" y="32980"/>
                </a:lnTo>
                <a:lnTo>
                  <a:pt x="3132428" y="69511"/>
                </a:lnTo>
                <a:lnTo>
                  <a:pt x="3140999" y="112602"/>
                </a:lnTo>
                <a:lnTo>
                  <a:pt x="3140999" y="562997"/>
                </a:lnTo>
                <a:lnTo>
                  <a:pt x="3132151" y="606827"/>
                </a:lnTo>
                <a:lnTo>
                  <a:pt x="3108019" y="642619"/>
                </a:lnTo>
                <a:lnTo>
                  <a:pt x="3072227" y="666751"/>
                </a:lnTo>
                <a:lnTo>
                  <a:pt x="3028397" y="675599"/>
                </a:lnTo>
                <a:lnTo>
                  <a:pt x="112602" y="675599"/>
                </a:lnTo>
                <a:lnTo>
                  <a:pt x="68772" y="666751"/>
                </a:lnTo>
                <a:lnTo>
                  <a:pt x="32980" y="642619"/>
                </a:lnTo>
                <a:lnTo>
                  <a:pt x="8848" y="606827"/>
                </a:lnTo>
                <a:lnTo>
                  <a:pt x="0" y="562997"/>
                </a:lnTo>
                <a:lnTo>
                  <a:pt x="0" y="112602"/>
                </a:lnTo>
                <a:close/>
              </a:path>
            </a:pathLst>
          </a:custGeom>
          <a:ln w="952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E95E3CBA-6A7D-6447-A23A-6F3942E59416}"/>
              </a:ext>
            </a:extLst>
          </p:cNvPr>
          <p:cNvSpPr txBox="1"/>
          <p:nvPr/>
        </p:nvSpPr>
        <p:spPr>
          <a:xfrm>
            <a:off x="5276708" y="1007079"/>
            <a:ext cx="2627630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694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Recruitment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25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participants: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professional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networks, </a:t>
            </a:r>
            <a:r>
              <a:rPr sz="1200" dirty="0">
                <a:latin typeface="Arial MT"/>
                <a:cs typeface="Arial MT"/>
              </a:rPr>
              <a:t>Upwork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freelancers,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social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media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6B195E8-589F-1049-9C73-82BEC792473E}"/>
              </a:ext>
            </a:extLst>
          </p:cNvPr>
          <p:cNvSpPr txBox="1">
            <a:spLocks/>
          </p:cNvSpPr>
          <p:nvPr/>
        </p:nvSpPr>
        <p:spPr>
          <a:xfrm>
            <a:off x="268270" y="317147"/>
            <a:ext cx="460072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Interview</a:t>
            </a:r>
            <a:r>
              <a:rPr lang="en-US" spc="-10" dirty="0"/>
              <a:t> Structure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E7296DF-D65A-424E-9FA2-DD4DC9D6A129}"/>
              </a:ext>
            </a:extLst>
          </p:cNvPr>
          <p:cNvSpPr/>
          <p:nvPr/>
        </p:nvSpPr>
        <p:spPr>
          <a:xfrm>
            <a:off x="5170704" y="1726533"/>
            <a:ext cx="3141345" cy="675640"/>
          </a:xfrm>
          <a:custGeom>
            <a:avLst/>
            <a:gdLst/>
            <a:ahLst/>
            <a:cxnLst/>
            <a:rect l="l" t="t" r="r" b="b"/>
            <a:pathLst>
              <a:path w="3141345" h="675639">
                <a:moveTo>
                  <a:pt x="0" y="112602"/>
                </a:moveTo>
                <a:lnTo>
                  <a:pt x="8848" y="68772"/>
                </a:lnTo>
                <a:lnTo>
                  <a:pt x="32980" y="32980"/>
                </a:lnTo>
                <a:lnTo>
                  <a:pt x="68772" y="8848"/>
                </a:lnTo>
                <a:lnTo>
                  <a:pt x="112602" y="0"/>
                </a:lnTo>
                <a:lnTo>
                  <a:pt x="3028397" y="0"/>
                </a:lnTo>
                <a:lnTo>
                  <a:pt x="3071488" y="8571"/>
                </a:lnTo>
                <a:lnTo>
                  <a:pt x="3108019" y="32980"/>
                </a:lnTo>
                <a:lnTo>
                  <a:pt x="3132428" y="69511"/>
                </a:lnTo>
                <a:lnTo>
                  <a:pt x="3140999" y="112602"/>
                </a:lnTo>
                <a:lnTo>
                  <a:pt x="3140999" y="562997"/>
                </a:lnTo>
                <a:lnTo>
                  <a:pt x="3132151" y="606827"/>
                </a:lnTo>
                <a:lnTo>
                  <a:pt x="3108019" y="642619"/>
                </a:lnTo>
                <a:lnTo>
                  <a:pt x="3072227" y="666751"/>
                </a:lnTo>
                <a:lnTo>
                  <a:pt x="3028397" y="675599"/>
                </a:lnTo>
                <a:lnTo>
                  <a:pt x="112602" y="675599"/>
                </a:lnTo>
                <a:lnTo>
                  <a:pt x="68772" y="666751"/>
                </a:lnTo>
                <a:lnTo>
                  <a:pt x="32980" y="642619"/>
                </a:lnTo>
                <a:lnTo>
                  <a:pt x="8848" y="606827"/>
                </a:lnTo>
                <a:lnTo>
                  <a:pt x="0" y="562997"/>
                </a:lnTo>
                <a:lnTo>
                  <a:pt x="0" y="112602"/>
                </a:lnTo>
                <a:close/>
              </a:path>
            </a:pathLst>
          </a:custGeom>
          <a:ln w="952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4630BFA3-3D50-594B-A09C-6F5D200C9E5C}"/>
              </a:ext>
            </a:extLst>
          </p:cNvPr>
          <p:cNvSpPr txBox="1"/>
          <p:nvPr/>
        </p:nvSpPr>
        <p:spPr>
          <a:xfrm>
            <a:off x="5276709" y="1738704"/>
            <a:ext cx="2404745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Pre-</a:t>
            </a:r>
            <a:r>
              <a:rPr sz="1600" spc="-10" dirty="0">
                <a:latin typeface="Arial MT"/>
                <a:cs typeface="Arial MT"/>
              </a:rPr>
              <a:t>Questionnaire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Consent,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demographics,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security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&amp; </a:t>
            </a:r>
            <a:r>
              <a:rPr sz="1200" dirty="0">
                <a:latin typeface="Arial MT"/>
                <a:cs typeface="Arial MT"/>
              </a:rPr>
              <a:t>usability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background</a:t>
            </a:r>
            <a:endParaRPr sz="12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773157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127959-2A5E-9246-BD84-9DC4EC4B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4857079-FEF3-FD4B-9D23-60FCFDFEA188}"/>
              </a:ext>
            </a:extLst>
          </p:cNvPr>
          <p:cNvSpPr/>
          <p:nvPr/>
        </p:nvSpPr>
        <p:spPr>
          <a:xfrm>
            <a:off x="4955078" y="2571243"/>
            <a:ext cx="3704590" cy="3110230"/>
          </a:xfrm>
          <a:custGeom>
            <a:avLst/>
            <a:gdLst/>
            <a:ahLst/>
            <a:cxnLst/>
            <a:rect l="l" t="t" r="r" b="b"/>
            <a:pathLst>
              <a:path w="3704590" h="3110229">
                <a:moveTo>
                  <a:pt x="3704399" y="3109799"/>
                </a:moveTo>
                <a:lnTo>
                  <a:pt x="0" y="3109799"/>
                </a:lnTo>
                <a:lnTo>
                  <a:pt x="0" y="0"/>
                </a:lnTo>
                <a:lnTo>
                  <a:pt x="3704399" y="0"/>
                </a:lnTo>
                <a:lnTo>
                  <a:pt x="3704399" y="31097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CC6063C-AA17-FF48-8B5F-CDBFF5E24D7D}"/>
              </a:ext>
            </a:extLst>
          </p:cNvPr>
          <p:cNvSpPr/>
          <p:nvPr/>
        </p:nvSpPr>
        <p:spPr>
          <a:xfrm>
            <a:off x="5425465" y="1084117"/>
            <a:ext cx="3141345" cy="675640"/>
          </a:xfrm>
          <a:custGeom>
            <a:avLst/>
            <a:gdLst/>
            <a:ahLst/>
            <a:cxnLst/>
            <a:rect l="l" t="t" r="r" b="b"/>
            <a:pathLst>
              <a:path w="3141345" h="675640">
                <a:moveTo>
                  <a:pt x="0" y="112602"/>
                </a:moveTo>
                <a:lnTo>
                  <a:pt x="8848" y="68772"/>
                </a:lnTo>
                <a:lnTo>
                  <a:pt x="32980" y="32980"/>
                </a:lnTo>
                <a:lnTo>
                  <a:pt x="68772" y="8848"/>
                </a:lnTo>
                <a:lnTo>
                  <a:pt x="112602" y="0"/>
                </a:lnTo>
                <a:lnTo>
                  <a:pt x="3028397" y="0"/>
                </a:lnTo>
                <a:lnTo>
                  <a:pt x="3071488" y="8571"/>
                </a:lnTo>
                <a:lnTo>
                  <a:pt x="3108019" y="32980"/>
                </a:lnTo>
                <a:lnTo>
                  <a:pt x="3132428" y="69511"/>
                </a:lnTo>
                <a:lnTo>
                  <a:pt x="3140999" y="112602"/>
                </a:lnTo>
                <a:lnTo>
                  <a:pt x="3140999" y="562997"/>
                </a:lnTo>
                <a:lnTo>
                  <a:pt x="3132151" y="606827"/>
                </a:lnTo>
                <a:lnTo>
                  <a:pt x="3108019" y="642619"/>
                </a:lnTo>
                <a:lnTo>
                  <a:pt x="3072227" y="666751"/>
                </a:lnTo>
                <a:lnTo>
                  <a:pt x="3028397" y="675599"/>
                </a:lnTo>
                <a:lnTo>
                  <a:pt x="112602" y="675599"/>
                </a:lnTo>
                <a:lnTo>
                  <a:pt x="68772" y="666751"/>
                </a:lnTo>
                <a:lnTo>
                  <a:pt x="32980" y="642619"/>
                </a:lnTo>
                <a:lnTo>
                  <a:pt x="8848" y="606827"/>
                </a:lnTo>
                <a:lnTo>
                  <a:pt x="0" y="562997"/>
                </a:lnTo>
                <a:lnTo>
                  <a:pt x="0" y="112602"/>
                </a:lnTo>
                <a:close/>
              </a:path>
            </a:pathLst>
          </a:custGeom>
          <a:ln w="952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30D64F96-2FBE-7643-B9E5-0061440C6DF2}"/>
              </a:ext>
            </a:extLst>
          </p:cNvPr>
          <p:cNvSpPr txBox="1"/>
          <p:nvPr/>
        </p:nvSpPr>
        <p:spPr>
          <a:xfrm>
            <a:off x="5531470" y="1096289"/>
            <a:ext cx="2627630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694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Recruitment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25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participants: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professional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networks, </a:t>
            </a:r>
            <a:r>
              <a:rPr sz="1200" dirty="0">
                <a:latin typeface="Arial MT"/>
                <a:cs typeface="Arial MT"/>
              </a:rPr>
              <a:t>Upwork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freelancers,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social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media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6742CE5-5017-D646-92C4-1E22B12DE165}"/>
              </a:ext>
            </a:extLst>
          </p:cNvPr>
          <p:cNvSpPr txBox="1">
            <a:spLocks/>
          </p:cNvSpPr>
          <p:nvPr/>
        </p:nvSpPr>
        <p:spPr>
          <a:xfrm>
            <a:off x="404452" y="147415"/>
            <a:ext cx="5127017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Interview</a:t>
            </a:r>
            <a:r>
              <a:rPr lang="en-US" spc="-10" dirty="0"/>
              <a:t> Structure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97032EF-4822-EE48-AB46-4AACEC5D99AC}"/>
              </a:ext>
            </a:extLst>
          </p:cNvPr>
          <p:cNvSpPr/>
          <p:nvPr/>
        </p:nvSpPr>
        <p:spPr>
          <a:xfrm>
            <a:off x="5425466" y="1815743"/>
            <a:ext cx="3141345" cy="675640"/>
          </a:xfrm>
          <a:custGeom>
            <a:avLst/>
            <a:gdLst/>
            <a:ahLst/>
            <a:cxnLst/>
            <a:rect l="l" t="t" r="r" b="b"/>
            <a:pathLst>
              <a:path w="3141345" h="675639">
                <a:moveTo>
                  <a:pt x="0" y="112602"/>
                </a:moveTo>
                <a:lnTo>
                  <a:pt x="8848" y="68772"/>
                </a:lnTo>
                <a:lnTo>
                  <a:pt x="32980" y="32980"/>
                </a:lnTo>
                <a:lnTo>
                  <a:pt x="68772" y="8848"/>
                </a:lnTo>
                <a:lnTo>
                  <a:pt x="112602" y="0"/>
                </a:lnTo>
                <a:lnTo>
                  <a:pt x="3028397" y="0"/>
                </a:lnTo>
                <a:lnTo>
                  <a:pt x="3071488" y="8571"/>
                </a:lnTo>
                <a:lnTo>
                  <a:pt x="3108019" y="32980"/>
                </a:lnTo>
                <a:lnTo>
                  <a:pt x="3132428" y="69511"/>
                </a:lnTo>
                <a:lnTo>
                  <a:pt x="3140999" y="112602"/>
                </a:lnTo>
                <a:lnTo>
                  <a:pt x="3140999" y="562997"/>
                </a:lnTo>
                <a:lnTo>
                  <a:pt x="3132151" y="606827"/>
                </a:lnTo>
                <a:lnTo>
                  <a:pt x="3108019" y="642619"/>
                </a:lnTo>
                <a:lnTo>
                  <a:pt x="3072227" y="666751"/>
                </a:lnTo>
                <a:lnTo>
                  <a:pt x="3028397" y="675599"/>
                </a:lnTo>
                <a:lnTo>
                  <a:pt x="112602" y="675599"/>
                </a:lnTo>
                <a:lnTo>
                  <a:pt x="68772" y="666751"/>
                </a:lnTo>
                <a:lnTo>
                  <a:pt x="32980" y="642619"/>
                </a:lnTo>
                <a:lnTo>
                  <a:pt x="8848" y="606827"/>
                </a:lnTo>
                <a:lnTo>
                  <a:pt x="0" y="562997"/>
                </a:lnTo>
                <a:lnTo>
                  <a:pt x="0" y="112602"/>
                </a:lnTo>
                <a:close/>
              </a:path>
            </a:pathLst>
          </a:custGeom>
          <a:ln w="952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519928AC-8C54-BE4F-999C-646C6D9C53E6}"/>
              </a:ext>
            </a:extLst>
          </p:cNvPr>
          <p:cNvSpPr txBox="1"/>
          <p:nvPr/>
        </p:nvSpPr>
        <p:spPr>
          <a:xfrm>
            <a:off x="5531471" y="1827914"/>
            <a:ext cx="2404745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Pre-</a:t>
            </a:r>
            <a:r>
              <a:rPr sz="1600" spc="-10" dirty="0">
                <a:latin typeface="Arial MT"/>
                <a:cs typeface="Arial MT"/>
              </a:rPr>
              <a:t>Questionnaire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Consent,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demographics,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security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&amp; </a:t>
            </a:r>
            <a:r>
              <a:rPr sz="1200" dirty="0">
                <a:latin typeface="Arial MT"/>
                <a:cs typeface="Arial MT"/>
              </a:rPr>
              <a:t>usability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background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6DB5483C-5875-2F42-8AC9-2C3040874FA9}"/>
              </a:ext>
            </a:extLst>
          </p:cNvPr>
          <p:cNvGrpSpPr/>
          <p:nvPr/>
        </p:nvGrpSpPr>
        <p:grpSpPr>
          <a:xfrm>
            <a:off x="5420665" y="2639080"/>
            <a:ext cx="3150870" cy="358140"/>
            <a:chOff x="4931724" y="1791587"/>
            <a:chExt cx="3150870" cy="358140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557F438B-8BE2-3A41-8DB8-F079E7CBDF48}"/>
                </a:ext>
              </a:extLst>
            </p:cNvPr>
            <p:cNvSpPr/>
            <p:nvPr/>
          </p:nvSpPr>
          <p:spPr>
            <a:xfrm>
              <a:off x="4936487" y="1796350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8929AA58-FE2E-A24B-B934-88D809E0A089}"/>
                </a:ext>
              </a:extLst>
            </p:cNvPr>
            <p:cNvSpPr/>
            <p:nvPr/>
          </p:nvSpPr>
          <p:spPr>
            <a:xfrm>
              <a:off x="4936487" y="1796350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C5618273-F53B-4843-8622-D262064BA33B}"/>
              </a:ext>
            </a:extLst>
          </p:cNvPr>
          <p:cNvGrpSpPr/>
          <p:nvPr/>
        </p:nvGrpSpPr>
        <p:grpSpPr>
          <a:xfrm>
            <a:off x="5420665" y="3070465"/>
            <a:ext cx="3150870" cy="358140"/>
            <a:chOff x="4931724" y="2222972"/>
            <a:chExt cx="3150870" cy="358140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12DE884C-0FD7-8B43-BA9A-BC1A92751962}"/>
                </a:ext>
              </a:extLst>
            </p:cNvPr>
            <p:cNvSpPr/>
            <p:nvPr/>
          </p:nvSpPr>
          <p:spPr>
            <a:xfrm>
              <a:off x="4936487" y="2227734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B2B86906-49F5-3C44-80C6-0149DFA67FDE}"/>
                </a:ext>
              </a:extLst>
            </p:cNvPr>
            <p:cNvSpPr/>
            <p:nvPr/>
          </p:nvSpPr>
          <p:spPr>
            <a:xfrm>
              <a:off x="4936487" y="2227734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4">
            <a:extLst>
              <a:ext uri="{FF2B5EF4-FFF2-40B4-BE49-F238E27FC236}">
                <a16:creationId xmlns:a16="http://schemas.microsoft.com/office/drawing/2014/main" id="{7134FEDB-A683-FF4B-B99B-76D984EA5A5A}"/>
              </a:ext>
            </a:extLst>
          </p:cNvPr>
          <p:cNvGrpSpPr/>
          <p:nvPr/>
        </p:nvGrpSpPr>
        <p:grpSpPr>
          <a:xfrm>
            <a:off x="5420653" y="3501849"/>
            <a:ext cx="3150870" cy="358140"/>
            <a:chOff x="4931712" y="2654356"/>
            <a:chExt cx="3150870" cy="358140"/>
          </a:xfrm>
        </p:grpSpPr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0B0EF583-46EF-5846-88CE-5754F0ADB9FC}"/>
                </a:ext>
              </a:extLst>
            </p:cNvPr>
            <p:cNvSpPr/>
            <p:nvPr/>
          </p:nvSpPr>
          <p:spPr>
            <a:xfrm>
              <a:off x="4936475" y="2659118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13326D7E-E341-8848-8828-018E66A2F9AA}"/>
                </a:ext>
              </a:extLst>
            </p:cNvPr>
            <p:cNvSpPr/>
            <p:nvPr/>
          </p:nvSpPr>
          <p:spPr>
            <a:xfrm>
              <a:off x="4936475" y="2659118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9D0DF4C6-5C9D-D34A-8F16-6DEE5440D6CC}"/>
              </a:ext>
            </a:extLst>
          </p:cNvPr>
          <p:cNvGrpSpPr/>
          <p:nvPr/>
        </p:nvGrpSpPr>
        <p:grpSpPr>
          <a:xfrm>
            <a:off x="5420678" y="3933233"/>
            <a:ext cx="3150870" cy="358140"/>
            <a:chOff x="4931737" y="3085740"/>
            <a:chExt cx="3150870" cy="358140"/>
          </a:xfrm>
        </p:grpSpPr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D8432DB6-24D0-214C-B137-D72B26259E8D}"/>
                </a:ext>
              </a:extLst>
            </p:cNvPr>
            <p:cNvSpPr/>
            <p:nvPr/>
          </p:nvSpPr>
          <p:spPr>
            <a:xfrm>
              <a:off x="4936499" y="3090503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7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4F837480-1EA2-B34D-A761-67D9916B2534}"/>
                </a:ext>
              </a:extLst>
            </p:cNvPr>
            <p:cNvSpPr/>
            <p:nvPr/>
          </p:nvSpPr>
          <p:spPr>
            <a:xfrm>
              <a:off x="4936499" y="3090503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7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0">
            <a:extLst>
              <a:ext uri="{FF2B5EF4-FFF2-40B4-BE49-F238E27FC236}">
                <a16:creationId xmlns:a16="http://schemas.microsoft.com/office/drawing/2014/main" id="{38D6568E-39CB-FF41-8959-E9B7143B1960}"/>
              </a:ext>
            </a:extLst>
          </p:cNvPr>
          <p:cNvGrpSpPr/>
          <p:nvPr/>
        </p:nvGrpSpPr>
        <p:grpSpPr>
          <a:xfrm>
            <a:off x="5420653" y="4364617"/>
            <a:ext cx="3150870" cy="358140"/>
            <a:chOff x="4931712" y="3517124"/>
            <a:chExt cx="3150870" cy="358140"/>
          </a:xfrm>
        </p:grpSpPr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A33E486E-DFE7-9347-BE32-F259AF2AFF4B}"/>
                </a:ext>
              </a:extLst>
            </p:cNvPr>
            <p:cNvSpPr/>
            <p:nvPr/>
          </p:nvSpPr>
          <p:spPr>
            <a:xfrm>
              <a:off x="4936475" y="3521887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B10881B3-1BE2-2B43-85F0-3398BB156289}"/>
                </a:ext>
              </a:extLst>
            </p:cNvPr>
            <p:cNvSpPr/>
            <p:nvPr/>
          </p:nvSpPr>
          <p:spPr>
            <a:xfrm>
              <a:off x="4936475" y="3521887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3">
            <a:extLst>
              <a:ext uri="{FF2B5EF4-FFF2-40B4-BE49-F238E27FC236}">
                <a16:creationId xmlns:a16="http://schemas.microsoft.com/office/drawing/2014/main" id="{4DE9F651-B99B-794F-B8AB-96B751EB7D60}"/>
              </a:ext>
            </a:extLst>
          </p:cNvPr>
          <p:cNvGrpSpPr/>
          <p:nvPr/>
        </p:nvGrpSpPr>
        <p:grpSpPr>
          <a:xfrm>
            <a:off x="5420678" y="4796002"/>
            <a:ext cx="3150870" cy="358140"/>
            <a:chOff x="4931737" y="3948509"/>
            <a:chExt cx="3150870" cy="358140"/>
          </a:xfrm>
        </p:grpSpPr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764D25D3-1271-4641-9EE8-01D533AF1D20}"/>
                </a:ext>
              </a:extLst>
            </p:cNvPr>
            <p:cNvSpPr/>
            <p:nvPr/>
          </p:nvSpPr>
          <p:spPr>
            <a:xfrm>
              <a:off x="4936499" y="3953271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0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0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1ED14862-DFEC-B946-BE1E-34C85F7C6140}"/>
                </a:ext>
              </a:extLst>
            </p:cNvPr>
            <p:cNvSpPr/>
            <p:nvPr/>
          </p:nvSpPr>
          <p:spPr>
            <a:xfrm>
              <a:off x="4936499" y="3953271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0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0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0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6">
            <a:extLst>
              <a:ext uri="{FF2B5EF4-FFF2-40B4-BE49-F238E27FC236}">
                <a16:creationId xmlns:a16="http://schemas.microsoft.com/office/drawing/2014/main" id="{835AF9C5-9B0E-D94A-9A5D-F813E914FE36}"/>
              </a:ext>
            </a:extLst>
          </p:cNvPr>
          <p:cNvSpPr txBox="1"/>
          <p:nvPr/>
        </p:nvSpPr>
        <p:spPr>
          <a:xfrm>
            <a:off x="4955078" y="2571243"/>
            <a:ext cx="3704590" cy="3110230"/>
          </a:xfrm>
          <a:prstGeom prst="rect">
            <a:avLst/>
          </a:prstGeom>
          <a:ln w="9524">
            <a:solidFill>
              <a:srgbClr val="212121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377190" algn="ctr">
              <a:lnSpc>
                <a:spcPct val="100000"/>
              </a:lnSpc>
              <a:spcBef>
                <a:spcPts val="900"/>
              </a:spcBef>
            </a:pPr>
            <a:r>
              <a:rPr sz="1600" dirty="0">
                <a:latin typeface="Arial MT"/>
                <a:cs typeface="Arial MT"/>
              </a:rPr>
              <a:t>Intro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&amp;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Individual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Questions</a:t>
            </a:r>
            <a:endParaRPr sz="1600">
              <a:latin typeface="Arial MT"/>
              <a:cs typeface="Arial MT"/>
            </a:endParaRPr>
          </a:p>
          <a:p>
            <a:pPr marL="1322070" marR="936625" algn="ctr">
              <a:lnSpc>
                <a:spcPct val="176900"/>
              </a:lnSpc>
            </a:pPr>
            <a:r>
              <a:rPr sz="1600" spc="-10" dirty="0">
                <a:latin typeface="Arial MT"/>
                <a:cs typeface="Arial MT"/>
              </a:rPr>
              <a:t>Communication Modelling Planning Construction Deployment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0" name="object 27">
            <a:extLst>
              <a:ext uri="{FF2B5EF4-FFF2-40B4-BE49-F238E27FC236}">
                <a16:creationId xmlns:a16="http://schemas.microsoft.com/office/drawing/2014/main" id="{81CA16A8-C8E3-9347-B7FE-092F7C24C7AD}"/>
              </a:ext>
            </a:extLst>
          </p:cNvPr>
          <p:cNvSpPr txBox="1"/>
          <p:nvPr/>
        </p:nvSpPr>
        <p:spPr>
          <a:xfrm>
            <a:off x="5069556" y="3698030"/>
            <a:ext cx="228600" cy="8464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600" spc="-10" dirty="0">
                <a:latin typeface="Arial MT"/>
                <a:cs typeface="Arial MT"/>
              </a:rPr>
              <a:t>Interview</a:t>
            </a:r>
            <a:endParaRPr sz="16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341942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74B300-17DD-1349-9A4D-508456CD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E2F3317C-487B-DC47-8C87-5E1973294DC6}"/>
              </a:ext>
            </a:extLst>
          </p:cNvPr>
          <p:cNvSpPr/>
          <p:nvPr/>
        </p:nvSpPr>
        <p:spPr>
          <a:xfrm>
            <a:off x="4662158" y="2571243"/>
            <a:ext cx="3704590" cy="3110230"/>
          </a:xfrm>
          <a:custGeom>
            <a:avLst/>
            <a:gdLst/>
            <a:ahLst/>
            <a:cxnLst/>
            <a:rect l="l" t="t" r="r" b="b"/>
            <a:pathLst>
              <a:path w="3704590" h="3110229">
                <a:moveTo>
                  <a:pt x="3704399" y="3109799"/>
                </a:moveTo>
                <a:lnTo>
                  <a:pt x="0" y="3109799"/>
                </a:lnTo>
                <a:lnTo>
                  <a:pt x="0" y="0"/>
                </a:lnTo>
                <a:lnTo>
                  <a:pt x="3704399" y="0"/>
                </a:lnTo>
                <a:lnTo>
                  <a:pt x="3704399" y="31097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3E310C6-FCED-744A-BCE5-A3DDDFB4EDE4}"/>
              </a:ext>
            </a:extLst>
          </p:cNvPr>
          <p:cNvSpPr/>
          <p:nvPr/>
        </p:nvSpPr>
        <p:spPr>
          <a:xfrm>
            <a:off x="5132545" y="1084117"/>
            <a:ext cx="3141345" cy="675640"/>
          </a:xfrm>
          <a:custGeom>
            <a:avLst/>
            <a:gdLst/>
            <a:ahLst/>
            <a:cxnLst/>
            <a:rect l="l" t="t" r="r" b="b"/>
            <a:pathLst>
              <a:path w="3141345" h="675640">
                <a:moveTo>
                  <a:pt x="0" y="112602"/>
                </a:moveTo>
                <a:lnTo>
                  <a:pt x="8848" y="68772"/>
                </a:lnTo>
                <a:lnTo>
                  <a:pt x="32980" y="32980"/>
                </a:lnTo>
                <a:lnTo>
                  <a:pt x="68772" y="8848"/>
                </a:lnTo>
                <a:lnTo>
                  <a:pt x="112602" y="0"/>
                </a:lnTo>
                <a:lnTo>
                  <a:pt x="3028397" y="0"/>
                </a:lnTo>
                <a:lnTo>
                  <a:pt x="3071488" y="8571"/>
                </a:lnTo>
                <a:lnTo>
                  <a:pt x="3108019" y="32980"/>
                </a:lnTo>
                <a:lnTo>
                  <a:pt x="3132428" y="69511"/>
                </a:lnTo>
                <a:lnTo>
                  <a:pt x="3140999" y="112602"/>
                </a:lnTo>
                <a:lnTo>
                  <a:pt x="3140999" y="562997"/>
                </a:lnTo>
                <a:lnTo>
                  <a:pt x="3132151" y="606827"/>
                </a:lnTo>
                <a:lnTo>
                  <a:pt x="3108019" y="642619"/>
                </a:lnTo>
                <a:lnTo>
                  <a:pt x="3072227" y="666751"/>
                </a:lnTo>
                <a:lnTo>
                  <a:pt x="3028397" y="675599"/>
                </a:lnTo>
                <a:lnTo>
                  <a:pt x="112602" y="675599"/>
                </a:lnTo>
                <a:lnTo>
                  <a:pt x="68772" y="666751"/>
                </a:lnTo>
                <a:lnTo>
                  <a:pt x="32980" y="642619"/>
                </a:lnTo>
                <a:lnTo>
                  <a:pt x="8848" y="606827"/>
                </a:lnTo>
                <a:lnTo>
                  <a:pt x="0" y="562997"/>
                </a:lnTo>
                <a:lnTo>
                  <a:pt x="0" y="112602"/>
                </a:lnTo>
                <a:close/>
              </a:path>
            </a:pathLst>
          </a:custGeom>
          <a:ln w="952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FA21BDC6-0F61-5848-B210-0FA36336A751}"/>
              </a:ext>
            </a:extLst>
          </p:cNvPr>
          <p:cNvSpPr txBox="1"/>
          <p:nvPr/>
        </p:nvSpPr>
        <p:spPr>
          <a:xfrm>
            <a:off x="5238550" y="1096289"/>
            <a:ext cx="2627630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694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Arial MT"/>
                <a:cs typeface="Arial MT"/>
              </a:rPr>
              <a:t>Recruitment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25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participants: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professional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networks, </a:t>
            </a:r>
            <a:r>
              <a:rPr sz="1200" dirty="0">
                <a:latin typeface="Arial MT"/>
                <a:cs typeface="Arial MT"/>
              </a:rPr>
              <a:t>Upwork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freelancers,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social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media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B60ABC3-8FA8-A94F-AE18-5896D86D79E7}"/>
              </a:ext>
            </a:extLst>
          </p:cNvPr>
          <p:cNvSpPr txBox="1">
            <a:spLocks/>
          </p:cNvSpPr>
          <p:nvPr/>
        </p:nvSpPr>
        <p:spPr>
          <a:xfrm>
            <a:off x="194108" y="262793"/>
            <a:ext cx="504444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Interview</a:t>
            </a:r>
            <a:r>
              <a:rPr lang="en-US" spc="-10" dirty="0"/>
              <a:t> Structure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6B0D75C3-1A9C-524F-B3FA-2C9AB2C55C6A}"/>
              </a:ext>
            </a:extLst>
          </p:cNvPr>
          <p:cNvSpPr/>
          <p:nvPr/>
        </p:nvSpPr>
        <p:spPr>
          <a:xfrm>
            <a:off x="5132546" y="1815743"/>
            <a:ext cx="3141345" cy="675640"/>
          </a:xfrm>
          <a:custGeom>
            <a:avLst/>
            <a:gdLst/>
            <a:ahLst/>
            <a:cxnLst/>
            <a:rect l="l" t="t" r="r" b="b"/>
            <a:pathLst>
              <a:path w="3141345" h="675639">
                <a:moveTo>
                  <a:pt x="0" y="112602"/>
                </a:moveTo>
                <a:lnTo>
                  <a:pt x="8848" y="68772"/>
                </a:lnTo>
                <a:lnTo>
                  <a:pt x="32980" y="32980"/>
                </a:lnTo>
                <a:lnTo>
                  <a:pt x="68772" y="8848"/>
                </a:lnTo>
                <a:lnTo>
                  <a:pt x="112602" y="0"/>
                </a:lnTo>
                <a:lnTo>
                  <a:pt x="3028397" y="0"/>
                </a:lnTo>
                <a:lnTo>
                  <a:pt x="3071488" y="8571"/>
                </a:lnTo>
                <a:lnTo>
                  <a:pt x="3108019" y="32980"/>
                </a:lnTo>
                <a:lnTo>
                  <a:pt x="3132428" y="69511"/>
                </a:lnTo>
                <a:lnTo>
                  <a:pt x="3140999" y="112602"/>
                </a:lnTo>
                <a:lnTo>
                  <a:pt x="3140999" y="562997"/>
                </a:lnTo>
                <a:lnTo>
                  <a:pt x="3132151" y="606827"/>
                </a:lnTo>
                <a:lnTo>
                  <a:pt x="3108019" y="642619"/>
                </a:lnTo>
                <a:lnTo>
                  <a:pt x="3072227" y="666751"/>
                </a:lnTo>
                <a:lnTo>
                  <a:pt x="3028397" y="675599"/>
                </a:lnTo>
                <a:lnTo>
                  <a:pt x="112602" y="675599"/>
                </a:lnTo>
                <a:lnTo>
                  <a:pt x="68772" y="666751"/>
                </a:lnTo>
                <a:lnTo>
                  <a:pt x="32980" y="642619"/>
                </a:lnTo>
                <a:lnTo>
                  <a:pt x="8848" y="606827"/>
                </a:lnTo>
                <a:lnTo>
                  <a:pt x="0" y="562997"/>
                </a:lnTo>
                <a:lnTo>
                  <a:pt x="0" y="112602"/>
                </a:lnTo>
                <a:close/>
              </a:path>
            </a:pathLst>
          </a:custGeom>
          <a:ln w="952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A4BD3D47-778E-C742-945D-DAC5F02DE721}"/>
              </a:ext>
            </a:extLst>
          </p:cNvPr>
          <p:cNvSpPr txBox="1"/>
          <p:nvPr/>
        </p:nvSpPr>
        <p:spPr>
          <a:xfrm>
            <a:off x="5238551" y="1827914"/>
            <a:ext cx="2404745" cy="639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100"/>
              </a:spcBef>
            </a:pPr>
            <a:r>
              <a:rPr sz="1600" spc="-50" dirty="0">
                <a:latin typeface="Arial MT"/>
                <a:cs typeface="Arial MT"/>
              </a:rPr>
              <a:t>Pre-</a:t>
            </a:r>
            <a:r>
              <a:rPr sz="1600" spc="-10" dirty="0">
                <a:latin typeface="Arial MT"/>
                <a:cs typeface="Arial MT"/>
              </a:rPr>
              <a:t>Questionnaire</a:t>
            </a:r>
            <a:endParaRPr sz="1600">
              <a:latin typeface="Arial MT"/>
              <a:cs typeface="Arial MT"/>
            </a:endParaRPr>
          </a:p>
          <a:p>
            <a:pPr marL="12700" marR="508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latin typeface="Arial MT"/>
                <a:cs typeface="Arial MT"/>
              </a:rPr>
              <a:t>Consent,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demographics,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security</a:t>
            </a:r>
            <a:r>
              <a:rPr sz="1200" spc="40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&amp; </a:t>
            </a:r>
            <a:r>
              <a:rPr sz="1200" dirty="0">
                <a:latin typeface="Arial MT"/>
                <a:cs typeface="Arial MT"/>
              </a:rPr>
              <a:t>usability</a:t>
            </a:r>
            <a:r>
              <a:rPr sz="1200" spc="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background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7F0E83C1-370D-2B44-BB79-892AC99EA984}"/>
              </a:ext>
            </a:extLst>
          </p:cNvPr>
          <p:cNvGrpSpPr/>
          <p:nvPr/>
        </p:nvGrpSpPr>
        <p:grpSpPr>
          <a:xfrm>
            <a:off x="5127745" y="2639080"/>
            <a:ext cx="3150870" cy="358140"/>
            <a:chOff x="4931724" y="1791587"/>
            <a:chExt cx="3150870" cy="358140"/>
          </a:xfrm>
        </p:grpSpPr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6CFF1401-B9CB-DE4E-BAAB-7D374B09C8C6}"/>
                </a:ext>
              </a:extLst>
            </p:cNvPr>
            <p:cNvSpPr/>
            <p:nvPr/>
          </p:nvSpPr>
          <p:spPr>
            <a:xfrm>
              <a:off x="4936487" y="1796350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4D8D5A14-AE42-7C46-9E8B-B0B54B2AF4AA}"/>
                </a:ext>
              </a:extLst>
            </p:cNvPr>
            <p:cNvSpPr/>
            <p:nvPr/>
          </p:nvSpPr>
          <p:spPr>
            <a:xfrm>
              <a:off x="4936487" y="1796350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1">
            <a:extLst>
              <a:ext uri="{FF2B5EF4-FFF2-40B4-BE49-F238E27FC236}">
                <a16:creationId xmlns:a16="http://schemas.microsoft.com/office/drawing/2014/main" id="{00BAAA3C-28AE-F842-8892-DEE5301E6BF7}"/>
              </a:ext>
            </a:extLst>
          </p:cNvPr>
          <p:cNvGrpSpPr/>
          <p:nvPr/>
        </p:nvGrpSpPr>
        <p:grpSpPr>
          <a:xfrm>
            <a:off x="5127745" y="3070465"/>
            <a:ext cx="3150870" cy="358140"/>
            <a:chOff x="4931724" y="2222972"/>
            <a:chExt cx="3150870" cy="358140"/>
          </a:xfrm>
        </p:grpSpPr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A1E756DD-6FDA-0C47-8C7D-A58EC270F456}"/>
                </a:ext>
              </a:extLst>
            </p:cNvPr>
            <p:cNvSpPr/>
            <p:nvPr/>
          </p:nvSpPr>
          <p:spPr>
            <a:xfrm>
              <a:off x="4936487" y="2227734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3">
              <a:extLst>
                <a:ext uri="{FF2B5EF4-FFF2-40B4-BE49-F238E27FC236}">
                  <a16:creationId xmlns:a16="http://schemas.microsoft.com/office/drawing/2014/main" id="{E3A79A6A-A4A1-D748-A016-9E4A6DDC400F}"/>
                </a:ext>
              </a:extLst>
            </p:cNvPr>
            <p:cNvSpPr/>
            <p:nvPr/>
          </p:nvSpPr>
          <p:spPr>
            <a:xfrm>
              <a:off x="4936487" y="2227734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4">
            <a:extLst>
              <a:ext uri="{FF2B5EF4-FFF2-40B4-BE49-F238E27FC236}">
                <a16:creationId xmlns:a16="http://schemas.microsoft.com/office/drawing/2014/main" id="{69D4FE77-49E1-6D4F-B2CA-7221FF30D971}"/>
              </a:ext>
            </a:extLst>
          </p:cNvPr>
          <p:cNvGrpSpPr/>
          <p:nvPr/>
        </p:nvGrpSpPr>
        <p:grpSpPr>
          <a:xfrm>
            <a:off x="5127733" y="3501849"/>
            <a:ext cx="3150870" cy="358140"/>
            <a:chOff x="4931712" y="2654356"/>
            <a:chExt cx="3150870" cy="358140"/>
          </a:xfrm>
        </p:grpSpPr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D3D31D9F-67A2-F841-99F1-D648F4057FE2}"/>
                </a:ext>
              </a:extLst>
            </p:cNvPr>
            <p:cNvSpPr/>
            <p:nvPr/>
          </p:nvSpPr>
          <p:spPr>
            <a:xfrm>
              <a:off x="4936475" y="2659118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6">
              <a:extLst>
                <a:ext uri="{FF2B5EF4-FFF2-40B4-BE49-F238E27FC236}">
                  <a16:creationId xmlns:a16="http://schemas.microsoft.com/office/drawing/2014/main" id="{8A56207E-88F1-BD4F-A8C7-F1DFDE3AB561}"/>
                </a:ext>
              </a:extLst>
            </p:cNvPr>
            <p:cNvSpPr/>
            <p:nvPr/>
          </p:nvSpPr>
          <p:spPr>
            <a:xfrm>
              <a:off x="4936475" y="2659118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3B277717-782C-0943-B401-4FC0FBEEB202}"/>
              </a:ext>
            </a:extLst>
          </p:cNvPr>
          <p:cNvGrpSpPr/>
          <p:nvPr/>
        </p:nvGrpSpPr>
        <p:grpSpPr>
          <a:xfrm>
            <a:off x="5127758" y="3933233"/>
            <a:ext cx="3150870" cy="358140"/>
            <a:chOff x="4931737" y="3085740"/>
            <a:chExt cx="3150870" cy="358140"/>
          </a:xfrm>
        </p:grpSpPr>
        <p:sp>
          <p:nvSpPr>
            <p:cNvPr id="19" name="object 18">
              <a:extLst>
                <a:ext uri="{FF2B5EF4-FFF2-40B4-BE49-F238E27FC236}">
                  <a16:creationId xmlns:a16="http://schemas.microsoft.com/office/drawing/2014/main" id="{65B413C5-BE3D-414B-AAAE-7D86E5B9EF5F}"/>
                </a:ext>
              </a:extLst>
            </p:cNvPr>
            <p:cNvSpPr/>
            <p:nvPr/>
          </p:nvSpPr>
          <p:spPr>
            <a:xfrm>
              <a:off x="4936499" y="3090503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7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9">
              <a:extLst>
                <a:ext uri="{FF2B5EF4-FFF2-40B4-BE49-F238E27FC236}">
                  <a16:creationId xmlns:a16="http://schemas.microsoft.com/office/drawing/2014/main" id="{A876E1EA-F990-3C45-AEE3-8CA5283ED2E4}"/>
                </a:ext>
              </a:extLst>
            </p:cNvPr>
            <p:cNvSpPr/>
            <p:nvPr/>
          </p:nvSpPr>
          <p:spPr>
            <a:xfrm>
              <a:off x="4936499" y="3090503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7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0">
            <a:extLst>
              <a:ext uri="{FF2B5EF4-FFF2-40B4-BE49-F238E27FC236}">
                <a16:creationId xmlns:a16="http://schemas.microsoft.com/office/drawing/2014/main" id="{C2AC7B32-630A-7B40-803D-86B85702BFD8}"/>
              </a:ext>
            </a:extLst>
          </p:cNvPr>
          <p:cNvGrpSpPr/>
          <p:nvPr/>
        </p:nvGrpSpPr>
        <p:grpSpPr>
          <a:xfrm>
            <a:off x="5127733" y="4364617"/>
            <a:ext cx="3150870" cy="358140"/>
            <a:chOff x="4931712" y="3517124"/>
            <a:chExt cx="3150870" cy="358140"/>
          </a:xfrm>
        </p:grpSpPr>
        <p:sp>
          <p:nvSpPr>
            <p:cNvPr id="22" name="object 21">
              <a:extLst>
                <a:ext uri="{FF2B5EF4-FFF2-40B4-BE49-F238E27FC236}">
                  <a16:creationId xmlns:a16="http://schemas.microsoft.com/office/drawing/2014/main" id="{91798EF6-A719-C14C-8271-B5B0FBB0F901}"/>
                </a:ext>
              </a:extLst>
            </p:cNvPr>
            <p:cNvSpPr/>
            <p:nvPr/>
          </p:nvSpPr>
          <p:spPr>
            <a:xfrm>
              <a:off x="4936475" y="3521887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2">
              <a:extLst>
                <a:ext uri="{FF2B5EF4-FFF2-40B4-BE49-F238E27FC236}">
                  <a16:creationId xmlns:a16="http://schemas.microsoft.com/office/drawing/2014/main" id="{D5738D41-A202-6E48-AFED-EFFF891C0023}"/>
                </a:ext>
              </a:extLst>
            </p:cNvPr>
            <p:cNvSpPr/>
            <p:nvPr/>
          </p:nvSpPr>
          <p:spPr>
            <a:xfrm>
              <a:off x="4936475" y="3521887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1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8"/>
                  </a:lnTo>
                  <a:lnTo>
                    <a:pt x="3140999" y="58001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1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3">
            <a:extLst>
              <a:ext uri="{FF2B5EF4-FFF2-40B4-BE49-F238E27FC236}">
                <a16:creationId xmlns:a16="http://schemas.microsoft.com/office/drawing/2014/main" id="{EB173815-15BB-FD4D-9093-280F35F1FAF3}"/>
              </a:ext>
            </a:extLst>
          </p:cNvPr>
          <p:cNvGrpSpPr/>
          <p:nvPr/>
        </p:nvGrpSpPr>
        <p:grpSpPr>
          <a:xfrm>
            <a:off x="5127758" y="4796002"/>
            <a:ext cx="3150870" cy="358140"/>
            <a:chOff x="4931737" y="3948509"/>
            <a:chExt cx="3150870" cy="358140"/>
          </a:xfrm>
        </p:grpSpPr>
        <p:sp>
          <p:nvSpPr>
            <p:cNvPr id="25" name="object 24">
              <a:extLst>
                <a:ext uri="{FF2B5EF4-FFF2-40B4-BE49-F238E27FC236}">
                  <a16:creationId xmlns:a16="http://schemas.microsoft.com/office/drawing/2014/main" id="{1B68DA65-F3B6-6E40-A1D3-3784B5971FE9}"/>
                </a:ext>
              </a:extLst>
            </p:cNvPr>
            <p:cNvSpPr/>
            <p:nvPr/>
          </p:nvSpPr>
          <p:spPr>
            <a:xfrm>
              <a:off x="4936499" y="3953271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0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0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5">
              <a:extLst>
                <a:ext uri="{FF2B5EF4-FFF2-40B4-BE49-F238E27FC236}">
                  <a16:creationId xmlns:a16="http://schemas.microsoft.com/office/drawing/2014/main" id="{2F0FB1C3-9B23-5847-A358-3B504B389E37}"/>
                </a:ext>
              </a:extLst>
            </p:cNvPr>
            <p:cNvSpPr/>
            <p:nvPr/>
          </p:nvSpPr>
          <p:spPr>
            <a:xfrm>
              <a:off x="4936499" y="3953271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0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0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0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6">
            <a:extLst>
              <a:ext uri="{FF2B5EF4-FFF2-40B4-BE49-F238E27FC236}">
                <a16:creationId xmlns:a16="http://schemas.microsoft.com/office/drawing/2014/main" id="{9B64E37C-7B4F-944F-9ABF-6A66DDE3E97B}"/>
              </a:ext>
            </a:extLst>
          </p:cNvPr>
          <p:cNvSpPr txBox="1"/>
          <p:nvPr/>
        </p:nvSpPr>
        <p:spPr>
          <a:xfrm>
            <a:off x="4776636" y="3698030"/>
            <a:ext cx="228600" cy="8464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600" spc="-10" dirty="0">
                <a:latin typeface="Arial MT"/>
                <a:cs typeface="Arial MT"/>
              </a:rPr>
              <a:t>Interview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8" name="object 27">
            <a:extLst>
              <a:ext uri="{FF2B5EF4-FFF2-40B4-BE49-F238E27FC236}">
                <a16:creationId xmlns:a16="http://schemas.microsoft.com/office/drawing/2014/main" id="{A1EA3515-F58C-B24F-87A1-C8D6F6E720DE}"/>
              </a:ext>
            </a:extLst>
          </p:cNvPr>
          <p:cNvGrpSpPr/>
          <p:nvPr/>
        </p:nvGrpSpPr>
        <p:grpSpPr>
          <a:xfrm>
            <a:off x="2574972" y="3111322"/>
            <a:ext cx="123189" cy="1966595"/>
            <a:chOff x="2378951" y="2263829"/>
            <a:chExt cx="123189" cy="1966595"/>
          </a:xfrm>
        </p:grpSpPr>
        <p:sp>
          <p:nvSpPr>
            <p:cNvPr id="29" name="object 28">
              <a:extLst>
                <a:ext uri="{FF2B5EF4-FFF2-40B4-BE49-F238E27FC236}">
                  <a16:creationId xmlns:a16="http://schemas.microsoft.com/office/drawing/2014/main" id="{D18EFC62-E6B3-8546-A4B2-874415178245}"/>
                </a:ext>
              </a:extLst>
            </p:cNvPr>
            <p:cNvSpPr/>
            <p:nvPr/>
          </p:nvSpPr>
          <p:spPr>
            <a:xfrm>
              <a:off x="2440437" y="2263829"/>
              <a:ext cx="0" cy="1822450"/>
            </a:xfrm>
            <a:custGeom>
              <a:avLst/>
              <a:gdLst/>
              <a:ahLst/>
              <a:cxnLst/>
              <a:rect l="l" t="t" r="r" b="b"/>
              <a:pathLst>
                <a:path h="1822450">
                  <a:moveTo>
                    <a:pt x="0" y="0"/>
                  </a:moveTo>
                  <a:lnTo>
                    <a:pt x="0" y="1822049"/>
                  </a:lnTo>
                </a:path>
              </a:pathLst>
            </a:custGeom>
            <a:ln w="2857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29">
              <a:extLst>
                <a:ext uri="{FF2B5EF4-FFF2-40B4-BE49-F238E27FC236}">
                  <a16:creationId xmlns:a16="http://schemas.microsoft.com/office/drawing/2014/main" id="{634BA0C7-9DD7-9948-A621-09212C2C4A4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8951" y="4071591"/>
              <a:ext cx="122971" cy="158250"/>
            </a:xfrm>
            <a:prstGeom prst="rect">
              <a:avLst/>
            </a:prstGeom>
          </p:spPr>
        </p:pic>
      </p:grpSp>
      <p:sp>
        <p:nvSpPr>
          <p:cNvPr id="31" name="object 30">
            <a:extLst>
              <a:ext uri="{FF2B5EF4-FFF2-40B4-BE49-F238E27FC236}">
                <a16:creationId xmlns:a16="http://schemas.microsoft.com/office/drawing/2014/main" id="{C341162B-0E86-F345-B091-588F13DB2AC3}"/>
              </a:ext>
            </a:extLst>
          </p:cNvPr>
          <p:cNvSpPr txBox="1"/>
          <p:nvPr/>
        </p:nvSpPr>
        <p:spPr>
          <a:xfrm>
            <a:off x="2668311" y="3711620"/>
            <a:ext cx="228600" cy="79311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600" spc="-10" dirty="0">
                <a:latin typeface="Arial MT"/>
                <a:cs typeface="Arial MT"/>
              </a:rPr>
              <a:t>Usability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2" name="object 31">
            <a:extLst>
              <a:ext uri="{FF2B5EF4-FFF2-40B4-BE49-F238E27FC236}">
                <a16:creationId xmlns:a16="http://schemas.microsoft.com/office/drawing/2014/main" id="{0C35E9FC-F944-3140-9095-A80DFA6DD729}"/>
              </a:ext>
            </a:extLst>
          </p:cNvPr>
          <p:cNvSpPr/>
          <p:nvPr/>
        </p:nvSpPr>
        <p:spPr>
          <a:xfrm>
            <a:off x="3222645" y="3124662"/>
            <a:ext cx="0" cy="1822450"/>
          </a:xfrm>
          <a:custGeom>
            <a:avLst/>
            <a:gdLst/>
            <a:ahLst/>
            <a:cxnLst/>
            <a:rect l="l" t="t" r="r" b="b"/>
            <a:pathLst>
              <a:path h="1822450">
                <a:moveTo>
                  <a:pt x="0" y="0"/>
                </a:moveTo>
                <a:lnTo>
                  <a:pt x="0" y="1822049"/>
                </a:lnTo>
              </a:path>
            </a:pathLst>
          </a:custGeom>
          <a:ln w="28574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2">
            <a:extLst>
              <a:ext uri="{FF2B5EF4-FFF2-40B4-BE49-F238E27FC236}">
                <a16:creationId xmlns:a16="http://schemas.microsoft.com/office/drawing/2014/main" id="{E7441980-BECB-8447-8D59-6764FD608A5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1160" y="4932425"/>
            <a:ext cx="122971" cy="158251"/>
          </a:xfrm>
          <a:prstGeom prst="rect">
            <a:avLst/>
          </a:prstGeom>
        </p:spPr>
      </p:pic>
      <p:sp>
        <p:nvSpPr>
          <p:cNvPr id="34" name="object 33">
            <a:extLst>
              <a:ext uri="{FF2B5EF4-FFF2-40B4-BE49-F238E27FC236}">
                <a16:creationId xmlns:a16="http://schemas.microsoft.com/office/drawing/2014/main" id="{484EE938-21D1-2148-AED4-90D61DD0C303}"/>
              </a:ext>
            </a:extLst>
          </p:cNvPr>
          <p:cNvSpPr txBox="1"/>
          <p:nvPr/>
        </p:nvSpPr>
        <p:spPr>
          <a:xfrm>
            <a:off x="3254498" y="3749249"/>
            <a:ext cx="228600" cy="74422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630"/>
              </a:lnSpc>
            </a:pPr>
            <a:r>
              <a:rPr sz="1600" spc="-10" dirty="0">
                <a:latin typeface="Arial MT"/>
                <a:cs typeface="Arial MT"/>
              </a:rPr>
              <a:t>Security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35" name="object 34">
            <a:extLst>
              <a:ext uri="{FF2B5EF4-FFF2-40B4-BE49-F238E27FC236}">
                <a16:creationId xmlns:a16="http://schemas.microsoft.com/office/drawing/2014/main" id="{0EA30B92-63C6-A249-B415-5CADD3DA1967}"/>
              </a:ext>
            </a:extLst>
          </p:cNvPr>
          <p:cNvSpPr/>
          <p:nvPr/>
        </p:nvSpPr>
        <p:spPr>
          <a:xfrm>
            <a:off x="4061258" y="3124667"/>
            <a:ext cx="392430" cy="1993900"/>
          </a:xfrm>
          <a:custGeom>
            <a:avLst/>
            <a:gdLst/>
            <a:ahLst/>
            <a:cxnLst/>
            <a:rect l="l" t="t" r="r" b="b"/>
            <a:pathLst>
              <a:path w="392429" h="1993900">
                <a:moveTo>
                  <a:pt x="392099" y="0"/>
                </a:moveTo>
                <a:lnTo>
                  <a:pt x="353673" y="3801"/>
                </a:lnTo>
                <a:lnTo>
                  <a:pt x="317074" y="14923"/>
                </a:lnTo>
                <a:lnTo>
                  <a:pt x="283331" y="32938"/>
                </a:lnTo>
                <a:lnTo>
                  <a:pt x="253471" y="57421"/>
                </a:lnTo>
                <a:lnTo>
                  <a:pt x="228988" y="87281"/>
                </a:lnTo>
                <a:lnTo>
                  <a:pt x="210973" y="121024"/>
                </a:lnTo>
                <a:lnTo>
                  <a:pt x="199851" y="157623"/>
                </a:lnTo>
                <a:lnTo>
                  <a:pt x="196049" y="196049"/>
                </a:lnTo>
                <a:lnTo>
                  <a:pt x="196049" y="800699"/>
                </a:lnTo>
                <a:lnTo>
                  <a:pt x="190872" y="845652"/>
                </a:lnTo>
                <a:lnTo>
                  <a:pt x="176123" y="886917"/>
                </a:lnTo>
                <a:lnTo>
                  <a:pt x="152980" y="923319"/>
                </a:lnTo>
                <a:lnTo>
                  <a:pt x="122619" y="953680"/>
                </a:lnTo>
                <a:lnTo>
                  <a:pt x="86217" y="976823"/>
                </a:lnTo>
                <a:lnTo>
                  <a:pt x="44952" y="991572"/>
                </a:lnTo>
                <a:lnTo>
                  <a:pt x="0" y="996749"/>
                </a:lnTo>
                <a:lnTo>
                  <a:pt x="44952" y="1001927"/>
                </a:lnTo>
                <a:lnTo>
                  <a:pt x="86217" y="1016676"/>
                </a:lnTo>
                <a:lnTo>
                  <a:pt x="122619" y="1039819"/>
                </a:lnTo>
                <a:lnTo>
                  <a:pt x="152980" y="1070180"/>
                </a:lnTo>
                <a:lnTo>
                  <a:pt x="176123" y="1106582"/>
                </a:lnTo>
                <a:lnTo>
                  <a:pt x="190872" y="1147847"/>
                </a:lnTo>
                <a:lnTo>
                  <a:pt x="196049" y="1192799"/>
                </a:lnTo>
                <a:lnTo>
                  <a:pt x="196049" y="1797449"/>
                </a:lnTo>
                <a:lnTo>
                  <a:pt x="201227" y="1842402"/>
                </a:lnTo>
                <a:lnTo>
                  <a:pt x="215976" y="1883667"/>
                </a:lnTo>
                <a:lnTo>
                  <a:pt x="239119" y="1920069"/>
                </a:lnTo>
                <a:lnTo>
                  <a:pt x="269480" y="1950430"/>
                </a:lnTo>
                <a:lnTo>
                  <a:pt x="305882" y="1973573"/>
                </a:lnTo>
                <a:lnTo>
                  <a:pt x="347147" y="1988322"/>
                </a:lnTo>
                <a:lnTo>
                  <a:pt x="392099" y="1993499"/>
                </a:lnTo>
              </a:path>
            </a:pathLst>
          </a:custGeom>
          <a:ln w="19049">
            <a:solidFill>
              <a:srgbClr val="2121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5">
            <a:extLst>
              <a:ext uri="{FF2B5EF4-FFF2-40B4-BE49-F238E27FC236}">
                <a16:creationId xmlns:a16="http://schemas.microsoft.com/office/drawing/2014/main" id="{1E6259D1-FC5A-F84A-8DF3-AC07828BC320}"/>
              </a:ext>
            </a:extLst>
          </p:cNvPr>
          <p:cNvSpPr txBox="1"/>
          <p:nvPr/>
        </p:nvSpPr>
        <p:spPr>
          <a:xfrm>
            <a:off x="1207511" y="3729339"/>
            <a:ext cx="11772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1600" spc="-45" dirty="0">
                <a:latin typeface="Arial MT"/>
                <a:cs typeface="Arial MT"/>
              </a:rPr>
              <a:t>Two</a:t>
            </a:r>
            <a:r>
              <a:rPr sz="1600" spc="-6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sections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each </a:t>
            </a:r>
            <a:r>
              <a:rPr sz="1600" spc="-10" dirty="0">
                <a:latin typeface="Arial MT"/>
                <a:cs typeface="Arial MT"/>
              </a:rPr>
              <a:t>interview: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37" name="object 36">
            <a:extLst>
              <a:ext uri="{FF2B5EF4-FFF2-40B4-BE49-F238E27FC236}">
                <a16:creationId xmlns:a16="http://schemas.microsoft.com/office/drawing/2014/main" id="{E78A9AAB-922D-7E48-AF91-108AA35CCC84}"/>
              </a:ext>
            </a:extLst>
          </p:cNvPr>
          <p:cNvGrpSpPr/>
          <p:nvPr/>
        </p:nvGrpSpPr>
        <p:grpSpPr>
          <a:xfrm>
            <a:off x="5127758" y="5227402"/>
            <a:ext cx="3150870" cy="358140"/>
            <a:chOff x="4931737" y="4379909"/>
            <a:chExt cx="3150870" cy="358140"/>
          </a:xfrm>
        </p:grpSpPr>
        <p:sp>
          <p:nvSpPr>
            <p:cNvPr id="38" name="object 37">
              <a:extLst>
                <a:ext uri="{FF2B5EF4-FFF2-40B4-BE49-F238E27FC236}">
                  <a16:creationId xmlns:a16="http://schemas.microsoft.com/office/drawing/2014/main" id="{541E6959-C2F7-1144-80B4-49F6891B7DDF}"/>
                </a:ext>
              </a:extLst>
            </p:cNvPr>
            <p:cNvSpPr/>
            <p:nvPr/>
          </p:nvSpPr>
          <p:spPr>
            <a:xfrm>
              <a:off x="4936499" y="4384671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3082999" y="347999"/>
                  </a:move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0"/>
                  </a:ln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0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8">
              <a:extLst>
                <a:ext uri="{FF2B5EF4-FFF2-40B4-BE49-F238E27FC236}">
                  <a16:creationId xmlns:a16="http://schemas.microsoft.com/office/drawing/2014/main" id="{2DFBDB87-FB8A-7B42-8FD7-2E1023DA782C}"/>
                </a:ext>
              </a:extLst>
            </p:cNvPr>
            <p:cNvSpPr/>
            <p:nvPr/>
          </p:nvSpPr>
          <p:spPr>
            <a:xfrm>
              <a:off x="4936499" y="4384671"/>
              <a:ext cx="3141345" cy="348615"/>
            </a:xfrm>
            <a:custGeom>
              <a:avLst/>
              <a:gdLst/>
              <a:ahLst/>
              <a:cxnLst/>
              <a:rect l="l" t="t" r="r" b="b"/>
              <a:pathLst>
                <a:path w="3141345" h="348614">
                  <a:moveTo>
                    <a:pt x="0" y="58000"/>
                  </a:moveTo>
                  <a:lnTo>
                    <a:pt x="4558" y="35424"/>
                  </a:lnTo>
                  <a:lnTo>
                    <a:pt x="16988" y="16988"/>
                  </a:lnTo>
                  <a:lnTo>
                    <a:pt x="35424" y="4558"/>
                  </a:lnTo>
                  <a:lnTo>
                    <a:pt x="58001" y="0"/>
                  </a:lnTo>
                  <a:lnTo>
                    <a:pt x="3082999" y="0"/>
                  </a:lnTo>
                  <a:lnTo>
                    <a:pt x="3124011" y="16987"/>
                  </a:lnTo>
                  <a:lnTo>
                    <a:pt x="3140999" y="58000"/>
                  </a:lnTo>
                  <a:lnTo>
                    <a:pt x="3140999" y="289998"/>
                  </a:lnTo>
                  <a:lnTo>
                    <a:pt x="3136441" y="312575"/>
                  </a:lnTo>
                  <a:lnTo>
                    <a:pt x="3124011" y="331011"/>
                  </a:lnTo>
                  <a:lnTo>
                    <a:pt x="3105575" y="343441"/>
                  </a:lnTo>
                  <a:lnTo>
                    <a:pt x="3082999" y="347999"/>
                  </a:lnTo>
                  <a:lnTo>
                    <a:pt x="58001" y="347999"/>
                  </a:lnTo>
                  <a:lnTo>
                    <a:pt x="35424" y="343441"/>
                  </a:lnTo>
                  <a:lnTo>
                    <a:pt x="16988" y="331011"/>
                  </a:lnTo>
                  <a:lnTo>
                    <a:pt x="4558" y="312575"/>
                  </a:lnTo>
                  <a:lnTo>
                    <a:pt x="0" y="289998"/>
                  </a:lnTo>
                  <a:lnTo>
                    <a:pt x="0" y="58000"/>
                  </a:lnTo>
                  <a:close/>
                </a:path>
              </a:pathLst>
            </a:custGeom>
            <a:ln w="9524">
              <a:solidFill>
                <a:srgbClr val="21212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39">
            <a:extLst>
              <a:ext uri="{FF2B5EF4-FFF2-40B4-BE49-F238E27FC236}">
                <a16:creationId xmlns:a16="http://schemas.microsoft.com/office/drawing/2014/main" id="{73DE35A0-6CEE-724C-BA52-EA03D56FBB05}"/>
              </a:ext>
            </a:extLst>
          </p:cNvPr>
          <p:cNvSpPr txBox="1"/>
          <p:nvPr/>
        </p:nvSpPr>
        <p:spPr>
          <a:xfrm>
            <a:off x="4662158" y="2571243"/>
            <a:ext cx="3704590" cy="3110230"/>
          </a:xfrm>
          <a:prstGeom prst="rect">
            <a:avLst/>
          </a:prstGeom>
          <a:ln w="9524">
            <a:solidFill>
              <a:srgbClr val="212121"/>
            </a:solidFill>
          </a:ln>
        </p:spPr>
        <p:txBody>
          <a:bodyPr vert="horz" wrap="square" lIns="0" tIns="114300" rIns="0" bIns="0" rtlCol="0">
            <a:spAutoFit/>
          </a:bodyPr>
          <a:lstStyle/>
          <a:p>
            <a:pPr marL="377190" algn="ctr">
              <a:lnSpc>
                <a:spcPct val="100000"/>
              </a:lnSpc>
              <a:spcBef>
                <a:spcPts val="900"/>
              </a:spcBef>
            </a:pPr>
            <a:r>
              <a:rPr sz="1600" dirty="0">
                <a:latin typeface="Arial MT"/>
                <a:cs typeface="Arial MT"/>
              </a:rPr>
              <a:t>Intro</a:t>
            </a:r>
            <a:r>
              <a:rPr sz="1600" spc="65" dirty="0">
                <a:latin typeface="Arial MT"/>
                <a:cs typeface="Arial MT"/>
              </a:rPr>
              <a:t> </a:t>
            </a:r>
            <a:r>
              <a:rPr sz="1600" spc="60" dirty="0">
                <a:latin typeface="Arial MT"/>
                <a:cs typeface="Arial MT"/>
              </a:rPr>
              <a:t>&amp;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Individual</a:t>
            </a:r>
            <a:r>
              <a:rPr sz="1600" spc="7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Questions</a:t>
            </a:r>
            <a:endParaRPr sz="1600">
              <a:latin typeface="Arial MT"/>
              <a:cs typeface="Arial MT"/>
            </a:endParaRPr>
          </a:p>
          <a:p>
            <a:pPr marL="1322070" marR="936625" algn="ctr">
              <a:lnSpc>
                <a:spcPct val="176900"/>
              </a:lnSpc>
            </a:pPr>
            <a:r>
              <a:rPr sz="1600" spc="-10" dirty="0">
                <a:latin typeface="Arial MT"/>
                <a:cs typeface="Arial MT"/>
              </a:rPr>
              <a:t>Communication Modelling Planning Construction Deployment </a:t>
            </a:r>
            <a:r>
              <a:rPr sz="1600" spc="-10" dirty="0">
                <a:solidFill>
                  <a:srgbClr val="801620"/>
                </a:solidFill>
                <a:latin typeface="Arial MT"/>
                <a:cs typeface="Arial MT"/>
              </a:rPr>
              <a:t>Usable</a:t>
            </a:r>
            <a:r>
              <a:rPr sz="1600" spc="-9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801620"/>
                </a:solidFill>
                <a:latin typeface="Arial MT"/>
                <a:cs typeface="Arial MT"/>
              </a:rPr>
              <a:t>Security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41" name="object 40">
            <a:extLst>
              <a:ext uri="{FF2B5EF4-FFF2-40B4-BE49-F238E27FC236}">
                <a16:creationId xmlns:a16="http://schemas.microsoft.com/office/drawing/2014/main" id="{4CAB8A05-1D28-BF46-B60E-B2899E07751E}"/>
              </a:ext>
            </a:extLst>
          </p:cNvPr>
          <p:cNvSpPr txBox="1">
            <a:spLocks/>
          </p:cNvSpPr>
          <p:nvPr/>
        </p:nvSpPr>
        <p:spPr>
          <a:xfrm>
            <a:off x="8922704" y="5624137"/>
            <a:ext cx="302259" cy="2489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spcBef>
                <a:spcPts val="75"/>
              </a:spcBef>
            </a:pPr>
            <a:fld id="{81D60167-4931-47E6-BA6A-407CBD079E47}" type="slidenum">
              <a:rPr lang="en-US" spc="-25" smtClean="0"/>
              <a:pPr marL="38100">
                <a:spcBef>
                  <a:spcPts val="75"/>
                </a:spcBef>
              </a:pPr>
              <a:t>13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39925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D82DD8-850C-F142-A8BA-78F66D85C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33619A-6A5F-564B-BC0D-E9E78A24C264}"/>
              </a:ext>
            </a:extLst>
          </p:cNvPr>
          <p:cNvSpPr/>
          <p:nvPr/>
        </p:nvSpPr>
        <p:spPr>
          <a:xfrm>
            <a:off x="3387025" y="2909798"/>
            <a:ext cx="298671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What they </a:t>
            </a:r>
            <a:r>
              <a:rPr lang="en-US" sz="2800" b="1" spc="70" dirty="0"/>
              <a:t>found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655442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F5B8CA-D8DF-2143-B793-14C14298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EDC4D13F-6C25-4A4B-90BC-423270C6A3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424" y="1877469"/>
            <a:ext cx="7529976" cy="3599195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10BFEABD-370A-594F-AADB-A78EB36085FD}"/>
              </a:ext>
            </a:extLst>
          </p:cNvPr>
          <p:cNvSpPr txBox="1">
            <a:spLocks/>
          </p:cNvSpPr>
          <p:nvPr/>
        </p:nvSpPr>
        <p:spPr>
          <a:xfrm>
            <a:off x="222854" y="362782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Key</a:t>
            </a:r>
            <a:r>
              <a:rPr lang="en-US" spc="-280" dirty="0"/>
              <a:t> </a:t>
            </a:r>
            <a:r>
              <a:rPr lang="en-US" spc="-10" dirty="0"/>
              <a:t>Findings</a:t>
            </a:r>
          </a:p>
        </p:txBody>
      </p:sp>
    </p:spTree>
    <p:extLst>
      <p:ext uri="{BB962C8B-B14F-4D97-AF65-F5344CB8AC3E}">
        <p14:creationId xmlns:p14="http://schemas.microsoft.com/office/powerpoint/2010/main" val="223184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658DE5-0C6A-B24D-B1DF-2853BD09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16</a:t>
            </a:fld>
            <a:endParaRPr lang="zh-CN" altLang="en-US"/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E5C124D3-BFA4-7443-A7D6-004339B6DA78}"/>
              </a:ext>
            </a:extLst>
          </p:cNvPr>
          <p:cNvGrpSpPr/>
          <p:nvPr/>
        </p:nvGrpSpPr>
        <p:grpSpPr>
          <a:xfrm>
            <a:off x="739205" y="1320146"/>
            <a:ext cx="7599045" cy="3710940"/>
            <a:chOff x="543184" y="1119424"/>
            <a:chExt cx="7599045" cy="371094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5470B8AF-F31C-FB41-97FA-99FCF31DF57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184" y="1230698"/>
              <a:ext cx="7529976" cy="3599195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DAA45330-B4F1-274F-BA8D-39236D1E3656}"/>
                </a:ext>
              </a:extLst>
            </p:cNvPr>
            <p:cNvSpPr/>
            <p:nvPr/>
          </p:nvSpPr>
          <p:spPr>
            <a:xfrm>
              <a:off x="1097470" y="1119428"/>
              <a:ext cx="7044690" cy="3197860"/>
            </a:xfrm>
            <a:custGeom>
              <a:avLst/>
              <a:gdLst/>
              <a:ahLst/>
              <a:cxnLst/>
              <a:rect l="l" t="t" r="r" b="b"/>
              <a:pathLst>
                <a:path w="7044690" h="3197860">
                  <a:moveTo>
                    <a:pt x="3489896" y="0"/>
                  </a:moveTo>
                  <a:lnTo>
                    <a:pt x="0" y="0"/>
                  </a:lnTo>
                  <a:lnTo>
                    <a:pt x="0" y="3197402"/>
                  </a:lnTo>
                  <a:lnTo>
                    <a:pt x="3489896" y="3197402"/>
                  </a:lnTo>
                  <a:lnTo>
                    <a:pt x="3489896" y="0"/>
                  </a:lnTo>
                  <a:close/>
                </a:path>
                <a:path w="7044690" h="3197860">
                  <a:moveTo>
                    <a:pt x="7044474" y="1601050"/>
                  </a:moveTo>
                  <a:lnTo>
                    <a:pt x="3554577" y="1601050"/>
                  </a:lnTo>
                  <a:lnTo>
                    <a:pt x="3554577" y="3197352"/>
                  </a:lnTo>
                  <a:lnTo>
                    <a:pt x="7044474" y="3197352"/>
                  </a:lnTo>
                  <a:lnTo>
                    <a:pt x="7044474" y="1601050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A2620396-2EE8-734E-831A-4B9B2F1C8F21}"/>
                </a:ext>
              </a:extLst>
            </p:cNvPr>
            <p:cNvSpPr/>
            <p:nvPr/>
          </p:nvSpPr>
          <p:spPr>
            <a:xfrm>
              <a:off x="4682849" y="1265749"/>
              <a:ext cx="3373120" cy="1419860"/>
            </a:xfrm>
            <a:custGeom>
              <a:avLst/>
              <a:gdLst/>
              <a:ahLst/>
              <a:cxnLst/>
              <a:rect l="l" t="t" r="r" b="b"/>
              <a:pathLst>
                <a:path w="3373120" h="1419860">
                  <a:moveTo>
                    <a:pt x="0" y="0"/>
                  </a:moveTo>
                  <a:lnTo>
                    <a:pt x="3372899" y="0"/>
                  </a:lnTo>
                  <a:lnTo>
                    <a:pt x="3372899" y="1419299"/>
                  </a:lnTo>
                  <a:lnTo>
                    <a:pt x="0" y="14192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5AB52792-0B25-3142-AC34-086D020F0004}"/>
                </a:ext>
              </a:extLst>
            </p:cNvPr>
            <p:cNvSpPr/>
            <p:nvPr/>
          </p:nvSpPr>
          <p:spPr>
            <a:xfrm>
              <a:off x="4682549" y="1251124"/>
              <a:ext cx="3373120" cy="1434465"/>
            </a:xfrm>
            <a:custGeom>
              <a:avLst/>
              <a:gdLst/>
              <a:ahLst/>
              <a:cxnLst/>
              <a:rect l="l" t="t" r="r" b="b"/>
              <a:pathLst>
                <a:path w="3373120" h="1434464">
                  <a:moveTo>
                    <a:pt x="0" y="239004"/>
                  </a:moveTo>
                  <a:lnTo>
                    <a:pt x="4855" y="190836"/>
                  </a:lnTo>
                  <a:lnTo>
                    <a:pt x="18782" y="145973"/>
                  </a:lnTo>
                  <a:lnTo>
                    <a:pt x="40818" y="105374"/>
                  </a:lnTo>
                  <a:lnTo>
                    <a:pt x="70002" y="70002"/>
                  </a:lnTo>
                  <a:lnTo>
                    <a:pt x="105374" y="40818"/>
                  </a:lnTo>
                  <a:lnTo>
                    <a:pt x="145973" y="18782"/>
                  </a:lnTo>
                  <a:lnTo>
                    <a:pt x="190837" y="4855"/>
                  </a:lnTo>
                  <a:lnTo>
                    <a:pt x="239004" y="0"/>
                  </a:lnTo>
                  <a:lnTo>
                    <a:pt x="3133894" y="0"/>
                  </a:lnTo>
                  <a:lnTo>
                    <a:pt x="3180740" y="4634"/>
                  </a:lnTo>
                  <a:lnTo>
                    <a:pt x="3225358" y="18193"/>
                  </a:lnTo>
                  <a:lnTo>
                    <a:pt x="3266495" y="40155"/>
                  </a:lnTo>
                  <a:lnTo>
                    <a:pt x="3302896" y="70002"/>
                  </a:lnTo>
                  <a:lnTo>
                    <a:pt x="3332744" y="106404"/>
                  </a:lnTo>
                  <a:lnTo>
                    <a:pt x="3354706" y="147541"/>
                  </a:lnTo>
                  <a:lnTo>
                    <a:pt x="3368265" y="192159"/>
                  </a:lnTo>
                  <a:lnTo>
                    <a:pt x="3372899" y="239004"/>
                  </a:lnTo>
                  <a:lnTo>
                    <a:pt x="3372899" y="1194995"/>
                  </a:lnTo>
                  <a:lnTo>
                    <a:pt x="3368044" y="1243163"/>
                  </a:lnTo>
                  <a:lnTo>
                    <a:pt x="3354117" y="1288026"/>
                  </a:lnTo>
                  <a:lnTo>
                    <a:pt x="3332081" y="1328625"/>
                  </a:lnTo>
                  <a:lnTo>
                    <a:pt x="3302897" y="1363997"/>
                  </a:lnTo>
                  <a:lnTo>
                    <a:pt x="3267524" y="1393181"/>
                  </a:lnTo>
                  <a:lnTo>
                    <a:pt x="3226926" y="1415217"/>
                  </a:lnTo>
                  <a:lnTo>
                    <a:pt x="3182062" y="1429144"/>
                  </a:lnTo>
                  <a:lnTo>
                    <a:pt x="3133894" y="1433999"/>
                  </a:lnTo>
                  <a:lnTo>
                    <a:pt x="239004" y="1433999"/>
                  </a:lnTo>
                  <a:lnTo>
                    <a:pt x="190837" y="1429144"/>
                  </a:lnTo>
                  <a:lnTo>
                    <a:pt x="145973" y="1415217"/>
                  </a:lnTo>
                  <a:lnTo>
                    <a:pt x="105374" y="1393181"/>
                  </a:lnTo>
                  <a:lnTo>
                    <a:pt x="70002" y="1363997"/>
                  </a:lnTo>
                  <a:lnTo>
                    <a:pt x="40818" y="1328625"/>
                  </a:lnTo>
                  <a:lnTo>
                    <a:pt x="18782" y="1288026"/>
                  </a:lnTo>
                  <a:lnTo>
                    <a:pt x="4855" y="1243163"/>
                  </a:lnTo>
                  <a:lnTo>
                    <a:pt x="0" y="1194995"/>
                  </a:lnTo>
                  <a:lnTo>
                    <a:pt x="0" y="239004"/>
                  </a:lnTo>
                  <a:close/>
                </a:path>
              </a:pathLst>
            </a:custGeom>
            <a:ln w="28574">
              <a:solidFill>
                <a:srgbClr val="8016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C7B571E0-8360-404B-85E6-0806FBF2F17E}"/>
              </a:ext>
            </a:extLst>
          </p:cNvPr>
          <p:cNvSpPr txBox="1">
            <a:spLocks/>
          </p:cNvSpPr>
          <p:nvPr/>
        </p:nvSpPr>
        <p:spPr>
          <a:xfrm>
            <a:off x="446070" y="319183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/>
              <a:t>Key</a:t>
            </a:r>
            <a:r>
              <a:rPr lang="en-US" spc="-280"/>
              <a:t> </a:t>
            </a:r>
            <a:r>
              <a:rPr lang="en-US" spc="-10"/>
              <a:t>Findings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861499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7879C9-DA33-9A41-9C2D-2434E2833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17</a:t>
            </a:fld>
            <a:endParaRPr lang="zh-CN" altLang="en-US"/>
          </a:p>
        </p:txBody>
      </p:sp>
      <p:grpSp>
        <p:nvGrpSpPr>
          <p:cNvPr id="3" name="object 2">
            <a:extLst>
              <a:ext uri="{FF2B5EF4-FFF2-40B4-BE49-F238E27FC236}">
                <a16:creationId xmlns:a16="http://schemas.microsoft.com/office/drawing/2014/main" id="{AEE7EC38-23EB-9444-A30B-14D5E9E8C636}"/>
              </a:ext>
            </a:extLst>
          </p:cNvPr>
          <p:cNvGrpSpPr/>
          <p:nvPr/>
        </p:nvGrpSpPr>
        <p:grpSpPr>
          <a:xfrm>
            <a:off x="565487" y="1297843"/>
            <a:ext cx="7599045" cy="3710940"/>
            <a:chOff x="543184" y="1119424"/>
            <a:chExt cx="7599045" cy="371094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40F0AF3F-5A58-7A4C-BB42-C99C389E736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3184" y="1230698"/>
              <a:ext cx="7529976" cy="3599195"/>
            </a:xfrm>
            <a:prstGeom prst="rect">
              <a:avLst/>
            </a:prstGeom>
          </p:spPr>
        </p:pic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ABC08F70-773D-EE47-A93B-3CD406A4977E}"/>
                </a:ext>
              </a:extLst>
            </p:cNvPr>
            <p:cNvSpPr/>
            <p:nvPr/>
          </p:nvSpPr>
          <p:spPr>
            <a:xfrm>
              <a:off x="1097470" y="1119428"/>
              <a:ext cx="7044690" cy="3197860"/>
            </a:xfrm>
            <a:custGeom>
              <a:avLst/>
              <a:gdLst/>
              <a:ahLst/>
              <a:cxnLst/>
              <a:rect l="l" t="t" r="r" b="b"/>
              <a:pathLst>
                <a:path w="7044690" h="3197860">
                  <a:moveTo>
                    <a:pt x="3489896" y="0"/>
                  </a:moveTo>
                  <a:lnTo>
                    <a:pt x="0" y="0"/>
                  </a:lnTo>
                  <a:lnTo>
                    <a:pt x="0" y="1596301"/>
                  </a:lnTo>
                  <a:lnTo>
                    <a:pt x="3489896" y="1596301"/>
                  </a:lnTo>
                  <a:lnTo>
                    <a:pt x="3489896" y="0"/>
                  </a:lnTo>
                  <a:close/>
                </a:path>
                <a:path w="7044690" h="3197860">
                  <a:moveTo>
                    <a:pt x="7044474" y="0"/>
                  </a:moveTo>
                  <a:lnTo>
                    <a:pt x="3554577" y="0"/>
                  </a:lnTo>
                  <a:lnTo>
                    <a:pt x="3554577" y="3197402"/>
                  </a:lnTo>
                  <a:lnTo>
                    <a:pt x="7044474" y="3197402"/>
                  </a:lnTo>
                  <a:lnTo>
                    <a:pt x="7044474" y="0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420E2731-5E8C-DA43-8446-4A629294ABFF}"/>
                </a:ext>
              </a:extLst>
            </p:cNvPr>
            <p:cNvSpPr/>
            <p:nvPr/>
          </p:nvSpPr>
          <p:spPr>
            <a:xfrm>
              <a:off x="1155974" y="2846175"/>
              <a:ext cx="3373120" cy="1419860"/>
            </a:xfrm>
            <a:custGeom>
              <a:avLst/>
              <a:gdLst/>
              <a:ahLst/>
              <a:cxnLst/>
              <a:rect l="l" t="t" r="r" b="b"/>
              <a:pathLst>
                <a:path w="3373120" h="1419860">
                  <a:moveTo>
                    <a:pt x="0" y="0"/>
                  </a:moveTo>
                  <a:lnTo>
                    <a:pt x="3372899" y="0"/>
                  </a:lnTo>
                  <a:lnTo>
                    <a:pt x="3372899" y="1419299"/>
                  </a:lnTo>
                  <a:lnTo>
                    <a:pt x="0" y="1419299"/>
                  </a:lnTo>
                  <a:lnTo>
                    <a:pt x="0" y="0"/>
                  </a:lnTo>
                  <a:close/>
                </a:path>
              </a:pathLst>
            </a:custGeom>
            <a:ln w="1142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C5E52AD4-2660-914A-9F10-0B1944BC6CB5}"/>
                </a:ext>
              </a:extLst>
            </p:cNvPr>
            <p:cNvSpPr/>
            <p:nvPr/>
          </p:nvSpPr>
          <p:spPr>
            <a:xfrm>
              <a:off x="1155974" y="2838825"/>
              <a:ext cx="3373120" cy="1434465"/>
            </a:xfrm>
            <a:custGeom>
              <a:avLst/>
              <a:gdLst/>
              <a:ahLst/>
              <a:cxnLst/>
              <a:rect l="l" t="t" r="r" b="b"/>
              <a:pathLst>
                <a:path w="3373120" h="1434464">
                  <a:moveTo>
                    <a:pt x="0" y="239004"/>
                  </a:moveTo>
                  <a:lnTo>
                    <a:pt x="4855" y="190836"/>
                  </a:lnTo>
                  <a:lnTo>
                    <a:pt x="18782" y="145973"/>
                  </a:lnTo>
                  <a:lnTo>
                    <a:pt x="40818" y="105374"/>
                  </a:lnTo>
                  <a:lnTo>
                    <a:pt x="70002" y="70002"/>
                  </a:lnTo>
                  <a:lnTo>
                    <a:pt x="105374" y="40818"/>
                  </a:lnTo>
                  <a:lnTo>
                    <a:pt x="145973" y="18782"/>
                  </a:lnTo>
                  <a:lnTo>
                    <a:pt x="190836" y="4855"/>
                  </a:lnTo>
                  <a:lnTo>
                    <a:pt x="239004" y="0"/>
                  </a:lnTo>
                  <a:lnTo>
                    <a:pt x="3133895" y="0"/>
                  </a:lnTo>
                  <a:lnTo>
                    <a:pt x="3180740" y="4634"/>
                  </a:lnTo>
                  <a:lnTo>
                    <a:pt x="3225358" y="18193"/>
                  </a:lnTo>
                  <a:lnTo>
                    <a:pt x="3266495" y="40155"/>
                  </a:lnTo>
                  <a:lnTo>
                    <a:pt x="3302897" y="70002"/>
                  </a:lnTo>
                  <a:lnTo>
                    <a:pt x="3332744" y="106404"/>
                  </a:lnTo>
                  <a:lnTo>
                    <a:pt x="3354706" y="147541"/>
                  </a:lnTo>
                  <a:lnTo>
                    <a:pt x="3368265" y="192159"/>
                  </a:lnTo>
                  <a:lnTo>
                    <a:pt x="3372899" y="239004"/>
                  </a:lnTo>
                  <a:lnTo>
                    <a:pt x="3372899" y="1194995"/>
                  </a:lnTo>
                  <a:lnTo>
                    <a:pt x="3368044" y="1243162"/>
                  </a:lnTo>
                  <a:lnTo>
                    <a:pt x="3354117" y="1288026"/>
                  </a:lnTo>
                  <a:lnTo>
                    <a:pt x="3332081" y="1328624"/>
                  </a:lnTo>
                  <a:lnTo>
                    <a:pt x="3302897" y="1363997"/>
                  </a:lnTo>
                  <a:lnTo>
                    <a:pt x="3267524" y="1393181"/>
                  </a:lnTo>
                  <a:lnTo>
                    <a:pt x="3226926" y="1415217"/>
                  </a:lnTo>
                  <a:lnTo>
                    <a:pt x="3182062" y="1429144"/>
                  </a:lnTo>
                  <a:lnTo>
                    <a:pt x="3133895" y="1433999"/>
                  </a:lnTo>
                  <a:lnTo>
                    <a:pt x="239004" y="1433999"/>
                  </a:lnTo>
                  <a:lnTo>
                    <a:pt x="190836" y="1429144"/>
                  </a:lnTo>
                  <a:lnTo>
                    <a:pt x="145973" y="1415217"/>
                  </a:lnTo>
                  <a:lnTo>
                    <a:pt x="105374" y="1393181"/>
                  </a:lnTo>
                  <a:lnTo>
                    <a:pt x="70002" y="1363997"/>
                  </a:lnTo>
                  <a:lnTo>
                    <a:pt x="40818" y="1328624"/>
                  </a:lnTo>
                  <a:lnTo>
                    <a:pt x="18782" y="1288026"/>
                  </a:lnTo>
                  <a:lnTo>
                    <a:pt x="4855" y="1243162"/>
                  </a:lnTo>
                  <a:lnTo>
                    <a:pt x="0" y="1194995"/>
                  </a:lnTo>
                  <a:lnTo>
                    <a:pt x="0" y="239004"/>
                  </a:lnTo>
                  <a:close/>
                </a:path>
              </a:pathLst>
            </a:custGeom>
            <a:ln w="28574">
              <a:solidFill>
                <a:srgbClr val="80162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7">
            <a:extLst>
              <a:ext uri="{FF2B5EF4-FFF2-40B4-BE49-F238E27FC236}">
                <a16:creationId xmlns:a16="http://schemas.microsoft.com/office/drawing/2014/main" id="{0FCDA422-02CE-CE41-9F1D-C3A6C89CB46A}"/>
              </a:ext>
            </a:extLst>
          </p:cNvPr>
          <p:cNvSpPr txBox="1">
            <a:spLocks/>
          </p:cNvSpPr>
          <p:nvPr/>
        </p:nvSpPr>
        <p:spPr>
          <a:xfrm>
            <a:off x="272352" y="296880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/>
              <a:t>Key</a:t>
            </a:r>
            <a:r>
              <a:rPr lang="en-US" spc="-280"/>
              <a:t> </a:t>
            </a:r>
            <a:r>
              <a:rPr lang="en-US" spc="-10"/>
              <a:t>Findings</a:t>
            </a:r>
            <a:endParaRPr lang="en-US" spc="-10" dirty="0"/>
          </a:p>
        </p:txBody>
      </p:sp>
    </p:spTree>
    <p:extLst>
      <p:ext uri="{BB962C8B-B14F-4D97-AF65-F5344CB8AC3E}">
        <p14:creationId xmlns:p14="http://schemas.microsoft.com/office/powerpoint/2010/main" val="1598415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FDC64B-C70E-0242-9A08-5D132EF25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5F71AC17-5A6E-DD4E-A00B-4E9E9A5C24C4}"/>
              </a:ext>
            </a:extLst>
          </p:cNvPr>
          <p:cNvSpPr txBox="1">
            <a:spLocks/>
          </p:cNvSpPr>
          <p:nvPr/>
        </p:nvSpPr>
        <p:spPr>
          <a:xfrm>
            <a:off x="297781" y="104938"/>
            <a:ext cx="7223759" cy="866456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lang="en-US" sz="2800" spc="135" dirty="0"/>
              <a:t>No</a:t>
            </a:r>
            <a:r>
              <a:rPr lang="en-US" sz="2800" spc="-55" dirty="0"/>
              <a:t> </a:t>
            </a:r>
            <a:r>
              <a:rPr lang="en-US" sz="2800" spc="-20" dirty="0"/>
              <a:t>Usable</a:t>
            </a:r>
            <a:r>
              <a:rPr lang="en-US" sz="2800" spc="-55" dirty="0"/>
              <a:t> </a:t>
            </a:r>
            <a:r>
              <a:rPr lang="en-US" sz="2800" spc="-25" dirty="0"/>
              <a:t>Security</a:t>
            </a:r>
            <a:r>
              <a:rPr lang="en-US" sz="2800" spc="-50" dirty="0"/>
              <a:t> </a:t>
            </a:r>
            <a:r>
              <a:rPr lang="en-US" sz="2800" spc="-60" dirty="0"/>
              <a:t>Awareness,</a:t>
            </a:r>
            <a:r>
              <a:rPr lang="en-US" sz="2800" spc="-55" dirty="0"/>
              <a:t> </a:t>
            </a:r>
            <a:r>
              <a:rPr lang="en-US" sz="2800" dirty="0"/>
              <a:t>few</a:t>
            </a:r>
            <a:r>
              <a:rPr lang="en-US" sz="2800" spc="-55" dirty="0"/>
              <a:t> </a:t>
            </a:r>
            <a:r>
              <a:rPr lang="en-US" sz="2800" dirty="0"/>
              <a:t>or</a:t>
            </a:r>
            <a:r>
              <a:rPr lang="en-US" sz="2800" spc="-50" dirty="0"/>
              <a:t> </a:t>
            </a:r>
            <a:r>
              <a:rPr lang="en-US" sz="2800" spc="25" dirty="0"/>
              <a:t>no </a:t>
            </a:r>
            <a:r>
              <a:rPr lang="en-US" sz="2800" spc="-125" dirty="0"/>
              <a:t>User-</a:t>
            </a:r>
            <a:r>
              <a:rPr lang="en-US" sz="2800" dirty="0"/>
              <a:t>Centered</a:t>
            </a:r>
            <a:r>
              <a:rPr lang="en-US" sz="2800" spc="215" dirty="0"/>
              <a:t> </a:t>
            </a:r>
            <a:r>
              <a:rPr lang="en-US" sz="2800" spc="-10" dirty="0"/>
              <a:t>Measures</a:t>
            </a:r>
            <a:endParaRPr lang="en-US" sz="2800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045B796D-C9E6-D041-B06A-D97E6F068FA6}"/>
              </a:ext>
            </a:extLst>
          </p:cNvPr>
          <p:cNvGrpSpPr/>
          <p:nvPr/>
        </p:nvGrpSpPr>
        <p:grpSpPr>
          <a:xfrm>
            <a:off x="4267518" y="1566074"/>
            <a:ext cx="4957445" cy="2505710"/>
            <a:chOff x="4186900" y="1120025"/>
            <a:chExt cx="4957445" cy="2505710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9CA26AEB-1111-9B4B-8BC1-36DE793DF37F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2314" y="1859892"/>
              <a:ext cx="4881896" cy="1765706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651DC74-A74C-CC4D-8EAD-3A0D629774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86900" y="1120025"/>
              <a:ext cx="4957092" cy="739865"/>
            </a:xfrm>
            <a:prstGeom prst="rect">
              <a:avLst/>
            </a:prstGeom>
          </p:spPr>
        </p:pic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F835983F-37B1-6849-81BC-42DE56915BA2}"/>
              </a:ext>
            </a:extLst>
          </p:cNvPr>
          <p:cNvSpPr txBox="1"/>
          <p:nvPr/>
        </p:nvSpPr>
        <p:spPr>
          <a:xfrm>
            <a:off x="297781" y="2062522"/>
            <a:ext cx="8505825" cy="306959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755" marR="5083810" indent="-313055">
              <a:lnSpc>
                <a:spcPts val="2250"/>
              </a:lnSpc>
              <a:spcBef>
                <a:spcPts val="200"/>
              </a:spcBef>
              <a:buChar char="•"/>
              <a:tabLst>
                <a:tab pos="325755" algn="l"/>
              </a:tabLst>
            </a:pPr>
            <a:r>
              <a:rPr sz="1900" dirty="0">
                <a:latin typeface="Arial MT"/>
                <a:cs typeface="Arial MT"/>
              </a:rPr>
              <a:t>Misconceptions </a:t>
            </a:r>
            <a:r>
              <a:rPr sz="1900" spc="10" dirty="0">
                <a:latin typeface="Arial MT"/>
                <a:cs typeface="Arial MT"/>
              </a:rPr>
              <a:t>&amp; </a:t>
            </a:r>
            <a:r>
              <a:rPr sz="1900" dirty="0">
                <a:latin typeface="Arial MT"/>
                <a:cs typeface="Arial MT"/>
              </a:rPr>
              <a:t>Misunderstandings</a:t>
            </a:r>
            <a:r>
              <a:rPr sz="1900" spc="4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5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usable </a:t>
            </a:r>
            <a:r>
              <a:rPr sz="1900" spc="-10" dirty="0">
                <a:latin typeface="Arial MT"/>
                <a:cs typeface="Arial MT"/>
              </a:rPr>
              <a:t>security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Arial MT"/>
              <a:buChar char="•"/>
            </a:pPr>
            <a:endParaRPr sz="1900">
              <a:latin typeface="Arial MT"/>
              <a:cs typeface="Arial MT"/>
            </a:endParaRPr>
          </a:p>
          <a:p>
            <a:pPr marL="325755" marR="4855845" indent="-313055">
              <a:lnSpc>
                <a:spcPts val="2250"/>
              </a:lnSpc>
              <a:buClr>
                <a:srgbClr val="000000"/>
              </a:buClr>
              <a:buChar char="•"/>
              <a:tabLst>
                <a:tab pos="325755" algn="l"/>
              </a:tabLst>
            </a:pPr>
            <a:r>
              <a:rPr sz="1900" spc="-85" dirty="0">
                <a:solidFill>
                  <a:srgbClr val="801620"/>
                </a:solidFill>
                <a:latin typeface="Arial MT"/>
                <a:cs typeface="Arial MT"/>
              </a:rPr>
              <a:t>Rare</a:t>
            </a:r>
            <a:r>
              <a:rPr sz="1900" spc="1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availability</a:t>
            </a:r>
            <a:r>
              <a:rPr sz="1900" spc="1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1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usability</a:t>
            </a:r>
            <a:r>
              <a:rPr sz="1900" spc="1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or </a:t>
            </a:r>
            <a:r>
              <a:rPr sz="1900" spc="-30" dirty="0">
                <a:latin typeface="Arial MT"/>
                <a:cs typeface="Arial MT"/>
              </a:rPr>
              <a:t>UX </a:t>
            </a:r>
            <a:r>
              <a:rPr sz="1900" dirty="0">
                <a:latin typeface="Arial MT"/>
                <a:cs typeface="Arial MT"/>
              </a:rPr>
              <a:t>experts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less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involvement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9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those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sz="1900">
              <a:latin typeface="Arial MT"/>
              <a:cs typeface="Arial MT"/>
            </a:endParaRPr>
          </a:p>
          <a:p>
            <a:pPr marL="2169160" marR="5080" indent="-1951355">
              <a:lnSpc>
                <a:spcPts val="2250"/>
              </a:lnSpc>
            </a:pPr>
            <a:r>
              <a:rPr sz="1900" i="1" spc="155" dirty="0">
                <a:solidFill>
                  <a:srgbClr val="434343"/>
                </a:solidFill>
                <a:latin typeface="Arial"/>
                <a:cs typeface="Arial"/>
              </a:rPr>
              <a:t>“I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spc="55" dirty="0">
                <a:solidFill>
                  <a:srgbClr val="434343"/>
                </a:solidFill>
                <a:latin typeface="Arial"/>
                <a:cs typeface="Arial"/>
              </a:rPr>
              <a:t>don’t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think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there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spc="-55" dirty="0">
                <a:solidFill>
                  <a:srgbClr val="434343"/>
                </a:solidFill>
                <a:latin typeface="Arial"/>
                <a:cs typeface="Arial"/>
              </a:rPr>
              <a:t>was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designer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involved.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 [laughs]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spc="-55" dirty="0">
                <a:solidFill>
                  <a:srgbClr val="434343"/>
                </a:solidFill>
                <a:latin typeface="Arial"/>
                <a:cs typeface="Arial"/>
              </a:rPr>
              <a:t>That’s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how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spc="65" dirty="0">
                <a:solidFill>
                  <a:srgbClr val="434343"/>
                </a:solidFill>
                <a:latin typeface="Arial"/>
                <a:cs typeface="Arial"/>
              </a:rPr>
              <a:t>it</a:t>
            </a:r>
            <a:r>
              <a:rPr sz="19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developed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over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time</a:t>
            </a:r>
            <a:r>
              <a:rPr sz="1900" i="1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–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like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a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plant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grows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dirty="0">
                <a:solidFill>
                  <a:srgbClr val="434343"/>
                </a:solidFill>
                <a:latin typeface="Arial"/>
                <a:cs typeface="Arial"/>
              </a:rPr>
              <a:t>[...].”</a:t>
            </a:r>
            <a:r>
              <a:rPr sz="19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900" i="1" spc="-10" dirty="0">
                <a:solidFill>
                  <a:srgbClr val="434343"/>
                </a:solidFill>
                <a:latin typeface="Arial"/>
                <a:cs typeface="Arial"/>
              </a:rPr>
              <a:t>(C18)</a:t>
            </a:r>
            <a:endParaRPr sz="19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0980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DE34FDC-7E11-EC48-A579-E51D04BB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11012AFF-E3BB-CB48-8FEF-935EC9F3BABC}"/>
              </a:ext>
            </a:extLst>
          </p:cNvPr>
          <p:cNvSpPr txBox="1"/>
          <p:nvPr/>
        </p:nvSpPr>
        <p:spPr>
          <a:xfrm>
            <a:off x="297781" y="2374756"/>
            <a:ext cx="3618229" cy="6007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755" marR="5080" indent="-313055">
              <a:lnSpc>
                <a:spcPts val="2250"/>
              </a:lnSpc>
              <a:spcBef>
                <a:spcPts val="200"/>
              </a:spcBef>
              <a:buClr>
                <a:srgbClr val="000000"/>
              </a:buClr>
              <a:buChar char="•"/>
              <a:tabLst>
                <a:tab pos="325755" algn="l"/>
              </a:tabLst>
            </a:pPr>
            <a:r>
              <a:rPr sz="1900" spc="-35" dirty="0">
                <a:solidFill>
                  <a:srgbClr val="801620"/>
                </a:solidFill>
                <a:latin typeface="Arial MT"/>
                <a:cs typeface="Arial MT"/>
              </a:rPr>
              <a:t>Focus</a:t>
            </a:r>
            <a:r>
              <a:rPr sz="1900" spc="-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usability</a:t>
            </a:r>
            <a:r>
              <a:rPr sz="1900" spc="-4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–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801620"/>
                </a:solidFill>
                <a:latin typeface="Arial MT"/>
                <a:cs typeface="Arial MT"/>
              </a:rPr>
              <a:t>security</a:t>
            </a:r>
            <a:r>
              <a:rPr sz="1900" spc="-4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of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lower</a:t>
            </a:r>
            <a:r>
              <a:rPr sz="1900" spc="4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801620"/>
                </a:solidFill>
                <a:latin typeface="Arial MT"/>
                <a:cs typeface="Arial MT"/>
              </a:rPr>
              <a:t>priority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4576841-B0C5-B449-9A36-D108C585F83E}"/>
              </a:ext>
            </a:extLst>
          </p:cNvPr>
          <p:cNvSpPr txBox="1"/>
          <p:nvPr/>
        </p:nvSpPr>
        <p:spPr>
          <a:xfrm>
            <a:off x="297781" y="3232006"/>
            <a:ext cx="334962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har char="•"/>
              <a:tabLst>
                <a:tab pos="325120" algn="l"/>
              </a:tabLst>
            </a:pPr>
            <a:r>
              <a:rPr sz="1900" dirty="0">
                <a:latin typeface="Arial MT"/>
                <a:cs typeface="Arial MT"/>
              </a:rPr>
              <a:t>“Usability-Security”</a:t>
            </a:r>
            <a:r>
              <a:rPr sz="1900" spc="470" dirty="0"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801620"/>
                </a:solidFill>
                <a:latin typeface="Arial MT"/>
                <a:cs typeface="Arial MT"/>
              </a:rPr>
              <a:t>tradeoff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8C070028-787A-A347-8D50-E01E733532C5}"/>
              </a:ext>
            </a:extLst>
          </p:cNvPr>
          <p:cNvSpPr txBox="1">
            <a:spLocks/>
          </p:cNvSpPr>
          <p:nvPr/>
        </p:nvSpPr>
        <p:spPr>
          <a:xfrm>
            <a:off x="222074" y="84438"/>
            <a:ext cx="6523990" cy="9740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lang="en-US" sz="3100" spc="135" dirty="0"/>
              <a:t>No</a:t>
            </a:r>
            <a:r>
              <a:rPr lang="en-US" sz="3100" spc="-114" dirty="0"/>
              <a:t> </a:t>
            </a:r>
            <a:r>
              <a:rPr lang="en-US" sz="3100" spc="-20" dirty="0"/>
              <a:t>Usable</a:t>
            </a:r>
            <a:r>
              <a:rPr lang="en-US" sz="3100" spc="-110" dirty="0"/>
              <a:t> </a:t>
            </a:r>
            <a:r>
              <a:rPr lang="en-US" sz="3100" spc="-25" dirty="0"/>
              <a:t>Security</a:t>
            </a:r>
            <a:r>
              <a:rPr lang="en-US" sz="3100" spc="-114" dirty="0"/>
              <a:t> </a:t>
            </a:r>
            <a:r>
              <a:rPr lang="en-US" sz="3100" spc="-60" dirty="0"/>
              <a:t>Awareness,</a:t>
            </a:r>
            <a:r>
              <a:rPr lang="en-US" sz="3100" spc="-110" dirty="0"/>
              <a:t> </a:t>
            </a:r>
            <a:r>
              <a:rPr lang="en-US" sz="3100" spc="-20" dirty="0"/>
              <a:t>some </a:t>
            </a:r>
            <a:r>
              <a:rPr lang="en-US" sz="3100" spc="-125" dirty="0"/>
              <a:t>User-</a:t>
            </a:r>
            <a:r>
              <a:rPr lang="en-US" sz="3100" dirty="0"/>
              <a:t>Centered</a:t>
            </a:r>
            <a:r>
              <a:rPr lang="en-US" sz="3100" spc="215" dirty="0"/>
              <a:t> </a:t>
            </a:r>
            <a:r>
              <a:rPr lang="en-US" sz="3100" spc="-10" dirty="0"/>
              <a:t>Measures</a:t>
            </a:r>
            <a:endParaRPr lang="en-US" sz="3100" dirty="0"/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A1C7E08A-F4C2-6644-A4EB-B308B519FA52}"/>
              </a:ext>
            </a:extLst>
          </p:cNvPr>
          <p:cNvGrpSpPr/>
          <p:nvPr/>
        </p:nvGrpSpPr>
        <p:grpSpPr>
          <a:xfrm>
            <a:off x="4267518" y="1878308"/>
            <a:ext cx="4957445" cy="1074420"/>
            <a:chOff x="4186900" y="1120025"/>
            <a:chExt cx="4957445" cy="1074420"/>
          </a:xfrm>
        </p:grpSpPr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4EF1E57E-E0C8-F34C-A7D3-47F5E8CC355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86900" y="1120025"/>
              <a:ext cx="4957092" cy="739865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BCF1A05B-7699-AE48-984F-DC72F02399D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91263" y="1859900"/>
              <a:ext cx="4917895" cy="333936"/>
            </a:xfrm>
            <a:prstGeom prst="rect">
              <a:avLst/>
            </a:prstGeom>
          </p:spPr>
        </p:pic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69B8B53D-5A62-4B42-B07D-2F4BC9BE0F5A}"/>
              </a:ext>
            </a:extLst>
          </p:cNvPr>
          <p:cNvSpPr txBox="1"/>
          <p:nvPr/>
        </p:nvSpPr>
        <p:spPr>
          <a:xfrm>
            <a:off x="4380912" y="3289623"/>
            <a:ext cx="4585970" cy="170116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635" algn="ctr">
              <a:lnSpc>
                <a:spcPts val="2630"/>
              </a:lnSpc>
              <a:spcBef>
                <a:spcPts val="240"/>
              </a:spcBef>
            </a:pP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“They</a:t>
            </a:r>
            <a:r>
              <a:rPr sz="2250" i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were</a:t>
            </a:r>
            <a:r>
              <a:rPr sz="2250" i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more</a:t>
            </a:r>
            <a:r>
              <a:rPr sz="2250" i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concerned</a:t>
            </a:r>
            <a:r>
              <a:rPr sz="2250" i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10" dirty="0">
                <a:solidFill>
                  <a:srgbClr val="434343"/>
                </a:solidFill>
                <a:latin typeface="Arial"/>
                <a:cs typeface="Arial"/>
              </a:rPr>
              <a:t>about usability.</a:t>
            </a:r>
            <a:r>
              <a:rPr sz="2250" i="1" spc="-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45" dirty="0">
                <a:solidFill>
                  <a:srgbClr val="434343"/>
                </a:solidFill>
                <a:latin typeface="Arial"/>
                <a:cs typeface="Arial"/>
              </a:rPr>
              <a:t>Like</a:t>
            </a:r>
            <a:r>
              <a:rPr sz="2250" i="1" spc="-8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I</a:t>
            </a:r>
            <a:r>
              <a:rPr sz="2250" i="1" spc="-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said,</a:t>
            </a:r>
            <a:r>
              <a:rPr sz="2250" i="1" spc="-8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they</a:t>
            </a:r>
            <a:r>
              <a:rPr sz="2250" i="1" spc="-8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10" dirty="0">
                <a:solidFill>
                  <a:srgbClr val="434343"/>
                </a:solidFill>
                <a:latin typeface="Arial"/>
                <a:cs typeface="Arial"/>
              </a:rPr>
              <a:t>even</a:t>
            </a:r>
            <a:r>
              <a:rPr sz="2250" i="1" spc="-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made </a:t>
            </a:r>
            <a:r>
              <a:rPr sz="2250" i="1" spc="-35" dirty="0">
                <a:solidFill>
                  <a:srgbClr val="434343"/>
                </a:solidFill>
                <a:latin typeface="Arial"/>
                <a:cs typeface="Arial"/>
              </a:rPr>
              <a:t>decisions</a:t>
            </a:r>
            <a:r>
              <a:rPr sz="2250" i="1" spc="-6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10" dirty="0">
                <a:solidFill>
                  <a:srgbClr val="434343"/>
                </a:solidFill>
                <a:latin typeface="Arial"/>
                <a:cs typeface="Arial"/>
              </a:rPr>
              <a:t>which</a:t>
            </a:r>
            <a:r>
              <a:rPr sz="2250" i="1" spc="-6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sort</a:t>
            </a:r>
            <a:r>
              <a:rPr sz="2250" i="1" spc="-6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2250" i="1" spc="-6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10" dirty="0">
                <a:solidFill>
                  <a:srgbClr val="434343"/>
                </a:solidFill>
                <a:latin typeface="Arial"/>
                <a:cs typeface="Arial"/>
              </a:rPr>
              <a:t>decreases </a:t>
            </a:r>
            <a:r>
              <a:rPr sz="2250" i="1" spc="-30" dirty="0">
                <a:solidFill>
                  <a:srgbClr val="434343"/>
                </a:solidFill>
                <a:latin typeface="Arial"/>
                <a:cs typeface="Arial"/>
              </a:rPr>
              <a:t>security,</a:t>
            </a:r>
            <a:r>
              <a:rPr sz="225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develop</a:t>
            </a:r>
            <a:r>
              <a:rPr sz="2250" i="1" spc="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225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product just </a:t>
            </a:r>
            <a:r>
              <a:rPr sz="2250" i="1" spc="-25" dirty="0">
                <a:solidFill>
                  <a:srgbClr val="434343"/>
                </a:solidFill>
                <a:latin typeface="Arial"/>
                <a:cs typeface="Arial"/>
              </a:rPr>
              <a:t>so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that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60" dirty="0">
                <a:solidFill>
                  <a:srgbClr val="434343"/>
                </a:solidFill>
                <a:latin typeface="Arial"/>
                <a:cs typeface="Arial"/>
              </a:rPr>
              <a:t>it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spc="-30" dirty="0">
                <a:solidFill>
                  <a:srgbClr val="434343"/>
                </a:solidFill>
                <a:latin typeface="Arial"/>
                <a:cs typeface="Arial"/>
              </a:rPr>
              <a:t>is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more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2250" i="1" dirty="0">
                <a:solidFill>
                  <a:srgbClr val="434343"/>
                </a:solidFill>
                <a:latin typeface="Arial"/>
                <a:cs typeface="Arial"/>
              </a:rPr>
              <a:t>usable.”</a:t>
            </a:r>
            <a:r>
              <a:rPr sz="2250" i="1" spc="-20" dirty="0">
                <a:solidFill>
                  <a:srgbClr val="434343"/>
                </a:solidFill>
                <a:latin typeface="Arial"/>
                <a:cs typeface="Arial"/>
              </a:rPr>
              <a:t> (C6)</a:t>
            </a:r>
            <a:endParaRPr sz="2250">
              <a:latin typeface="Arial"/>
              <a:cs typeface="Arial"/>
            </a:endParaRPr>
          </a:p>
        </p:txBody>
      </p:sp>
      <p:pic>
        <p:nvPicPr>
          <p:cNvPr id="10" name="object 9">
            <a:extLst>
              <a:ext uri="{FF2B5EF4-FFF2-40B4-BE49-F238E27FC236}">
                <a16:creationId xmlns:a16="http://schemas.microsoft.com/office/drawing/2014/main" id="{02561F05-6E9D-A249-B480-BAD35AF40FD7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6868" y="3968683"/>
            <a:ext cx="1455599" cy="14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94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D9096F-49E8-E44F-821D-365853751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20</a:t>
            </a:fld>
            <a:endParaRPr lang="zh-CN" altLang="en-US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71A5DA73-EAC4-234A-98ED-F0EC1922E85F}"/>
              </a:ext>
            </a:extLst>
          </p:cNvPr>
          <p:cNvGrpSpPr/>
          <p:nvPr/>
        </p:nvGrpSpPr>
        <p:grpSpPr>
          <a:xfrm>
            <a:off x="3981173" y="1392849"/>
            <a:ext cx="5069840" cy="1708785"/>
            <a:chOff x="4003475" y="1169825"/>
            <a:chExt cx="5069840" cy="1708785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8C0E128E-4E2F-234B-BE80-FCD858E9A277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3374" y="1210138"/>
              <a:ext cx="4900374" cy="1578991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B991DB55-7B22-AD43-849C-25BD5D2CB09E}"/>
                </a:ext>
              </a:extLst>
            </p:cNvPr>
            <p:cNvSpPr/>
            <p:nvPr/>
          </p:nvSpPr>
          <p:spPr>
            <a:xfrm>
              <a:off x="4008237" y="1174587"/>
              <a:ext cx="5060315" cy="1699260"/>
            </a:xfrm>
            <a:custGeom>
              <a:avLst/>
              <a:gdLst/>
              <a:ahLst/>
              <a:cxnLst/>
              <a:rect l="l" t="t" r="r" b="b"/>
              <a:pathLst>
                <a:path w="5060315" h="1699260">
                  <a:moveTo>
                    <a:pt x="0" y="0"/>
                  </a:moveTo>
                  <a:lnTo>
                    <a:pt x="5060274" y="0"/>
                  </a:lnTo>
                  <a:lnTo>
                    <a:pt x="5060274" y="1699049"/>
                  </a:lnTo>
                  <a:lnTo>
                    <a:pt x="0" y="16990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6">
            <a:extLst>
              <a:ext uri="{FF2B5EF4-FFF2-40B4-BE49-F238E27FC236}">
                <a16:creationId xmlns:a16="http://schemas.microsoft.com/office/drawing/2014/main" id="{7FE3D947-4322-B34D-9812-1E8D24A4E580}"/>
              </a:ext>
            </a:extLst>
          </p:cNvPr>
          <p:cNvSpPr txBox="1"/>
          <p:nvPr/>
        </p:nvSpPr>
        <p:spPr>
          <a:xfrm>
            <a:off x="4374909" y="3142652"/>
            <a:ext cx="4514215" cy="168656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86995" marR="79375" algn="ctr">
              <a:lnSpc>
                <a:spcPct val="100699"/>
              </a:lnSpc>
              <a:spcBef>
                <a:spcPts val="120"/>
              </a:spcBef>
            </a:pP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“Actually,</a:t>
            </a:r>
            <a:r>
              <a:rPr sz="18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</a:t>
            </a:r>
            <a:r>
              <a:rPr sz="18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think</a:t>
            </a:r>
            <a:r>
              <a:rPr sz="1800" i="1" spc="9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that</a:t>
            </a:r>
            <a:r>
              <a:rPr sz="18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800" i="1" spc="9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security</a:t>
            </a:r>
            <a:r>
              <a:rPr sz="18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issues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should</a:t>
            </a:r>
            <a:r>
              <a:rPr sz="18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50" dirty="0">
                <a:solidFill>
                  <a:srgbClr val="434343"/>
                </a:solidFill>
                <a:latin typeface="Arial"/>
                <a:cs typeface="Arial"/>
              </a:rPr>
              <a:t>be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 solved </a:t>
            </a:r>
            <a:r>
              <a:rPr sz="1800" i="1" spc="-90" dirty="0">
                <a:solidFill>
                  <a:srgbClr val="434343"/>
                </a:solidFill>
                <a:latin typeface="Arial"/>
                <a:cs typeface="Arial"/>
              </a:rPr>
              <a:t>as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 much </a:t>
            </a:r>
            <a:r>
              <a:rPr sz="1800" i="1" spc="-90" dirty="0">
                <a:solidFill>
                  <a:srgbClr val="434343"/>
                </a:solidFill>
                <a:latin typeface="Arial"/>
                <a:cs typeface="Arial"/>
              </a:rPr>
              <a:t>as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possible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technically</a:t>
            </a:r>
            <a:r>
              <a:rPr sz="1800" i="1" spc="7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and</a:t>
            </a:r>
            <a:r>
              <a:rPr sz="1800" i="1" spc="7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should</a:t>
            </a:r>
            <a:r>
              <a:rPr sz="1800" i="1" spc="7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50" dirty="0">
                <a:solidFill>
                  <a:srgbClr val="434343"/>
                </a:solidFill>
                <a:latin typeface="Arial"/>
                <a:cs typeface="Arial"/>
              </a:rPr>
              <a:t>not</a:t>
            </a:r>
            <a:r>
              <a:rPr sz="1800" i="1" spc="7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bother</a:t>
            </a:r>
            <a:r>
              <a:rPr sz="1800" i="1" spc="7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800" i="1" spc="7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55" dirty="0">
                <a:solidFill>
                  <a:srgbClr val="434343"/>
                </a:solidFill>
                <a:latin typeface="Arial"/>
                <a:cs typeface="Arial"/>
              </a:rPr>
              <a:t>user.</a:t>
            </a:r>
            <a:endParaRPr sz="1800">
              <a:latin typeface="Arial"/>
              <a:cs typeface="Arial"/>
            </a:endParaRPr>
          </a:p>
          <a:p>
            <a:pPr marL="12700" marR="5080" algn="ctr">
              <a:lnSpc>
                <a:spcPct val="100699"/>
              </a:lnSpc>
            </a:pP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Most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800" i="1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time,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user</a:t>
            </a:r>
            <a:r>
              <a:rPr sz="1800" i="1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is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50" dirty="0">
                <a:solidFill>
                  <a:srgbClr val="434343"/>
                </a:solidFill>
                <a:latin typeface="Arial"/>
                <a:cs typeface="Arial"/>
              </a:rPr>
              <a:t>not</a:t>
            </a:r>
            <a:r>
              <a:rPr sz="1800" i="1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an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expert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[...]</a:t>
            </a:r>
            <a:r>
              <a:rPr sz="1800" i="1" spc="-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That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is,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all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decisions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that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can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25" dirty="0">
                <a:solidFill>
                  <a:srgbClr val="434343"/>
                </a:solidFill>
                <a:latin typeface="Arial"/>
                <a:cs typeface="Arial"/>
              </a:rPr>
              <a:t>be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made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for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him,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should</a:t>
            </a:r>
            <a:r>
              <a:rPr sz="1800" i="1" spc="4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50" dirty="0">
                <a:solidFill>
                  <a:srgbClr val="434343"/>
                </a:solidFill>
                <a:latin typeface="Arial"/>
                <a:cs typeface="Arial"/>
              </a:rPr>
              <a:t>be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made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in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advance.”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6D7AF99F-943A-BE4C-BECD-7C2B89AD335C}"/>
              </a:ext>
            </a:extLst>
          </p:cNvPr>
          <p:cNvSpPr txBox="1"/>
          <p:nvPr/>
        </p:nvSpPr>
        <p:spPr>
          <a:xfrm>
            <a:off x="6415844" y="4800003"/>
            <a:ext cx="432434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i="1" spc="-70" dirty="0">
                <a:solidFill>
                  <a:srgbClr val="434343"/>
                </a:solidFill>
                <a:latin typeface="Arial"/>
                <a:cs typeface="Arial"/>
              </a:rPr>
              <a:t>(C1)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8EBA2FCF-5120-2447-A193-3F4E3A39798C}"/>
              </a:ext>
            </a:extLst>
          </p:cNvPr>
          <p:cNvSpPr txBox="1"/>
          <p:nvPr/>
        </p:nvSpPr>
        <p:spPr>
          <a:xfrm>
            <a:off x="194861" y="1475847"/>
            <a:ext cx="3695065" cy="1743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100"/>
              </a:spcBef>
              <a:buChar char="•"/>
              <a:tabLst>
                <a:tab pos="325120" algn="l"/>
              </a:tabLst>
            </a:pPr>
            <a:r>
              <a:rPr sz="1900" dirty="0">
                <a:latin typeface="Arial MT"/>
                <a:cs typeface="Arial MT"/>
              </a:rPr>
              <a:t>All</a:t>
            </a:r>
            <a:r>
              <a:rPr sz="1900" spc="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had</a:t>
            </a:r>
            <a:r>
              <a:rPr sz="1900" spc="70" dirty="0"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subject-matter</a:t>
            </a:r>
            <a:r>
              <a:rPr sz="1900" spc="7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801620"/>
                </a:solidFill>
                <a:latin typeface="Arial MT"/>
                <a:cs typeface="Arial MT"/>
              </a:rPr>
              <a:t>experts</a:t>
            </a:r>
            <a:endParaRPr sz="1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1900">
              <a:latin typeface="Arial MT"/>
              <a:cs typeface="Arial MT"/>
            </a:endParaRPr>
          </a:p>
          <a:p>
            <a:pPr marL="325755" marR="112395" indent="-313055">
              <a:lnSpc>
                <a:spcPts val="2250"/>
              </a:lnSpc>
              <a:buChar char="•"/>
              <a:tabLst>
                <a:tab pos="325755" algn="l"/>
              </a:tabLst>
            </a:pPr>
            <a:r>
              <a:rPr sz="1900" dirty="0">
                <a:latin typeface="Arial MT"/>
                <a:cs typeface="Arial MT"/>
              </a:rPr>
              <a:t>Often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usable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security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55" dirty="0">
                <a:latin typeface="Arial MT"/>
                <a:cs typeface="Arial MT"/>
              </a:rPr>
              <a:t>was</a:t>
            </a:r>
            <a:r>
              <a:rPr sz="1900" spc="-20" dirty="0">
                <a:latin typeface="Arial MT"/>
                <a:cs typeface="Arial MT"/>
              </a:rPr>
              <a:t> part </a:t>
            </a:r>
            <a:r>
              <a:rPr sz="1900" dirty="0">
                <a:latin typeface="Arial MT"/>
                <a:cs typeface="Arial MT"/>
              </a:rPr>
              <a:t>of</a:t>
            </a:r>
            <a:r>
              <a:rPr sz="1900" spc="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40" dirty="0">
                <a:latin typeface="Arial MT"/>
                <a:cs typeface="Arial MT"/>
              </a:rPr>
              <a:t> </a:t>
            </a:r>
            <a:r>
              <a:rPr sz="1900" spc="-40" dirty="0">
                <a:latin typeface="Arial MT"/>
                <a:cs typeface="Arial MT"/>
              </a:rPr>
              <a:t>business</a:t>
            </a:r>
            <a:r>
              <a:rPr sz="1900" spc="4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goals</a:t>
            </a:r>
            <a:endParaRPr sz="1900">
              <a:latin typeface="Arial MT"/>
              <a:cs typeface="Arial MT"/>
            </a:endParaRPr>
          </a:p>
          <a:p>
            <a:pPr marL="325120" indent="-312420">
              <a:lnSpc>
                <a:spcPct val="100000"/>
              </a:lnSpc>
              <a:spcBef>
                <a:spcPts val="2150"/>
              </a:spcBef>
              <a:buChar char="•"/>
              <a:tabLst>
                <a:tab pos="325120" algn="l"/>
              </a:tabLst>
            </a:pPr>
            <a:r>
              <a:rPr sz="1900" dirty="0">
                <a:latin typeface="Arial MT"/>
                <a:cs typeface="Arial MT"/>
              </a:rPr>
              <a:t>Active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20" dirty="0">
                <a:solidFill>
                  <a:srgbClr val="801620"/>
                </a:solidFill>
                <a:latin typeface="Arial MT"/>
                <a:cs typeface="Arial MT"/>
              </a:rPr>
              <a:t>user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feedback</a:t>
            </a:r>
            <a:r>
              <a:rPr sz="1900" spc="-2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gathering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0" name="object 9">
            <a:extLst>
              <a:ext uri="{FF2B5EF4-FFF2-40B4-BE49-F238E27FC236}">
                <a16:creationId xmlns:a16="http://schemas.microsoft.com/office/drawing/2014/main" id="{52DF0621-AA91-6541-AECC-30E9D20B0396}"/>
              </a:ext>
            </a:extLst>
          </p:cNvPr>
          <p:cNvSpPr txBox="1"/>
          <p:nvPr/>
        </p:nvSpPr>
        <p:spPr>
          <a:xfrm>
            <a:off x="194861" y="3476097"/>
            <a:ext cx="3458210" cy="11722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755" marR="5080" indent="-313055">
              <a:lnSpc>
                <a:spcPts val="2250"/>
              </a:lnSpc>
              <a:spcBef>
                <a:spcPts val="200"/>
              </a:spcBef>
              <a:buChar char="•"/>
              <a:tabLst>
                <a:tab pos="325755" algn="l"/>
              </a:tabLst>
            </a:pPr>
            <a:r>
              <a:rPr sz="1900" spc="70" dirty="0">
                <a:latin typeface="Arial MT"/>
                <a:cs typeface="Arial MT"/>
              </a:rPr>
              <a:t>At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least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one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person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actively </a:t>
            </a:r>
            <a:r>
              <a:rPr sz="1900" dirty="0">
                <a:latin typeface="Arial MT"/>
                <a:cs typeface="Arial MT"/>
              </a:rPr>
              <a:t>strengthened</a:t>
            </a:r>
            <a:r>
              <a:rPr sz="1900" spc="10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the </a:t>
            </a:r>
            <a:r>
              <a:rPr sz="1900" dirty="0">
                <a:latin typeface="Arial MT"/>
                <a:cs typeface="Arial MT"/>
              </a:rPr>
              <a:t>communication</a:t>
            </a:r>
            <a:r>
              <a:rPr sz="1900" spc="1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about</a:t>
            </a:r>
            <a:r>
              <a:rPr sz="1900" spc="13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usable security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65ECB815-F2DC-2B4C-974D-63C1A113CBD7}"/>
              </a:ext>
            </a:extLst>
          </p:cNvPr>
          <p:cNvSpPr txBox="1">
            <a:spLocks/>
          </p:cNvSpPr>
          <p:nvPr/>
        </p:nvSpPr>
        <p:spPr>
          <a:xfrm>
            <a:off x="227747" y="341485"/>
            <a:ext cx="8643900" cy="635000"/>
          </a:xfrm>
          <a:prstGeom prst="rect">
            <a:avLst/>
          </a:prstGeom>
        </p:spPr>
        <p:txBody>
          <a:bodyPr vert="horz" wrap="square" lIns="0" tIns="83946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100" spc="-20"/>
              <a:t>Usable</a:t>
            </a:r>
            <a:r>
              <a:rPr lang="en-US" sz="3100" spc="-45"/>
              <a:t> </a:t>
            </a:r>
            <a:r>
              <a:rPr lang="en-US" sz="3100" spc="-25"/>
              <a:t>Security</a:t>
            </a:r>
            <a:r>
              <a:rPr lang="en-US" sz="3100" spc="-45"/>
              <a:t> </a:t>
            </a:r>
            <a:r>
              <a:rPr lang="en-US" sz="3100" spc="-70"/>
              <a:t>Awareness</a:t>
            </a:r>
            <a:r>
              <a:rPr lang="en-US" sz="3100" spc="-40"/>
              <a:t> </a:t>
            </a:r>
            <a:r>
              <a:rPr lang="en-US" sz="3100" spc="100"/>
              <a:t>&amp;</a:t>
            </a:r>
            <a:r>
              <a:rPr lang="en-US" sz="3100" spc="-45"/>
              <a:t> </a:t>
            </a:r>
            <a:r>
              <a:rPr lang="en-US" sz="3100"/>
              <a:t>Follow-</a:t>
            </a:r>
            <a:r>
              <a:rPr lang="en-US" sz="3100" spc="-10"/>
              <a:t>through</a:t>
            </a:r>
            <a:endParaRPr lang="en-US" sz="3100"/>
          </a:p>
        </p:txBody>
      </p:sp>
    </p:spTree>
    <p:extLst>
      <p:ext uri="{BB962C8B-B14F-4D97-AF65-F5344CB8AC3E}">
        <p14:creationId xmlns:p14="http://schemas.microsoft.com/office/powerpoint/2010/main" val="99978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5FE6B4-4C69-DC43-BBB9-48116316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B755A9BC-BC7D-B84E-BF09-F6A7246E61D2}"/>
              </a:ext>
            </a:extLst>
          </p:cNvPr>
          <p:cNvSpPr txBox="1"/>
          <p:nvPr/>
        </p:nvSpPr>
        <p:spPr>
          <a:xfrm>
            <a:off x="323806" y="1794892"/>
            <a:ext cx="3431540" cy="8864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755" marR="5080" indent="-313055">
              <a:lnSpc>
                <a:spcPts val="2250"/>
              </a:lnSpc>
              <a:spcBef>
                <a:spcPts val="200"/>
              </a:spcBef>
              <a:buChar char="•"/>
              <a:tabLst>
                <a:tab pos="325755" algn="l"/>
              </a:tabLst>
            </a:pPr>
            <a:r>
              <a:rPr sz="1900" spc="-10" dirty="0">
                <a:latin typeface="Arial MT"/>
                <a:cs typeface="Arial MT"/>
              </a:rPr>
              <a:t>Five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companies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had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801620"/>
                </a:solidFill>
                <a:latin typeface="Arial MT"/>
                <a:cs typeface="Arial MT"/>
              </a:rPr>
              <a:t>strong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focus</a:t>
            </a:r>
            <a:r>
              <a:rPr sz="1900" spc="-2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801620"/>
                </a:solidFill>
                <a:latin typeface="Arial MT"/>
                <a:cs typeface="Arial MT"/>
              </a:rPr>
              <a:t>on</a:t>
            </a:r>
            <a:r>
              <a:rPr sz="1900" spc="-2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801620"/>
                </a:solidFill>
                <a:latin typeface="Arial MT"/>
                <a:cs typeface="Arial MT"/>
              </a:rPr>
              <a:t>security</a:t>
            </a:r>
            <a:r>
              <a:rPr sz="1900" spc="-3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25" dirty="0">
                <a:latin typeface="Arial MT"/>
                <a:cs typeface="Arial MT"/>
              </a:rPr>
              <a:t> had </a:t>
            </a:r>
            <a:r>
              <a:rPr sz="1900" dirty="0">
                <a:latin typeface="Arial MT"/>
                <a:cs typeface="Arial MT"/>
              </a:rPr>
              <a:t>dedicated</a:t>
            </a:r>
            <a:r>
              <a:rPr sz="1900" spc="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security</a:t>
            </a:r>
            <a:r>
              <a:rPr sz="1900" spc="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experts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C0BF29C-EFA1-7F4E-BB38-DD8DDE43268E}"/>
              </a:ext>
            </a:extLst>
          </p:cNvPr>
          <p:cNvSpPr txBox="1"/>
          <p:nvPr/>
        </p:nvSpPr>
        <p:spPr>
          <a:xfrm>
            <a:off x="323806" y="2937892"/>
            <a:ext cx="3122930" cy="60071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755" marR="5080" indent="-313055">
              <a:lnSpc>
                <a:spcPts val="2250"/>
              </a:lnSpc>
              <a:spcBef>
                <a:spcPts val="200"/>
              </a:spcBef>
              <a:buChar char="•"/>
              <a:tabLst>
                <a:tab pos="325755" algn="l"/>
              </a:tabLst>
            </a:pPr>
            <a:r>
              <a:rPr sz="1900" dirty="0">
                <a:latin typeface="Arial MT"/>
                <a:cs typeface="Arial MT"/>
              </a:rPr>
              <a:t>Only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one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company</a:t>
            </a:r>
            <a:r>
              <a:rPr sz="1900" spc="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had</a:t>
            </a:r>
            <a:r>
              <a:rPr sz="1900" spc="30" dirty="0">
                <a:latin typeface="Arial MT"/>
                <a:cs typeface="Arial MT"/>
              </a:rPr>
              <a:t> </a:t>
            </a:r>
            <a:r>
              <a:rPr sz="1900" spc="-50" dirty="0">
                <a:latin typeface="Arial MT"/>
                <a:cs typeface="Arial MT"/>
              </a:rPr>
              <a:t>a </a:t>
            </a:r>
            <a:r>
              <a:rPr sz="1900" dirty="0">
                <a:latin typeface="Arial MT"/>
                <a:cs typeface="Arial MT"/>
              </a:rPr>
              <a:t>designer</a:t>
            </a:r>
            <a:r>
              <a:rPr sz="1900" spc="-3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actively</a:t>
            </a:r>
            <a:r>
              <a:rPr sz="1900" spc="-3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involved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272C958A-58E6-4042-900F-958ED7631911}"/>
              </a:ext>
            </a:extLst>
          </p:cNvPr>
          <p:cNvSpPr txBox="1"/>
          <p:nvPr/>
        </p:nvSpPr>
        <p:spPr>
          <a:xfrm>
            <a:off x="323806" y="3795142"/>
            <a:ext cx="2985135" cy="88646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325755" marR="5080" indent="-313055">
              <a:lnSpc>
                <a:spcPts val="2250"/>
              </a:lnSpc>
              <a:spcBef>
                <a:spcPts val="200"/>
              </a:spcBef>
              <a:buChar char="•"/>
              <a:tabLst>
                <a:tab pos="325755" algn="l"/>
              </a:tabLst>
            </a:pPr>
            <a:r>
              <a:rPr sz="1900" spc="70" dirty="0">
                <a:latin typeface="Arial MT"/>
                <a:cs typeface="Arial MT"/>
              </a:rPr>
              <a:t>No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specific</a:t>
            </a:r>
            <a:r>
              <a:rPr sz="1900" spc="-25" dirty="0">
                <a:latin typeface="Arial MT"/>
                <a:cs typeface="Arial MT"/>
              </a:rPr>
              <a:t> </a:t>
            </a:r>
            <a:r>
              <a:rPr sz="1900" spc="-55" dirty="0">
                <a:latin typeface="Arial MT"/>
                <a:cs typeface="Arial MT"/>
              </a:rPr>
              <a:t>measures</a:t>
            </a:r>
            <a:r>
              <a:rPr sz="1900" spc="-2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for </a:t>
            </a:r>
            <a:r>
              <a:rPr sz="1900" dirty="0">
                <a:latin typeface="Arial MT"/>
                <a:cs typeface="Arial MT"/>
              </a:rPr>
              <a:t>usability</a:t>
            </a:r>
            <a:r>
              <a:rPr sz="1900" spc="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testing</a:t>
            </a:r>
            <a:r>
              <a:rPr sz="1900" spc="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70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user </a:t>
            </a:r>
            <a:r>
              <a:rPr sz="1900" spc="-10" dirty="0">
                <a:latin typeface="Arial MT"/>
                <a:cs typeface="Arial MT"/>
              </a:rPr>
              <a:t>research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7BEB2BEF-7F7C-414C-87E0-835DE3C324FA}"/>
              </a:ext>
            </a:extLst>
          </p:cNvPr>
          <p:cNvSpPr txBox="1">
            <a:spLocks/>
          </p:cNvSpPr>
          <p:nvPr/>
        </p:nvSpPr>
        <p:spPr>
          <a:xfrm>
            <a:off x="11559" y="496053"/>
            <a:ext cx="9049552" cy="47647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800"/>
              </a:lnSpc>
              <a:spcBef>
                <a:spcPts val="70"/>
              </a:spcBef>
            </a:pPr>
            <a:r>
              <a:rPr lang="en-US" sz="3100" spc="-20" dirty="0"/>
              <a:t>Usable</a:t>
            </a:r>
            <a:r>
              <a:rPr lang="en-US" sz="3100" spc="-25" dirty="0"/>
              <a:t> Security</a:t>
            </a:r>
            <a:r>
              <a:rPr lang="en-US" sz="3100" spc="-20" dirty="0"/>
              <a:t> </a:t>
            </a:r>
            <a:r>
              <a:rPr lang="en-US" sz="3100" spc="-60" dirty="0"/>
              <a:t>Awareness,</a:t>
            </a:r>
            <a:r>
              <a:rPr lang="en-US" sz="3100" spc="-25" dirty="0"/>
              <a:t> </a:t>
            </a:r>
            <a:r>
              <a:rPr lang="en-US" sz="3100" dirty="0"/>
              <a:t>Little</a:t>
            </a:r>
            <a:r>
              <a:rPr lang="en-US" sz="3100" spc="-20" dirty="0"/>
              <a:t> </a:t>
            </a:r>
            <a:r>
              <a:rPr lang="en-US" sz="3100" dirty="0"/>
              <a:t>or</a:t>
            </a:r>
            <a:r>
              <a:rPr lang="en-US" sz="3100" spc="-25" dirty="0"/>
              <a:t> </a:t>
            </a:r>
            <a:r>
              <a:rPr lang="en-US" sz="3100" spc="25" dirty="0"/>
              <a:t>no </a:t>
            </a:r>
            <a:r>
              <a:rPr lang="en-US" sz="3100" dirty="0"/>
              <a:t>Follow-</a:t>
            </a:r>
            <a:r>
              <a:rPr lang="en-US" sz="3100" spc="-10" dirty="0"/>
              <a:t>through</a:t>
            </a:r>
            <a:endParaRPr lang="en-US" sz="3100" dirty="0"/>
          </a:p>
        </p:txBody>
      </p:sp>
      <p:grpSp>
        <p:nvGrpSpPr>
          <p:cNvPr id="8" name="object 7">
            <a:extLst>
              <a:ext uri="{FF2B5EF4-FFF2-40B4-BE49-F238E27FC236}">
                <a16:creationId xmlns:a16="http://schemas.microsoft.com/office/drawing/2014/main" id="{2AF7FE26-5889-6C4F-8EBA-F4C190E69F92}"/>
              </a:ext>
            </a:extLst>
          </p:cNvPr>
          <p:cNvGrpSpPr/>
          <p:nvPr/>
        </p:nvGrpSpPr>
        <p:grpSpPr>
          <a:xfrm>
            <a:off x="4308793" y="1370626"/>
            <a:ext cx="4916170" cy="1749425"/>
            <a:chOff x="4202150" y="1192207"/>
            <a:chExt cx="4916170" cy="1749425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F11C6DEA-14F1-484C-9134-38DD9D39D70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1444" y="1192207"/>
              <a:ext cx="4870732" cy="649637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F7A599F5-2CCA-304A-A33B-EAE4E6EFCB3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02150" y="1859900"/>
              <a:ext cx="4915702" cy="1081237"/>
            </a:xfrm>
            <a:prstGeom prst="rect">
              <a:avLst/>
            </a:prstGeom>
          </p:spPr>
        </p:pic>
      </p:grpSp>
      <p:sp>
        <p:nvSpPr>
          <p:cNvPr id="11" name="object 10">
            <a:extLst>
              <a:ext uri="{FF2B5EF4-FFF2-40B4-BE49-F238E27FC236}">
                <a16:creationId xmlns:a16="http://schemas.microsoft.com/office/drawing/2014/main" id="{7D8180DA-E85F-F544-BBD9-7027DB62B725}"/>
              </a:ext>
            </a:extLst>
          </p:cNvPr>
          <p:cNvSpPr txBox="1"/>
          <p:nvPr/>
        </p:nvSpPr>
        <p:spPr>
          <a:xfrm>
            <a:off x="4408886" y="3397122"/>
            <a:ext cx="4582160" cy="14103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ctr">
              <a:lnSpc>
                <a:spcPct val="100699"/>
              </a:lnSpc>
              <a:spcBef>
                <a:spcPts val="120"/>
              </a:spcBef>
            </a:pPr>
            <a:r>
              <a:rPr sz="1800" i="1" spc="114" dirty="0">
                <a:latin typeface="Arial"/>
                <a:cs typeface="Arial"/>
              </a:rPr>
              <a:t>“No,</a:t>
            </a:r>
            <a:r>
              <a:rPr sz="1800" i="1" spc="2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actually,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we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had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very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long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time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an </a:t>
            </a:r>
            <a:r>
              <a:rPr sz="1800" i="1" dirty="0">
                <a:latin typeface="Arial"/>
                <a:cs typeface="Arial"/>
              </a:rPr>
              <a:t>open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position</a:t>
            </a:r>
            <a:r>
              <a:rPr sz="1800" i="1" spc="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3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UI/UX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designer...</a:t>
            </a:r>
            <a:r>
              <a:rPr sz="1800" i="1" spc="35" dirty="0">
                <a:latin typeface="Arial"/>
                <a:cs typeface="Arial"/>
              </a:rPr>
              <a:t> </a:t>
            </a:r>
            <a:r>
              <a:rPr sz="1800" i="1" spc="55" dirty="0">
                <a:latin typeface="Arial"/>
                <a:cs typeface="Arial"/>
              </a:rPr>
              <a:t>but</a:t>
            </a:r>
            <a:r>
              <a:rPr sz="1800" i="1" spc="30" dirty="0">
                <a:latin typeface="Arial"/>
                <a:cs typeface="Arial"/>
              </a:rPr>
              <a:t> </a:t>
            </a:r>
            <a:r>
              <a:rPr sz="1800" i="1" spc="-25" dirty="0">
                <a:latin typeface="Arial"/>
                <a:cs typeface="Arial"/>
              </a:rPr>
              <a:t>if </a:t>
            </a:r>
            <a:r>
              <a:rPr sz="1800" i="1" dirty="0">
                <a:latin typeface="Arial"/>
                <a:cs typeface="Arial"/>
              </a:rPr>
              <a:t>you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are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looking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for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a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UI/UX</a:t>
            </a:r>
            <a:r>
              <a:rPr sz="1800" i="1" spc="2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designer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with </a:t>
            </a:r>
            <a:r>
              <a:rPr sz="1800" i="1" dirty="0">
                <a:latin typeface="Arial"/>
                <a:cs typeface="Arial"/>
              </a:rPr>
              <a:t>additional</a:t>
            </a:r>
            <a:r>
              <a:rPr sz="1800" i="1" spc="15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qualification</a:t>
            </a:r>
            <a:r>
              <a:rPr sz="1800" i="1" spc="15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in</a:t>
            </a:r>
            <a:r>
              <a:rPr sz="1800" i="1" spc="150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the</a:t>
            </a:r>
            <a:r>
              <a:rPr sz="1800" i="1" spc="155" dirty="0">
                <a:latin typeface="Arial"/>
                <a:cs typeface="Arial"/>
              </a:rPr>
              <a:t> </a:t>
            </a:r>
            <a:r>
              <a:rPr sz="1800" i="1" spc="-10" dirty="0">
                <a:latin typeface="Arial"/>
                <a:cs typeface="Arial"/>
              </a:rPr>
              <a:t>security </a:t>
            </a:r>
            <a:r>
              <a:rPr sz="1800" i="1" dirty="0">
                <a:latin typeface="Arial"/>
                <a:cs typeface="Arial"/>
              </a:rPr>
              <a:t>environment… then, </a:t>
            </a:r>
            <a:r>
              <a:rPr sz="1800" i="1" spc="-20" dirty="0">
                <a:latin typeface="Arial"/>
                <a:cs typeface="Arial"/>
              </a:rPr>
              <a:t>yes,</a:t>
            </a:r>
            <a:r>
              <a:rPr sz="1800" i="1" dirty="0">
                <a:latin typeface="Arial"/>
                <a:cs typeface="Arial"/>
              </a:rPr>
              <a:t> you</a:t>
            </a:r>
            <a:r>
              <a:rPr sz="1800" i="1" spc="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have </a:t>
            </a:r>
            <a:r>
              <a:rPr sz="1800" i="1" spc="80" dirty="0">
                <a:latin typeface="Arial"/>
                <a:cs typeface="Arial"/>
              </a:rPr>
              <a:t>to</a:t>
            </a:r>
            <a:r>
              <a:rPr sz="1800" i="1" dirty="0">
                <a:latin typeface="Arial"/>
                <a:cs typeface="Arial"/>
              </a:rPr>
              <a:t> </a:t>
            </a:r>
            <a:r>
              <a:rPr sz="1800" i="1" spc="-20" dirty="0">
                <a:latin typeface="Arial"/>
                <a:cs typeface="Arial"/>
              </a:rPr>
              <a:t>make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0DA2E379-9CCA-CF4C-B779-2DA489A67526}"/>
              </a:ext>
            </a:extLst>
          </p:cNvPr>
          <p:cNvSpPr txBox="1"/>
          <p:nvPr/>
        </p:nvSpPr>
        <p:spPr>
          <a:xfrm>
            <a:off x="5672469" y="4778247"/>
            <a:ext cx="2054860" cy="3054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800" i="1" dirty="0">
                <a:latin typeface="Arial"/>
                <a:cs typeface="Arial"/>
              </a:rPr>
              <a:t>one</a:t>
            </a:r>
            <a:r>
              <a:rPr sz="1800" i="1" spc="14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yourself.”</a:t>
            </a:r>
            <a:r>
              <a:rPr sz="1800" i="1" spc="150" dirty="0">
                <a:latin typeface="Arial"/>
                <a:cs typeface="Arial"/>
              </a:rPr>
              <a:t> </a:t>
            </a:r>
            <a:r>
              <a:rPr sz="1800" i="1" spc="-40" dirty="0">
                <a:latin typeface="Arial"/>
                <a:cs typeface="Arial"/>
              </a:rPr>
              <a:t>(C13)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935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B4E365-B0D7-924A-9561-29FD72C09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D9C337C1-03ED-024E-9360-52F60F29251B}"/>
              </a:ext>
            </a:extLst>
          </p:cNvPr>
          <p:cNvSpPr/>
          <p:nvPr/>
        </p:nvSpPr>
        <p:spPr>
          <a:xfrm>
            <a:off x="4073398" y="1163327"/>
            <a:ext cx="4653915" cy="3917950"/>
          </a:xfrm>
          <a:custGeom>
            <a:avLst/>
            <a:gdLst/>
            <a:ahLst/>
            <a:cxnLst/>
            <a:rect l="l" t="t" r="r" b="b"/>
            <a:pathLst>
              <a:path w="4653915" h="3917950">
                <a:moveTo>
                  <a:pt x="4653597" y="0"/>
                </a:moveTo>
                <a:lnTo>
                  <a:pt x="513600" y="0"/>
                </a:lnTo>
                <a:lnTo>
                  <a:pt x="513600" y="237147"/>
                </a:lnTo>
                <a:lnTo>
                  <a:pt x="293852" y="237147"/>
                </a:lnTo>
                <a:lnTo>
                  <a:pt x="293852" y="84442"/>
                </a:lnTo>
                <a:lnTo>
                  <a:pt x="0" y="389839"/>
                </a:lnTo>
                <a:lnTo>
                  <a:pt x="293852" y="695236"/>
                </a:lnTo>
                <a:lnTo>
                  <a:pt x="293852" y="542544"/>
                </a:lnTo>
                <a:lnTo>
                  <a:pt x="513600" y="542544"/>
                </a:lnTo>
                <a:lnTo>
                  <a:pt x="513600" y="3917391"/>
                </a:lnTo>
                <a:lnTo>
                  <a:pt x="4653597" y="3917391"/>
                </a:lnTo>
                <a:lnTo>
                  <a:pt x="465359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47D4331-467E-BB4E-A346-07ACF78E0A27}"/>
              </a:ext>
            </a:extLst>
          </p:cNvPr>
          <p:cNvSpPr txBox="1">
            <a:spLocks/>
          </p:cNvSpPr>
          <p:nvPr/>
        </p:nvSpPr>
        <p:spPr>
          <a:xfrm>
            <a:off x="222854" y="305601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Blockers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2DB52E48-8151-D045-A73B-C26694377A9B}"/>
              </a:ext>
            </a:extLst>
          </p:cNvPr>
          <p:cNvSpPr txBox="1"/>
          <p:nvPr/>
        </p:nvSpPr>
        <p:spPr>
          <a:xfrm>
            <a:off x="1444625" y="1331249"/>
            <a:ext cx="2498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spc="-75" dirty="0">
                <a:latin typeface="Arial MT"/>
                <a:cs typeface="Arial MT"/>
              </a:rPr>
              <a:t>Resources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" name="object 5">
            <a:extLst>
              <a:ext uri="{FF2B5EF4-FFF2-40B4-BE49-F238E27FC236}">
                <a16:creationId xmlns:a16="http://schemas.microsoft.com/office/drawing/2014/main" id="{97F0226E-99AC-8A48-9E5D-A59C595D3DB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10" y="1194215"/>
            <a:ext cx="717864" cy="717899"/>
          </a:xfrm>
          <a:prstGeom prst="rect">
            <a:avLst/>
          </a:prstGeom>
        </p:spPr>
      </p:pic>
      <p:sp>
        <p:nvSpPr>
          <p:cNvPr id="7" name="object 6">
            <a:extLst>
              <a:ext uri="{FF2B5EF4-FFF2-40B4-BE49-F238E27FC236}">
                <a16:creationId xmlns:a16="http://schemas.microsoft.com/office/drawing/2014/main" id="{4D493A08-8CC4-A040-B921-83C1B3470539}"/>
              </a:ext>
            </a:extLst>
          </p:cNvPr>
          <p:cNvSpPr txBox="1"/>
          <p:nvPr/>
        </p:nvSpPr>
        <p:spPr>
          <a:xfrm>
            <a:off x="4798601" y="1257231"/>
            <a:ext cx="3787775" cy="1109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2000" spc="-50" dirty="0">
                <a:latin typeface="Arial MT"/>
                <a:cs typeface="Arial MT"/>
              </a:rPr>
              <a:t>-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55" dirty="0">
                <a:latin typeface="Arial MT"/>
                <a:cs typeface="Arial MT"/>
              </a:rPr>
              <a:t>Lack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70" dirty="0">
                <a:solidFill>
                  <a:srgbClr val="801620"/>
                </a:solidFill>
                <a:latin typeface="Arial MT"/>
                <a:cs typeface="Arial MT"/>
              </a:rPr>
              <a:t>budget</a:t>
            </a:r>
            <a:r>
              <a:rPr sz="2000" spc="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(n=8):</a:t>
            </a:r>
            <a:endParaRPr sz="2000">
              <a:latin typeface="Arial MT"/>
              <a:cs typeface="Arial MT"/>
            </a:endParaRPr>
          </a:p>
          <a:p>
            <a:pPr marL="125730" marR="5080" algn="ctr">
              <a:lnSpc>
                <a:spcPct val="100000"/>
              </a:lnSpc>
              <a:spcBef>
                <a:spcPts val="10"/>
              </a:spcBef>
            </a:pPr>
            <a:r>
              <a:rPr sz="1700" i="1" spc="105" dirty="0">
                <a:solidFill>
                  <a:srgbClr val="434343"/>
                </a:solidFill>
                <a:latin typeface="Arial"/>
                <a:cs typeface="Arial"/>
              </a:rPr>
              <a:t>“If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7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customer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doesn’t</a:t>
            </a:r>
            <a:r>
              <a:rPr sz="17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have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enough </a:t>
            </a:r>
            <a:r>
              <a:rPr sz="1700" i="1" spc="50" dirty="0">
                <a:solidFill>
                  <a:srgbClr val="434343"/>
                </a:solidFill>
                <a:latin typeface="Arial"/>
                <a:cs typeface="Arial"/>
              </a:rPr>
              <a:t>budget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for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development,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you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can’t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set</a:t>
            </a:r>
            <a:r>
              <a:rPr sz="17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up</a:t>
            </a:r>
            <a:r>
              <a:rPr sz="17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that</a:t>
            </a:r>
            <a:r>
              <a:rPr sz="17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kind</a:t>
            </a:r>
            <a:r>
              <a:rPr sz="17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of</a:t>
            </a:r>
            <a:r>
              <a:rPr sz="17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security.</a:t>
            </a:r>
            <a:r>
              <a:rPr sz="17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[...]</a:t>
            </a:r>
            <a:r>
              <a:rPr sz="17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434343"/>
                </a:solidFill>
                <a:latin typeface="Arial"/>
                <a:cs typeface="Arial"/>
              </a:rPr>
              <a:t>They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7A7040FE-60B4-C74C-B27A-2A843B733528}"/>
              </a:ext>
            </a:extLst>
          </p:cNvPr>
          <p:cNvSpPr txBox="1"/>
          <p:nvPr/>
        </p:nvSpPr>
        <p:spPr>
          <a:xfrm>
            <a:off x="4798601" y="2336519"/>
            <a:ext cx="3808729" cy="20707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3215" marR="5080" indent="-218440">
              <a:lnSpc>
                <a:spcPct val="100000"/>
              </a:lnSpc>
              <a:spcBef>
                <a:spcPts val="130"/>
              </a:spcBef>
            </a:pP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have</a:t>
            </a:r>
            <a:r>
              <a:rPr sz="17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50" dirty="0">
                <a:solidFill>
                  <a:srgbClr val="434343"/>
                </a:solidFill>
                <a:latin typeface="Arial"/>
                <a:cs typeface="Arial"/>
              </a:rPr>
              <a:t>budget</a:t>
            </a:r>
            <a:r>
              <a:rPr sz="1700" i="1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for</a:t>
            </a:r>
            <a:r>
              <a:rPr sz="1700" i="1" spc="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main</a:t>
            </a:r>
            <a:r>
              <a:rPr sz="1700" i="1" spc="3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functionality</a:t>
            </a:r>
            <a:r>
              <a:rPr sz="1700" i="1" spc="30" dirty="0">
                <a:solidFill>
                  <a:srgbClr val="434343"/>
                </a:solidFill>
                <a:latin typeface="Arial"/>
                <a:cs typeface="Arial"/>
              </a:rPr>
              <a:t> but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not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for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security</a:t>
            </a:r>
            <a:r>
              <a:rPr sz="1700" i="1" spc="10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or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usability.”</a:t>
            </a:r>
            <a:r>
              <a:rPr sz="1700" i="1" spc="10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(P18)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1700">
              <a:latin typeface="Arial"/>
              <a:cs typeface="Arial"/>
            </a:endParaRPr>
          </a:p>
          <a:p>
            <a:pPr marL="325755" indent="-313055">
              <a:lnSpc>
                <a:spcPct val="100000"/>
              </a:lnSpc>
              <a:buChar char="-"/>
              <a:tabLst>
                <a:tab pos="325755" algn="l"/>
              </a:tabLst>
            </a:pPr>
            <a:r>
              <a:rPr sz="2000" spc="-55" dirty="0">
                <a:latin typeface="Arial MT"/>
                <a:cs typeface="Arial MT"/>
              </a:rPr>
              <a:t>Lack</a:t>
            </a:r>
            <a:r>
              <a:rPr sz="2000" spc="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801620"/>
                </a:solidFill>
                <a:latin typeface="Arial MT"/>
                <a:cs typeface="Arial MT"/>
              </a:rPr>
              <a:t>time</a:t>
            </a:r>
            <a:r>
              <a:rPr sz="2000" spc="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(n=10)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-"/>
            </a:pPr>
            <a:endParaRPr sz="2000">
              <a:latin typeface="Arial MT"/>
              <a:cs typeface="Arial MT"/>
            </a:endParaRPr>
          </a:p>
          <a:p>
            <a:pPr marL="325755" marR="329565" indent="-313690">
              <a:lnSpc>
                <a:spcPct val="100000"/>
              </a:lnSpc>
              <a:buClr>
                <a:srgbClr val="000000"/>
              </a:buClr>
              <a:buChar char="-"/>
              <a:tabLst>
                <a:tab pos="325755" algn="l"/>
              </a:tabLst>
            </a:pPr>
            <a:r>
              <a:rPr sz="2000" dirty="0">
                <a:solidFill>
                  <a:srgbClr val="801620"/>
                </a:solidFill>
                <a:latin typeface="Arial MT"/>
                <a:cs typeface="Arial MT"/>
              </a:rPr>
              <a:t>“Functionality</a:t>
            </a:r>
            <a:r>
              <a:rPr sz="2000" spc="22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000" spc="60" dirty="0">
                <a:solidFill>
                  <a:srgbClr val="801620"/>
                </a:solidFill>
                <a:latin typeface="Arial MT"/>
                <a:cs typeface="Arial MT"/>
              </a:rPr>
              <a:t>first”</a:t>
            </a:r>
            <a:r>
              <a:rPr sz="2000" spc="21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attitude (n=8)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80686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4FA494-D81C-3348-A759-EDDB520A1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FF6157C9-D7C5-7740-995F-06BA448B403A}"/>
              </a:ext>
            </a:extLst>
          </p:cNvPr>
          <p:cNvSpPr/>
          <p:nvPr/>
        </p:nvSpPr>
        <p:spPr>
          <a:xfrm>
            <a:off x="3901136" y="1453260"/>
            <a:ext cx="4653915" cy="3917950"/>
          </a:xfrm>
          <a:custGeom>
            <a:avLst/>
            <a:gdLst/>
            <a:ahLst/>
            <a:cxnLst/>
            <a:rect l="l" t="t" r="r" b="b"/>
            <a:pathLst>
              <a:path w="4653915" h="3917950">
                <a:moveTo>
                  <a:pt x="4653597" y="0"/>
                </a:moveTo>
                <a:lnTo>
                  <a:pt x="513600" y="0"/>
                </a:lnTo>
                <a:lnTo>
                  <a:pt x="513600" y="1502511"/>
                </a:lnTo>
                <a:lnTo>
                  <a:pt x="293852" y="1502511"/>
                </a:lnTo>
                <a:lnTo>
                  <a:pt x="293852" y="1349819"/>
                </a:lnTo>
                <a:lnTo>
                  <a:pt x="0" y="1655216"/>
                </a:lnTo>
                <a:lnTo>
                  <a:pt x="293852" y="1960613"/>
                </a:lnTo>
                <a:lnTo>
                  <a:pt x="293852" y="1807921"/>
                </a:lnTo>
                <a:lnTo>
                  <a:pt x="513600" y="1807921"/>
                </a:lnTo>
                <a:lnTo>
                  <a:pt x="513600" y="3917391"/>
                </a:lnTo>
                <a:lnTo>
                  <a:pt x="4653597" y="3917391"/>
                </a:lnTo>
                <a:lnTo>
                  <a:pt x="465359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F55C17A-2AB3-9046-A4B8-AE427CE2AB07}"/>
              </a:ext>
            </a:extLst>
          </p:cNvPr>
          <p:cNvSpPr txBox="1">
            <a:spLocks/>
          </p:cNvSpPr>
          <p:nvPr/>
        </p:nvSpPr>
        <p:spPr>
          <a:xfrm>
            <a:off x="212780" y="320518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Blockers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EE033F6-4D30-8748-9AC4-776B47D341B5}"/>
              </a:ext>
            </a:extLst>
          </p:cNvPr>
          <p:cNvSpPr txBox="1"/>
          <p:nvPr/>
        </p:nvSpPr>
        <p:spPr>
          <a:xfrm>
            <a:off x="1285063" y="1708253"/>
            <a:ext cx="247269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5"/>
              </a:lnSpc>
            </a:pP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Resources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F867B89F-A075-C047-B6D4-C04368E36317}"/>
              </a:ext>
            </a:extLst>
          </p:cNvPr>
          <p:cNvSpPr txBox="1"/>
          <p:nvPr/>
        </p:nvSpPr>
        <p:spPr>
          <a:xfrm>
            <a:off x="1272363" y="2859432"/>
            <a:ext cx="2153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Misconceptions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7" name="object 6">
            <a:extLst>
              <a:ext uri="{FF2B5EF4-FFF2-40B4-BE49-F238E27FC236}">
                <a16:creationId xmlns:a16="http://schemas.microsoft.com/office/drawing/2014/main" id="{0955F0A6-A0B6-3941-8A7A-5508257CD2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937" y="2613524"/>
            <a:ext cx="717875" cy="717875"/>
          </a:xfrm>
          <a:prstGeom prst="rect">
            <a:avLst/>
          </a:prstGeom>
        </p:spPr>
      </p:pic>
      <p:grpSp>
        <p:nvGrpSpPr>
          <p:cNvPr id="8" name="object 7">
            <a:extLst>
              <a:ext uri="{FF2B5EF4-FFF2-40B4-BE49-F238E27FC236}">
                <a16:creationId xmlns:a16="http://schemas.microsoft.com/office/drawing/2014/main" id="{E0480827-D7CD-7740-9219-C028F46E6590}"/>
              </a:ext>
            </a:extLst>
          </p:cNvPr>
          <p:cNvGrpSpPr/>
          <p:nvPr/>
        </p:nvGrpSpPr>
        <p:grpSpPr>
          <a:xfrm>
            <a:off x="0" y="1436961"/>
            <a:ext cx="3957320" cy="843915"/>
            <a:chOff x="172262" y="767887"/>
            <a:chExt cx="3957320" cy="843915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8815038A-DF56-124A-AD4B-57DC32C5621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10" y="815074"/>
              <a:ext cx="717864" cy="717899"/>
            </a:xfrm>
            <a:prstGeom prst="rect">
              <a:avLst/>
            </a:prstGeom>
          </p:spPr>
        </p:pic>
        <p:sp>
          <p:nvSpPr>
            <p:cNvPr id="10" name="object 9">
              <a:extLst>
                <a:ext uri="{FF2B5EF4-FFF2-40B4-BE49-F238E27FC236}">
                  <a16:creationId xmlns:a16="http://schemas.microsoft.com/office/drawing/2014/main" id="{899257BB-3363-7049-8B2E-5A1ED50B31BE}"/>
                </a:ext>
              </a:extLst>
            </p:cNvPr>
            <p:cNvSpPr/>
            <p:nvPr/>
          </p:nvSpPr>
          <p:spPr>
            <a:xfrm>
              <a:off x="177024" y="772649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90">
                  <a:moveTo>
                    <a:pt x="3947399" y="833999"/>
                  </a:moveTo>
                  <a:lnTo>
                    <a:pt x="0" y="833999"/>
                  </a:lnTo>
                  <a:lnTo>
                    <a:pt x="0" y="0"/>
                  </a:lnTo>
                  <a:lnTo>
                    <a:pt x="3947399" y="0"/>
                  </a:lnTo>
                  <a:lnTo>
                    <a:pt x="3947399" y="833999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BCEC0821-60BE-9F42-8772-38E815F2EE53}"/>
                </a:ext>
              </a:extLst>
            </p:cNvPr>
            <p:cNvSpPr/>
            <p:nvPr/>
          </p:nvSpPr>
          <p:spPr>
            <a:xfrm>
              <a:off x="177024" y="772649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90">
                  <a:moveTo>
                    <a:pt x="0" y="0"/>
                  </a:moveTo>
                  <a:lnTo>
                    <a:pt x="3947399" y="0"/>
                  </a:lnTo>
                  <a:lnTo>
                    <a:pt x="39473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1">
            <a:extLst>
              <a:ext uri="{FF2B5EF4-FFF2-40B4-BE49-F238E27FC236}">
                <a16:creationId xmlns:a16="http://schemas.microsoft.com/office/drawing/2014/main" id="{8846F784-83EC-8943-AD0E-7A6F4CF7402E}"/>
              </a:ext>
            </a:extLst>
          </p:cNvPr>
          <p:cNvSpPr txBox="1"/>
          <p:nvPr/>
        </p:nvSpPr>
        <p:spPr>
          <a:xfrm>
            <a:off x="4626439" y="1547014"/>
            <a:ext cx="3726179" cy="1628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2000" spc="-50" dirty="0">
                <a:latin typeface="Arial MT"/>
                <a:cs typeface="Arial MT"/>
              </a:rPr>
              <a:t>-</a:t>
            </a:r>
            <a:r>
              <a:rPr sz="2000" dirty="0">
                <a:latin typeface="Arial MT"/>
                <a:cs typeface="Arial MT"/>
              </a:rPr>
              <a:t>	Blaming </a:t>
            </a:r>
            <a:r>
              <a:rPr sz="2000" spc="-10" dirty="0">
                <a:latin typeface="Arial MT"/>
                <a:cs typeface="Arial MT"/>
              </a:rPr>
              <a:t>users:</a:t>
            </a:r>
            <a:endParaRPr sz="2000">
              <a:latin typeface="Arial MT"/>
              <a:cs typeface="Arial MT"/>
            </a:endParaRPr>
          </a:p>
          <a:p>
            <a:pPr marL="187325" marR="5080" algn="ctr">
              <a:lnSpc>
                <a:spcPct val="100000"/>
              </a:lnSpc>
              <a:spcBef>
                <a:spcPts val="10"/>
              </a:spcBef>
            </a:pP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“[This</a:t>
            </a:r>
            <a:r>
              <a:rPr sz="1700" i="1" spc="8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problem</a:t>
            </a:r>
            <a:r>
              <a:rPr sz="17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is]</a:t>
            </a:r>
            <a:r>
              <a:rPr sz="17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not</a:t>
            </a:r>
            <a:r>
              <a:rPr sz="17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related</a:t>
            </a:r>
            <a:r>
              <a:rPr sz="1700" i="1" spc="9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45" dirty="0">
                <a:solidFill>
                  <a:srgbClr val="434343"/>
                </a:solidFill>
                <a:latin typeface="Arial"/>
                <a:cs typeface="Arial"/>
              </a:rPr>
              <a:t>to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usability,</a:t>
            </a:r>
            <a:r>
              <a:rPr sz="1700" i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mostly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 it’s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related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70" dirty="0">
                <a:solidFill>
                  <a:srgbClr val="434343"/>
                </a:solidFill>
                <a:latin typeface="Arial"/>
                <a:cs typeface="Arial"/>
              </a:rPr>
              <a:t>to</a:t>
            </a:r>
            <a:r>
              <a:rPr sz="1700" i="1" spc="-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lack </a:t>
            </a:r>
            <a:r>
              <a:rPr sz="1700" i="1" spc="-25" dirty="0">
                <a:solidFill>
                  <a:srgbClr val="434343"/>
                </a:solidFill>
                <a:latin typeface="Arial"/>
                <a:cs typeface="Arial"/>
              </a:rPr>
              <a:t>of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technology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20" dirty="0">
                <a:solidFill>
                  <a:srgbClr val="434343"/>
                </a:solidFill>
                <a:latin typeface="Arial"/>
                <a:cs typeface="Arial"/>
              </a:rPr>
              <a:t>skills.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[...]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we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can’t</a:t>
            </a:r>
            <a:r>
              <a:rPr sz="1700" i="1" spc="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40" dirty="0">
                <a:solidFill>
                  <a:srgbClr val="434343"/>
                </a:solidFill>
                <a:latin typeface="Arial"/>
                <a:cs typeface="Arial"/>
              </a:rPr>
              <a:t>do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anything</a:t>
            </a:r>
            <a:r>
              <a:rPr sz="1700" i="1" spc="9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dirty="0">
                <a:solidFill>
                  <a:srgbClr val="434343"/>
                </a:solidFill>
                <a:latin typeface="Arial"/>
                <a:cs typeface="Arial"/>
              </a:rPr>
              <a:t>about</a:t>
            </a:r>
            <a:r>
              <a:rPr sz="1700" i="1" spc="9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700" i="1" spc="-10" dirty="0">
                <a:solidFill>
                  <a:srgbClr val="434343"/>
                </a:solidFill>
                <a:latin typeface="Arial"/>
                <a:cs typeface="Arial"/>
              </a:rPr>
              <a:t>[authentication].” (P21)</a:t>
            </a:r>
            <a:endParaRPr sz="1700">
              <a:latin typeface="Arial"/>
              <a:cs typeface="Arial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C956BA0F-A50B-C740-929D-6BFF5B66E74D}"/>
              </a:ext>
            </a:extLst>
          </p:cNvPr>
          <p:cNvSpPr txBox="1"/>
          <p:nvPr/>
        </p:nvSpPr>
        <p:spPr>
          <a:xfrm>
            <a:off x="4626439" y="3452014"/>
            <a:ext cx="372491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marR="544830" indent="-313690">
              <a:lnSpc>
                <a:spcPct val="100000"/>
              </a:lnSpc>
              <a:spcBef>
                <a:spcPts val="100"/>
              </a:spcBef>
              <a:buChar char="-"/>
              <a:tabLst>
                <a:tab pos="325755" algn="l"/>
              </a:tabLst>
            </a:pPr>
            <a:r>
              <a:rPr sz="2000" dirty="0">
                <a:latin typeface="Arial MT"/>
                <a:cs typeface="Arial MT"/>
              </a:rPr>
              <a:t>Misunderstanding</a:t>
            </a:r>
            <a:r>
              <a:rPr sz="2000" spc="1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usable security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-"/>
            </a:pPr>
            <a:endParaRPr sz="2000">
              <a:latin typeface="Arial MT"/>
              <a:cs typeface="Arial MT"/>
            </a:endParaRPr>
          </a:p>
          <a:p>
            <a:pPr marL="325755" indent="-313055">
              <a:lnSpc>
                <a:spcPct val="100000"/>
              </a:lnSpc>
              <a:buChar char="-"/>
              <a:tabLst>
                <a:tab pos="325755" algn="l"/>
              </a:tabLst>
            </a:pPr>
            <a:r>
              <a:rPr sz="2000" dirty="0">
                <a:latin typeface="Arial MT"/>
                <a:cs typeface="Arial MT"/>
              </a:rPr>
              <a:t>Usability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55" dirty="0">
                <a:latin typeface="Arial MT"/>
                <a:cs typeface="Arial MT"/>
              </a:rPr>
              <a:t>not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taken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seriously</a:t>
            </a:r>
            <a:endParaRPr sz="20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35068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79F78C-0CD1-364A-B452-B0D9CE3DC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941479C-EA2F-7B49-94B9-39AD39431F66}"/>
              </a:ext>
            </a:extLst>
          </p:cNvPr>
          <p:cNvSpPr/>
          <p:nvPr/>
        </p:nvSpPr>
        <p:spPr>
          <a:xfrm>
            <a:off x="4609301" y="1274828"/>
            <a:ext cx="4140200" cy="4164329"/>
          </a:xfrm>
          <a:custGeom>
            <a:avLst/>
            <a:gdLst/>
            <a:ahLst/>
            <a:cxnLst/>
            <a:rect l="l" t="t" r="r" b="b"/>
            <a:pathLst>
              <a:path w="4140200" h="4164329">
                <a:moveTo>
                  <a:pt x="4139999" y="4164299"/>
                </a:moveTo>
                <a:lnTo>
                  <a:pt x="0" y="4164299"/>
                </a:lnTo>
                <a:lnTo>
                  <a:pt x="0" y="0"/>
                </a:lnTo>
                <a:lnTo>
                  <a:pt x="4139999" y="0"/>
                </a:lnTo>
                <a:lnTo>
                  <a:pt x="4139999" y="41642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C9B6B84D-F482-AC43-A951-358597331A2B}"/>
              </a:ext>
            </a:extLst>
          </p:cNvPr>
          <p:cNvSpPr txBox="1">
            <a:spLocks/>
          </p:cNvSpPr>
          <p:nvPr/>
        </p:nvSpPr>
        <p:spPr>
          <a:xfrm>
            <a:off x="130485" y="322290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Blockers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C9567E70-3DAD-7043-B166-CB4A19D15B56}"/>
              </a:ext>
            </a:extLst>
          </p:cNvPr>
          <p:cNvSpPr txBox="1"/>
          <p:nvPr/>
        </p:nvSpPr>
        <p:spPr>
          <a:xfrm>
            <a:off x="1479627" y="1529832"/>
            <a:ext cx="247269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5"/>
              </a:lnSpc>
            </a:pPr>
            <a:r>
              <a:rPr sz="2400" dirty="0">
                <a:latin typeface="Arial MT"/>
                <a:cs typeface="Arial MT"/>
              </a:rPr>
              <a:t>Limited</a:t>
            </a:r>
            <a:r>
              <a:rPr sz="2400" spc="229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Resources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CD683156-8CA3-D743-84F6-37FCD94766FE}"/>
              </a:ext>
            </a:extLst>
          </p:cNvPr>
          <p:cNvSpPr txBox="1"/>
          <p:nvPr/>
        </p:nvSpPr>
        <p:spPr>
          <a:xfrm>
            <a:off x="1479627" y="2768082"/>
            <a:ext cx="212852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5"/>
              </a:lnSpc>
            </a:pPr>
            <a:r>
              <a:rPr sz="2400" spc="-10" dirty="0">
                <a:latin typeface="Arial MT"/>
                <a:cs typeface="Arial MT"/>
              </a:rPr>
              <a:t>Misconceptions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974FE937-4270-C741-A451-0337A4D1C9C0}"/>
              </a:ext>
            </a:extLst>
          </p:cNvPr>
          <p:cNvSpPr txBox="1"/>
          <p:nvPr/>
        </p:nvSpPr>
        <p:spPr>
          <a:xfrm>
            <a:off x="1466927" y="3919261"/>
            <a:ext cx="218186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10" dirty="0">
                <a:latin typeface="Arial MT"/>
                <a:cs typeface="Arial MT"/>
              </a:rPr>
              <a:t>Communication Barriers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9" name="object 8">
            <a:extLst>
              <a:ext uri="{FF2B5EF4-FFF2-40B4-BE49-F238E27FC236}">
                <a16:creationId xmlns:a16="http://schemas.microsoft.com/office/drawing/2014/main" id="{648C22F5-A7A5-164B-AFD5-C4BE0DA6F778}"/>
              </a:ext>
            </a:extLst>
          </p:cNvPr>
          <p:cNvGrpSpPr/>
          <p:nvPr/>
        </p:nvGrpSpPr>
        <p:grpSpPr>
          <a:xfrm>
            <a:off x="194564" y="1258540"/>
            <a:ext cx="3957320" cy="843915"/>
            <a:chOff x="172262" y="767887"/>
            <a:chExt cx="3957320" cy="843915"/>
          </a:xfrm>
        </p:grpSpPr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868EBD5F-1763-6940-9DED-5BD8169578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10" y="815074"/>
              <a:ext cx="717864" cy="717899"/>
            </a:xfrm>
            <a:prstGeom prst="rect">
              <a:avLst/>
            </a:prstGeom>
          </p:spPr>
        </p:pic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BC9D5F57-5B69-8D46-AAE5-F4046B16FA22}"/>
                </a:ext>
              </a:extLst>
            </p:cNvPr>
            <p:cNvSpPr/>
            <p:nvPr/>
          </p:nvSpPr>
          <p:spPr>
            <a:xfrm>
              <a:off x="177024" y="772649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90">
                  <a:moveTo>
                    <a:pt x="3947399" y="833999"/>
                  </a:moveTo>
                  <a:lnTo>
                    <a:pt x="0" y="833999"/>
                  </a:lnTo>
                  <a:lnTo>
                    <a:pt x="0" y="0"/>
                  </a:lnTo>
                  <a:lnTo>
                    <a:pt x="3947399" y="0"/>
                  </a:lnTo>
                  <a:lnTo>
                    <a:pt x="3947399" y="833999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9AAC71AB-3227-0A4A-8227-8ECED5051A78}"/>
                </a:ext>
              </a:extLst>
            </p:cNvPr>
            <p:cNvSpPr/>
            <p:nvPr/>
          </p:nvSpPr>
          <p:spPr>
            <a:xfrm>
              <a:off x="177024" y="772649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90">
                  <a:moveTo>
                    <a:pt x="0" y="0"/>
                  </a:moveTo>
                  <a:lnTo>
                    <a:pt x="3947399" y="0"/>
                  </a:lnTo>
                  <a:lnTo>
                    <a:pt x="39473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2">
            <a:extLst>
              <a:ext uri="{FF2B5EF4-FFF2-40B4-BE49-F238E27FC236}">
                <a16:creationId xmlns:a16="http://schemas.microsoft.com/office/drawing/2014/main" id="{D02C93B0-A603-784B-BA02-4224A9835035}"/>
              </a:ext>
            </a:extLst>
          </p:cNvPr>
          <p:cNvGrpSpPr/>
          <p:nvPr/>
        </p:nvGrpSpPr>
        <p:grpSpPr>
          <a:xfrm>
            <a:off x="194564" y="2372278"/>
            <a:ext cx="3957320" cy="843915"/>
            <a:chOff x="172262" y="1881625"/>
            <a:chExt cx="3957320" cy="843915"/>
          </a:xfrm>
        </p:grpSpPr>
        <p:pic>
          <p:nvPicPr>
            <p:cNvPr id="14" name="object 13">
              <a:extLst>
                <a:ext uri="{FF2B5EF4-FFF2-40B4-BE49-F238E27FC236}">
                  <a16:creationId xmlns:a16="http://schemas.microsoft.com/office/drawing/2014/main" id="{195E957E-0AF1-E944-9708-E639292198E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187" y="1944450"/>
              <a:ext cx="717875" cy="717875"/>
            </a:xfrm>
            <a:prstGeom prst="rect">
              <a:avLst/>
            </a:prstGeom>
          </p:spPr>
        </p:pic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A26AB32C-3744-E349-9316-C144E812C9E4}"/>
                </a:ext>
              </a:extLst>
            </p:cNvPr>
            <p:cNvSpPr/>
            <p:nvPr/>
          </p:nvSpPr>
          <p:spPr>
            <a:xfrm>
              <a:off x="177024" y="1886387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3947399" y="833999"/>
                  </a:moveTo>
                  <a:lnTo>
                    <a:pt x="0" y="833999"/>
                  </a:lnTo>
                  <a:lnTo>
                    <a:pt x="0" y="0"/>
                  </a:lnTo>
                  <a:lnTo>
                    <a:pt x="3947399" y="0"/>
                  </a:lnTo>
                  <a:lnTo>
                    <a:pt x="3947399" y="833999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F81FE840-146A-AD4A-81AF-389CBE1061CD}"/>
                </a:ext>
              </a:extLst>
            </p:cNvPr>
            <p:cNvSpPr/>
            <p:nvPr/>
          </p:nvSpPr>
          <p:spPr>
            <a:xfrm>
              <a:off x="177024" y="1886387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0" y="0"/>
                  </a:moveTo>
                  <a:lnTo>
                    <a:pt x="3947399" y="0"/>
                  </a:lnTo>
                  <a:lnTo>
                    <a:pt x="39473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6">
            <a:extLst>
              <a:ext uri="{FF2B5EF4-FFF2-40B4-BE49-F238E27FC236}">
                <a16:creationId xmlns:a16="http://schemas.microsoft.com/office/drawing/2014/main" id="{D3FE6305-47DB-3A46-A58A-F2CCC51622BC}"/>
              </a:ext>
            </a:extLst>
          </p:cNvPr>
          <p:cNvSpPr txBox="1"/>
          <p:nvPr/>
        </p:nvSpPr>
        <p:spPr>
          <a:xfrm>
            <a:off x="4821003" y="1368743"/>
            <a:ext cx="3810635" cy="1765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marR="145415" indent="-31369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2000" spc="-50" dirty="0">
                <a:latin typeface="Arial MT"/>
                <a:cs typeface="Arial MT"/>
              </a:rPr>
              <a:t>-</a:t>
            </a:r>
            <a:r>
              <a:rPr sz="2000" dirty="0">
                <a:latin typeface="Arial MT"/>
                <a:cs typeface="Arial MT"/>
              </a:rPr>
              <a:t>	Communication</a:t>
            </a:r>
            <a:r>
              <a:rPr sz="2000" spc="1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problems</a:t>
            </a:r>
            <a:r>
              <a:rPr sz="2000" spc="16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dirty="0">
                <a:latin typeface="Arial MT"/>
                <a:cs typeface="Arial MT"/>
              </a:rPr>
              <a:t>even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no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at</a:t>
            </a:r>
            <a:r>
              <a:rPr sz="2000" spc="6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all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2000">
              <a:latin typeface="Arial MT"/>
              <a:cs typeface="Arial MT"/>
            </a:endParaRPr>
          </a:p>
          <a:p>
            <a:pPr marL="101600" marR="5080" algn="ctr">
              <a:lnSpc>
                <a:spcPct val="100000"/>
              </a:lnSpc>
            </a:pPr>
            <a:r>
              <a:rPr sz="1800" i="1" spc="90" dirty="0">
                <a:solidFill>
                  <a:srgbClr val="434343"/>
                </a:solidFill>
                <a:latin typeface="Arial"/>
                <a:cs typeface="Arial"/>
              </a:rPr>
              <a:t>“But</a:t>
            </a:r>
            <a:r>
              <a:rPr sz="18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what</a:t>
            </a:r>
            <a:r>
              <a:rPr sz="18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you</a:t>
            </a:r>
            <a:r>
              <a:rPr sz="18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wonder</a:t>
            </a:r>
            <a:r>
              <a:rPr sz="18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is</a:t>
            </a:r>
            <a:r>
              <a:rPr sz="1800" i="1" spc="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if</a:t>
            </a:r>
            <a:r>
              <a:rPr sz="1800" i="1" spc="1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the </a:t>
            </a:r>
            <a:r>
              <a:rPr sz="1800" i="1" dirty="0">
                <a:solidFill>
                  <a:srgbClr val="801620"/>
                </a:solidFill>
                <a:latin typeface="Arial"/>
                <a:cs typeface="Arial"/>
              </a:rPr>
              <a:t>designer</a:t>
            </a:r>
            <a:r>
              <a:rPr sz="1800" i="1" spc="-10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spc="-50" dirty="0">
                <a:solidFill>
                  <a:srgbClr val="434343"/>
                </a:solidFill>
                <a:latin typeface="Arial"/>
                <a:cs typeface="Arial"/>
              </a:rPr>
              <a:t>was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even</a:t>
            </a:r>
            <a:r>
              <a:rPr sz="18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801620"/>
                </a:solidFill>
                <a:latin typeface="Arial"/>
                <a:cs typeface="Arial"/>
              </a:rPr>
              <a:t>able</a:t>
            </a:r>
            <a:r>
              <a:rPr sz="1800" i="1" spc="-10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spc="80" dirty="0">
                <a:solidFill>
                  <a:srgbClr val="801620"/>
                </a:solidFill>
                <a:latin typeface="Arial"/>
                <a:cs typeface="Arial"/>
              </a:rPr>
              <a:t>to</a:t>
            </a:r>
            <a:r>
              <a:rPr sz="1800" i="1" spc="-10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801620"/>
                </a:solidFill>
                <a:latin typeface="Arial"/>
                <a:cs typeface="Arial"/>
              </a:rPr>
              <a:t>grasp</a:t>
            </a:r>
            <a:r>
              <a:rPr sz="1800" i="1" spc="-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spc="-25" dirty="0">
                <a:solidFill>
                  <a:srgbClr val="434343"/>
                </a:solidFill>
                <a:latin typeface="Arial"/>
                <a:cs typeface="Arial"/>
              </a:rPr>
              <a:t>the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front-end</a:t>
            </a:r>
            <a:r>
              <a:rPr sz="1800" i="1" spc="12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50" dirty="0">
                <a:solidFill>
                  <a:srgbClr val="801620"/>
                </a:solidFill>
                <a:latin typeface="Arial"/>
                <a:cs typeface="Arial"/>
              </a:rPr>
              <a:t>developer</a:t>
            </a:r>
            <a:r>
              <a:rPr sz="1800" i="1" spc="50" dirty="0">
                <a:solidFill>
                  <a:srgbClr val="434343"/>
                </a:solidFill>
                <a:latin typeface="Arial"/>
                <a:cs typeface="Arial"/>
              </a:rPr>
              <a:t>.”</a:t>
            </a:r>
            <a:r>
              <a:rPr sz="1800" i="1" spc="12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(P10)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8" name="object 17">
            <a:extLst>
              <a:ext uri="{FF2B5EF4-FFF2-40B4-BE49-F238E27FC236}">
                <a16:creationId xmlns:a16="http://schemas.microsoft.com/office/drawing/2014/main" id="{9E0EE4E3-ADBA-1C4C-A5CF-6442A6849181}"/>
              </a:ext>
            </a:extLst>
          </p:cNvPr>
          <p:cNvGrpSpPr/>
          <p:nvPr/>
        </p:nvGrpSpPr>
        <p:grpSpPr>
          <a:xfrm>
            <a:off x="318017" y="3922074"/>
            <a:ext cx="1041400" cy="815975"/>
            <a:chOff x="295715" y="3431421"/>
            <a:chExt cx="1041400" cy="815975"/>
          </a:xfrm>
        </p:grpSpPr>
        <p:pic>
          <p:nvPicPr>
            <p:cNvPr id="19" name="object 18">
              <a:extLst>
                <a:ext uri="{FF2B5EF4-FFF2-40B4-BE49-F238E27FC236}">
                  <a16:creationId xmlns:a16="http://schemas.microsoft.com/office/drawing/2014/main" id="{2D3963C8-14A6-BB42-84B9-8C83F18E44C2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4126" y="3431421"/>
              <a:ext cx="512438" cy="538388"/>
            </a:xfrm>
            <a:prstGeom prst="rect">
              <a:avLst/>
            </a:prstGeom>
          </p:spPr>
        </p:pic>
        <p:pic>
          <p:nvPicPr>
            <p:cNvPr id="20" name="object 19">
              <a:extLst>
                <a:ext uri="{FF2B5EF4-FFF2-40B4-BE49-F238E27FC236}">
                  <a16:creationId xmlns:a16="http://schemas.microsoft.com/office/drawing/2014/main" id="{B9CEBBA5-C330-434B-AEC6-12E1859880D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5715" y="3511563"/>
              <a:ext cx="699797" cy="735236"/>
            </a:xfrm>
            <a:prstGeom prst="rect">
              <a:avLst/>
            </a:prstGeom>
          </p:spPr>
        </p:pic>
      </p:grpSp>
      <p:grpSp>
        <p:nvGrpSpPr>
          <p:cNvPr id="21" name="object 20">
            <a:extLst>
              <a:ext uri="{FF2B5EF4-FFF2-40B4-BE49-F238E27FC236}">
                <a16:creationId xmlns:a16="http://schemas.microsoft.com/office/drawing/2014/main" id="{67379ED6-C100-7C48-B1DC-883E6B733507}"/>
              </a:ext>
            </a:extLst>
          </p:cNvPr>
          <p:cNvGrpSpPr/>
          <p:nvPr/>
        </p:nvGrpSpPr>
        <p:grpSpPr>
          <a:xfrm>
            <a:off x="5401309" y="3549312"/>
            <a:ext cx="2652395" cy="1367155"/>
            <a:chOff x="5379007" y="3058659"/>
            <a:chExt cx="2652395" cy="1367155"/>
          </a:xfrm>
        </p:grpSpPr>
        <p:pic>
          <p:nvPicPr>
            <p:cNvPr id="22" name="object 21">
              <a:extLst>
                <a:ext uri="{FF2B5EF4-FFF2-40B4-BE49-F238E27FC236}">
                  <a16:creationId xmlns:a16="http://schemas.microsoft.com/office/drawing/2014/main" id="{561ABE58-B5BE-0043-A3AC-375D06998F6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9007" y="3414145"/>
              <a:ext cx="1011212" cy="1011212"/>
            </a:xfrm>
            <a:prstGeom prst="rect">
              <a:avLst/>
            </a:prstGeom>
          </p:spPr>
        </p:pic>
        <p:pic>
          <p:nvPicPr>
            <p:cNvPr id="23" name="object 22">
              <a:extLst>
                <a:ext uri="{FF2B5EF4-FFF2-40B4-BE49-F238E27FC236}">
                  <a16:creationId xmlns:a16="http://schemas.microsoft.com/office/drawing/2014/main" id="{B47CCDA9-7589-B04F-BE3F-CD1461F70DD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08123" y="3502623"/>
              <a:ext cx="922725" cy="922724"/>
            </a:xfrm>
            <a:prstGeom prst="rect">
              <a:avLst/>
            </a:prstGeom>
          </p:spPr>
        </p:pic>
        <p:pic>
          <p:nvPicPr>
            <p:cNvPr id="24" name="object 23">
              <a:extLst>
                <a:ext uri="{FF2B5EF4-FFF2-40B4-BE49-F238E27FC236}">
                  <a16:creationId xmlns:a16="http://schemas.microsoft.com/office/drawing/2014/main" id="{F3D186D6-8F34-D247-8DF0-F6C916B5735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90214" y="3058659"/>
              <a:ext cx="717899" cy="717881"/>
            </a:xfrm>
            <a:prstGeom prst="rect">
              <a:avLst/>
            </a:prstGeom>
          </p:spPr>
        </p:pic>
      </p:grpSp>
      <p:sp>
        <p:nvSpPr>
          <p:cNvPr id="25" name="object 24">
            <a:extLst>
              <a:ext uri="{FF2B5EF4-FFF2-40B4-BE49-F238E27FC236}">
                <a16:creationId xmlns:a16="http://schemas.microsoft.com/office/drawing/2014/main" id="{187BBCF7-20E2-A545-B4EC-502650A6190B}"/>
              </a:ext>
            </a:extLst>
          </p:cNvPr>
          <p:cNvSpPr txBox="1"/>
          <p:nvPr/>
        </p:nvSpPr>
        <p:spPr>
          <a:xfrm>
            <a:off x="6935079" y="4934291"/>
            <a:ext cx="1296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4615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434343"/>
                </a:solidFill>
                <a:latin typeface="Arial MT"/>
                <a:cs typeface="Arial MT"/>
              </a:rPr>
              <a:t>Developers </a:t>
            </a:r>
            <a:r>
              <a:rPr sz="1400" spc="-50" dirty="0">
                <a:solidFill>
                  <a:srgbClr val="434343"/>
                </a:solidFill>
                <a:latin typeface="Arial MT"/>
                <a:cs typeface="Arial MT"/>
              </a:rPr>
              <a:t>&amp; </a:t>
            </a: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Security</a:t>
            </a:r>
            <a:r>
              <a:rPr sz="1400" spc="-25" dirty="0">
                <a:solidFill>
                  <a:srgbClr val="434343"/>
                </a:solidFill>
                <a:latin typeface="Arial MT"/>
                <a:cs typeface="Arial MT"/>
              </a:rPr>
              <a:t> Experts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A00FA0DC-3A4D-0C47-89FC-AFADC90106A2}"/>
              </a:ext>
            </a:extLst>
          </p:cNvPr>
          <p:cNvSpPr txBox="1"/>
          <p:nvPr/>
        </p:nvSpPr>
        <p:spPr>
          <a:xfrm>
            <a:off x="5412110" y="4934291"/>
            <a:ext cx="9906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515" marR="5080" indent="-4445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Designers</a:t>
            </a:r>
            <a:r>
              <a:rPr sz="1400" spc="-4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50" dirty="0">
                <a:solidFill>
                  <a:srgbClr val="434343"/>
                </a:solidFill>
                <a:latin typeface="Arial MT"/>
                <a:cs typeface="Arial MT"/>
              </a:rPr>
              <a:t>&amp; </a:t>
            </a:r>
            <a:r>
              <a:rPr sz="1400" spc="-30" dirty="0">
                <a:solidFill>
                  <a:srgbClr val="434343"/>
                </a:solidFill>
                <a:latin typeface="Arial MT"/>
                <a:cs typeface="Arial MT"/>
              </a:rPr>
              <a:t>UX</a:t>
            </a:r>
            <a:r>
              <a:rPr sz="1400" spc="-60" dirty="0">
                <a:solidFill>
                  <a:srgbClr val="434343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434343"/>
                </a:solidFill>
                <a:latin typeface="Arial MT"/>
                <a:cs typeface="Arial MT"/>
              </a:rPr>
              <a:t>Experts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6">
            <a:extLst>
              <a:ext uri="{FF2B5EF4-FFF2-40B4-BE49-F238E27FC236}">
                <a16:creationId xmlns:a16="http://schemas.microsoft.com/office/drawing/2014/main" id="{CFD88F70-FDB2-C44A-B89A-1DB30EF3043E}"/>
              </a:ext>
            </a:extLst>
          </p:cNvPr>
          <p:cNvSpPr/>
          <p:nvPr/>
        </p:nvSpPr>
        <p:spPr>
          <a:xfrm>
            <a:off x="4095708" y="4024375"/>
            <a:ext cx="588010" cy="610870"/>
          </a:xfrm>
          <a:custGeom>
            <a:avLst/>
            <a:gdLst/>
            <a:ahLst/>
            <a:cxnLst/>
            <a:rect l="l" t="t" r="r" b="b"/>
            <a:pathLst>
              <a:path w="588010" h="610870">
                <a:moveTo>
                  <a:pt x="293849" y="610799"/>
                </a:moveTo>
                <a:lnTo>
                  <a:pt x="0" y="305399"/>
                </a:lnTo>
                <a:lnTo>
                  <a:pt x="293849" y="0"/>
                </a:lnTo>
                <a:lnTo>
                  <a:pt x="293849" y="152699"/>
                </a:lnTo>
                <a:lnTo>
                  <a:pt x="587699" y="152699"/>
                </a:lnTo>
                <a:lnTo>
                  <a:pt x="587699" y="458099"/>
                </a:lnTo>
                <a:lnTo>
                  <a:pt x="293849" y="458099"/>
                </a:lnTo>
                <a:lnTo>
                  <a:pt x="293849" y="610799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014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FD9342-60CE-F64D-BE60-7A66323D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83CF2E34-150D-3B4B-B893-DAA9657837DF}"/>
              </a:ext>
            </a:extLst>
          </p:cNvPr>
          <p:cNvSpPr/>
          <p:nvPr/>
        </p:nvSpPr>
        <p:spPr>
          <a:xfrm>
            <a:off x="4073398" y="1475561"/>
            <a:ext cx="4653915" cy="3917950"/>
          </a:xfrm>
          <a:custGeom>
            <a:avLst/>
            <a:gdLst/>
            <a:ahLst/>
            <a:cxnLst/>
            <a:rect l="l" t="t" r="r" b="b"/>
            <a:pathLst>
              <a:path w="4653915" h="3917950">
                <a:moveTo>
                  <a:pt x="4653597" y="0"/>
                </a:moveTo>
                <a:lnTo>
                  <a:pt x="513600" y="0"/>
                </a:lnTo>
                <a:lnTo>
                  <a:pt x="513600" y="389534"/>
                </a:lnTo>
                <a:lnTo>
                  <a:pt x="293852" y="389534"/>
                </a:lnTo>
                <a:lnTo>
                  <a:pt x="293852" y="236829"/>
                </a:lnTo>
                <a:lnTo>
                  <a:pt x="0" y="542226"/>
                </a:lnTo>
                <a:lnTo>
                  <a:pt x="293852" y="847623"/>
                </a:lnTo>
                <a:lnTo>
                  <a:pt x="293852" y="694931"/>
                </a:lnTo>
                <a:lnTo>
                  <a:pt x="513600" y="694931"/>
                </a:lnTo>
                <a:lnTo>
                  <a:pt x="513600" y="3917391"/>
                </a:lnTo>
                <a:lnTo>
                  <a:pt x="4653597" y="3917391"/>
                </a:lnTo>
                <a:lnTo>
                  <a:pt x="465359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C4B40A5B-1756-F644-97A6-F03969E9B6FC}"/>
              </a:ext>
            </a:extLst>
          </p:cNvPr>
          <p:cNvSpPr txBox="1">
            <a:spLocks/>
          </p:cNvSpPr>
          <p:nvPr/>
        </p:nvSpPr>
        <p:spPr>
          <a:xfrm>
            <a:off x="117416" y="278333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60" dirty="0"/>
              <a:t>Enablers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E0E1063-5229-F048-A9F5-0F34BF3DB07B}"/>
              </a:ext>
            </a:extLst>
          </p:cNvPr>
          <p:cNvSpPr txBox="1"/>
          <p:nvPr/>
        </p:nvSpPr>
        <p:spPr>
          <a:xfrm>
            <a:off x="1444625" y="1643483"/>
            <a:ext cx="218186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10" dirty="0">
                <a:latin typeface="Arial MT"/>
                <a:cs typeface="Arial MT"/>
              </a:rPr>
              <a:t>Communication Pivot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66127A8-3AF5-D54E-9207-01FDF39C0606}"/>
              </a:ext>
            </a:extLst>
          </p:cNvPr>
          <p:cNvSpPr txBox="1"/>
          <p:nvPr/>
        </p:nvSpPr>
        <p:spPr>
          <a:xfrm>
            <a:off x="4799351" y="1569465"/>
            <a:ext cx="2945765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marR="5080" indent="-31369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2000" spc="-50" dirty="0">
                <a:latin typeface="Arial MT"/>
                <a:cs typeface="Arial MT"/>
              </a:rPr>
              <a:t>-</a:t>
            </a:r>
            <a:r>
              <a:rPr sz="2000" dirty="0">
                <a:latin typeface="Arial MT"/>
                <a:cs typeface="Arial MT"/>
              </a:rPr>
              <a:t>	Strong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efficient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18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among </a:t>
            </a:r>
            <a:r>
              <a:rPr sz="2000" dirty="0">
                <a:latin typeface="Arial MT"/>
                <a:cs typeface="Arial MT"/>
              </a:rPr>
              <a:t>subject-matter</a:t>
            </a:r>
            <a:r>
              <a:rPr sz="2000" spc="2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experts </a:t>
            </a:r>
            <a:r>
              <a:rPr sz="2000" spc="-20" dirty="0">
                <a:latin typeface="Arial MT"/>
                <a:cs typeface="Arial MT"/>
              </a:rPr>
              <a:t>(security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65" dirty="0">
                <a:latin typeface="Arial MT"/>
                <a:cs typeface="Arial MT"/>
              </a:rPr>
              <a:t>&amp;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UI/UX)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31D565D4-A7C5-6F4E-89D6-581DF3F48138}"/>
              </a:ext>
            </a:extLst>
          </p:cNvPr>
          <p:cNvSpPr txBox="1"/>
          <p:nvPr/>
        </p:nvSpPr>
        <p:spPr>
          <a:xfrm>
            <a:off x="4807776" y="3093465"/>
            <a:ext cx="3708400" cy="2068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13715" indent="-304800">
              <a:lnSpc>
                <a:spcPct val="100000"/>
              </a:lnSpc>
              <a:spcBef>
                <a:spcPts val="100"/>
              </a:spcBef>
              <a:tabLst>
                <a:tab pos="316865" algn="l"/>
              </a:tabLst>
            </a:pPr>
            <a:r>
              <a:rPr sz="1800" spc="-50" dirty="0">
                <a:latin typeface="Arial MT"/>
                <a:cs typeface="Arial MT"/>
              </a:rPr>
              <a:t>-</a:t>
            </a:r>
            <a:r>
              <a:rPr sz="1800" dirty="0">
                <a:latin typeface="Arial MT"/>
                <a:cs typeface="Arial MT"/>
              </a:rPr>
              <a:t>	</a:t>
            </a:r>
            <a:r>
              <a:rPr sz="2000" spc="90" dirty="0">
                <a:latin typeface="Arial MT"/>
                <a:cs typeface="Arial MT"/>
              </a:rPr>
              <a:t>Not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30" dirty="0">
                <a:latin typeface="Arial MT"/>
                <a:cs typeface="Arial MT"/>
              </a:rPr>
              <a:t>necessarily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801620"/>
                </a:solidFill>
                <a:latin typeface="Arial MT"/>
                <a:cs typeface="Arial MT"/>
              </a:rPr>
              <a:t>“usable security</a:t>
            </a:r>
            <a:r>
              <a:rPr sz="2000" spc="-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000" spc="40" dirty="0">
                <a:solidFill>
                  <a:srgbClr val="801620"/>
                </a:solidFill>
                <a:latin typeface="Arial MT"/>
                <a:cs typeface="Arial MT"/>
              </a:rPr>
              <a:t>champion”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45"/>
              </a:spcBef>
            </a:pPr>
            <a:endParaRPr sz="2000">
              <a:latin typeface="Arial MT"/>
              <a:cs typeface="Arial MT"/>
            </a:endParaRPr>
          </a:p>
          <a:p>
            <a:pPr marL="974725" marR="5080" algn="ctr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latin typeface="Arial MT"/>
                <a:cs typeface="Arial MT"/>
              </a:rPr>
              <a:t>One</a:t>
            </a:r>
            <a:r>
              <a:rPr sz="1900" spc="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team</a:t>
            </a:r>
            <a:r>
              <a:rPr sz="1900" spc="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involved </a:t>
            </a:r>
            <a:r>
              <a:rPr sz="1900" dirty="0">
                <a:latin typeface="Arial MT"/>
                <a:cs typeface="Arial MT"/>
              </a:rPr>
              <a:t>designers/UX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experts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in </a:t>
            </a:r>
            <a:r>
              <a:rPr sz="1900" dirty="0">
                <a:latin typeface="Arial MT"/>
                <a:cs typeface="Arial MT"/>
              </a:rPr>
              <a:t>threat</a:t>
            </a:r>
            <a:r>
              <a:rPr sz="1900" spc="18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modeling</a:t>
            </a:r>
            <a:r>
              <a:rPr sz="1900" spc="18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activities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8" name="object 7">
            <a:extLst>
              <a:ext uri="{FF2B5EF4-FFF2-40B4-BE49-F238E27FC236}">
                <a16:creationId xmlns:a16="http://schemas.microsoft.com/office/drawing/2014/main" id="{4ECE0BB4-DEEB-3749-9D2A-9ACA1832B6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19" y="1658852"/>
            <a:ext cx="717875" cy="717875"/>
          </a:xfrm>
          <a:prstGeom prst="rect">
            <a:avLst/>
          </a:prstGeom>
        </p:spPr>
      </p:pic>
      <p:pic>
        <p:nvPicPr>
          <p:cNvPr id="9" name="object 8">
            <a:extLst>
              <a:ext uri="{FF2B5EF4-FFF2-40B4-BE49-F238E27FC236}">
                <a16:creationId xmlns:a16="http://schemas.microsoft.com/office/drawing/2014/main" id="{02F1D432-66CD-C44E-8F75-73C2C339F0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42673" y="4337650"/>
            <a:ext cx="780125" cy="78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9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78FE91-E8A9-2946-B95E-C6F7F83B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28B92806-1AB3-004E-AC50-30601BD7C30A}"/>
              </a:ext>
            </a:extLst>
          </p:cNvPr>
          <p:cNvSpPr/>
          <p:nvPr/>
        </p:nvSpPr>
        <p:spPr>
          <a:xfrm>
            <a:off x="4269419" y="1720888"/>
            <a:ext cx="4653915" cy="3917950"/>
          </a:xfrm>
          <a:custGeom>
            <a:avLst/>
            <a:gdLst/>
            <a:ahLst/>
            <a:cxnLst/>
            <a:rect l="l" t="t" r="r" b="b"/>
            <a:pathLst>
              <a:path w="4653915" h="3917950">
                <a:moveTo>
                  <a:pt x="4653597" y="0"/>
                </a:moveTo>
                <a:lnTo>
                  <a:pt x="513600" y="0"/>
                </a:lnTo>
                <a:lnTo>
                  <a:pt x="513600" y="1821446"/>
                </a:lnTo>
                <a:lnTo>
                  <a:pt x="293852" y="1821446"/>
                </a:lnTo>
                <a:lnTo>
                  <a:pt x="293852" y="1668741"/>
                </a:lnTo>
                <a:lnTo>
                  <a:pt x="0" y="1974138"/>
                </a:lnTo>
                <a:lnTo>
                  <a:pt x="293852" y="2279535"/>
                </a:lnTo>
                <a:lnTo>
                  <a:pt x="293852" y="2126843"/>
                </a:lnTo>
                <a:lnTo>
                  <a:pt x="513600" y="2126843"/>
                </a:lnTo>
                <a:lnTo>
                  <a:pt x="513600" y="3917391"/>
                </a:lnTo>
                <a:lnTo>
                  <a:pt x="4653597" y="3917391"/>
                </a:lnTo>
                <a:lnTo>
                  <a:pt x="465359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1F566B98-FEAA-F047-AFAC-5A5EBE2683ED}"/>
              </a:ext>
            </a:extLst>
          </p:cNvPr>
          <p:cNvSpPr txBox="1">
            <a:spLocks/>
          </p:cNvSpPr>
          <p:nvPr/>
        </p:nvSpPr>
        <p:spPr>
          <a:xfrm>
            <a:off x="278804" y="248238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60" dirty="0"/>
              <a:t>Enablers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05F59EC5-E030-AA42-841F-E80E5C1C0F5B}"/>
              </a:ext>
            </a:extLst>
          </p:cNvPr>
          <p:cNvSpPr txBox="1"/>
          <p:nvPr/>
        </p:nvSpPr>
        <p:spPr>
          <a:xfrm>
            <a:off x="1653346" y="1975881"/>
            <a:ext cx="2156460" cy="666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10" dirty="0">
                <a:latin typeface="Arial MT"/>
                <a:cs typeface="Arial MT"/>
              </a:rPr>
              <a:t>Communication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ts val="2865"/>
              </a:lnSpc>
            </a:pPr>
            <a:r>
              <a:rPr sz="2400" spc="-10" dirty="0">
                <a:latin typeface="Arial MT"/>
                <a:cs typeface="Arial MT"/>
              </a:rPr>
              <a:t>Pivot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A049269C-B41E-BC4B-A16B-E52CDA6B516B}"/>
              </a:ext>
            </a:extLst>
          </p:cNvPr>
          <p:cNvSpPr txBox="1"/>
          <p:nvPr/>
        </p:nvSpPr>
        <p:spPr>
          <a:xfrm>
            <a:off x="1640646" y="3279460"/>
            <a:ext cx="1814830" cy="75311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10" dirty="0">
                <a:latin typeface="Arial MT"/>
                <a:cs typeface="Arial MT"/>
              </a:rPr>
              <a:t>Usability Commitment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1506FE0D-5A4A-0940-B34F-3C31A960C671}"/>
              </a:ext>
            </a:extLst>
          </p:cNvPr>
          <p:cNvSpPr txBox="1"/>
          <p:nvPr/>
        </p:nvSpPr>
        <p:spPr>
          <a:xfrm>
            <a:off x="4994722" y="1818467"/>
            <a:ext cx="35286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marR="5080" indent="-31369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2000" spc="-50" dirty="0">
                <a:latin typeface="Arial MT"/>
                <a:cs typeface="Arial MT"/>
              </a:rPr>
              <a:t>-</a:t>
            </a:r>
            <a:r>
              <a:rPr sz="2000" dirty="0">
                <a:latin typeface="Arial MT"/>
                <a:cs typeface="Arial MT"/>
              </a:rPr>
              <a:t>	Usability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65" dirty="0">
                <a:latin typeface="Arial MT"/>
                <a:cs typeface="Arial MT"/>
              </a:rPr>
              <a:t>was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accepted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and </a:t>
            </a:r>
            <a:r>
              <a:rPr sz="2000" dirty="0">
                <a:latin typeface="Arial MT"/>
                <a:cs typeface="Arial MT"/>
              </a:rPr>
              <a:t>demanded</a:t>
            </a:r>
            <a:r>
              <a:rPr sz="2000" spc="8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by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companies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or </a:t>
            </a:r>
            <a:r>
              <a:rPr sz="2000" spc="-10" dirty="0">
                <a:latin typeface="Arial MT"/>
                <a:cs typeface="Arial MT"/>
              </a:rPr>
              <a:t>customers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233E5115-8D91-4249-AD5C-92E14CB81749}"/>
              </a:ext>
            </a:extLst>
          </p:cNvPr>
          <p:cNvSpPr txBox="1"/>
          <p:nvPr/>
        </p:nvSpPr>
        <p:spPr>
          <a:xfrm>
            <a:off x="4994722" y="3342467"/>
            <a:ext cx="3778250" cy="2161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marR="820419" indent="-313690">
              <a:lnSpc>
                <a:spcPct val="100000"/>
              </a:lnSpc>
              <a:spcBef>
                <a:spcPts val="100"/>
              </a:spcBef>
              <a:tabLst>
                <a:tab pos="325755" algn="l"/>
              </a:tabLst>
            </a:pPr>
            <a:r>
              <a:rPr sz="2000" spc="-50" dirty="0">
                <a:latin typeface="Arial MT"/>
                <a:cs typeface="Arial MT"/>
              </a:rPr>
              <a:t>-</a:t>
            </a:r>
            <a:r>
              <a:rPr sz="2000" dirty="0">
                <a:latin typeface="Arial MT"/>
                <a:cs typeface="Arial MT"/>
              </a:rPr>
              <a:t>	Often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70" dirty="0">
                <a:latin typeface="Arial MT"/>
                <a:cs typeface="Arial MT"/>
              </a:rPr>
              <a:t>it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65" dirty="0">
                <a:latin typeface="Arial MT"/>
                <a:cs typeface="Arial MT"/>
              </a:rPr>
              <a:t>was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part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85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the </a:t>
            </a:r>
            <a:r>
              <a:rPr sz="2000" spc="-30" dirty="0">
                <a:latin typeface="Arial MT"/>
                <a:cs typeface="Arial MT"/>
              </a:rPr>
              <a:t>business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goals:</a:t>
            </a:r>
            <a:endParaRPr sz="2000">
              <a:latin typeface="Arial MT"/>
              <a:cs typeface="Arial MT"/>
            </a:endParaRPr>
          </a:p>
          <a:p>
            <a:pPr marL="133985" marR="5080" algn="ctr">
              <a:lnSpc>
                <a:spcPct val="100000"/>
              </a:lnSpc>
              <a:spcBef>
                <a:spcPts val="1205"/>
              </a:spcBef>
            </a:pPr>
            <a:r>
              <a:rPr sz="1800" i="1" spc="60" dirty="0">
                <a:solidFill>
                  <a:srgbClr val="434343"/>
                </a:solidFill>
                <a:latin typeface="Arial"/>
                <a:cs typeface="Arial"/>
              </a:rPr>
              <a:t>“The</a:t>
            </a:r>
            <a:r>
              <a:rPr sz="18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main</a:t>
            </a:r>
            <a:r>
              <a:rPr sz="18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and</a:t>
            </a:r>
            <a:r>
              <a:rPr sz="18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</a:t>
            </a:r>
            <a:r>
              <a:rPr sz="1800" i="1" spc="4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most</a:t>
            </a:r>
            <a:r>
              <a:rPr sz="1800" i="1" spc="3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important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request</a:t>
            </a:r>
            <a:r>
              <a:rPr sz="1800" i="1" spc="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801620"/>
                </a:solidFill>
                <a:latin typeface="Arial"/>
                <a:cs typeface="Arial"/>
              </a:rPr>
              <a:t>from</a:t>
            </a:r>
            <a:r>
              <a:rPr sz="1800" i="1" spc="7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801620"/>
                </a:solidFill>
                <a:latin typeface="Arial"/>
                <a:cs typeface="Arial"/>
              </a:rPr>
              <a:t>the</a:t>
            </a:r>
            <a:r>
              <a:rPr sz="1800" i="1" spc="7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801620"/>
                </a:solidFill>
                <a:latin typeface="Arial"/>
                <a:cs typeface="Arial"/>
              </a:rPr>
              <a:t>management</a:t>
            </a:r>
            <a:r>
              <a:rPr sz="1800" i="1" spc="75" dirty="0">
                <a:solidFill>
                  <a:srgbClr val="801620"/>
                </a:solidFill>
                <a:latin typeface="Arial"/>
                <a:cs typeface="Arial"/>
              </a:rPr>
              <a:t> </a:t>
            </a:r>
            <a:r>
              <a:rPr sz="1800" i="1" spc="-20" dirty="0">
                <a:solidFill>
                  <a:srgbClr val="434343"/>
                </a:solidFill>
                <a:latin typeface="Arial"/>
                <a:cs typeface="Arial"/>
              </a:rPr>
              <a:t>was: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they</a:t>
            </a:r>
            <a:r>
              <a:rPr sz="1800" i="1" spc="-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need</a:t>
            </a:r>
            <a:r>
              <a:rPr sz="1800" i="1" spc="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an</a:t>
            </a:r>
            <a:r>
              <a:rPr sz="1800" i="1" spc="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35" dirty="0">
                <a:solidFill>
                  <a:srgbClr val="434343"/>
                </a:solidFill>
                <a:latin typeface="Arial"/>
                <a:cs typeface="Arial"/>
              </a:rPr>
              <a:t>easy-</a:t>
            </a:r>
            <a:r>
              <a:rPr sz="1800" i="1" spc="-30" dirty="0">
                <a:solidFill>
                  <a:srgbClr val="434343"/>
                </a:solidFill>
                <a:latin typeface="Arial"/>
                <a:cs typeface="Arial"/>
              </a:rPr>
              <a:t>to-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use</a:t>
            </a:r>
            <a:r>
              <a:rPr sz="1800" i="1" spc="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software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or</a:t>
            </a:r>
            <a:r>
              <a:rPr sz="1800" i="1" spc="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app</a:t>
            </a:r>
            <a:r>
              <a:rPr sz="1800" i="1" spc="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or</a:t>
            </a:r>
            <a:r>
              <a:rPr sz="1800" i="1" spc="8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interface</a:t>
            </a:r>
            <a:r>
              <a:rPr sz="1800" i="1" spc="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80" dirty="0">
                <a:solidFill>
                  <a:srgbClr val="434343"/>
                </a:solidFill>
                <a:latin typeface="Arial"/>
                <a:cs typeface="Arial"/>
              </a:rPr>
              <a:t>to</a:t>
            </a:r>
            <a:r>
              <a:rPr sz="1800" i="1" spc="7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434343"/>
                </a:solidFill>
                <a:latin typeface="Arial"/>
                <a:cs typeface="Arial"/>
              </a:rPr>
              <a:t>compete</a:t>
            </a:r>
            <a:r>
              <a:rPr sz="1800" i="1" spc="8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20" dirty="0">
                <a:solidFill>
                  <a:srgbClr val="434343"/>
                </a:solidFill>
                <a:latin typeface="Arial"/>
                <a:cs typeface="Arial"/>
              </a:rPr>
              <a:t>with </a:t>
            </a:r>
            <a:r>
              <a:rPr sz="1800" i="1" spc="10" dirty="0">
                <a:solidFill>
                  <a:srgbClr val="434343"/>
                </a:solidFill>
                <a:latin typeface="Arial"/>
                <a:cs typeface="Arial"/>
              </a:rPr>
              <a:t>other</a:t>
            </a:r>
            <a:r>
              <a:rPr sz="1800" i="1" spc="280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10" dirty="0">
                <a:solidFill>
                  <a:srgbClr val="434343"/>
                </a:solidFill>
                <a:latin typeface="Arial"/>
                <a:cs typeface="Arial"/>
              </a:rPr>
              <a:t>competitors”</a:t>
            </a:r>
            <a:r>
              <a:rPr sz="1800" i="1" spc="285" dirty="0">
                <a:solidFill>
                  <a:srgbClr val="434343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434343"/>
                </a:solidFill>
                <a:latin typeface="Arial"/>
                <a:cs typeface="Arial"/>
              </a:rPr>
              <a:t>(P21)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8">
            <a:extLst>
              <a:ext uri="{FF2B5EF4-FFF2-40B4-BE49-F238E27FC236}">
                <a16:creationId xmlns:a16="http://schemas.microsoft.com/office/drawing/2014/main" id="{4CF22F4C-9849-B34B-BCA4-A84A7553941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046" y="3259894"/>
            <a:ext cx="717875" cy="717875"/>
          </a:xfrm>
          <a:prstGeom prst="rect">
            <a:avLst/>
          </a:prstGeom>
        </p:spPr>
      </p:pic>
      <p:grpSp>
        <p:nvGrpSpPr>
          <p:cNvPr id="10" name="object 9">
            <a:extLst>
              <a:ext uri="{FF2B5EF4-FFF2-40B4-BE49-F238E27FC236}">
                <a16:creationId xmlns:a16="http://schemas.microsoft.com/office/drawing/2014/main" id="{A0B49A7B-78A0-E54B-BB76-63CDA9B73B25}"/>
              </a:ext>
            </a:extLst>
          </p:cNvPr>
          <p:cNvGrpSpPr/>
          <p:nvPr/>
        </p:nvGrpSpPr>
        <p:grpSpPr>
          <a:xfrm>
            <a:off x="407983" y="1899401"/>
            <a:ext cx="3957320" cy="843915"/>
            <a:chOff x="211962" y="962699"/>
            <a:chExt cx="3957320" cy="843915"/>
          </a:xfrm>
        </p:grpSpPr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27043360-DE42-ED49-B560-313BEAC805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19" y="967477"/>
              <a:ext cx="717875" cy="717875"/>
            </a:xfrm>
            <a:prstGeom prst="rect">
              <a:avLst/>
            </a:prstGeom>
          </p:spPr>
        </p:pic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3E37530D-CCB0-3D4A-AD60-32AB19BB1707}"/>
                </a:ext>
              </a:extLst>
            </p:cNvPr>
            <p:cNvSpPr/>
            <p:nvPr/>
          </p:nvSpPr>
          <p:spPr>
            <a:xfrm>
              <a:off x="216724" y="967462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3947399" y="833999"/>
                  </a:moveTo>
                  <a:lnTo>
                    <a:pt x="0" y="833999"/>
                  </a:lnTo>
                  <a:lnTo>
                    <a:pt x="0" y="0"/>
                  </a:lnTo>
                  <a:lnTo>
                    <a:pt x="3947399" y="0"/>
                  </a:lnTo>
                  <a:lnTo>
                    <a:pt x="3947399" y="833999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2">
              <a:extLst>
                <a:ext uri="{FF2B5EF4-FFF2-40B4-BE49-F238E27FC236}">
                  <a16:creationId xmlns:a16="http://schemas.microsoft.com/office/drawing/2014/main" id="{CA7E610A-C6BA-0E48-883A-427159B01DFD}"/>
                </a:ext>
              </a:extLst>
            </p:cNvPr>
            <p:cNvSpPr/>
            <p:nvPr/>
          </p:nvSpPr>
          <p:spPr>
            <a:xfrm>
              <a:off x="216724" y="967462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0" y="0"/>
                  </a:moveTo>
                  <a:lnTo>
                    <a:pt x="3947399" y="0"/>
                  </a:lnTo>
                  <a:lnTo>
                    <a:pt x="39473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3764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1CE1B8-B255-8A4B-8876-35C7E063C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5" name="object 3">
            <a:extLst>
              <a:ext uri="{FF2B5EF4-FFF2-40B4-BE49-F238E27FC236}">
                <a16:creationId xmlns:a16="http://schemas.microsoft.com/office/drawing/2014/main" id="{C2B05C7E-1CEA-F842-94AF-6530BCED2491}"/>
              </a:ext>
            </a:extLst>
          </p:cNvPr>
          <p:cNvSpPr txBox="1">
            <a:spLocks/>
          </p:cNvSpPr>
          <p:nvPr/>
        </p:nvSpPr>
        <p:spPr>
          <a:xfrm>
            <a:off x="278804" y="210326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60" dirty="0"/>
              <a:t>Enablers</a:t>
            </a:r>
          </a:p>
        </p:txBody>
      </p:sp>
      <p:sp>
        <p:nvSpPr>
          <p:cNvPr id="56" name="object 4">
            <a:extLst>
              <a:ext uri="{FF2B5EF4-FFF2-40B4-BE49-F238E27FC236}">
                <a16:creationId xmlns:a16="http://schemas.microsoft.com/office/drawing/2014/main" id="{0343E081-6AF0-B647-905C-C5DB0C5C0A39}"/>
              </a:ext>
            </a:extLst>
          </p:cNvPr>
          <p:cNvSpPr txBox="1"/>
          <p:nvPr/>
        </p:nvSpPr>
        <p:spPr>
          <a:xfrm>
            <a:off x="1653346" y="1975882"/>
            <a:ext cx="2156460" cy="666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10" dirty="0">
                <a:latin typeface="Arial MT"/>
                <a:cs typeface="Arial MT"/>
              </a:rPr>
              <a:t>Communication</a:t>
            </a:r>
            <a:endParaRPr sz="2400">
              <a:latin typeface="Arial MT"/>
              <a:cs typeface="Arial MT"/>
            </a:endParaRPr>
          </a:p>
          <a:p>
            <a:pPr>
              <a:lnSpc>
                <a:spcPts val="2865"/>
              </a:lnSpc>
            </a:pPr>
            <a:r>
              <a:rPr sz="2400" spc="-10" dirty="0">
                <a:latin typeface="Arial MT"/>
                <a:cs typeface="Arial MT"/>
              </a:rPr>
              <a:t>Pivot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7" name="object 5">
            <a:extLst>
              <a:ext uri="{FF2B5EF4-FFF2-40B4-BE49-F238E27FC236}">
                <a16:creationId xmlns:a16="http://schemas.microsoft.com/office/drawing/2014/main" id="{9AF4B230-C48E-9945-B52E-6D7B8F1DC7A7}"/>
              </a:ext>
            </a:extLst>
          </p:cNvPr>
          <p:cNvSpPr txBox="1"/>
          <p:nvPr/>
        </p:nvSpPr>
        <p:spPr>
          <a:xfrm>
            <a:off x="1653346" y="3366532"/>
            <a:ext cx="1789430" cy="666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spc="-10" dirty="0">
                <a:latin typeface="Arial MT"/>
                <a:cs typeface="Arial MT"/>
              </a:rPr>
              <a:t>Usability</a:t>
            </a:r>
            <a:endParaRPr sz="2400">
              <a:latin typeface="Arial MT"/>
              <a:cs typeface="Arial MT"/>
            </a:endParaRPr>
          </a:p>
          <a:p>
            <a:pPr>
              <a:lnSpc>
                <a:spcPts val="2865"/>
              </a:lnSpc>
            </a:pPr>
            <a:r>
              <a:rPr sz="2400" spc="-10" dirty="0">
                <a:latin typeface="Arial MT"/>
                <a:cs typeface="Arial MT"/>
              </a:rPr>
              <a:t>Commitment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8" name="object 6">
            <a:extLst>
              <a:ext uri="{FF2B5EF4-FFF2-40B4-BE49-F238E27FC236}">
                <a16:creationId xmlns:a16="http://schemas.microsoft.com/office/drawing/2014/main" id="{B2296E57-8AA0-8F46-85ED-29EC53659F55}"/>
              </a:ext>
            </a:extLst>
          </p:cNvPr>
          <p:cNvSpPr txBox="1"/>
          <p:nvPr/>
        </p:nvSpPr>
        <p:spPr>
          <a:xfrm>
            <a:off x="1640646" y="4670111"/>
            <a:ext cx="2113915" cy="111506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20"/>
              </a:spcBef>
            </a:pPr>
            <a:r>
              <a:rPr sz="2400" spc="-20" dirty="0">
                <a:latin typeface="Arial MT"/>
                <a:cs typeface="Arial MT"/>
              </a:rPr>
              <a:t>Usable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Security </a:t>
            </a:r>
            <a:r>
              <a:rPr sz="2400" dirty="0">
                <a:latin typeface="Arial MT"/>
                <a:cs typeface="Arial MT"/>
              </a:rPr>
              <a:t>Knowledge</a:t>
            </a:r>
            <a:r>
              <a:rPr sz="2400" spc="235" dirty="0">
                <a:latin typeface="Arial MT"/>
                <a:cs typeface="Arial MT"/>
              </a:rPr>
              <a:t> </a:t>
            </a:r>
            <a:r>
              <a:rPr sz="2400" spc="30" dirty="0">
                <a:latin typeface="Arial MT"/>
                <a:cs typeface="Arial MT"/>
              </a:rPr>
              <a:t>&amp; </a:t>
            </a:r>
            <a:r>
              <a:rPr sz="2400" spc="-10" dirty="0">
                <a:latin typeface="Arial MT"/>
                <a:cs typeface="Arial MT"/>
              </a:rPr>
              <a:t>Awareness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61" name="object 9">
            <a:extLst>
              <a:ext uri="{FF2B5EF4-FFF2-40B4-BE49-F238E27FC236}">
                <a16:creationId xmlns:a16="http://schemas.microsoft.com/office/drawing/2014/main" id="{1413D4A1-2AF5-B14D-B4C1-1DF313B84E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040" y="4839465"/>
            <a:ext cx="717875" cy="717836"/>
          </a:xfrm>
          <a:prstGeom prst="rect">
            <a:avLst/>
          </a:prstGeom>
        </p:spPr>
      </p:pic>
      <p:grpSp>
        <p:nvGrpSpPr>
          <p:cNvPr id="62" name="object 10">
            <a:extLst>
              <a:ext uri="{FF2B5EF4-FFF2-40B4-BE49-F238E27FC236}">
                <a16:creationId xmlns:a16="http://schemas.microsoft.com/office/drawing/2014/main" id="{00972C3E-8CEE-4D4F-B557-C86D83918E97}"/>
              </a:ext>
            </a:extLst>
          </p:cNvPr>
          <p:cNvGrpSpPr/>
          <p:nvPr/>
        </p:nvGrpSpPr>
        <p:grpSpPr>
          <a:xfrm>
            <a:off x="368283" y="1899402"/>
            <a:ext cx="3996690" cy="2141220"/>
            <a:chOff x="172262" y="962699"/>
            <a:chExt cx="3996690" cy="2141220"/>
          </a:xfrm>
        </p:grpSpPr>
        <p:pic>
          <p:nvPicPr>
            <p:cNvPr id="63" name="object 11">
              <a:extLst>
                <a:ext uri="{FF2B5EF4-FFF2-40B4-BE49-F238E27FC236}">
                  <a16:creationId xmlns:a16="http://schemas.microsoft.com/office/drawing/2014/main" id="{072351DB-09D3-5140-B2C7-DED0BE01FB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19" y="967477"/>
              <a:ext cx="717875" cy="717875"/>
            </a:xfrm>
            <a:prstGeom prst="rect">
              <a:avLst/>
            </a:prstGeom>
          </p:spPr>
        </p:pic>
        <p:pic>
          <p:nvPicPr>
            <p:cNvPr id="64" name="object 12">
              <a:extLst>
                <a:ext uri="{FF2B5EF4-FFF2-40B4-BE49-F238E27FC236}">
                  <a16:creationId xmlns:a16="http://schemas.microsoft.com/office/drawing/2014/main" id="{26EB938D-834D-3D4B-BB8A-FBBD3BE1EAE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25" y="2323192"/>
              <a:ext cx="717875" cy="717875"/>
            </a:xfrm>
            <a:prstGeom prst="rect">
              <a:avLst/>
            </a:prstGeom>
          </p:spPr>
        </p:pic>
        <p:sp>
          <p:nvSpPr>
            <p:cNvPr id="65" name="object 13">
              <a:extLst>
                <a:ext uri="{FF2B5EF4-FFF2-40B4-BE49-F238E27FC236}">
                  <a16:creationId xmlns:a16="http://schemas.microsoft.com/office/drawing/2014/main" id="{03C8479F-A6DB-754A-9520-92E4355E5207}"/>
                </a:ext>
              </a:extLst>
            </p:cNvPr>
            <p:cNvSpPr/>
            <p:nvPr/>
          </p:nvSpPr>
          <p:spPr>
            <a:xfrm>
              <a:off x="216724" y="967462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3947399" y="833999"/>
                  </a:moveTo>
                  <a:lnTo>
                    <a:pt x="0" y="833999"/>
                  </a:lnTo>
                  <a:lnTo>
                    <a:pt x="0" y="0"/>
                  </a:lnTo>
                  <a:lnTo>
                    <a:pt x="3947399" y="0"/>
                  </a:lnTo>
                  <a:lnTo>
                    <a:pt x="3947399" y="833999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14">
              <a:extLst>
                <a:ext uri="{FF2B5EF4-FFF2-40B4-BE49-F238E27FC236}">
                  <a16:creationId xmlns:a16="http://schemas.microsoft.com/office/drawing/2014/main" id="{A1D546D7-AC5C-8B4D-A670-DB5B1786F1AE}"/>
                </a:ext>
              </a:extLst>
            </p:cNvPr>
            <p:cNvSpPr/>
            <p:nvPr/>
          </p:nvSpPr>
          <p:spPr>
            <a:xfrm>
              <a:off x="216724" y="967462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0" y="0"/>
                  </a:moveTo>
                  <a:lnTo>
                    <a:pt x="3947399" y="0"/>
                  </a:lnTo>
                  <a:lnTo>
                    <a:pt x="39473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15">
              <a:extLst>
                <a:ext uri="{FF2B5EF4-FFF2-40B4-BE49-F238E27FC236}">
                  <a16:creationId xmlns:a16="http://schemas.microsoft.com/office/drawing/2014/main" id="{4B702ABE-AA14-1D42-AF12-365C4D6FE779}"/>
                </a:ext>
              </a:extLst>
            </p:cNvPr>
            <p:cNvSpPr/>
            <p:nvPr/>
          </p:nvSpPr>
          <p:spPr>
            <a:xfrm>
              <a:off x="177024" y="2265124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3947399" y="833999"/>
                  </a:moveTo>
                  <a:lnTo>
                    <a:pt x="0" y="833999"/>
                  </a:lnTo>
                  <a:lnTo>
                    <a:pt x="0" y="0"/>
                  </a:lnTo>
                  <a:lnTo>
                    <a:pt x="3947399" y="0"/>
                  </a:lnTo>
                  <a:lnTo>
                    <a:pt x="3947399" y="833999"/>
                  </a:lnTo>
                  <a:close/>
                </a:path>
              </a:pathLst>
            </a:custGeom>
            <a:solidFill>
              <a:srgbClr val="FFFFFF">
                <a:alpha val="5651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16">
              <a:extLst>
                <a:ext uri="{FF2B5EF4-FFF2-40B4-BE49-F238E27FC236}">
                  <a16:creationId xmlns:a16="http://schemas.microsoft.com/office/drawing/2014/main" id="{AF4717EF-E213-9F47-87BB-30FC51A4B9C0}"/>
                </a:ext>
              </a:extLst>
            </p:cNvPr>
            <p:cNvSpPr/>
            <p:nvPr/>
          </p:nvSpPr>
          <p:spPr>
            <a:xfrm>
              <a:off x="177024" y="2265124"/>
              <a:ext cx="3947795" cy="834390"/>
            </a:xfrm>
            <a:custGeom>
              <a:avLst/>
              <a:gdLst/>
              <a:ahLst/>
              <a:cxnLst/>
              <a:rect l="l" t="t" r="r" b="b"/>
              <a:pathLst>
                <a:path w="3947795" h="834389">
                  <a:moveTo>
                    <a:pt x="0" y="0"/>
                  </a:moveTo>
                  <a:lnTo>
                    <a:pt x="3947399" y="0"/>
                  </a:lnTo>
                  <a:lnTo>
                    <a:pt x="3947399" y="833999"/>
                  </a:lnTo>
                  <a:lnTo>
                    <a:pt x="0" y="83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DFD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2">
            <a:extLst>
              <a:ext uri="{FF2B5EF4-FFF2-40B4-BE49-F238E27FC236}">
                <a16:creationId xmlns:a16="http://schemas.microsoft.com/office/drawing/2014/main" id="{39FD5EFB-E174-6745-BFB1-55AEA127548F}"/>
              </a:ext>
            </a:extLst>
          </p:cNvPr>
          <p:cNvSpPr/>
          <p:nvPr/>
        </p:nvSpPr>
        <p:spPr>
          <a:xfrm>
            <a:off x="4168231" y="1661999"/>
            <a:ext cx="4653915" cy="3917950"/>
          </a:xfrm>
          <a:custGeom>
            <a:avLst/>
            <a:gdLst/>
            <a:ahLst/>
            <a:cxnLst/>
            <a:rect l="l" t="t" r="r" b="b"/>
            <a:pathLst>
              <a:path w="4653915" h="3917950">
                <a:moveTo>
                  <a:pt x="4653597" y="0"/>
                </a:moveTo>
                <a:lnTo>
                  <a:pt x="513600" y="0"/>
                </a:lnTo>
                <a:lnTo>
                  <a:pt x="513600" y="3378314"/>
                </a:lnTo>
                <a:lnTo>
                  <a:pt x="293852" y="3378314"/>
                </a:lnTo>
                <a:lnTo>
                  <a:pt x="293852" y="3225622"/>
                </a:lnTo>
                <a:lnTo>
                  <a:pt x="0" y="3531019"/>
                </a:lnTo>
                <a:lnTo>
                  <a:pt x="293852" y="3836416"/>
                </a:lnTo>
                <a:lnTo>
                  <a:pt x="293852" y="3683711"/>
                </a:lnTo>
                <a:lnTo>
                  <a:pt x="513600" y="3683711"/>
                </a:lnTo>
                <a:lnTo>
                  <a:pt x="513600" y="3917391"/>
                </a:lnTo>
                <a:lnTo>
                  <a:pt x="4653597" y="3917391"/>
                </a:lnTo>
                <a:lnTo>
                  <a:pt x="4653597" y="0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75" name="object 7">
            <a:extLst>
              <a:ext uri="{FF2B5EF4-FFF2-40B4-BE49-F238E27FC236}">
                <a16:creationId xmlns:a16="http://schemas.microsoft.com/office/drawing/2014/main" id="{3EA17C23-44C6-8043-87CE-0948C89F58DA}"/>
              </a:ext>
            </a:extLst>
          </p:cNvPr>
          <p:cNvSpPr txBox="1">
            <a:spLocks/>
          </p:cNvSpPr>
          <p:nvPr/>
        </p:nvSpPr>
        <p:spPr>
          <a:xfrm>
            <a:off x="4902609" y="1755903"/>
            <a:ext cx="3750309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0">
              <a:defRPr sz="2000" b="0" i="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15595" marR="46355" lvl="0" indent="-303530" algn="just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Pct val="90000"/>
              <a:buFontTx/>
              <a:buChar char="-"/>
              <a:tabLst>
                <a:tab pos="316865" algn="l"/>
              </a:tabLst>
              <a:defRPr/>
            </a:pPr>
            <a:r>
              <a:rPr kumimoji="0" lang="en-US" sz="2000" b="0" i="0" u="none" strike="noStrike" kern="0" cap="none" spc="-4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Even</a:t>
            </a:r>
            <a:r>
              <a:rPr kumimoji="0" lang="en-US" sz="20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if</a:t>
            </a:r>
            <a:r>
              <a:rPr kumimoji="0" lang="en-US" sz="20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awareness</a:t>
            </a:r>
            <a:r>
              <a:rPr kumimoji="0" lang="en-US" sz="2000" b="0" i="0" u="none" strike="noStrike" kern="0" cap="none" spc="-5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is</a:t>
            </a:r>
            <a:r>
              <a:rPr kumimoji="0" lang="en-US" sz="2000" b="0" i="0" u="none" strike="noStrike" kern="0" cap="none" spc="-5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sufficient 	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and</a:t>
            </a:r>
            <a:r>
              <a:rPr kumimoji="0" lang="en-US" sz="2000" b="0" i="0" u="none" strike="noStrike" kern="0" cap="none" spc="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8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access</a:t>
            </a:r>
            <a:r>
              <a:rPr kumimoji="0" lang="en-US" sz="2000" b="0" i="0" u="none" strike="noStrike" kern="0" cap="none" spc="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9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to</a:t>
            </a:r>
            <a:r>
              <a:rPr kumimoji="0" lang="en-US" sz="2000" b="0" i="0" u="none" strike="noStrike" kern="0" cap="none" spc="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the</a:t>
            </a:r>
            <a:r>
              <a:rPr kumimoji="0" lang="en-US" sz="2000" b="0" i="0" u="none" strike="noStrike" kern="0" cap="none" spc="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end</a:t>
            </a:r>
            <a:r>
              <a:rPr kumimoji="0" lang="en-US" sz="2000" b="0" i="0" u="none" strike="noStrike" kern="0" cap="none" spc="3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users</a:t>
            </a:r>
            <a:r>
              <a:rPr kumimoji="0" lang="en-US" sz="2000" b="0" i="0" u="none" strike="noStrike" kern="0" cap="none" spc="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is 	</a:t>
            </a: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available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-"/>
              <a:tabLst/>
              <a:defRPr/>
            </a:pPr>
            <a:endParaRPr kumimoji="0" lang="en-US" sz="2000" b="0" i="0" u="none" strike="noStrike" kern="0" cap="none" spc="-1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ea typeface="+mn-e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 typeface="Arial MT"/>
              <a:buChar char="-"/>
              <a:tabLst/>
              <a:defRPr/>
            </a:pPr>
            <a:endParaRPr kumimoji="0" lang="en-US" sz="2000" b="0" i="0" u="none" strike="noStrike" kern="0" cap="none" spc="-1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ea typeface="+mn-ea"/>
            </a:endParaRPr>
          </a:p>
          <a:p>
            <a:pPr marL="316865" marR="5080" lvl="0" indent="-3048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Tx/>
              <a:buChar char="-"/>
              <a:tabLst>
                <a:tab pos="316865" algn="l"/>
              </a:tabLst>
              <a:defRPr/>
            </a:pPr>
            <a:r>
              <a:rPr kumimoji="0" lang="en-US" sz="2000" b="0" i="0" u="none" strike="noStrike" kern="0" cap="none" spc="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At</a:t>
            </a:r>
            <a:r>
              <a:rPr kumimoji="0" lang="en-US" sz="20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least</a:t>
            </a:r>
            <a:r>
              <a:rPr kumimoji="0" lang="en-US" sz="20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a</a:t>
            </a:r>
            <a:r>
              <a:rPr kumimoji="0" lang="en-US" sz="20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basic</a:t>
            </a:r>
            <a:r>
              <a:rPr kumimoji="0" lang="en-US" sz="2000" b="0" i="0" u="none" strike="noStrike" kern="0" cap="none" spc="-6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understanding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of</a:t>
            </a:r>
            <a:r>
              <a:rPr kumimoji="0" lang="en-US" sz="2000" b="0" i="0" u="none" strike="noStrike" kern="0" cap="none" spc="12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6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user-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centered</a:t>
            </a:r>
            <a:r>
              <a:rPr kumimoji="0" lang="en-US" sz="2000" b="0" i="0" u="none" strike="noStrike" kern="0" cap="none" spc="1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methods</a:t>
            </a:r>
            <a:r>
              <a:rPr kumimoji="0" lang="en-US" sz="2000" b="0" i="0" u="none" strike="noStrike" kern="0" cap="none" spc="1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 </a:t>
            </a:r>
            <a:r>
              <a:rPr kumimoji="0" lang="en-US" sz="2000" b="0" i="0" u="none" strike="noStrike" kern="0" cap="none" spc="-25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is </a:t>
            </a:r>
            <a:r>
              <a:rPr kumimoji="0" lang="en-US" sz="2000" b="0" i="0" u="none" strike="noStrike" kern="0" cap="none" spc="-1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 MT"/>
                <a:ea typeface="+mn-ea"/>
              </a:rPr>
              <a:t>needed</a:t>
            </a:r>
            <a:endParaRPr kumimoji="0" lang="en-US" sz="20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ea typeface="+mn-ea"/>
            </a:endParaRPr>
          </a:p>
        </p:txBody>
      </p:sp>
      <p:sp>
        <p:nvSpPr>
          <p:cNvPr id="76" name="object 8">
            <a:extLst>
              <a:ext uri="{FF2B5EF4-FFF2-40B4-BE49-F238E27FC236}">
                <a16:creationId xmlns:a16="http://schemas.microsoft.com/office/drawing/2014/main" id="{C87E1A35-74BB-5C48-AC90-41F1247B35F4}"/>
              </a:ext>
            </a:extLst>
          </p:cNvPr>
          <p:cNvSpPr txBox="1"/>
          <p:nvPr/>
        </p:nvSpPr>
        <p:spPr>
          <a:xfrm>
            <a:off x="4902609" y="4803903"/>
            <a:ext cx="37839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316865" algn="l"/>
              </a:tabLst>
            </a:pPr>
            <a:r>
              <a:rPr kern="0" spc="-50" dirty="0">
                <a:solidFill>
                  <a:sysClr val="windowText" lastClr="000000"/>
                </a:solidFill>
                <a:latin typeface="Arial MT"/>
                <a:cs typeface="Arial MT"/>
              </a:rPr>
              <a:t>-</a:t>
            </a:r>
            <a:r>
              <a:rPr kern="0" dirty="0">
                <a:solidFill>
                  <a:sysClr val="windowText" lastClr="000000"/>
                </a:solidFill>
                <a:latin typeface="Arial MT"/>
                <a:cs typeface="Arial MT"/>
              </a:rPr>
              <a:t>	</a:t>
            </a:r>
            <a:r>
              <a:rPr sz="2000" kern="0" spc="-75" dirty="0">
                <a:solidFill>
                  <a:sysClr val="windowText" lastClr="000000"/>
                </a:solidFill>
                <a:latin typeface="Arial MT"/>
                <a:cs typeface="Arial MT"/>
              </a:rPr>
              <a:t>Processes</a:t>
            </a:r>
            <a:r>
              <a:rPr sz="20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need</a:t>
            </a:r>
            <a:r>
              <a:rPr sz="20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000" kern="0" spc="90" dirty="0">
                <a:solidFill>
                  <a:sysClr val="windowText" lastClr="000000"/>
                </a:solidFill>
                <a:latin typeface="Arial MT"/>
                <a:cs typeface="Arial MT"/>
              </a:rPr>
              <a:t>to</a:t>
            </a:r>
            <a:r>
              <a:rPr sz="20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000" kern="0" dirty="0">
                <a:solidFill>
                  <a:sysClr val="windowText" lastClr="000000"/>
                </a:solidFill>
                <a:latin typeface="Arial MT"/>
                <a:cs typeface="Arial MT"/>
              </a:rPr>
              <a:t>be</a:t>
            </a:r>
            <a:r>
              <a:rPr sz="2000" kern="0" spc="45" dirty="0">
                <a:solidFill>
                  <a:sysClr val="windowText" lastClr="000000"/>
                </a:solidFill>
                <a:latin typeface="Arial MT"/>
                <a:cs typeface="Arial MT"/>
              </a:rPr>
              <a:t> </a:t>
            </a:r>
            <a:r>
              <a:rPr sz="2000" kern="0" spc="-10" dirty="0">
                <a:solidFill>
                  <a:sysClr val="windowText" lastClr="000000"/>
                </a:solidFill>
                <a:latin typeface="Arial MT"/>
                <a:cs typeface="Arial MT"/>
              </a:rPr>
              <a:t>adapted</a:t>
            </a:r>
            <a:endParaRPr sz="2000" kern="0">
              <a:solidFill>
                <a:sysClr val="windowText" lastClr="000000"/>
              </a:solidFill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16436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DE9C44-B4E8-EE41-B885-6E410490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3AAB3BB8-4642-954D-86CF-CB097858CFDC}"/>
              </a:ext>
            </a:extLst>
          </p:cNvPr>
          <p:cNvSpPr txBox="1">
            <a:spLocks/>
          </p:cNvSpPr>
          <p:nvPr/>
        </p:nvSpPr>
        <p:spPr>
          <a:xfrm>
            <a:off x="183142" y="261615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Key</a:t>
            </a:r>
            <a:r>
              <a:rPr lang="en-US" spc="-280" dirty="0"/>
              <a:t> </a:t>
            </a:r>
            <a:r>
              <a:rPr lang="en-US" spc="-160" dirty="0"/>
              <a:t>Takeaways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09AFE390-1CB9-644E-A790-7D079F418A52}"/>
              </a:ext>
            </a:extLst>
          </p:cNvPr>
          <p:cNvSpPr txBox="1"/>
          <p:nvPr/>
        </p:nvSpPr>
        <p:spPr>
          <a:xfrm>
            <a:off x="485620" y="1710397"/>
            <a:ext cx="7379970" cy="328676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422275" algn="just">
              <a:lnSpc>
                <a:spcPts val="2850"/>
              </a:lnSpc>
              <a:spcBef>
                <a:spcPts val="220"/>
              </a:spcBef>
            </a:pPr>
            <a:r>
              <a:rPr sz="2400" spc="-50" dirty="0">
                <a:latin typeface="Arial MT"/>
                <a:cs typeface="Arial MT"/>
              </a:rPr>
              <a:t>Several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factors</a:t>
            </a:r>
            <a:r>
              <a:rPr sz="2400" spc="-6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impact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usable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(e.g.,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40" dirty="0">
                <a:latin typeface="Arial MT"/>
                <a:cs typeface="Arial MT"/>
              </a:rPr>
              <a:t>limited </a:t>
            </a:r>
            <a:r>
              <a:rPr sz="2400" spc="-35" dirty="0">
                <a:latin typeface="Arial MT"/>
                <a:cs typeface="Arial MT"/>
              </a:rPr>
              <a:t>resources,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decision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makers,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organizational </a:t>
            </a:r>
            <a:r>
              <a:rPr sz="2400" dirty="0">
                <a:latin typeface="Arial MT"/>
                <a:cs typeface="Arial MT"/>
              </a:rPr>
              <a:t>commitment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towards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usability).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Arial MT"/>
              <a:cs typeface="Arial MT"/>
            </a:endParaRPr>
          </a:p>
          <a:p>
            <a:pPr marL="12700" marR="54610">
              <a:lnSpc>
                <a:spcPts val="2850"/>
              </a:lnSpc>
            </a:pPr>
            <a:r>
              <a:rPr sz="2400" spc="-20" dirty="0">
                <a:latin typeface="Arial MT"/>
                <a:cs typeface="Arial MT"/>
              </a:rPr>
              <a:t>Usable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decisions</a:t>
            </a:r>
            <a:r>
              <a:rPr sz="2400" spc="-7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stakeholders</a:t>
            </a:r>
            <a:r>
              <a:rPr sz="2400" spc="-8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different</a:t>
            </a:r>
            <a:r>
              <a:rPr sz="2400" spc="4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stages</a:t>
            </a:r>
            <a:r>
              <a:rPr sz="2400" spc="4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latin typeface="Arial MT"/>
                <a:cs typeface="Arial MT"/>
              </a:rPr>
              <a:t>of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SDP.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ts val="2850"/>
              </a:lnSpc>
            </a:pPr>
            <a:r>
              <a:rPr sz="2400" spc="-20" dirty="0">
                <a:latin typeface="Arial MT"/>
                <a:cs typeface="Arial MT"/>
              </a:rPr>
              <a:t>Usable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interdisciplinary</a:t>
            </a:r>
            <a:r>
              <a:rPr sz="2400" spc="-2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11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combine </a:t>
            </a:r>
            <a:r>
              <a:rPr sz="2400" dirty="0">
                <a:latin typeface="Arial MT"/>
                <a:cs typeface="Arial MT"/>
              </a:rPr>
              <a:t>usability,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security.</a:t>
            </a:r>
            <a:endParaRPr sz="240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1963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D9D9DDE-861E-3549-A9CD-F1C34D255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2FBAD6EC-97FD-5A40-9036-3F38E098D46E}"/>
              </a:ext>
            </a:extLst>
          </p:cNvPr>
          <p:cNvSpPr txBox="1">
            <a:spLocks/>
          </p:cNvSpPr>
          <p:nvPr/>
        </p:nvSpPr>
        <p:spPr>
          <a:xfrm>
            <a:off x="278804" y="339023"/>
            <a:ext cx="864390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Implications</a:t>
            </a:r>
            <a:r>
              <a:rPr lang="en-US" spc="105" dirty="0"/>
              <a:t> </a:t>
            </a:r>
            <a:r>
              <a:rPr lang="en-US" spc="60" dirty="0"/>
              <a:t>for</a:t>
            </a:r>
            <a:r>
              <a:rPr lang="en-US" spc="110" dirty="0"/>
              <a:t> </a:t>
            </a:r>
            <a:r>
              <a:rPr lang="en-US" spc="-10" dirty="0"/>
              <a:t>Industry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A025FBE8-6DCC-0C42-8915-624C6CDD9A5F}"/>
              </a:ext>
            </a:extLst>
          </p:cNvPr>
          <p:cNvSpPr txBox="1"/>
          <p:nvPr/>
        </p:nvSpPr>
        <p:spPr>
          <a:xfrm>
            <a:off x="836444" y="1819877"/>
            <a:ext cx="7407275" cy="3690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410" indent="-346710">
              <a:lnSpc>
                <a:spcPct val="100000"/>
              </a:lnSpc>
              <a:spcBef>
                <a:spcPts val="100"/>
              </a:spcBef>
              <a:buChar char="-"/>
              <a:tabLst>
                <a:tab pos="359410" algn="l"/>
              </a:tabLst>
            </a:pPr>
            <a:r>
              <a:rPr sz="2800" dirty="0">
                <a:latin typeface="Arial MT"/>
                <a:cs typeface="Arial MT"/>
              </a:rPr>
              <a:t>Create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70" dirty="0">
                <a:latin typeface="Arial MT"/>
                <a:cs typeface="Arial MT"/>
              </a:rPr>
              <a:t>awareness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usable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security</a:t>
            </a:r>
            <a:endParaRPr sz="2800" dirty="0">
              <a:latin typeface="Arial MT"/>
              <a:cs typeface="Arial MT"/>
            </a:endParaRPr>
          </a:p>
          <a:p>
            <a:pPr marL="359410" indent="-346710">
              <a:lnSpc>
                <a:spcPct val="100000"/>
              </a:lnSpc>
              <a:spcBef>
                <a:spcPts val="15"/>
              </a:spcBef>
              <a:buChar char="-"/>
              <a:tabLst>
                <a:tab pos="359410" algn="l"/>
              </a:tabLst>
            </a:pPr>
            <a:r>
              <a:rPr sz="2800" dirty="0">
                <a:latin typeface="Arial MT"/>
                <a:cs typeface="Arial MT"/>
              </a:rPr>
              <a:t>Improve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communication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among</a:t>
            </a:r>
            <a:r>
              <a:rPr sz="2800" spc="1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experts</a:t>
            </a:r>
            <a:endParaRPr sz="2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70"/>
              </a:spcBef>
              <a:buFont typeface="Arial MT"/>
              <a:buChar char="-"/>
            </a:pPr>
            <a:endParaRPr sz="2800" dirty="0">
              <a:latin typeface="Arial MT"/>
              <a:cs typeface="Arial MT"/>
            </a:endParaRPr>
          </a:p>
          <a:p>
            <a:pPr marL="359410" indent="-346710">
              <a:lnSpc>
                <a:spcPct val="100000"/>
              </a:lnSpc>
              <a:buChar char="-"/>
              <a:tabLst>
                <a:tab pos="359410" algn="l"/>
              </a:tabLst>
            </a:pPr>
            <a:r>
              <a:rPr sz="2800" dirty="0">
                <a:latin typeface="Arial MT"/>
                <a:cs typeface="Arial MT"/>
              </a:rPr>
              <a:t>Shift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usable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security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55" dirty="0">
                <a:latin typeface="Arial MT"/>
                <a:cs typeface="Arial MT"/>
              </a:rPr>
              <a:t>left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SDP</a:t>
            </a:r>
            <a:endParaRPr sz="2800" dirty="0">
              <a:latin typeface="Arial MT"/>
              <a:cs typeface="Arial MT"/>
            </a:endParaRPr>
          </a:p>
          <a:p>
            <a:pPr marL="359410" indent="-346710">
              <a:lnSpc>
                <a:spcPct val="100000"/>
              </a:lnSpc>
              <a:spcBef>
                <a:spcPts val="15"/>
              </a:spcBef>
              <a:buChar char="-"/>
              <a:tabLst>
                <a:tab pos="359410" algn="l"/>
              </a:tabLst>
            </a:pPr>
            <a:r>
              <a:rPr sz="2800" spc="-10" dirty="0">
                <a:latin typeface="Arial MT"/>
                <a:cs typeface="Arial MT"/>
              </a:rPr>
              <a:t>Measure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90" dirty="0">
                <a:latin typeface="Arial MT"/>
                <a:cs typeface="Arial MT"/>
              </a:rPr>
              <a:t>&amp;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track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usable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security</a:t>
            </a:r>
            <a:endParaRPr sz="2800" dirty="0">
              <a:latin typeface="Arial MT"/>
              <a:cs typeface="Arial MT"/>
            </a:endParaRPr>
          </a:p>
          <a:p>
            <a:pPr marL="486409">
              <a:lnSpc>
                <a:spcPts val="2855"/>
              </a:lnSpc>
              <a:spcBef>
                <a:spcPts val="30"/>
              </a:spcBef>
              <a:tabLst>
                <a:tab pos="816610" algn="l"/>
              </a:tabLst>
            </a:pPr>
            <a:r>
              <a:rPr sz="2400" spc="-50" dirty="0">
                <a:latin typeface="Arial MT"/>
                <a:cs typeface="Arial MT"/>
              </a:rPr>
              <a:t>-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75" dirty="0">
                <a:latin typeface="Arial MT"/>
                <a:cs typeface="Arial MT"/>
              </a:rPr>
              <a:t>Use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practices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human-computer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interaction</a:t>
            </a:r>
            <a:endParaRPr sz="2400" dirty="0">
              <a:latin typeface="Arial MT"/>
              <a:cs typeface="Arial MT"/>
            </a:endParaRPr>
          </a:p>
          <a:p>
            <a:pPr marL="359410" marR="5080" indent="-347345">
              <a:lnSpc>
                <a:spcPts val="3379"/>
              </a:lnSpc>
              <a:spcBef>
                <a:spcPts val="50"/>
              </a:spcBef>
              <a:buChar char="-"/>
              <a:tabLst>
                <a:tab pos="359410" algn="l"/>
              </a:tabLst>
            </a:pPr>
            <a:r>
              <a:rPr sz="2800" dirty="0">
                <a:latin typeface="Arial MT"/>
                <a:cs typeface="Arial MT"/>
              </a:rPr>
              <a:t>“Usable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security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champions”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may</a:t>
            </a:r>
            <a:r>
              <a:rPr sz="2800" spc="60" dirty="0">
                <a:latin typeface="Arial MT"/>
                <a:cs typeface="Arial MT"/>
              </a:rPr>
              <a:t> be</a:t>
            </a:r>
            <a:r>
              <a:rPr sz="2800" spc="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helpful </a:t>
            </a:r>
            <a:r>
              <a:rPr sz="2800" spc="90" dirty="0">
                <a:latin typeface="Arial MT"/>
                <a:cs typeface="Arial MT"/>
              </a:rPr>
              <a:t>but</a:t>
            </a:r>
            <a:r>
              <a:rPr sz="280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rare</a:t>
            </a:r>
            <a:endParaRPr sz="28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950650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0D95D-57E2-0B4F-A4D3-97264D600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776E9AA1-D991-914D-817F-8A669B498F43}"/>
              </a:ext>
            </a:extLst>
          </p:cNvPr>
          <p:cNvSpPr txBox="1">
            <a:spLocks/>
          </p:cNvSpPr>
          <p:nvPr/>
        </p:nvSpPr>
        <p:spPr>
          <a:xfrm>
            <a:off x="290531" y="266277"/>
            <a:ext cx="65334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Implications</a:t>
            </a:r>
            <a:r>
              <a:rPr lang="en-US" spc="105" dirty="0"/>
              <a:t> </a:t>
            </a:r>
            <a:r>
              <a:rPr lang="en-US" spc="60" dirty="0"/>
              <a:t>for</a:t>
            </a:r>
            <a:r>
              <a:rPr lang="en-US" spc="110" dirty="0"/>
              <a:t> </a:t>
            </a:r>
            <a:r>
              <a:rPr lang="en-US" spc="-125" dirty="0"/>
              <a:t>Research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5BACFE4D-AA30-9446-AB34-8275F12F4112}"/>
              </a:ext>
            </a:extLst>
          </p:cNvPr>
          <p:cNvSpPr txBox="1"/>
          <p:nvPr/>
        </p:nvSpPr>
        <p:spPr>
          <a:xfrm>
            <a:off x="764345" y="2013654"/>
            <a:ext cx="7810500" cy="3068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Knowledge</a:t>
            </a:r>
            <a:r>
              <a:rPr sz="2400" spc="8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801620"/>
                </a:solidFill>
                <a:latin typeface="Arial MT"/>
                <a:cs typeface="Arial MT"/>
              </a:rPr>
              <a:t>gap</a:t>
            </a:r>
            <a:r>
              <a:rPr sz="2400" spc="8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industry</a:t>
            </a:r>
            <a:r>
              <a:rPr sz="2400" spc="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academia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Holistic</a:t>
            </a:r>
            <a:r>
              <a:rPr sz="2400" spc="70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01620"/>
                </a:solidFill>
                <a:latin typeface="Arial MT"/>
                <a:cs typeface="Arial MT"/>
              </a:rPr>
              <a:t>view</a:t>
            </a:r>
            <a:r>
              <a:rPr sz="2400" spc="7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SDPs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needed,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considering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circumstances</a:t>
            </a:r>
            <a:endParaRPr sz="2400" dirty="0">
              <a:latin typeface="Arial MT"/>
              <a:cs typeface="Arial MT"/>
            </a:endParaRPr>
          </a:p>
          <a:p>
            <a:pPr marL="469900">
              <a:lnSpc>
                <a:spcPts val="2920"/>
              </a:lnSpc>
              <a:spcBef>
                <a:spcPts val="1120"/>
              </a:spcBef>
            </a:pPr>
            <a:r>
              <a:rPr sz="2400" dirty="0">
                <a:latin typeface="Arial MT"/>
                <a:cs typeface="Arial MT"/>
              </a:rPr>
              <a:t>→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50" i="1" dirty="0">
                <a:latin typeface="Arial"/>
                <a:cs typeface="Arial"/>
              </a:rPr>
              <a:t>“It’s</a:t>
            </a:r>
            <a:r>
              <a:rPr sz="2450" i="1" spc="45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not</a:t>
            </a:r>
            <a:r>
              <a:rPr sz="2450" i="1" spc="50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only</a:t>
            </a:r>
            <a:r>
              <a:rPr sz="2450" i="1" spc="45" dirty="0">
                <a:latin typeface="Arial"/>
                <a:cs typeface="Arial"/>
              </a:rPr>
              <a:t> </a:t>
            </a:r>
            <a:r>
              <a:rPr sz="2450" i="1" dirty="0">
                <a:latin typeface="Arial"/>
                <a:cs typeface="Arial"/>
              </a:rPr>
              <a:t>about</a:t>
            </a:r>
            <a:r>
              <a:rPr sz="2450" i="1" spc="45" dirty="0">
                <a:latin typeface="Arial"/>
                <a:cs typeface="Arial"/>
              </a:rPr>
              <a:t> </a:t>
            </a:r>
            <a:r>
              <a:rPr sz="2450" i="1" spc="-10" dirty="0">
                <a:latin typeface="Arial"/>
                <a:cs typeface="Arial"/>
              </a:rPr>
              <a:t>developers”</a:t>
            </a:r>
            <a:endParaRPr sz="2450" dirty="0">
              <a:latin typeface="Arial"/>
              <a:cs typeface="Arial"/>
            </a:endParaRPr>
          </a:p>
          <a:p>
            <a:pPr marL="469900">
              <a:lnSpc>
                <a:spcPts val="2860"/>
              </a:lnSpc>
            </a:pPr>
            <a:r>
              <a:rPr sz="2400" dirty="0">
                <a:latin typeface="Arial MT"/>
                <a:cs typeface="Arial MT"/>
              </a:rPr>
              <a:t>→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made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many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stages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39"/>
              </a:spcBef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55" dirty="0">
                <a:latin typeface="Arial MT"/>
                <a:cs typeface="Arial MT"/>
              </a:rPr>
              <a:t>Need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801620"/>
                </a:solidFill>
                <a:latin typeface="Arial MT"/>
                <a:cs typeface="Arial MT"/>
              </a:rPr>
              <a:t>lightweight</a:t>
            </a:r>
            <a:r>
              <a:rPr sz="2400" spc="-35" dirty="0">
                <a:solidFill>
                  <a:srgbClr val="801620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usable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security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01620"/>
                </a:solidFill>
                <a:latin typeface="Arial MT"/>
                <a:cs typeface="Arial MT"/>
              </a:rPr>
              <a:t>measures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40B383C1-13DD-914C-BB9E-ECC3ED145B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57894" y="1501621"/>
            <a:ext cx="1215749" cy="121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467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E299A-3E5D-2B4D-B362-02A71D12D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B63F4-455E-3B43-A74A-25383E1B4F7C}"/>
              </a:ext>
            </a:extLst>
          </p:cNvPr>
          <p:cNvSpPr/>
          <p:nvPr/>
        </p:nvSpPr>
        <p:spPr>
          <a:xfrm>
            <a:off x="2605592" y="2621741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2400" dirty="0"/>
              <a:t>Role of Artificial Intelligence in Secure Software Design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4EC639F-5D8D-C242-8600-E765B30E85D3}"/>
              </a:ext>
            </a:extLst>
          </p:cNvPr>
          <p:cNvSpPr txBox="1">
            <a:spLocks/>
          </p:cNvSpPr>
          <p:nvPr/>
        </p:nvSpPr>
        <p:spPr>
          <a:xfrm>
            <a:off x="290531" y="266277"/>
            <a:ext cx="653346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Finally!!</a:t>
            </a:r>
            <a:endParaRPr lang="en-US" spc="-125" dirty="0"/>
          </a:p>
        </p:txBody>
      </p:sp>
    </p:spTree>
    <p:extLst>
      <p:ext uri="{BB962C8B-B14F-4D97-AF65-F5344CB8AC3E}">
        <p14:creationId xmlns:p14="http://schemas.microsoft.com/office/powerpoint/2010/main" val="371385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32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2222109</TotalTime>
  <Words>1349</Words>
  <Application>Microsoft Macintosh PowerPoint</Application>
  <PresentationFormat>A4 Paper (210x297 mm)</PresentationFormat>
  <Paragraphs>219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Adobe Gothic Std B</vt:lpstr>
      <vt:lpstr>Arial MT</vt:lpstr>
      <vt:lpstr>等线</vt:lpstr>
      <vt:lpstr>等线</vt:lpstr>
      <vt:lpstr>等线 Light</vt:lpstr>
      <vt:lpstr>SimSun</vt:lpstr>
      <vt:lpstr>Arial</vt:lpstr>
      <vt:lpstr>Calibri</vt:lpstr>
      <vt:lpstr>Courier New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763</cp:revision>
  <cp:lastPrinted>2025-01-23T10:52:12Z</cp:lastPrinted>
  <dcterms:created xsi:type="dcterms:W3CDTF">2018-07-17T04:46:00Z</dcterms:created>
  <dcterms:modified xsi:type="dcterms:W3CDTF">2026-02-18T10:32:57Z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