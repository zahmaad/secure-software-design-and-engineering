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80" r:id="rId2"/>
    <p:sldId id="529" r:id="rId3"/>
    <p:sldId id="561" r:id="rId4"/>
    <p:sldId id="528" r:id="rId5"/>
    <p:sldId id="559" r:id="rId6"/>
    <p:sldId id="560" r:id="rId7"/>
    <p:sldId id="530" r:id="rId8"/>
    <p:sldId id="534" r:id="rId9"/>
    <p:sldId id="531" r:id="rId10"/>
    <p:sldId id="533" r:id="rId11"/>
    <p:sldId id="562" r:id="rId12"/>
    <p:sldId id="535" r:id="rId13"/>
    <p:sldId id="536" r:id="rId14"/>
    <p:sldId id="537" r:id="rId15"/>
    <p:sldId id="563" r:id="rId16"/>
    <p:sldId id="564" r:id="rId17"/>
    <p:sldId id="538" r:id="rId18"/>
    <p:sldId id="539" r:id="rId19"/>
    <p:sldId id="540" r:id="rId20"/>
    <p:sldId id="542" r:id="rId21"/>
    <p:sldId id="543" r:id="rId22"/>
    <p:sldId id="544" r:id="rId23"/>
    <p:sldId id="545" r:id="rId24"/>
    <p:sldId id="541" r:id="rId25"/>
    <p:sldId id="565" r:id="rId26"/>
    <p:sldId id="553" r:id="rId27"/>
    <p:sldId id="554" r:id="rId28"/>
    <p:sldId id="556" r:id="rId29"/>
    <p:sldId id="372" r:id="rId30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529"/>
            <p14:sldId id="561"/>
            <p14:sldId id="528"/>
            <p14:sldId id="559"/>
            <p14:sldId id="560"/>
            <p14:sldId id="530"/>
            <p14:sldId id="534"/>
            <p14:sldId id="531"/>
            <p14:sldId id="533"/>
            <p14:sldId id="562"/>
            <p14:sldId id="535"/>
            <p14:sldId id="536"/>
            <p14:sldId id="537"/>
            <p14:sldId id="563"/>
            <p14:sldId id="564"/>
            <p14:sldId id="538"/>
            <p14:sldId id="539"/>
            <p14:sldId id="540"/>
            <p14:sldId id="542"/>
            <p14:sldId id="543"/>
            <p14:sldId id="544"/>
            <p14:sldId id="545"/>
            <p14:sldId id="541"/>
            <p14:sldId id="565"/>
            <p14:sldId id="553"/>
            <p14:sldId id="554"/>
            <p14:sldId id="556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07" autoAdjust="0"/>
    <p:restoredTop sz="92886" autoAdjust="0"/>
  </p:normalViewPr>
  <p:slideViewPr>
    <p:cSldViewPr snapToGrid="0">
      <p:cViewPr varScale="1">
        <p:scale>
          <a:sx n="119" d="100"/>
          <a:sy n="119" d="100"/>
        </p:scale>
        <p:origin x="520" y="184"/>
      </p:cViewPr>
      <p:guideLst>
        <p:guide orient="horz" pos="230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2026/2/16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2026/2/16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2026/2/16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2026/2/16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2026/2/16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2026/2/16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2026/2/16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2026/2/16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2026/2/16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2026/2/16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2026/2/16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2026/2/16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2026/2/16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6DBDA-7A39-5940-BAEA-489B2396DCC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419" y="-11699"/>
            <a:ext cx="1165087" cy="10453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721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b="1" dirty="0"/>
          </a:p>
          <a:p>
            <a:pPr algn="ctr">
              <a:buNone/>
            </a:pPr>
            <a:r>
              <a:rPr lang="en-US" b="1" dirty="0"/>
              <a:t>   Secure Design Processes </a:t>
            </a:r>
            <a:endParaRPr lang="en-US" dirty="0"/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629421" y="1177267"/>
            <a:ext cx="4857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Secure Software Design and Development</a:t>
            </a:r>
          </a:p>
          <a:p>
            <a:pPr algn="ctr"/>
            <a:r>
              <a:rPr lang="en-US" b="1" dirty="0"/>
              <a:t>(CY-321)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151CA5-F597-CD40-BA9C-6FF5D5806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88AEF9-57A0-BB4D-8851-D46314F994A5}"/>
              </a:ext>
            </a:extLst>
          </p:cNvPr>
          <p:cNvSpPr/>
          <p:nvPr/>
        </p:nvSpPr>
        <p:spPr>
          <a:xfrm>
            <a:off x="0" y="501134"/>
            <a:ext cx="29225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MyriadPro"/>
              </a:rPr>
              <a:t>Threat Modeling? 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DB01B8-C7BF-1C4E-82E1-96AF7F2A94B1}"/>
              </a:ext>
            </a:extLst>
          </p:cNvPr>
          <p:cNvSpPr/>
          <p:nvPr/>
        </p:nvSpPr>
        <p:spPr>
          <a:xfrm>
            <a:off x="937632" y="1521072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Performed to identify security objectives of the software, threats to the software, vulnerabilities in the software being developed </a:t>
            </a:r>
            <a:endParaRPr lang="en-US" dirty="0"/>
          </a:p>
        </p:txBody>
      </p:sp>
      <p:sp>
        <p:nvSpPr>
          <p:cNvPr id="7" name="Cloud Callout 6">
            <a:extLst>
              <a:ext uri="{FF2B5EF4-FFF2-40B4-BE49-F238E27FC236}">
                <a16:creationId xmlns:a16="http://schemas.microsoft.com/office/drawing/2014/main" id="{FBC1024F-1E73-1E47-8B2A-281D7C7B7EC9}"/>
              </a:ext>
            </a:extLst>
          </p:cNvPr>
          <p:cNvSpPr/>
          <p:nvPr/>
        </p:nvSpPr>
        <p:spPr>
          <a:xfrm>
            <a:off x="6225168" y="1856166"/>
            <a:ext cx="2999795" cy="1905027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Difference between Threat modeling and Risk Management?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331560-CAE4-DF45-97B6-7BCD60812F0E}"/>
              </a:ext>
            </a:extLst>
          </p:cNvPr>
          <p:cNvSpPr/>
          <p:nvPr/>
        </p:nvSpPr>
        <p:spPr>
          <a:xfrm>
            <a:off x="4519613" y="4468015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Threat modeling is a subset of risk management that deals specifically with technical security risks in software design</a:t>
            </a:r>
          </a:p>
        </p:txBody>
      </p:sp>
    </p:spTree>
    <p:extLst>
      <p:ext uri="{BB962C8B-B14F-4D97-AF65-F5344CB8AC3E}">
        <p14:creationId xmlns:p14="http://schemas.microsoft.com/office/powerpoint/2010/main" val="3791876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250268-846A-9841-B3BF-932B7AFF7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C1EAA7-261E-EA45-8EFF-A6C525E5C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68" y="1516694"/>
            <a:ext cx="8238565" cy="468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696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B4B291-0127-4747-9AB3-94863D886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BCE09B-F5B1-6D40-AF6E-5BD16D3D53FA}"/>
              </a:ext>
            </a:extLst>
          </p:cNvPr>
          <p:cNvSpPr/>
          <p:nvPr/>
        </p:nvSpPr>
        <p:spPr>
          <a:xfrm>
            <a:off x="0" y="445180"/>
            <a:ext cx="27964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2D2D2D"/>
                </a:solidFill>
                <a:latin typeface="MyriadPro"/>
              </a:rPr>
              <a:t>Design Processes 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161999-345A-E347-B14E-BED405AE7D56}"/>
              </a:ext>
            </a:extLst>
          </p:cNvPr>
          <p:cNvSpPr/>
          <p:nvPr/>
        </p:nvSpPr>
        <p:spPr>
          <a:xfrm>
            <a:off x="1398203" y="1473071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When you are designing software with security in mind, certain security processes need to be established and completed 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C42C6D-2C9C-D14F-A566-BA68F3117CD9}"/>
              </a:ext>
            </a:extLst>
          </p:cNvPr>
          <p:cNvSpPr/>
          <p:nvPr/>
        </p:nvSpPr>
        <p:spPr>
          <a:xfrm>
            <a:off x="1398203" y="2778211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These processes are to be conducted during the initial stages of the software development project 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1E7A9B3-893E-834A-B673-891F93CAD461}"/>
              </a:ext>
            </a:extLst>
          </p:cNvPr>
          <p:cNvSpPr/>
          <p:nvPr/>
        </p:nvSpPr>
        <p:spPr>
          <a:xfrm>
            <a:off x="6534616" y="3590693"/>
            <a:ext cx="3055434" cy="5586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GaramondPro"/>
              </a:rPr>
              <a:t>Threat modeling</a:t>
            </a: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837D04-0150-1443-BCEF-ED841FCCF9A1}"/>
              </a:ext>
            </a:extLst>
          </p:cNvPr>
          <p:cNvSpPr/>
          <p:nvPr/>
        </p:nvSpPr>
        <p:spPr>
          <a:xfrm>
            <a:off x="2796407" y="3630843"/>
            <a:ext cx="3055434" cy="5586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GaramondPro"/>
              </a:rPr>
              <a:t>Attack surface evaluation</a:t>
            </a: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622D563-7B7E-0A40-BCA9-637DD519BA4E}"/>
              </a:ext>
            </a:extLst>
          </p:cNvPr>
          <p:cNvSpPr/>
          <p:nvPr/>
        </p:nvSpPr>
        <p:spPr>
          <a:xfrm>
            <a:off x="4823486" y="4694186"/>
            <a:ext cx="3055434" cy="5586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GaramondPro"/>
              </a:rPr>
              <a:t>documentation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988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244468-794E-F54D-952E-54C24E27F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1212C3-F697-FC4A-A5CD-88DB1376BFA6}"/>
              </a:ext>
            </a:extLst>
          </p:cNvPr>
          <p:cNvSpPr/>
          <p:nvPr/>
        </p:nvSpPr>
        <p:spPr>
          <a:xfrm>
            <a:off x="197089" y="456528"/>
            <a:ext cx="35138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rgbClr val="5B5B5B"/>
                </a:solidFill>
                <a:latin typeface="MyriadPro"/>
              </a:rPr>
              <a:t>Attack Surface Evaluation 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0C810A-B24B-1247-A890-E4D8003D962F}"/>
              </a:ext>
            </a:extLst>
          </p:cNvPr>
          <p:cNvSpPr/>
          <p:nvPr/>
        </p:nvSpPr>
        <p:spPr>
          <a:xfrm>
            <a:off x="1234436" y="1339256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A software or application’s attack surface is the measure of its exposure of being exploited by a threat agent 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18AF0-FBFA-FF4E-AE81-DB28169E916C}"/>
              </a:ext>
            </a:extLst>
          </p:cNvPr>
          <p:cNvSpPr/>
          <p:nvPr/>
        </p:nvSpPr>
        <p:spPr>
          <a:xfrm>
            <a:off x="1234436" y="2521286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Weaknesses in its entry and exit points that a malicious attacker can exploit to his or her advantage 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956716-73F5-AC49-B172-14140650D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874" y="3703316"/>
            <a:ext cx="3912089" cy="223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40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244468-794E-F54D-952E-54C24E27F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1212C3-F697-FC4A-A5CD-88DB1376BFA6}"/>
              </a:ext>
            </a:extLst>
          </p:cNvPr>
          <p:cNvSpPr/>
          <p:nvPr/>
        </p:nvSpPr>
        <p:spPr>
          <a:xfrm>
            <a:off x="197089" y="456528"/>
            <a:ext cx="35138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rgbClr val="5B5B5B"/>
                </a:solidFill>
                <a:latin typeface="MyriadPro"/>
              </a:rPr>
              <a:t>Attack Surface Evaluation </a:t>
            </a:r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3AF98C-81C1-5847-B975-CEBA7F7B3107}"/>
              </a:ext>
            </a:extLst>
          </p:cNvPr>
          <p:cNvSpPr/>
          <p:nvPr/>
        </p:nvSpPr>
        <p:spPr>
          <a:xfrm>
            <a:off x="4519613" y="1183288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1" dirty="0">
                <a:solidFill>
                  <a:schemeClr val="accent1"/>
                </a:solidFill>
                <a:latin typeface="MyriadPro"/>
              </a:rPr>
              <a:t>Targets and Enablers </a:t>
            </a:r>
            <a:r>
              <a:rPr lang="en-US" dirty="0">
                <a:latin typeface="AGaramondPro"/>
              </a:rPr>
              <a:t>are resources that an attacker can leverage to construct an attack against the software. </a:t>
            </a:r>
            <a:endParaRPr lang="en-US" dirty="0">
              <a:latin typeface="ArialM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693B5-199E-7F4F-B787-4352CDB40207}"/>
              </a:ext>
            </a:extLst>
          </p:cNvPr>
          <p:cNvSpPr/>
          <p:nvPr/>
        </p:nvSpPr>
        <p:spPr>
          <a:xfrm>
            <a:off x="725938" y="4218372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1" dirty="0">
                <a:solidFill>
                  <a:schemeClr val="accent1"/>
                </a:solidFill>
                <a:latin typeface="MyriadPro"/>
              </a:rPr>
              <a:t>Channels and Protocols </a:t>
            </a:r>
            <a:r>
              <a:rPr lang="en-US" dirty="0">
                <a:latin typeface="AGaramondPro"/>
              </a:rPr>
              <a:t>are mechanisms that allow for communication between two parties </a:t>
            </a:r>
            <a:endParaRPr lang="en-US" dirty="0">
              <a:latin typeface="ArialM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956716-73F5-AC49-B172-14140650D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910" y="4023359"/>
            <a:ext cx="3912089" cy="223380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CBAF745-28BA-F144-9B4C-D0F937572E61}"/>
              </a:ext>
            </a:extLst>
          </p:cNvPr>
          <p:cNvSpPr/>
          <p:nvPr/>
        </p:nvSpPr>
        <p:spPr>
          <a:xfrm>
            <a:off x="4519613" y="2228818"/>
            <a:ext cx="4953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The two kinds of targets and enablers are </a:t>
            </a:r>
            <a:r>
              <a:rPr lang="en-US" b="1" i="1" dirty="0">
                <a:solidFill>
                  <a:schemeClr val="accent1"/>
                </a:solidFill>
                <a:latin typeface="AGaramondPro"/>
              </a:rPr>
              <a:t>processes and data</a:t>
            </a:r>
            <a:r>
              <a:rPr lang="en-US" dirty="0">
                <a:latin typeface="AGaramondPro"/>
              </a:rPr>
              <a:t>. </a:t>
            </a:r>
            <a:r>
              <a:rPr lang="en-US" u="sng" dirty="0">
                <a:latin typeface="AGaramondPro"/>
              </a:rPr>
              <a:t>Browsers, mailers, and servers </a:t>
            </a:r>
            <a:r>
              <a:rPr lang="en-US" dirty="0">
                <a:latin typeface="AGaramondPro"/>
              </a:rPr>
              <a:t>are examples of </a:t>
            </a:r>
            <a:r>
              <a:rPr lang="en-US" b="1" dirty="0">
                <a:solidFill>
                  <a:schemeClr val="accent1"/>
                </a:solidFill>
                <a:latin typeface="AGaramondPro"/>
              </a:rPr>
              <a:t>process targets and enablers</a:t>
            </a:r>
            <a:r>
              <a:rPr lang="en-US" dirty="0">
                <a:latin typeface="AGaramondPro"/>
              </a:rPr>
              <a:t>, while </a:t>
            </a:r>
            <a:r>
              <a:rPr lang="en-US" u="sng" dirty="0">
                <a:latin typeface="AGaramondPro"/>
              </a:rPr>
              <a:t>files, directories, and registries </a:t>
            </a:r>
            <a:r>
              <a:rPr lang="en-US" dirty="0">
                <a:latin typeface="AGaramondPro"/>
              </a:rPr>
              <a:t>are examples of </a:t>
            </a:r>
            <a:r>
              <a:rPr lang="en-US" b="1" dirty="0">
                <a:solidFill>
                  <a:schemeClr val="accent1"/>
                </a:solidFill>
                <a:latin typeface="AGaramondPro"/>
              </a:rPr>
              <a:t>data targets and enablers </a:t>
            </a:r>
            <a:endParaRPr lang="en-US" b="1" dirty="0">
              <a:solidFill>
                <a:schemeClr val="accent1"/>
              </a:solidFill>
              <a:latin typeface="ArialM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28B214-1DEC-204F-90D8-AB2DA12AA92E}"/>
              </a:ext>
            </a:extLst>
          </p:cNvPr>
          <p:cNvSpPr/>
          <p:nvPr/>
        </p:nvSpPr>
        <p:spPr>
          <a:xfrm>
            <a:off x="725938" y="5171569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u="sng" dirty="0">
                <a:latin typeface="AGaramondPro"/>
              </a:rPr>
              <a:t>Message-passing channels </a:t>
            </a:r>
            <a:r>
              <a:rPr lang="en-US" dirty="0">
                <a:latin typeface="AGaramondPro"/>
              </a:rPr>
              <a:t>and </a:t>
            </a:r>
            <a:r>
              <a:rPr lang="en-US" u="sng" dirty="0">
                <a:latin typeface="AGaramondPro"/>
              </a:rPr>
              <a:t>Shared-memory channels 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101675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134725-3F38-3B44-B14A-D0EB3931A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783B13-2DFC-0043-8D6D-44C6C2DD32F8}"/>
              </a:ext>
            </a:extLst>
          </p:cNvPr>
          <p:cNvSpPr/>
          <p:nvPr/>
        </p:nvSpPr>
        <p:spPr>
          <a:xfrm>
            <a:off x="0" y="501134"/>
            <a:ext cx="45824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>
                <a:latin typeface="MyriadPro"/>
              </a:rPr>
              <a:t>What Can We Threat Model? </a:t>
            </a:r>
            <a:endParaRPr lang="en-US" sz="2800" dirty="0">
              <a:effectLst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BF42A5-D028-BA49-B64F-3CBCED39CEE4}"/>
              </a:ext>
            </a:extLst>
          </p:cNvPr>
          <p:cNvSpPr/>
          <p:nvPr/>
        </p:nvSpPr>
        <p:spPr>
          <a:xfrm>
            <a:off x="982236" y="1272349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Threat modeling is to be performed selectively, based on the value of the software as an asset to the company </a:t>
            </a:r>
            <a:endParaRPr lang="en-US" dirty="0"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AC8589-E60F-404E-B25C-76D3C52532E5}"/>
              </a:ext>
            </a:extLst>
          </p:cNvPr>
          <p:cNvSpPr/>
          <p:nvPr/>
        </p:nvSpPr>
        <p:spPr>
          <a:xfrm>
            <a:off x="982236" y="2443674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It is particularly important to threat model legacy software </a:t>
            </a:r>
            <a:endParaRPr lang="en-US" dirty="0"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E5F17C-2FE6-2D4B-88A7-33640B24848F}"/>
              </a:ext>
            </a:extLst>
          </p:cNvPr>
          <p:cNvSpPr/>
          <p:nvPr/>
        </p:nvSpPr>
        <p:spPr>
          <a:xfrm>
            <a:off x="982236" y="3338000"/>
            <a:ext cx="4953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When there is a need to threat model legacy software, it is recommended to do so when the next version of the legacy software is being designed </a:t>
            </a:r>
            <a:endParaRPr lang="en-US" dirty="0"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7463B2-2CA0-B643-B464-8BF8BACB0AC3}"/>
              </a:ext>
            </a:extLst>
          </p:cNvPr>
          <p:cNvSpPr/>
          <p:nvPr/>
        </p:nvSpPr>
        <p:spPr>
          <a:xfrm>
            <a:off x="982236" y="4786324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We can also threat model interfaces (application programming interfaces, web services, etc.) and third-party components. </a:t>
            </a:r>
            <a:endParaRPr lang="en-US" dirty="0">
              <a:effectLst/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E61C19CF-A380-6543-AB6F-C3333FC23618}"/>
              </a:ext>
            </a:extLst>
          </p:cNvPr>
          <p:cNvSpPr/>
          <p:nvPr/>
        </p:nvSpPr>
        <p:spPr>
          <a:xfrm>
            <a:off x="6713034" y="2195679"/>
            <a:ext cx="1397504" cy="571160"/>
          </a:xfrm>
          <a:prstGeom prst="wedgeRoundRectCallout">
            <a:avLst>
              <a:gd name="adj1" fmla="val -107010"/>
              <a:gd name="adj2" fmla="val 4297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Why?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953155-ED1F-644F-BC5A-A474D591981A}"/>
              </a:ext>
            </a:extLst>
          </p:cNvPr>
          <p:cNvSpPr/>
          <p:nvPr/>
        </p:nvSpPr>
        <p:spPr>
          <a:xfrm>
            <a:off x="5935236" y="4786324"/>
            <a:ext cx="30303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GaramondPro"/>
              </a:rPr>
              <a:t>Threat modeling third-party software is often a behavioral Testing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44096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DE2EFF-250E-7540-AD51-C624A6CE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FEDF8A-9326-A848-BE0E-3B3E09582E0B}"/>
              </a:ext>
            </a:extLst>
          </p:cNvPr>
          <p:cNvSpPr/>
          <p:nvPr/>
        </p:nvSpPr>
        <p:spPr>
          <a:xfrm>
            <a:off x="157046" y="496450"/>
            <a:ext cx="80948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AGaramondPro"/>
              </a:rPr>
              <a:t>“Security Vision” for the software in threat modeling 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D0B3FA-9E38-2548-B6C5-08A17E3D668D}"/>
              </a:ext>
            </a:extLst>
          </p:cNvPr>
          <p:cNvSpPr txBox="1"/>
          <p:nvPr/>
        </p:nvSpPr>
        <p:spPr>
          <a:xfrm>
            <a:off x="2787805" y="3226345"/>
            <a:ext cx="420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Threat Modeling Process</a:t>
            </a:r>
          </a:p>
        </p:txBody>
      </p:sp>
      <p:sp>
        <p:nvSpPr>
          <p:cNvPr id="6" name="Oval Callout 5">
            <a:extLst>
              <a:ext uri="{FF2B5EF4-FFF2-40B4-BE49-F238E27FC236}">
                <a16:creationId xmlns:a16="http://schemas.microsoft.com/office/drawing/2014/main" id="{70706EE1-690A-7242-A527-F01945D80F09}"/>
              </a:ext>
            </a:extLst>
          </p:cNvPr>
          <p:cNvSpPr/>
          <p:nvPr/>
        </p:nvSpPr>
        <p:spPr>
          <a:xfrm>
            <a:off x="6646127" y="1471962"/>
            <a:ext cx="2185639" cy="1204332"/>
          </a:xfrm>
          <a:prstGeom prst="wedgeEllipseCallout">
            <a:avLst>
              <a:gd name="adj1" fmla="val -74951"/>
              <a:gd name="adj2" fmla="val 879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latin typeface="AGaramondPro"/>
              </a:rPr>
              <a:t>Model Application Architecture </a:t>
            </a:r>
            <a:endParaRPr lang="en-US" b="1" i="1" dirty="0">
              <a:latin typeface="MyriadPro"/>
            </a:endParaRPr>
          </a:p>
        </p:txBody>
      </p:sp>
      <p:sp>
        <p:nvSpPr>
          <p:cNvPr id="7" name="Oval Callout 6">
            <a:extLst>
              <a:ext uri="{FF2B5EF4-FFF2-40B4-BE49-F238E27FC236}">
                <a16:creationId xmlns:a16="http://schemas.microsoft.com/office/drawing/2014/main" id="{17DC82A9-3D5F-3341-9239-2A1FABDE8E3D}"/>
              </a:ext>
            </a:extLst>
          </p:cNvPr>
          <p:cNvSpPr/>
          <p:nvPr/>
        </p:nvSpPr>
        <p:spPr>
          <a:xfrm>
            <a:off x="788309" y="1144822"/>
            <a:ext cx="2185639" cy="1204332"/>
          </a:xfrm>
          <a:prstGeom prst="wedgeEllipseCallout">
            <a:avLst>
              <a:gd name="adj1" fmla="val 89335"/>
              <a:gd name="adj2" fmla="val 1194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latin typeface="AGaramondPro"/>
              </a:rPr>
              <a:t>Document and Validate </a:t>
            </a:r>
            <a:endParaRPr lang="en-US" b="1" i="1" dirty="0">
              <a:latin typeface="MyriadPro"/>
            </a:endParaRPr>
          </a:p>
        </p:txBody>
      </p:sp>
      <p:sp>
        <p:nvSpPr>
          <p:cNvPr id="8" name="Oval Callout 7">
            <a:extLst>
              <a:ext uri="{FF2B5EF4-FFF2-40B4-BE49-F238E27FC236}">
                <a16:creationId xmlns:a16="http://schemas.microsoft.com/office/drawing/2014/main" id="{318E693E-1A5F-7444-831B-190FD0073E0A}"/>
              </a:ext>
            </a:extLst>
          </p:cNvPr>
          <p:cNvSpPr/>
          <p:nvPr/>
        </p:nvSpPr>
        <p:spPr>
          <a:xfrm>
            <a:off x="6798527" y="4805705"/>
            <a:ext cx="2426436" cy="1204332"/>
          </a:xfrm>
          <a:prstGeom prst="wedgeEllipseCallout">
            <a:avLst>
              <a:gd name="adj1" fmla="val -79547"/>
              <a:gd name="adj2" fmla="val -1305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latin typeface="AGaramondPro"/>
              </a:rPr>
              <a:t>Identify Threats </a:t>
            </a:r>
            <a:endParaRPr lang="en-US" b="1" i="1" dirty="0">
              <a:latin typeface="MyriadPro"/>
            </a:endParaRPr>
          </a:p>
        </p:txBody>
      </p:sp>
      <p:sp>
        <p:nvSpPr>
          <p:cNvPr id="9" name="Oval Callout 8">
            <a:extLst>
              <a:ext uri="{FF2B5EF4-FFF2-40B4-BE49-F238E27FC236}">
                <a16:creationId xmlns:a16="http://schemas.microsoft.com/office/drawing/2014/main" id="{05F44A26-22B1-A84A-A1ED-9E8868083F7A}"/>
              </a:ext>
            </a:extLst>
          </p:cNvPr>
          <p:cNvSpPr/>
          <p:nvPr/>
        </p:nvSpPr>
        <p:spPr>
          <a:xfrm>
            <a:off x="0" y="4379309"/>
            <a:ext cx="2973948" cy="1515376"/>
          </a:xfrm>
          <a:prstGeom prst="wedgeEllipseCallout">
            <a:avLst>
              <a:gd name="adj1" fmla="val 79534"/>
              <a:gd name="adj2" fmla="val -8125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latin typeface="AGaramondPro"/>
              </a:rPr>
              <a:t>Identify, Prioritize and Implement Controls </a:t>
            </a:r>
            <a:endParaRPr lang="en-US" b="1" i="1" dirty="0">
              <a:latin typeface="MyriadPro"/>
            </a:endParaRPr>
          </a:p>
        </p:txBody>
      </p:sp>
    </p:spTree>
    <p:extLst>
      <p:ext uri="{BB962C8B-B14F-4D97-AF65-F5344CB8AC3E}">
        <p14:creationId xmlns:p14="http://schemas.microsoft.com/office/powerpoint/2010/main" val="620443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A18B67-8CAB-5A4C-AAC0-2A8EB5361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1025" name="Picture 1" descr="page232image51537872">
            <a:extLst>
              <a:ext uri="{FF2B5EF4-FFF2-40B4-BE49-F238E27FC236}">
                <a16:creationId xmlns:a16="http://schemas.microsoft.com/office/drawing/2014/main" id="{462D6FD1-8ED8-2B4C-B330-286099AC4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3" y="2029522"/>
            <a:ext cx="50419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age232image51541616">
            <a:extLst>
              <a:ext uri="{FF2B5EF4-FFF2-40B4-BE49-F238E27FC236}">
                <a16:creationId xmlns:a16="http://schemas.microsoft.com/office/drawing/2014/main" id="{30D36505-F422-5444-ACFD-449389957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650" y="1063397"/>
            <a:ext cx="6851736" cy="4827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4E9A0E-12FC-7D49-B7BB-4E98349D1F67}"/>
              </a:ext>
            </a:extLst>
          </p:cNvPr>
          <p:cNvSpPr txBox="1"/>
          <p:nvPr/>
        </p:nvSpPr>
        <p:spPr>
          <a:xfrm>
            <a:off x="0" y="416238"/>
            <a:ext cx="420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Threat Modeling Process</a:t>
            </a:r>
          </a:p>
        </p:txBody>
      </p:sp>
    </p:spTree>
    <p:extLst>
      <p:ext uri="{BB962C8B-B14F-4D97-AF65-F5344CB8AC3E}">
        <p14:creationId xmlns:p14="http://schemas.microsoft.com/office/powerpoint/2010/main" val="208440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ED7810-D05B-A040-90AA-F5082C23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90513C-BA3D-384E-A534-7A11FBC77AAD}"/>
              </a:ext>
            </a:extLst>
          </p:cNvPr>
          <p:cNvSpPr/>
          <p:nvPr/>
        </p:nvSpPr>
        <p:spPr>
          <a:xfrm>
            <a:off x="262244" y="1214812"/>
            <a:ext cx="42335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>
                <a:latin typeface="MyriadPro"/>
              </a:rPr>
              <a:t>Model Application Architecture </a:t>
            </a:r>
            <a:endParaRPr lang="en-US" sz="240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84EDD-AF64-0349-9AB0-912FF394700A}"/>
              </a:ext>
            </a:extLst>
          </p:cNvPr>
          <p:cNvSpPr txBox="1"/>
          <p:nvPr/>
        </p:nvSpPr>
        <p:spPr>
          <a:xfrm>
            <a:off x="0" y="416238"/>
            <a:ext cx="420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Threat Modeling Process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512CEB-B5F1-9346-9FA3-9CC540954B3A}"/>
              </a:ext>
            </a:extLst>
          </p:cNvPr>
          <p:cNvSpPr/>
          <p:nvPr/>
        </p:nvSpPr>
        <p:spPr>
          <a:xfrm>
            <a:off x="629858" y="1933436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Identify the software system, its components, and its interactions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94FFB0-6A90-774B-BE25-CA4421D820A2}"/>
              </a:ext>
            </a:extLst>
          </p:cNvPr>
          <p:cNvSpPr/>
          <p:nvPr/>
        </p:nvSpPr>
        <p:spPr>
          <a:xfrm>
            <a:off x="629858" y="2836726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Create Data Flow Diagrams (DFDs) or Architecture Diagrams to visualize data movement and trust boundaries.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FC71C2-A6DC-B94B-8C3F-3960323D0773}"/>
              </a:ext>
            </a:extLst>
          </p:cNvPr>
          <p:cNvSpPr/>
          <p:nvPr/>
        </p:nvSpPr>
        <p:spPr>
          <a:xfrm>
            <a:off x="629858" y="4053805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Define assets that need protection (e.g., sensitive data, credentials, APIs).</a:t>
            </a:r>
          </a:p>
        </p:txBody>
      </p:sp>
      <p:pic>
        <p:nvPicPr>
          <p:cNvPr id="9" name="Picture 2" descr="page232image51541616">
            <a:extLst>
              <a:ext uri="{FF2B5EF4-FFF2-40B4-BE49-F238E27FC236}">
                <a16:creationId xmlns:a16="http://schemas.microsoft.com/office/drawing/2014/main" id="{76469374-7232-654E-A13D-C8666C5CB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144" y="1918250"/>
            <a:ext cx="3917819" cy="276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0781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ED7810-D05B-A040-90AA-F5082C23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90513C-BA3D-384E-A534-7A11FBC77AAD}"/>
              </a:ext>
            </a:extLst>
          </p:cNvPr>
          <p:cNvSpPr/>
          <p:nvPr/>
        </p:nvSpPr>
        <p:spPr>
          <a:xfrm>
            <a:off x="262244" y="1214812"/>
            <a:ext cx="42335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>
                <a:latin typeface="MyriadPro"/>
              </a:rPr>
              <a:t>Model Application Architecture </a:t>
            </a:r>
            <a:endParaRPr lang="en-US" sz="240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84EDD-AF64-0349-9AB0-912FF394700A}"/>
              </a:ext>
            </a:extLst>
          </p:cNvPr>
          <p:cNvSpPr txBox="1"/>
          <p:nvPr/>
        </p:nvSpPr>
        <p:spPr>
          <a:xfrm>
            <a:off x="0" y="416238"/>
            <a:ext cx="420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Threat Modeling Process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5FEE80A-9E5C-BE46-A23C-8CE9A4C1A82F}"/>
              </a:ext>
            </a:extLst>
          </p:cNvPr>
          <p:cNvSpPr/>
          <p:nvPr/>
        </p:nvSpPr>
        <p:spPr>
          <a:xfrm>
            <a:off x="535260" y="1891982"/>
            <a:ext cx="3479180" cy="6129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Identify the Physical Topology </a:t>
            </a:r>
            <a:endParaRPr lang="en-US" dirty="0">
              <a:effectLst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EDB7970-B72F-7E41-A303-4779EE183C52}"/>
              </a:ext>
            </a:extLst>
          </p:cNvPr>
          <p:cNvSpPr/>
          <p:nvPr/>
        </p:nvSpPr>
        <p:spPr>
          <a:xfrm>
            <a:off x="535260" y="3042246"/>
            <a:ext cx="3479180" cy="6129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Identify the Logical Topology </a:t>
            </a:r>
            <a:endParaRPr lang="en-US" dirty="0">
              <a:effectLst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0C5A2D-5B48-D340-A3B1-346B0393835F}"/>
              </a:ext>
            </a:extLst>
          </p:cNvPr>
          <p:cNvSpPr/>
          <p:nvPr/>
        </p:nvSpPr>
        <p:spPr>
          <a:xfrm>
            <a:off x="4208308" y="1807441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Gives insight into where and how the applications will be deployed </a:t>
            </a:r>
            <a:endParaRPr lang="en-US" dirty="0">
              <a:effectLst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0E931A-0B35-0F42-9122-036FD4B56139}"/>
              </a:ext>
            </a:extLst>
          </p:cNvPr>
          <p:cNvSpPr/>
          <p:nvPr/>
        </p:nvSpPr>
        <p:spPr>
          <a:xfrm>
            <a:off x="4271963" y="2887056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Examples include forms based, certificate based, token based, biometrics, single sign-on, multi-factor,</a:t>
            </a:r>
            <a:endParaRPr lang="en-US" dirty="0">
              <a:effectLst/>
            </a:endParaRPr>
          </a:p>
        </p:txBody>
      </p:sp>
      <p:pic>
        <p:nvPicPr>
          <p:cNvPr id="16" name="Picture 2" descr="page232image51541616">
            <a:extLst>
              <a:ext uri="{FF2B5EF4-FFF2-40B4-BE49-F238E27FC236}">
                <a16:creationId xmlns:a16="http://schemas.microsoft.com/office/drawing/2014/main" id="{ED5BADBB-C722-E84E-B82A-FC9319CF7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144" y="3809911"/>
            <a:ext cx="3917819" cy="276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2338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ED7810-D05B-A040-90AA-F5082C23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90513C-BA3D-384E-A534-7A11FBC77AAD}"/>
              </a:ext>
            </a:extLst>
          </p:cNvPr>
          <p:cNvSpPr/>
          <p:nvPr/>
        </p:nvSpPr>
        <p:spPr>
          <a:xfrm>
            <a:off x="262244" y="1214812"/>
            <a:ext cx="42335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>
                <a:latin typeface="MyriadPro"/>
              </a:rPr>
              <a:t>Model Application Architecture </a:t>
            </a:r>
            <a:endParaRPr lang="en-US" sz="240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84EDD-AF64-0349-9AB0-912FF394700A}"/>
              </a:ext>
            </a:extLst>
          </p:cNvPr>
          <p:cNvSpPr txBox="1"/>
          <p:nvPr/>
        </p:nvSpPr>
        <p:spPr>
          <a:xfrm>
            <a:off x="0" y="416238"/>
            <a:ext cx="420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Threat Modeling Process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BD95353-9ACD-1A4A-87FB-1DA6EF9256B0}"/>
              </a:ext>
            </a:extLst>
          </p:cNvPr>
          <p:cNvSpPr/>
          <p:nvPr/>
        </p:nvSpPr>
        <p:spPr>
          <a:xfrm>
            <a:off x="535260" y="4282698"/>
            <a:ext cx="3479180" cy="6129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Identify Human and Non-Human Actors of the System </a:t>
            </a:r>
            <a:endParaRPr lang="en-US" dirty="0">
              <a:effectLst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B046032-362C-9746-8C3D-DB70370EA32E}"/>
              </a:ext>
            </a:extLst>
          </p:cNvPr>
          <p:cNvSpPr/>
          <p:nvPr/>
        </p:nvSpPr>
        <p:spPr>
          <a:xfrm>
            <a:off x="535260" y="5330651"/>
            <a:ext cx="3479180" cy="6129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Identify Data Elements </a:t>
            </a:r>
            <a:endParaRPr lang="en-US" dirty="0">
              <a:effectLst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D56831-A033-3B46-86AB-3D8D49507B48}"/>
              </a:ext>
            </a:extLst>
          </p:cNvPr>
          <p:cNvSpPr/>
          <p:nvPr/>
        </p:nvSpPr>
        <p:spPr>
          <a:xfrm>
            <a:off x="4271963" y="4251266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Examples include customers, sales agents, system administrators, database administrators, etc. </a:t>
            </a:r>
            <a:endParaRPr lang="en-US" dirty="0">
              <a:effectLst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0B1641-BBA7-8847-AEA8-F3A4EA1D358B}"/>
              </a:ext>
            </a:extLst>
          </p:cNvPr>
          <p:cNvSpPr/>
          <p:nvPr/>
        </p:nvSpPr>
        <p:spPr>
          <a:xfrm>
            <a:off x="4208308" y="5368280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Examples include product information, customer information, etc. </a:t>
            </a:r>
            <a:endParaRPr lang="en-US" dirty="0">
              <a:effectLst/>
            </a:endParaRPr>
          </a:p>
        </p:txBody>
      </p:sp>
      <p:pic>
        <p:nvPicPr>
          <p:cNvPr id="16" name="Picture 2" descr="page232image51541616">
            <a:extLst>
              <a:ext uri="{FF2B5EF4-FFF2-40B4-BE49-F238E27FC236}">
                <a16:creationId xmlns:a16="http://schemas.microsoft.com/office/drawing/2014/main" id="{8A460EA2-325F-C441-B88D-9B7A11CA1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328" y="1445644"/>
            <a:ext cx="3917819" cy="276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506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ED7810-D05B-A040-90AA-F5082C23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90513C-BA3D-384E-A534-7A11FBC77AAD}"/>
              </a:ext>
            </a:extLst>
          </p:cNvPr>
          <p:cNvSpPr/>
          <p:nvPr/>
        </p:nvSpPr>
        <p:spPr>
          <a:xfrm>
            <a:off x="262244" y="1214812"/>
            <a:ext cx="42335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>
                <a:latin typeface="MyriadPro"/>
              </a:rPr>
              <a:t>Model Application Architecture </a:t>
            </a:r>
            <a:endParaRPr lang="en-US" sz="240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84EDD-AF64-0349-9AB0-912FF394700A}"/>
              </a:ext>
            </a:extLst>
          </p:cNvPr>
          <p:cNvSpPr txBox="1"/>
          <p:nvPr/>
        </p:nvSpPr>
        <p:spPr>
          <a:xfrm>
            <a:off x="0" y="416238"/>
            <a:ext cx="420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Threat Modeling Process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5FEE80A-9E5C-BE46-A23C-8CE9A4C1A82F}"/>
              </a:ext>
            </a:extLst>
          </p:cNvPr>
          <p:cNvSpPr/>
          <p:nvPr/>
        </p:nvSpPr>
        <p:spPr>
          <a:xfrm>
            <a:off x="535260" y="1951831"/>
            <a:ext cx="3479180" cy="6129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Generate a Data Access Control Matrix. 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0C5A2D-5B48-D340-A3B1-346B0393835F}"/>
              </a:ext>
            </a:extLst>
          </p:cNvPr>
          <p:cNvSpPr/>
          <p:nvPr/>
        </p:nvSpPr>
        <p:spPr>
          <a:xfrm>
            <a:off x="4208308" y="1906330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rights and privileges that the actors will have on the identified data elements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B32B33-6A26-264E-B75F-7D0D21C0FF73}"/>
              </a:ext>
            </a:extLst>
          </p:cNvPr>
          <p:cNvSpPr/>
          <p:nvPr/>
        </p:nvSpPr>
        <p:spPr>
          <a:xfrm>
            <a:off x="4208308" y="2782514"/>
            <a:ext cx="4953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Identify the technologies that will be used in building the application. </a:t>
            </a:r>
          </a:p>
          <a:p>
            <a:endParaRPr lang="en-US" dirty="0">
              <a:latin typeface="ArialMT"/>
            </a:endParaRPr>
          </a:p>
          <a:p>
            <a:r>
              <a:rPr lang="en-US" dirty="0">
                <a:latin typeface="AGaramondPro"/>
              </a:rPr>
              <a:t>Identify external dependencies. </a:t>
            </a:r>
            <a:endParaRPr lang="en-US" dirty="0">
              <a:latin typeface="ArialMT"/>
            </a:endParaRPr>
          </a:p>
        </p:txBody>
      </p:sp>
      <p:pic>
        <p:nvPicPr>
          <p:cNvPr id="4097" name="Picture 1" descr="page234image51873200">
            <a:extLst>
              <a:ext uri="{FF2B5EF4-FFF2-40B4-BE49-F238E27FC236}">
                <a16:creationId xmlns:a16="http://schemas.microsoft.com/office/drawing/2014/main" id="{192DB244-FD8E-0A49-9F09-070EAA667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575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page234image51879856">
            <a:extLst>
              <a:ext uri="{FF2B5EF4-FFF2-40B4-BE49-F238E27FC236}">
                <a16:creationId xmlns:a16="http://schemas.microsoft.com/office/drawing/2014/main" id="{097552BC-ED7D-B046-A969-1157AEA7C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415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age234image51882144">
            <a:extLst>
              <a:ext uri="{FF2B5EF4-FFF2-40B4-BE49-F238E27FC236}">
                <a16:creationId xmlns:a16="http://schemas.microsoft.com/office/drawing/2014/main" id="{2C2C6072-6F36-2242-805D-24EB76E6C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859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page232image51541616">
            <a:extLst>
              <a:ext uri="{FF2B5EF4-FFF2-40B4-BE49-F238E27FC236}">
                <a16:creationId xmlns:a16="http://schemas.microsoft.com/office/drawing/2014/main" id="{700C5A74-BCE3-7C45-B559-51754E3A6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44" y="2960057"/>
            <a:ext cx="3917819" cy="276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44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ED7810-D05B-A040-90AA-F5082C23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90513C-BA3D-384E-A534-7A11FBC77AAD}"/>
              </a:ext>
            </a:extLst>
          </p:cNvPr>
          <p:cNvSpPr/>
          <p:nvPr/>
        </p:nvSpPr>
        <p:spPr>
          <a:xfrm>
            <a:off x="262244" y="1214812"/>
            <a:ext cx="24577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Identify Threats </a:t>
            </a:r>
            <a:endParaRPr lang="en-US" sz="240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84EDD-AF64-0349-9AB0-912FF394700A}"/>
              </a:ext>
            </a:extLst>
          </p:cNvPr>
          <p:cNvSpPr txBox="1"/>
          <p:nvPr/>
        </p:nvSpPr>
        <p:spPr>
          <a:xfrm>
            <a:off x="0" y="416238"/>
            <a:ext cx="420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Threat Modeling Process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9CD288-0FB0-4142-92DA-EBF348A392E7}"/>
              </a:ext>
            </a:extLst>
          </p:cNvPr>
          <p:cNvSpPr/>
          <p:nvPr/>
        </p:nvSpPr>
        <p:spPr>
          <a:xfrm>
            <a:off x="2043113" y="1783373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This step involves </a:t>
            </a:r>
            <a:r>
              <a:rPr lang="en-US" b="1" dirty="0">
                <a:solidFill>
                  <a:srgbClr val="FF0000"/>
                </a:solidFill>
              </a:rPr>
              <a:t>thinking like an attacker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listing potential security threats based on the system design.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7E828BC-E398-184B-839A-3C1353F5521E}"/>
              </a:ext>
            </a:extLst>
          </p:cNvPr>
          <p:cNvSpPr/>
          <p:nvPr/>
        </p:nvSpPr>
        <p:spPr>
          <a:xfrm>
            <a:off x="262244" y="3010829"/>
            <a:ext cx="3038517" cy="6140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Identify Trust Boundaries </a:t>
            </a:r>
            <a:endParaRPr lang="en-US" dirty="0">
              <a:effectLst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913671-5114-394B-96C0-FA5EE9CDEFAD}"/>
              </a:ext>
            </a:extLst>
          </p:cNvPr>
          <p:cNvSpPr/>
          <p:nvPr/>
        </p:nvSpPr>
        <p:spPr>
          <a:xfrm>
            <a:off x="3725436" y="2994685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Identify actions or behavior of the software that is allowed or not allowed </a:t>
            </a:r>
            <a:endParaRPr lang="en-US" dirty="0">
              <a:effectLst/>
            </a:endParaRPr>
          </a:p>
        </p:txBody>
      </p:sp>
      <p:pic>
        <p:nvPicPr>
          <p:cNvPr id="5121" name="Picture 1" descr="page234image51873200">
            <a:extLst>
              <a:ext uri="{FF2B5EF4-FFF2-40B4-BE49-F238E27FC236}">
                <a16:creationId xmlns:a16="http://schemas.microsoft.com/office/drawing/2014/main" id="{B5C095D4-14B5-A345-B428-9740A59D6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575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page234image51879856">
            <a:extLst>
              <a:ext uri="{FF2B5EF4-FFF2-40B4-BE49-F238E27FC236}">
                <a16:creationId xmlns:a16="http://schemas.microsoft.com/office/drawing/2014/main" id="{A72AA1BC-DDD3-8047-92AD-6CBD0F976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415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age234image51882144">
            <a:extLst>
              <a:ext uri="{FF2B5EF4-FFF2-40B4-BE49-F238E27FC236}">
                <a16:creationId xmlns:a16="http://schemas.microsoft.com/office/drawing/2014/main" id="{C3417643-4D5E-A146-9124-330523610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859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page232image51541616">
            <a:extLst>
              <a:ext uri="{FF2B5EF4-FFF2-40B4-BE49-F238E27FC236}">
                <a16:creationId xmlns:a16="http://schemas.microsoft.com/office/drawing/2014/main" id="{4D0DA9FC-5053-8243-AE0B-D528EADE8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181" y="3550618"/>
            <a:ext cx="3917819" cy="276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1732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ED7810-D05B-A040-90AA-F5082C23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90513C-BA3D-384E-A534-7A11FBC77AAD}"/>
              </a:ext>
            </a:extLst>
          </p:cNvPr>
          <p:cNvSpPr/>
          <p:nvPr/>
        </p:nvSpPr>
        <p:spPr>
          <a:xfrm>
            <a:off x="262244" y="1214812"/>
            <a:ext cx="24577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Identify Threats </a:t>
            </a:r>
            <a:endParaRPr lang="en-US" sz="240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84EDD-AF64-0349-9AB0-912FF394700A}"/>
              </a:ext>
            </a:extLst>
          </p:cNvPr>
          <p:cNvSpPr txBox="1"/>
          <p:nvPr/>
        </p:nvSpPr>
        <p:spPr>
          <a:xfrm>
            <a:off x="0" y="416238"/>
            <a:ext cx="420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Threat Modeling Process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34BD6B8-4D93-8C4D-8288-48B429FDA30B}"/>
              </a:ext>
            </a:extLst>
          </p:cNvPr>
          <p:cNvSpPr/>
          <p:nvPr/>
        </p:nvSpPr>
        <p:spPr>
          <a:xfrm>
            <a:off x="322241" y="2235920"/>
            <a:ext cx="3038517" cy="6140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Identify Entry Points </a:t>
            </a:r>
            <a:endParaRPr lang="en-US" dirty="0">
              <a:effectLst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CCF43D-F3ED-204A-89A4-9891939C59E9}"/>
              </a:ext>
            </a:extLst>
          </p:cNvPr>
          <p:cNvSpPr/>
          <p:nvPr/>
        </p:nvSpPr>
        <p:spPr>
          <a:xfrm>
            <a:off x="3553313" y="2358276"/>
            <a:ext cx="49877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GaramondPro"/>
              </a:rPr>
              <a:t>Each entry point can be a potential threat source </a:t>
            </a:r>
            <a:endParaRPr lang="en-US" dirty="0">
              <a:effectLst/>
            </a:endParaRPr>
          </a:p>
        </p:txBody>
      </p:sp>
      <p:pic>
        <p:nvPicPr>
          <p:cNvPr id="5121" name="Picture 1" descr="page234image51873200">
            <a:extLst>
              <a:ext uri="{FF2B5EF4-FFF2-40B4-BE49-F238E27FC236}">
                <a16:creationId xmlns:a16="http://schemas.microsoft.com/office/drawing/2014/main" id="{B5C095D4-14B5-A345-B428-9740A59D6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575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page234image51879856">
            <a:extLst>
              <a:ext uri="{FF2B5EF4-FFF2-40B4-BE49-F238E27FC236}">
                <a16:creationId xmlns:a16="http://schemas.microsoft.com/office/drawing/2014/main" id="{A72AA1BC-DDD3-8047-92AD-6CBD0F976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415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age234image51882144">
            <a:extLst>
              <a:ext uri="{FF2B5EF4-FFF2-40B4-BE49-F238E27FC236}">
                <a16:creationId xmlns:a16="http://schemas.microsoft.com/office/drawing/2014/main" id="{C3417643-4D5E-A146-9124-330523610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859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page232image51541616">
            <a:extLst>
              <a:ext uri="{FF2B5EF4-FFF2-40B4-BE49-F238E27FC236}">
                <a16:creationId xmlns:a16="http://schemas.microsoft.com/office/drawing/2014/main" id="{C089BC39-7DC0-9542-8E68-8C8069A56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310" y="3161839"/>
            <a:ext cx="3917819" cy="276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078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ED7810-D05B-A040-90AA-F5082C23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90513C-BA3D-384E-A534-7A11FBC77AAD}"/>
              </a:ext>
            </a:extLst>
          </p:cNvPr>
          <p:cNvSpPr/>
          <p:nvPr/>
        </p:nvSpPr>
        <p:spPr>
          <a:xfrm>
            <a:off x="262244" y="1214812"/>
            <a:ext cx="24577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Identify Threats </a:t>
            </a:r>
            <a:endParaRPr lang="en-US" sz="240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84EDD-AF64-0349-9AB0-912FF394700A}"/>
              </a:ext>
            </a:extLst>
          </p:cNvPr>
          <p:cNvSpPr txBox="1"/>
          <p:nvPr/>
        </p:nvSpPr>
        <p:spPr>
          <a:xfrm>
            <a:off x="0" y="416238"/>
            <a:ext cx="420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Threat Modeling Process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B98E69B-24C7-1E4B-A89D-A36E27ACA545}"/>
              </a:ext>
            </a:extLst>
          </p:cNvPr>
          <p:cNvSpPr/>
          <p:nvPr/>
        </p:nvSpPr>
        <p:spPr>
          <a:xfrm>
            <a:off x="322241" y="5434361"/>
            <a:ext cx="2535259" cy="6140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Identify Exit Points 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9FB3D2-6812-754B-805A-8291EE6AFBF4}"/>
              </a:ext>
            </a:extLst>
          </p:cNvPr>
          <p:cNvSpPr/>
          <p:nvPr/>
        </p:nvSpPr>
        <p:spPr>
          <a:xfrm>
            <a:off x="3383988" y="5342641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Exit points can be the source of information leakage and need to be equally protected </a:t>
            </a:r>
            <a:endParaRPr lang="en-US" dirty="0"/>
          </a:p>
        </p:txBody>
      </p:sp>
      <p:pic>
        <p:nvPicPr>
          <p:cNvPr id="5121" name="Picture 1" descr="page234image51873200">
            <a:extLst>
              <a:ext uri="{FF2B5EF4-FFF2-40B4-BE49-F238E27FC236}">
                <a16:creationId xmlns:a16="http://schemas.microsoft.com/office/drawing/2014/main" id="{B5C095D4-14B5-A345-B428-9740A59D6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575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page234image51879856">
            <a:extLst>
              <a:ext uri="{FF2B5EF4-FFF2-40B4-BE49-F238E27FC236}">
                <a16:creationId xmlns:a16="http://schemas.microsoft.com/office/drawing/2014/main" id="{A72AA1BC-DDD3-8047-92AD-6CBD0F976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415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age234image51882144">
            <a:extLst>
              <a:ext uri="{FF2B5EF4-FFF2-40B4-BE49-F238E27FC236}">
                <a16:creationId xmlns:a16="http://schemas.microsoft.com/office/drawing/2014/main" id="{C3417643-4D5E-A146-9124-330523610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859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page232image51541616">
            <a:extLst>
              <a:ext uri="{FF2B5EF4-FFF2-40B4-BE49-F238E27FC236}">
                <a16:creationId xmlns:a16="http://schemas.microsoft.com/office/drawing/2014/main" id="{87255B66-FE68-174A-AE52-AFCCEFD60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877" y="1445645"/>
            <a:ext cx="3399123" cy="2394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B0153D5-45AF-CC42-B55D-21900A2529B3}"/>
              </a:ext>
            </a:extLst>
          </p:cNvPr>
          <p:cNvSpPr/>
          <p:nvPr/>
        </p:nvSpPr>
        <p:spPr>
          <a:xfrm>
            <a:off x="322241" y="4131944"/>
            <a:ext cx="2595256" cy="6140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Identify Data Flows 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F51FC4-1D92-1D4B-9FDE-A39B0D9E663E}"/>
              </a:ext>
            </a:extLst>
          </p:cNvPr>
          <p:cNvSpPr/>
          <p:nvPr/>
        </p:nvSpPr>
        <p:spPr>
          <a:xfrm>
            <a:off x="3383988" y="3977301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Data flow diagrams (DFDs) and sequence diagrams assist in the understanding of how the application will accept, process, and handle data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BA0F008-41D7-3C40-8792-1010BE141A28}"/>
              </a:ext>
            </a:extLst>
          </p:cNvPr>
          <p:cNvSpPr/>
          <p:nvPr/>
        </p:nvSpPr>
        <p:spPr>
          <a:xfrm>
            <a:off x="262244" y="2443554"/>
            <a:ext cx="2900504" cy="6140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Identify Privileged Functionality 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7E4A8B-D9FB-FE4A-92DD-9E9F8AB8D992}"/>
              </a:ext>
            </a:extLst>
          </p:cNvPr>
          <p:cNvSpPr/>
          <p:nvPr/>
        </p:nvSpPr>
        <p:spPr>
          <a:xfrm>
            <a:off x="3482614" y="2334962"/>
            <a:ext cx="22616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All administrator functions and critical business transactions are identified. </a:t>
            </a:r>
          </a:p>
        </p:txBody>
      </p:sp>
    </p:spTree>
    <p:extLst>
      <p:ext uri="{BB962C8B-B14F-4D97-AF65-F5344CB8AC3E}">
        <p14:creationId xmlns:p14="http://schemas.microsoft.com/office/powerpoint/2010/main" val="294088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  <p:bldP spid="16" grpId="0" animBg="1"/>
      <p:bldP spid="17" grpId="0"/>
      <p:bldP spid="18" grpId="0" animBg="1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ED7810-D05B-A040-90AA-F5082C23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90513C-BA3D-384E-A534-7A11FBC77AAD}"/>
              </a:ext>
            </a:extLst>
          </p:cNvPr>
          <p:cNvSpPr/>
          <p:nvPr/>
        </p:nvSpPr>
        <p:spPr>
          <a:xfrm>
            <a:off x="262244" y="1214812"/>
            <a:ext cx="24577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Identify Threats </a:t>
            </a:r>
            <a:endParaRPr lang="en-US" sz="240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84EDD-AF64-0349-9AB0-912FF394700A}"/>
              </a:ext>
            </a:extLst>
          </p:cNvPr>
          <p:cNvSpPr txBox="1"/>
          <p:nvPr/>
        </p:nvSpPr>
        <p:spPr>
          <a:xfrm>
            <a:off x="0" y="416238"/>
            <a:ext cx="420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Threat Modeling Process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9CD288-0FB0-4142-92DA-EBF348A392E7}"/>
              </a:ext>
            </a:extLst>
          </p:cNvPr>
          <p:cNvSpPr/>
          <p:nvPr/>
        </p:nvSpPr>
        <p:spPr>
          <a:xfrm>
            <a:off x="2043113" y="1783373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This step involves </a:t>
            </a:r>
            <a:r>
              <a:rPr lang="en-US" b="1" dirty="0">
                <a:solidFill>
                  <a:srgbClr val="FF0000"/>
                </a:solidFill>
              </a:rPr>
              <a:t>thinking like an attacker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listing potential security threats based on the system design.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7E828BC-E398-184B-839A-3C1353F5521E}"/>
              </a:ext>
            </a:extLst>
          </p:cNvPr>
          <p:cNvSpPr/>
          <p:nvPr/>
        </p:nvSpPr>
        <p:spPr>
          <a:xfrm>
            <a:off x="262245" y="3010829"/>
            <a:ext cx="2595256" cy="6140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Identify Data Flows </a:t>
            </a:r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34BD6B8-4D93-8C4D-8288-48B429FDA30B}"/>
              </a:ext>
            </a:extLst>
          </p:cNvPr>
          <p:cNvSpPr/>
          <p:nvPr/>
        </p:nvSpPr>
        <p:spPr>
          <a:xfrm>
            <a:off x="83944" y="4183054"/>
            <a:ext cx="3641492" cy="6140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Identify Privileged Functionality </a:t>
            </a:r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B98E69B-24C7-1E4B-A89D-A36E27ACA545}"/>
              </a:ext>
            </a:extLst>
          </p:cNvPr>
          <p:cNvSpPr/>
          <p:nvPr/>
        </p:nvSpPr>
        <p:spPr>
          <a:xfrm>
            <a:off x="322241" y="5434361"/>
            <a:ext cx="2535259" cy="6140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Introduce Mis-Actors 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913671-5114-394B-96C0-FA5EE9CDEFAD}"/>
              </a:ext>
            </a:extLst>
          </p:cNvPr>
          <p:cNvSpPr/>
          <p:nvPr/>
        </p:nvSpPr>
        <p:spPr>
          <a:xfrm>
            <a:off x="3323992" y="2856186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Data flow diagrams (DFDs) and sequence diagrams assist in the understanding of how the application will accept, process, and handle data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CCF43D-F3ED-204A-89A4-9891939C59E9}"/>
              </a:ext>
            </a:extLst>
          </p:cNvPr>
          <p:cNvSpPr/>
          <p:nvPr/>
        </p:nvSpPr>
        <p:spPr>
          <a:xfrm>
            <a:off x="4208308" y="4166910"/>
            <a:ext cx="54995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All administrator functions and critical business transactions are identified.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9FB3D2-6812-754B-805A-8291EE6AFBF4}"/>
              </a:ext>
            </a:extLst>
          </p:cNvPr>
          <p:cNvSpPr/>
          <p:nvPr/>
        </p:nvSpPr>
        <p:spPr>
          <a:xfrm>
            <a:off x="3488768" y="5580967"/>
            <a:ext cx="4953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Both human and non-human mis-actors </a:t>
            </a:r>
          </a:p>
        </p:txBody>
      </p:sp>
      <p:pic>
        <p:nvPicPr>
          <p:cNvPr id="6145" name="Picture 1" descr="page234image51873200">
            <a:extLst>
              <a:ext uri="{FF2B5EF4-FFF2-40B4-BE49-F238E27FC236}">
                <a16:creationId xmlns:a16="http://schemas.microsoft.com/office/drawing/2014/main" id="{18CDA23F-3B72-F94C-B5AF-A26E16EF7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575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page234image51879856">
            <a:extLst>
              <a:ext uri="{FF2B5EF4-FFF2-40B4-BE49-F238E27FC236}">
                <a16:creationId xmlns:a16="http://schemas.microsoft.com/office/drawing/2014/main" id="{E01274C4-AE5F-8640-B834-79C0B6D6E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415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age234image51882144">
            <a:extLst>
              <a:ext uri="{FF2B5EF4-FFF2-40B4-BE49-F238E27FC236}">
                <a16:creationId xmlns:a16="http://schemas.microsoft.com/office/drawing/2014/main" id="{8E515BDD-4F76-F247-92A7-CC2C09B4C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859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7723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9" grpId="0"/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ED7810-D05B-A040-90AA-F5082C23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90513C-BA3D-384E-A534-7A11FBC77AAD}"/>
              </a:ext>
            </a:extLst>
          </p:cNvPr>
          <p:cNvSpPr/>
          <p:nvPr/>
        </p:nvSpPr>
        <p:spPr>
          <a:xfrm>
            <a:off x="262244" y="1214812"/>
            <a:ext cx="24577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Identify Threats </a:t>
            </a:r>
            <a:endParaRPr lang="en-US" sz="240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84EDD-AF64-0349-9AB0-912FF394700A}"/>
              </a:ext>
            </a:extLst>
          </p:cNvPr>
          <p:cNvSpPr txBox="1"/>
          <p:nvPr/>
        </p:nvSpPr>
        <p:spPr>
          <a:xfrm>
            <a:off x="0" y="416238"/>
            <a:ext cx="420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Threat Modeling Process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7E828BC-E398-184B-839A-3C1353F5521E}"/>
              </a:ext>
            </a:extLst>
          </p:cNvPr>
          <p:cNvSpPr/>
          <p:nvPr/>
        </p:nvSpPr>
        <p:spPr>
          <a:xfrm>
            <a:off x="41971" y="3438826"/>
            <a:ext cx="2773557" cy="11028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Determine Potential and Applicable Threats 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913671-5114-394B-96C0-FA5EE9CDEFAD}"/>
              </a:ext>
            </a:extLst>
          </p:cNvPr>
          <p:cNvSpPr/>
          <p:nvPr/>
        </p:nvSpPr>
        <p:spPr>
          <a:xfrm>
            <a:off x="3298940" y="3667078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To identify relevant threats that can compromise the assets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E0A6E0-EFB4-AC4D-8007-0A22AEC2FDFD}"/>
              </a:ext>
            </a:extLst>
          </p:cNvPr>
          <p:cNvSpPr/>
          <p:nvPr/>
        </p:nvSpPr>
        <p:spPr>
          <a:xfrm>
            <a:off x="2782161" y="1533457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This step involves </a:t>
            </a:r>
            <a:r>
              <a:rPr lang="en-US" b="1" dirty="0">
                <a:solidFill>
                  <a:srgbClr val="FF0000"/>
                </a:solidFill>
              </a:rPr>
              <a:t>thinking like an attacker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listing potential security threats based on the system design.</a:t>
            </a:r>
          </a:p>
        </p:txBody>
      </p:sp>
      <p:pic>
        <p:nvPicPr>
          <p:cNvPr id="7169" name="Picture 1" descr="page234image51873200">
            <a:extLst>
              <a:ext uri="{FF2B5EF4-FFF2-40B4-BE49-F238E27FC236}">
                <a16:creationId xmlns:a16="http://schemas.microsoft.com/office/drawing/2014/main" id="{D2CDA179-16B0-564D-A604-0259B1A6D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575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page234image51879856">
            <a:extLst>
              <a:ext uri="{FF2B5EF4-FFF2-40B4-BE49-F238E27FC236}">
                <a16:creationId xmlns:a16="http://schemas.microsoft.com/office/drawing/2014/main" id="{21D63E5D-81D9-6747-9AFA-85DE527DF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415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page234image51882144">
            <a:extLst>
              <a:ext uri="{FF2B5EF4-FFF2-40B4-BE49-F238E27FC236}">
                <a16:creationId xmlns:a16="http://schemas.microsoft.com/office/drawing/2014/main" id="{34ECD856-3997-334D-B087-56562B21C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859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457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842998-E1A3-FD45-A805-B21DD5AD0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8193" name="Picture 1" descr="page236image51823632">
            <a:extLst>
              <a:ext uri="{FF2B5EF4-FFF2-40B4-BE49-F238E27FC236}">
                <a16:creationId xmlns:a16="http://schemas.microsoft.com/office/drawing/2014/main" id="{310D7890-7B05-6341-854A-549E08339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677" y="1918010"/>
            <a:ext cx="9021323" cy="3116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0474178-2F27-DC46-B07A-6FDA43B13788}"/>
              </a:ext>
            </a:extLst>
          </p:cNvPr>
          <p:cNvSpPr/>
          <p:nvPr/>
        </p:nvSpPr>
        <p:spPr>
          <a:xfrm>
            <a:off x="383090" y="1214812"/>
            <a:ext cx="43412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Breakdown of the Attack Tree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775935-727C-E14C-B472-BD3D7B453009}"/>
              </a:ext>
            </a:extLst>
          </p:cNvPr>
          <p:cNvSpPr txBox="1"/>
          <p:nvPr/>
        </p:nvSpPr>
        <p:spPr>
          <a:xfrm>
            <a:off x="0" y="416238"/>
            <a:ext cx="420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Threat Modeling Process</a:t>
            </a:r>
          </a:p>
        </p:txBody>
      </p:sp>
    </p:spTree>
    <p:extLst>
      <p:ext uri="{BB962C8B-B14F-4D97-AF65-F5344CB8AC3E}">
        <p14:creationId xmlns:p14="http://schemas.microsoft.com/office/powerpoint/2010/main" val="1170753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842998-E1A3-FD45-A805-B21DD5AD0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8193" name="Picture 1" descr="page236image51823632">
            <a:extLst>
              <a:ext uri="{FF2B5EF4-FFF2-40B4-BE49-F238E27FC236}">
                <a16:creationId xmlns:a16="http://schemas.microsoft.com/office/drawing/2014/main" id="{310D7890-7B05-6341-854A-549E08339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4888" y="2064120"/>
            <a:ext cx="4531112" cy="1565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0474178-2F27-DC46-B07A-6FDA43B13788}"/>
              </a:ext>
            </a:extLst>
          </p:cNvPr>
          <p:cNvSpPr/>
          <p:nvPr/>
        </p:nvSpPr>
        <p:spPr>
          <a:xfrm>
            <a:off x="383090" y="1214812"/>
            <a:ext cx="43412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Breakdown of the Attack Tree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D2C1A-34F8-CB45-AD38-F82ED9EE7317}"/>
              </a:ext>
            </a:extLst>
          </p:cNvPr>
          <p:cNvSpPr/>
          <p:nvPr/>
        </p:nvSpPr>
        <p:spPr>
          <a:xfrm>
            <a:off x="625872" y="2451763"/>
            <a:ext cx="40984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"Determine application makeup and configuration"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E3EFEA-F697-D54F-A46D-619FE3F53DD0}"/>
              </a:ext>
            </a:extLst>
          </p:cNvPr>
          <p:cNvSpPr/>
          <p:nvPr/>
        </p:nvSpPr>
        <p:spPr>
          <a:xfrm>
            <a:off x="568228" y="1774473"/>
            <a:ext cx="3535421" cy="6094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Root Node (Main Attack Goal)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92A4D5-8432-5249-97F1-F91944E61EAC}"/>
              </a:ext>
            </a:extLst>
          </p:cNvPr>
          <p:cNvSpPr/>
          <p:nvPr/>
        </p:nvSpPr>
        <p:spPr>
          <a:xfrm>
            <a:off x="804292" y="3273215"/>
            <a:ext cx="4953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1"/>
                </a:solidFill>
              </a:rPr>
              <a:t>primary objective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of the attacker, which means they aim to gather information about how the application is built, its internal structure, and its security mechanisms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70803C-963C-F84F-B96A-9E6204215106}"/>
              </a:ext>
            </a:extLst>
          </p:cNvPr>
          <p:cNvSpPr txBox="1"/>
          <p:nvPr/>
        </p:nvSpPr>
        <p:spPr>
          <a:xfrm>
            <a:off x="0" y="416238"/>
            <a:ext cx="420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Threat Modeling Process</a:t>
            </a:r>
          </a:p>
        </p:txBody>
      </p:sp>
    </p:spTree>
    <p:extLst>
      <p:ext uri="{BB962C8B-B14F-4D97-AF65-F5344CB8AC3E}">
        <p14:creationId xmlns:p14="http://schemas.microsoft.com/office/powerpoint/2010/main" val="98127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842998-E1A3-FD45-A805-B21DD5AD0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8193" name="Picture 1" descr="page236image51823632">
            <a:extLst>
              <a:ext uri="{FF2B5EF4-FFF2-40B4-BE49-F238E27FC236}">
                <a16:creationId xmlns:a16="http://schemas.microsoft.com/office/drawing/2014/main" id="{310D7890-7B05-6341-854A-549E08339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4888" y="2064120"/>
            <a:ext cx="4531112" cy="1565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0474178-2F27-DC46-B07A-6FDA43B13788}"/>
              </a:ext>
            </a:extLst>
          </p:cNvPr>
          <p:cNvSpPr/>
          <p:nvPr/>
        </p:nvSpPr>
        <p:spPr>
          <a:xfrm>
            <a:off x="383090" y="1214812"/>
            <a:ext cx="43412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Breakdown of the Attack Tree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D2C1A-34F8-CB45-AD38-F82ED9EE7317}"/>
              </a:ext>
            </a:extLst>
          </p:cNvPr>
          <p:cNvSpPr/>
          <p:nvPr/>
        </p:nvSpPr>
        <p:spPr>
          <a:xfrm>
            <a:off x="625872" y="2451763"/>
            <a:ext cx="40984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Force application errors and glean internal architecture information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E3EFEA-F697-D54F-A46D-619FE3F53DD0}"/>
              </a:ext>
            </a:extLst>
          </p:cNvPr>
          <p:cNvSpPr/>
          <p:nvPr/>
        </p:nvSpPr>
        <p:spPr>
          <a:xfrm>
            <a:off x="568228" y="1774473"/>
            <a:ext cx="3803050" cy="6094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Child Nodes (Attack Techniques)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92A4D5-8432-5249-97F1-F91944E61EAC}"/>
              </a:ext>
            </a:extLst>
          </p:cNvPr>
          <p:cNvSpPr/>
          <p:nvPr/>
        </p:nvSpPr>
        <p:spPr>
          <a:xfrm>
            <a:off x="804292" y="3273215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attacker deliberately </a:t>
            </a:r>
            <a:r>
              <a:rPr lang="en-US" b="1" dirty="0">
                <a:solidFill>
                  <a:srgbClr val="FF0000"/>
                </a:solidFill>
              </a:rPr>
              <a:t>triggers errors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in the application (e.g., malformed inputs, or unexpected requests).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897232-B2E6-3C42-8DD2-FFEB99FE4FD5}"/>
              </a:ext>
            </a:extLst>
          </p:cNvPr>
          <p:cNvSpPr/>
          <p:nvPr/>
        </p:nvSpPr>
        <p:spPr>
          <a:xfrm>
            <a:off x="804292" y="4482310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Errors and debugging messages may reveal sensitive </a:t>
            </a:r>
            <a:r>
              <a:rPr lang="en-US" b="1" dirty="0">
                <a:solidFill>
                  <a:srgbClr val="FF0000"/>
                </a:solidFill>
              </a:rPr>
              <a:t>architecture details</a:t>
            </a:r>
            <a:r>
              <a:rPr lang="en-US" dirty="0"/>
              <a:t>, API endpoints, database structures, or dependencies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AA4721-5CDA-1543-9083-13DD2FC5DFDE}"/>
              </a:ext>
            </a:extLst>
          </p:cNvPr>
          <p:cNvSpPr txBox="1"/>
          <p:nvPr/>
        </p:nvSpPr>
        <p:spPr>
          <a:xfrm>
            <a:off x="0" y="416238"/>
            <a:ext cx="420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Threat Modeling Process</a:t>
            </a:r>
          </a:p>
        </p:txBody>
      </p:sp>
    </p:spTree>
    <p:extLst>
      <p:ext uri="{BB962C8B-B14F-4D97-AF65-F5344CB8AC3E}">
        <p14:creationId xmlns:p14="http://schemas.microsoft.com/office/powerpoint/2010/main" val="3326616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842998-E1A3-FD45-A805-B21DD5AD0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8193" name="Picture 1" descr="page236image51823632">
            <a:extLst>
              <a:ext uri="{FF2B5EF4-FFF2-40B4-BE49-F238E27FC236}">
                <a16:creationId xmlns:a16="http://schemas.microsoft.com/office/drawing/2014/main" id="{310D7890-7B05-6341-854A-549E08339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4888" y="2064120"/>
            <a:ext cx="4531112" cy="1565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0474178-2F27-DC46-B07A-6FDA43B13788}"/>
              </a:ext>
            </a:extLst>
          </p:cNvPr>
          <p:cNvSpPr/>
          <p:nvPr/>
        </p:nvSpPr>
        <p:spPr>
          <a:xfrm>
            <a:off x="383090" y="1214812"/>
            <a:ext cx="43412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Breakdown of the Attack Tree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D2C1A-34F8-CB45-AD38-F82ED9EE7317}"/>
              </a:ext>
            </a:extLst>
          </p:cNvPr>
          <p:cNvSpPr/>
          <p:nvPr/>
        </p:nvSpPr>
        <p:spPr>
          <a:xfrm>
            <a:off x="625872" y="2451763"/>
            <a:ext cx="40984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De-obfuscate and remove code signature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E3EFEA-F697-D54F-A46D-619FE3F53DD0}"/>
              </a:ext>
            </a:extLst>
          </p:cNvPr>
          <p:cNvSpPr/>
          <p:nvPr/>
        </p:nvSpPr>
        <p:spPr>
          <a:xfrm>
            <a:off x="568228" y="1774473"/>
            <a:ext cx="3803050" cy="6094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Child Nodes (Attack Techniques)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92A4D5-8432-5249-97F1-F91944E61EAC}"/>
              </a:ext>
            </a:extLst>
          </p:cNvPr>
          <p:cNvSpPr/>
          <p:nvPr/>
        </p:nvSpPr>
        <p:spPr>
          <a:xfrm>
            <a:off x="804292" y="3273215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If the application uses </a:t>
            </a:r>
            <a:r>
              <a:rPr lang="en-US" b="1" dirty="0">
                <a:solidFill>
                  <a:schemeClr val="accent1"/>
                </a:solidFill>
              </a:rPr>
              <a:t>obfuscation</a:t>
            </a:r>
            <a:r>
              <a:rPr lang="en-US" dirty="0"/>
              <a:t> to hide its logic, the attacker attempts to reverse-engineer it.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47788B-B42C-9F41-82E9-38DF804D6A58}"/>
              </a:ext>
            </a:extLst>
          </p:cNvPr>
          <p:cNvSpPr txBox="1"/>
          <p:nvPr/>
        </p:nvSpPr>
        <p:spPr>
          <a:xfrm>
            <a:off x="0" y="416238"/>
            <a:ext cx="420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Threat Modeling Process</a:t>
            </a:r>
          </a:p>
        </p:txBody>
      </p:sp>
    </p:spTree>
    <p:extLst>
      <p:ext uri="{BB962C8B-B14F-4D97-AF65-F5344CB8AC3E}">
        <p14:creationId xmlns:p14="http://schemas.microsoft.com/office/powerpoint/2010/main" val="169005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842998-E1A3-FD45-A805-B21DD5AD0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8193" name="Picture 1" descr="page236image51823632">
            <a:extLst>
              <a:ext uri="{FF2B5EF4-FFF2-40B4-BE49-F238E27FC236}">
                <a16:creationId xmlns:a16="http://schemas.microsoft.com/office/drawing/2014/main" id="{310D7890-7B05-6341-854A-549E08339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4888" y="1532801"/>
            <a:ext cx="4531112" cy="1565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0474178-2F27-DC46-B07A-6FDA43B13788}"/>
              </a:ext>
            </a:extLst>
          </p:cNvPr>
          <p:cNvSpPr/>
          <p:nvPr/>
        </p:nvSpPr>
        <p:spPr>
          <a:xfrm>
            <a:off x="383090" y="1214812"/>
            <a:ext cx="43412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Breakdown of the Attack Tree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D2C1A-34F8-CB45-AD38-F82ED9EE7317}"/>
              </a:ext>
            </a:extLst>
          </p:cNvPr>
          <p:cNvSpPr/>
          <p:nvPr/>
        </p:nvSpPr>
        <p:spPr>
          <a:xfrm>
            <a:off x="625872" y="2451763"/>
            <a:ext cx="40984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Decompile, disassemble, and/or debug the executable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E3EFEA-F697-D54F-A46D-619FE3F53DD0}"/>
              </a:ext>
            </a:extLst>
          </p:cNvPr>
          <p:cNvSpPr/>
          <p:nvPr/>
        </p:nvSpPr>
        <p:spPr>
          <a:xfrm>
            <a:off x="568228" y="1774473"/>
            <a:ext cx="3803050" cy="6094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Child Nodes (Attack Techniques)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92A4D5-8432-5249-97F1-F91944E61EAC}"/>
              </a:ext>
            </a:extLst>
          </p:cNvPr>
          <p:cNvSpPr/>
          <p:nvPr/>
        </p:nvSpPr>
        <p:spPr>
          <a:xfrm>
            <a:off x="804292" y="3273215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Attackers use </a:t>
            </a:r>
            <a:r>
              <a:rPr lang="en-US" b="1" u="sng" dirty="0" err="1">
                <a:solidFill>
                  <a:schemeClr val="accent1"/>
                </a:solidFill>
              </a:rPr>
              <a:t>decompilers</a:t>
            </a:r>
            <a:r>
              <a:rPr lang="en-US" b="1" u="sng" dirty="0">
                <a:solidFill>
                  <a:schemeClr val="accent1"/>
                </a:solidFill>
              </a:rPr>
              <a:t>, disassemblers, and debuggers</a:t>
            </a:r>
            <a:r>
              <a:rPr lang="en-US" dirty="0"/>
              <a:t> to extract source code or assembly instructions.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897232-B2E6-3C42-8DD2-FFEB99FE4FD5}"/>
              </a:ext>
            </a:extLst>
          </p:cNvPr>
          <p:cNvSpPr/>
          <p:nvPr/>
        </p:nvSpPr>
        <p:spPr>
          <a:xfrm>
            <a:off x="804292" y="4482310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This allows them to understand how the application works, find vulnerabilities, and create exploits.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B29BE8-9746-3C4F-8CA9-4C9E02677222}"/>
              </a:ext>
            </a:extLst>
          </p:cNvPr>
          <p:cNvSpPr txBox="1"/>
          <p:nvPr/>
        </p:nvSpPr>
        <p:spPr>
          <a:xfrm>
            <a:off x="0" y="416238"/>
            <a:ext cx="420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Threat Modeling Process</a:t>
            </a:r>
          </a:p>
        </p:txBody>
      </p:sp>
    </p:spTree>
    <p:extLst>
      <p:ext uri="{BB962C8B-B14F-4D97-AF65-F5344CB8AC3E}">
        <p14:creationId xmlns:p14="http://schemas.microsoft.com/office/powerpoint/2010/main" val="943580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3E9C40-A7CF-E24D-AAF1-1D500AC2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9217" name="Picture 1" descr="page236image51830080">
            <a:extLst>
              <a:ext uri="{FF2B5EF4-FFF2-40B4-BE49-F238E27FC236}">
                <a16:creationId xmlns:a16="http://schemas.microsoft.com/office/drawing/2014/main" id="{55E59C66-1122-934A-9E8E-BA401A5433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519"/>
          <a:stretch/>
        </p:blipFill>
        <p:spPr bwMode="auto">
          <a:xfrm>
            <a:off x="2141033" y="2337130"/>
            <a:ext cx="6445405" cy="1083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A034B7-655C-3B46-9891-2054D8B9A685}"/>
              </a:ext>
            </a:extLst>
          </p:cNvPr>
          <p:cNvSpPr/>
          <p:nvPr/>
        </p:nvSpPr>
        <p:spPr>
          <a:xfrm>
            <a:off x="383090" y="1214812"/>
            <a:ext cx="58063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Breakdown of the Attack Tree (Example)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A0CBCA-EA18-F848-9D83-D58E72AFD438}"/>
              </a:ext>
            </a:extLst>
          </p:cNvPr>
          <p:cNvSpPr txBox="1"/>
          <p:nvPr/>
        </p:nvSpPr>
        <p:spPr>
          <a:xfrm>
            <a:off x="0" y="416238"/>
            <a:ext cx="420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Threat Modeling Process</a:t>
            </a:r>
          </a:p>
        </p:txBody>
      </p:sp>
    </p:spTree>
    <p:extLst>
      <p:ext uri="{BB962C8B-B14F-4D97-AF65-F5344CB8AC3E}">
        <p14:creationId xmlns:p14="http://schemas.microsoft.com/office/powerpoint/2010/main" val="408393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3E9C40-A7CF-E24D-AAF1-1D500AC2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9217" name="Picture 1" descr="page236image51830080">
            <a:extLst>
              <a:ext uri="{FF2B5EF4-FFF2-40B4-BE49-F238E27FC236}">
                <a16:creationId xmlns:a16="http://schemas.microsoft.com/office/drawing/2014/main" id="{55E59C66-1122-934A-9E8E-BA401A543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033" y="2337130"/>
            <a:ext cx="6445405" cy="3676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A034B7-655C-3B46-9891-2054D8B9A685}"/>
              </a:ext>
            </a:extLst>
          </p:cNvPr>
          <p:cNvSpPr/>
          <p:nvPr/>
        </p:nvSpPr>
        <p:spPr>
          <a:xfrm>
            <a:off x="383090" y="1214812"/>
            <a:ext cx="58063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Breakdown of the Attack Tree (Example)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A0CBCA-EA18-F848-9D83-D58E72AFD438}"/>
              </a:ext>
            </a:extLst>
          </p:cNvPr>
          <p:cNvSpPr txBox="1"/>
          <p:nvPr/>
        </p:nvSpPr>
        <p:spPr>
          <a:xfrm>
            <a:off x="0" y="416238"/>
            <a:ext cx="420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Threat Modeling Process</a:t>
            </a:r>
          </a:p>
        </p:txBody>
      </p:sp>
    </p:spTree>
    <p:extLst>
      <p:ext uri="{BB962C8B-B14F-4D97-AF65-F5344CB8AC3E}">
        <p14:creationId xmlns:p14="http://schemas.microsoft.com/office/powerpoint/2010/main" val="3410664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C1FD3A-F0E8-5042-A417-5B07B87E8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B5F6A0-BFCA-0C4B-BAD4-A635150D9BE7}"/>
              </a:ext>
            </a:extLst>
          </p:cNvPr>
          <p:cNvSpPr/>
          <p:nvPr/>
        </p:nvSpPr>
        <p:spPr>
          <a:xfrm>
            <a:off x="280133" y="1099437"/>
            <a:ext cx="11482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MyriadPro"/>
              </a:rPr>
              <a:t>STRIDE </a:t>
            </a:r>
            <a:endParaRPr lang="en-US" sz="2400" dirty="0">
              <a:effectLst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A8F797-08AE-BF44-95F2-A6C36D6C5770}"/>
              </a:ext>
            </a:extLst>
          </p:cNvPr>
          <p:cNvSpPr/>
          <p:nvPr/>
        </p:nvSpPr>
        <p:spPr>
          <a:xfrm>
            <a:off x="531534" y="1603990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A threat modeling methodology that is performed in the design phase of software development in which threats are grouped and categorized </a:t>
            </a:r>
            <a:endParaRPr lang="en-US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D434F5-332F-914C-8FC7-18A411C32C28}"/>
              </a:ext>
            </a:extLst>
          </p:cNvPr>
          <p:cNvSpPr txBox="1"/>
          <p:nvPr/>
        </p:nvSpPr>
        <p:spPr>
          <a:xfrm>
            <a:off x="0" y="416238"/>
            <a:ext cx="420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Threat Modeling Process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20EB3A-E923-574E-8E72-D2EF060329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4" t="12012" r="4840" b="5859"/>
          <a:stretch/>
        </p:blipFill>
        <p:spPr>
          <a:xfrm>
            <a:off x="4821276" y="2236359"/>
            <a:ext cx="5077609" cy="411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349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C1FD3A-F0E8-5042-A417-5B07B87E8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1AFD42-01E5-7A4C-949A-3EC36859BE35}"/>
              </a:ext>
            </a:extLst>
          </p:cNvPr>
          <p:cNvSpPr/>
          <p:nvPr/>
        </p:nvSpPr>
        <p:spPr>
          <a:xfrm>
            <a:off x="529407" y="1237115"/>
            <a:ext cx="11474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MyriadPro"/>
              </a:rPr>
              <a:t>DREAD </a:t>
            </a:r>
            <a:endParaRPr lang="en-US" sz="2400" dirty="0">
              <a:effectLst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F7B17D-0840-C147-9539-8F26F39BE957}"/>
              </a:ext>
            </a:extLst>
          </p:cNvPr>
          <p:cNvSpPr/>
          <p:nvPr/>
        </p:nvSpPr>
        <p:spPr>
          <a:xfrm>
            <a:off x="775373" y="1803111"/>
            <a:ext cx="4953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latin typeface="AGaramondPro"/>
              </a:rPr>
              <a:t>Rating methodology that is often used in conjunction with STRIDE </a:t>
            </a:r>
            <a:endParaRPr lang="en-US" sz="2400" dirty="0"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340519-C094-4642-8431-26DAA6DB93E4}"/>
              </a:ext>
            </a:extLst>
          </p:cNvPr>
          <p:cNvSpPr/>
          <p:nvPr/>
        </p:nvSpPr>
        <p:spPr>
          <a:xfrm>
            <a:off x="4810736" y="2846015"/>
            <a:ext cx="4953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1" dirty="0">
                <a:solidFill>
                  <a:schemeClr val="accent1"/>
                </a:solidFill>
                <a:latin typeface="MyriadPro"/>
              </a:rPr>
              <a:t>Damage potential </a:t>
            </a:r>
            <a:r>
              <a:rPr lang="en-US" b="1" i="1" dirty="0">
                <a:latin typeface="MyriadPro"/>
              </a:rPr>
              <a:t>– </a:t>
            </a:r>
            <a:r>
              <a:rPr lang="en-US" dirty="0">
                <a:latin typeface="AGaramondPro"/>
              </a:rPr>
              <a:t>What will be the impact upon exploitability? </a:t>
            </a:r>
            <a:endParaRPr lang="en-US" dirty="0">
              <a:latin typeface="ArialMT"/>
            </a:endParaRPr>
          </a:p>
          <a:p>
            <a:r>
              <a:rPr lang="en-US" b="1" i="1" dirty="0">
                <a:solidFill>
                  <a:schemeClr val="accent1"/>
                </a:solidFill>
                <a:latin typeface="MyriadPro"/>
              </a:rPr>
              <a:t>Reproducibility</a:t>
            </a:r>
            <a:r>
              <a:rPr lang="en-US" b="1" i="1" dirty="0">
                <a:latin typeface="MyriadPro"/>
              </a:rPr>
              <a:t> – </a:t>
            </a:r>
            <a:r>
              <a:rPr lang="en-US" dirty="0">
                <a:latin typeface="AGaramondPro"/>
              </a:rPr>
              <a:t>What is the ease of recreating the attack/exploit? </a:t>
            </a:r>
            <a:endParaRPr lang="en-US" dirty="0">
              <a:latin typeface="ArialMT"/>
            </a:endParaRPr>
          </a:p>
          <a:p>
            <a:r>
              <a:rPr lang="en-US" b="1" i="1" dirty="0">
                <a:solidFill>
                  <a:schemeClr val="accent1"/>
                </a:solidFill>
                <a:latin typeface="MyriadPro"/>
              </a:rPr>
              <a:t>Exploitability</a:t>
            </a:r>
            <a:r>
              <a:rPr lang="en-US" b="1" i="1" dirty="0">
                <a:latin typeface="MyriadPro"/>
              </a:rPr>
              <a:t> – </a:t>
            </a:r>
            <a:r>
              <a:rPr lang="en-US" dirty="0">
                <a:latin typeface="AGaramondPro"/>
              </a:rPr>
              <a:t>What minimum skill level is necessary to launch the attack/exploit? </a:t>
            </a:r>
            <a:endParaRPr lang="en-US" dirty="0">
              <a:latin typeface="ArialMT"/>
            </a:endParaRPr>
          </a:p>
          <a:p>
            <a:r>
              <a:rPr lang="en-US" b="1" i="1" dirty="0">
                <a:solidFill>
                  <a:schemeClr val="accent1"/>
                </a:solidFill>
                <a:latin typeface="MyriadPro"/>
              </a:rPr>
              <a:t>Affected users </a:t>
            </a:r>
            <a:r>
              <a:rPr lang="en-US" b="1" i="1" dirty="0">
                <a:latin typeface="MyriadPro"/>
              </a:rPr>
              <a:t>– </a:t>
            </a:r>
            <a:r>
              <a:rPr lang="en-US" dirty="0">
                <a:latin typeface="AGaramondPro"/>
              </a:rPr>
              <a:t>How many users will be potentially impacted upon a successful attack/exploit? </a:t>
            </a:r>
            <a:endParaRPr lang="en-US" dirty="0">
              <a:latin typeface="ArialMT"/>
            </a:endParaRPr>
          </a:p>
          <a:p>
            <a:r>
              <a:rPr lang="en-US" b="1" i="1" dirty="0">
                <a:solidFill>
                  <a:schemeClr val="accent1"/>
                </a:solidFill>
                <a:latin typeface="MyriadPro"/>
              </a:rPr>
              <a:t>Discoverability</a:t>
            </a:r>
            <a:r>
              <a:rPr lang="en-US" b="1" i="1" dirty="0">
                <a:latin typeface="MyriadPro"/>
              </a:rPr>
              <a:t> – </a:t>
            </a:r>
            <a:r>
              <a:rPr lang="en-US" dirty="0">
                <a:latin typeface="AGaramondPro"/>
              </a:rPr>
              <a:t>What is the ease of finding the vulnerability that yields the threat? </a:t>
            </a:r>
            <a:endParaRPr lang="en-US" dirty="0">
              <a:latin typeface="ArialM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D35CA5-DA10-1047-A92B-1CCE209CB2DD}"/>
              </a:ext>
            </a:extLst>
          </p:cNvPr>
          <p:cNvSpPr txBox="1"/>
          <p:nvPr/>
        </p:nvSpPr>
        <p:spPr>
          <a:xfrm>
            <a:off x="0" y="416238"/>
            <a:ext cx="420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Threat Modeling Process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5E369D-2FEA-EB4C-A766-2ED9C9500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73" y="3272675"/>
            <a:ext cx="32131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14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99A8BB-8E2B-8947-B23F-837522C09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E1AA20-D0C0-504C-A7A2-37BB217C6180}"/>
              </a:ext>
            </a:extLst>
          </p:cNvPr>
          <p:cNvSpPr/>
          <p:nvPr/>
        </p:nvSpPr>
        <p:spPr>
          <a:xfrm>
            <a:off x="497871" y="1304021"/>
            <a:ext cx="32450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MyriadPro"/>
              </a:rPr>
              <a:t>Document and Validate 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6B83B1-D616-184F-A96F-EEAA24BCDA1F}"/>
              </a:ext>
            </a:extLst>
          </p:cNvPr>
          <p:cNvSpPr/>
          <p:nvPr/>
        </p:nvSpPr>
        <p:spPr>
          <a:xfrm>
            <a:off x="1266427" y="2191435"/>
            <a:ext cx="4953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latin typeface="AGaramondPro"/>
              </a:rPr>
              <a:t>The importance of documenting the threat model cannot be underestimated </a:t>
            </a:r>
            <a:endParaRPr lang="en-US" sz="20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755208F-B1C9-AE46-ADDD-1B481F6A2156}"/>
              </a:ext>
            </a:extLst>
          </p:cNvPr>
          <p:cNvSpPr/>
          <p:nvPr/>
        </p:nvSpPr>
        <p:spPr>
          <a:xfrm>
            <a:off x="2854712" y="3546088"/>
            <a:ext cx="1271239" cy="5129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Why?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FB04C4-5940-284A-82A1-582431C7A0F4}"/>
              </a:ext>
            </a:extLst>
          </p:cNvPr>
          <p:cNvSpPr/>
          <p:nvPr/>
        </p:nvSpPr>
        <p:spPr>
          <a:xfrm>
            <a:off x="3490331" y="4767366"/>
            <a:ext cx="4953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latin typeface="AGaramondPro"/>
              </a:rPr>
              <a:t>because threat modeling is iterative and, through the life cycle of the project 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796D69-D2F4-0F4F-8017-682B64601F00}"/>
              </a:ext>
            </a:extLst>
          </p:cNvPr>
          <p:cNvSpPr txBox="1"/>
          <p:nvPr/>
        </p:nvSpPr>
        <p:spPr>
          <a:xfrm>
            <a:off x="0" y="416238"/>
            <a:ext cx="420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Threat Modeling Process</a:t>
            </a:r>
          </a:p>
        </p:txBody>
      </p:sp>
    </p:spTree>
    <p:extLst>
      <p:ext uri="{BB962C8B-B14F-4D97-AF65-F5344CB8AC3E}">
        <p14:creationId xmlns:p14="http://schemas.microsoft.com/office/powerpoint/2010/main" val="706801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29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Questions??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114796" y="3320635"/>
            <a:ext cx="7209544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zubair.ahmad@giki.edu.pk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E4CAA-2776-8148-9C8F-90037E259AAF}"/>
              </a:ext>
            </a:extLst>
          </p:cNvPr>
          <p:cNvSpPr txBox="1"/>
          <p:nvPr/>
        </p:nvSpPr>
        <p:spPr>
          <a:xfrm>
            <a:off x="2743200" y="4522362"/>
            <a:ext cx="398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Office: G14 FCSE lobby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2221945</TotalTime>
  <Words>1182</Words>
  <Application>Microsoft Macintosh PowerPoint</Application>
  <PresentationFormat>A4 Paper (210x297 mm)</PresentationFormat>
  <Paragraphs>176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Adobe Gothic Std B</vt:lpstr>
      <vt:lpstr>AGaramondPro</vt:lpstr>
      <vt:lpstr>ArialMT</vt:lpstr>
      <vt:lpstr>等线</vt:lpstr>
      <vt:lpstr>等线</vt:lpstr>
      <vt:lpstr>等线 Light</vt:lpstr>
      <vt:lpstr>MyriadPro</vt:lpstr>
      <vt:lpstr>SimSun</vt:lpstr>
      <vt:lpstr>Arial</vt:lpstr>
      <vt:lpstr>Calibri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753</cp:revision>
  <cp:lastPrinted>2025-01-23T10:52:12Z</cp:lastPrinted>
  <dcterms:created xsi:type="dcterms:W3CDTF">2018-07-17T04:46:00Z</dcterms:created>
  <dcterms:modified xsi:type="dcterms:W3CDTF">2026-02-16T10:17:55Z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