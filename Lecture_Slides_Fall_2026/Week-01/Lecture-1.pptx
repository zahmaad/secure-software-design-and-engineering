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8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4" r:id="rId17"/>
    <p:sldId id="269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281" r:id="rId26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5"/>
    <p:restoredTop sz="92886"/>
  </p:normalViewPr>
  <p:slideViewPr>
    <p:cSldViewPr>
      <p:cViewPr varScale="1">
        <p:scale>
          <a:sx n="119" d="100"/>
          <a:sy n="119" d="100"/>
        </p:scale>
        <p:origin x="3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F1385-8755-E646-A389-37913D79E607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337CD-36D4-0F4E-B603-7B70A0702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3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0919" y="2466339"/>
            <a:ext cx="2750185" cy="8768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Zubair Ahmad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2A0E2-222B-9A48-804B-4F0AA9A46C83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Zubair Ahmad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785F1-285D-AE49-AC8E-7B095CDA9910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Zubair Ahmad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4B2A4-F500-0549-A663-2B9CC3E31374}" type="datetime1">
              <a:rPr lang="en-US" smtClean="0"/>
              <a:t>1/19/26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Zubair Ahmad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C82C8-E4D2-EB4A-87E5-4EA8C014CB2F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Zubair Ahmad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1F427-070A-BD40-9E9C-C56F25E20E92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9911" y="0"/>
            <a:ext cx="1371600" cy="10485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77602" y="1465579"/>
            <a:ext cx="4721859" cy="276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Dr. Zubair Ahmad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2547C-65A5-CC48-A74C-D2D266489D4E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01321" y="6411430"/>
            <a:ext cx="346709" cy="33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ning.com/books/secure-by-design" TargetMode="External"/><Relationship Id="rId2" Type="http://schemas.openxmlformats.org/officeDocument/2006/relationships/hyperlink" Target="https://www.google.com/search?q=Designing+Secure+Software%3A+A+Guide+for+Developers&amp;oq=secure+software+design+latest+books&amp;gs_lcrp=EgZjaHJvbWUyBggAEEUYOTIICAEQABgWGB4yDQgCEAAYhgMYgAQYigUyCggDEAAYogQYiQUyBwgEEAAY7wUyCggFEAAYgAQYogQyBwgGEAAY7wXSAQkxMjI1MGowajSoAgCwAgE&amp;sourceid=chrome&amp;ie=UTF-8&amp;mstk=AUtExfDyrIpObcJRm_q5hNlrhPKga90l7WroJmu8lh05D0U1EIik1hhNJZrwA7m1fcCniBvyFUMHWoJh4HIhjCVFGYZZo0YGPqFnF7-UGThyXEHMZh__GvhtQyY8h6gE39LC9z0eqSwqOrJdMUCXbhg6cu0o2Uh3sE5ZuWjTJMQ3-ssVdUwIrtLkX6LuMX-5xfwHACTRLAoxZTuKmkbsoopQNaMy9R1UMY-h1DVLcYZq6uMr2vYtz_Jxr2Nng72aJoEPyXBLgWbR8nM3W6x5bQ4UpBoG&amp;csui=3&amp;ved=2ahUKEwjPzayKg5eSAxXLcKQEHWz6N_AQgK4QegQIARA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smicpython.com/#buy_the_book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911" y="0"/>
              <a:ext cx="1371600" cy="10485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872039" y="3239361"/>
            <a:ext cx="6592033" cy="872547"/>
          </a:xfrm>
          <a:prstGeom prst="rect">
            <a:avLst/>
          </a:prstGeom>
        </p:spPr>
        <p:txBody>
          <a:bodyPr vert="horz" wrap="square" lIns="0" tIns="376428" rIns="0" bIns="0" rtlCol="0">
            <a:spAutoFit/>
          </a:bodyPr>
          <a:lstStyle/>
          <a:p>
            <a:pPr marL="58928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From Hello World to Hack-Proof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2912555" y="1304035"/>
            <a:ext cx="424561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Trebuchet MS"/>
                <a:cs typeface="Trebuchet MS"/>
              </a:rPr>
              <a:t>Secure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Software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Design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Engineering</a:t>
            </a:r>
            <a:endParaRPr lang="en-US" sz="1800" b="1" spc="-10" dirty="0">
              <a:latin typeface="Trebuchet MS"/>
              <a:cs typeface="Trebuchet MS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latin typeface="Trebuchet MS"/>
                <a:cs typeface="Trebuchet MS"/>
              </a:rPr>
              <a:t>(CY321)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40CDA-091C-364E-AE1C-12708C68CB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53414-28E9-B74A-A7C0-51F7BA2005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1</a:t>
            </a:fld>
            <a:endParaRPr lang="en-US"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8590" y="6421628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solidFill>
                  <a:srgbClr val="898989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2422" y="1268754"/>
            <a:ext cx="8761240" cy="4932534"/>
            <a:chOff x="222422" y="1268754"/>
            <a:chExt cx="8761240" cy="493253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6112" y="1268754"/>
              <a:ext cx="1987550" cy="20512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5135" y="3964716"/>
              <a:ext cx="1556951" cy="22365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2422" y="2146077"/>
              <a:ext cx="6687184" cy="1818639"/>
            </a:xfrm>
            <a:custGeom>
              <a:avLst/>
              <a:gdLst/>
              <a:ahLst/>
              <a:cxnLst/>
              <a:rect l="l" t="t" r="r" b="b"/>
              <a:pathLst>
                <a:path w="6687184" h="1818639">
                  <a:moveTo>
                    <a:pt x="0" y="1052251"/>
                  </a:moveTo>
                  <a:lnTo>
                    <a:pt x="2205680" y="1052251"/>
                  </a:lnTo>
                  <a:lnTo>
                    <a:pt x="6686916" y="0"/>
                  </a:lnTo>
                  <a:lnTo>
                    <a:pt x="3150972" y="1052251"/>
                  </a:lnTo>
                  <a:lnTo>
                    <a:pt x="3781166" y="1052251"/>
                  </a:lnTo>
                  <a:lnTo>
                    <a:pt x="3781166" y="1179960"/>
                  </a:lnTo>
                  <a:lnTo>
                    <a:pt x="3781166" y="1371528"/>
                  </a:lnTo>
                  <a:lnTo>
                    <a:pt x="3781166" y="1818516"/>
                  </a:lnTo>
                  <a:lnTo>
                    <a:pt x="3150972" y="1818516"/>
                  </a:lnTo>
                  <a:lnTo>
                    <a:pt x="2205680" y="1818516"/>
                  </a:lnTo>
                  <a:lnTo>
                    <a:pt x="0" y="1818516"/>
                  </a:lnTo>
                  <a:lnTo>
                    <a:pt x="0" y="1371528"/>
                  </a:lnTo>
                  <a:lnTo>
                    <a:pt x="0" y="1179960"/>
                  </a:lnTo>
                  <a:lnTo>
                    <a:pt x="0" y="1052251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1162" y="3361435"/>
            <a:ext cx="343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5" dirty="0">
                <a:latin typeface="Trebuchet MS"/>
                <a:cs typeface="Trebuchet MS"/>
              </a:rPr>
              <a:t>Life</a:t>
            </a:r>
            <a:r>
              <a:rPr sz="2400" b="1" spc="-80" dirty="0">
                <a:latin typeface="Trebuchet MS"/>
                <a:cs typeface="Trebuchet MS"/>
              </a:rPr>
              <a:t> </a:t>
            </a:r>
            <a:r>
              <a:rPr sz="2400" b="1" spc="-60" dirty="0">
                <a:latin typeface="Trebuchet MS"/>
                <a:cs typeface="Trebuchet MS"/>
              </a:rPr>
              <a:t>with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spc="-50" dirty="0">
                <a:latin typeface="Trebuchet MS"/>
                <a:cs typeface="Trebuchet MS"/>
              </a:rPr>
              <a:t>Cybersecurity??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422" y="3198451"/>
            <a:ext cx="6934200" cy="2012314"/>
          </a:xfrm>
          <a:custGeom>
            <a:avLst/>
            <a:gdLst/>
            <a:ahLst/>
            <a:cxnLst/>
            <a:rect l="l" t="t" r="r" b="b"/>
            <a:pathLst>
              <a:path w="6934200" h="2012314">
                <a:moveTo>
                  <a:pt x="0" y="0"/>
                </a:moveTo>
                <a:lnTo>
                  <a:pt x="2205680" y="0"/>
                </a:lnTo>
                <a:lnTo>
                  <a:pt x="3150972" y="0"/>
                </a:lnTo>
                <a:lnTo>
                  <a:pt x="3781166" y="0"/>
                </a:lnTo>
                <a:lnTo>
                  <a:pt x="3781166" y="446987"/>
                </a:lnTo>
                <a:lnTo>
                  <a:pt x="3781166" y="638555"/>
                </a:lnTo>
                <a:lnTo>
                  <a:pt x="3781166" y="766265"/>
                </a:lnTo>
                <a:lnTo>
                  <a:pt x="3150972" y="766265"/>
                </a:lnTo>
                <a:lnTo>
                  <a:pt x="6934015" y="2012218"/>
                </a:lnTo>
                <a:lnTo>
                  <a:pt x="2205680" y="766265"/>
                </a:lnTo>
                <a:lnTo>
                  <a:pt x="0" y="766265"/>
                </a:lnTo>
                <a:lnTo>
                  <a:pt x="0" y="638555"/>
                </a:lnTo>
                <a:lnTo>
                  <a:pt x="0" y="44698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9860C89-3AB9-5B47-9058-EB75DC30CB6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9FFEA9-B25E-BD43-86B5-8838890A18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2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329" y="2096515"/>
            <a:ext cx="1029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Education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29" y="2654300"/>
            <a:ext cx="4607560" cy="19367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98450" marR="84455" indent="-285750">
              <a:lnSpc>
                <a:spcPts val="2090"/>
              </a:lnSpc>
              <a:spcBef>
                <a:spcPts val="22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Ph.D.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Science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(Cyber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Security)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- </a:t>
            </a:r>
            <a:r>
              <a:rPr sz="1800" dirty="0">
                <a:latin typeface="Times New Roman"/>
                <a:cs typeface="Times New Roman"/>
              </a:rPr>
              <a:t>University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Venice </a:t>
            </a:r>
            <a:r>
              <a:rPr sz="1800" dirty="0">
                <a:latin typeface="Times New Roman"/>
                <a:cs typeface="Times New Roman"/>
              </a:rPr>
              <a:t>Italy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(2020-2024)</a:t>
            </a:r>
            <a:endParaRPr sz="1800" dirty="0">
              <a:latin typeface="Times New Roman"/>
              <a:cs typeface="Times New Roman"/>
            </a:endParaRPr>
          </a:p>
          <a:p>
            <a:pPr marL="298450" marR="5080" indent="-285750">
              <a:lnSpc>
                <a:spcPts val="211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latin typeface="Times New Roman"/>
                <a:cs typeface="Times New Roman"/>
              </a:rPr>
              <a:t>Visiting</a:t>
            </a:r>
            <a:r>
              <a:rPr lang="en-US" sz="1800" spc="-10" dirty="0">
                <a:latin typeface="Times New Roman"/>
                <a:cs typeface="Times New Roman"/>
              </a:rPr>
              <a:t> Research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Scholar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CISPA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Helmholtz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Center</a:t>
            </a:r>
            <a:r>
              <a:rPr sz="1800" spc="-25" dirty="0">
                <a:latin typeface="Times New Roman"/>
                <a:cs typeface="Times New Roman"/>
              </a:rPr>
              <a:t> for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Security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Germany</a:t>
            </a:r>
            <a:endParaRPr sz="1800" dirty="0">
              <a:latin typeface="Times New Roman"/>
              <a:cs typeface="Times New Roman"/>
            </a:endParaRPr>
          </a:p>
          <a:p>
            <a:pPr marL="297815" indent="-285115">
              <a:lnSpc>
                <a:spcPts val="2125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Times New Roman"/>
                <a:cs typeface="Times New Roman"/>
              </a:rPr>
              <a:t>European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Parliament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EU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AI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2023</a:t>
            </a:r>
            <a:endParaRPr sz="1800" dirty="0">
              <a:latin typeface="Times New Roman"/>
              <a:cs typeface="Times New Roman"/>
            </a:endParaRPr>
          </a:p>
          <a:p>
            <a:pPr marL="298450" marR="313055" indent="-285750">
              <a:lnSpc>
                <a:spcPts val="2090"/>
              </a:lnSpc>
              <a:spcBef>
                <a:spcPts val="17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OPLSS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Summer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School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Oregon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Boston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</a:t>
            </a:r>
            <a:r>
              <a:rPr sz="1800" spc="-10" dirty="0">
                <a:latin typeface="Times New Roman"/>
                <a:cs typeface="Times New Roman"/>
              </a:rPr>
              <a:t> USA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2021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2093" y="2096515"/>
            <a:ext cx="182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94E52"/>
                </a:solidFill>
                <a:latin typeface="Times New Roman"/>
                <a:cs typeface="Times New Roman"/>
              </a:rPr>
              <a:t>Research</a:t>
            </a:r>
            <a:r>
              <a:rPr sz="1800" b="1" spc="-10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94E52"/>
                </a:solidFill>
                <a:latin typeface="Times New Roman"/>
                <a:cs typeface="Times New Roman"/>
              </a:rPr>
              <a:t>Interests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2093" y="2654300"/>
            <a:ext cx="357568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ts val="2125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35" dirty="0">
                <a:solidFill>
                  <a:srgbClr val="494E52"/>
                </a:solidFill>
                <a:latin typeface="Times New Roman"/>
                <a:cs typeface="Times New Roman"/>
              </a:rPr>
              <a:t>Web</a:t>
            </a:r>
            <a:r>
              <a:rPr sz="1800" spc="-4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Security</a:t>
            </a:r>
            <a:r>
              <a:rPr sz="1800" spc="-4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94E52"/>
                </a:solidFill>
                <a:latin typeface="Times New Roman"/>
                <a:cs typeface="Times New Roman"/>
              </a:rPr>
              <a:t>Privacy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ts val="2125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Privacy</a:t>
            </a:r>
            <a:r>
              <a:rPr sz="1800" spc="-2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94E52"/>
                </a:solidFill>
                <a:latin typeface="Times New Roman"/>
                <a:cs typeface="Times New Roman"/>
              </a:rPr>
              <a:t>Protection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ts val="2135"/>
              </a:lnSpc>
              <a:spcBef>
                <a:spcPts val="4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Internet</a:t>
            </a:r>
            <a:r>
              <a:rPr sz="1800" spc="-4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and</a:t>
            </a:r>
            <a:r>
              <a:rPr sz="1800" spc="-7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494E52"/>
                </a:solidFill>
                <a:latin typeface="Times New Roman"/>
                <a:cs typeface="Times New Roman"/>
              </a:rPr>
              <a:t>Web </a:t>
            </a:r>
            <a:r>
              <a:rPr sz="1800" spc="-10" dirty="0">
                <a:solidFill>
                  <a:srgbClr val="494E52"/>
                </a:solidFill>
                <a:latin typeface="Times New Roman"/>
                <a:cs typeface="Times New Roman"/>
              </a:rPr>
              <a:t>Measurements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ts val="2135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EU</a:t>
            </a:r>
            <a:r>
              <a:rPr sz="1800" spc="-5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Compliance</a:t>
            </a:r>
            <a:r>
              <a:rPr sz="1800" spc="-4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regulations,</a:t>
            </a:r>
            <a:r>
              <a:rPr sz="1800" spc="-40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94E52"/>
                </a:solidFill>
                <a:latin typeface="Times New Roman"/>
                <a:cs typeface="Times New Roman"/>
              </a:rPr>
              <a:t>GDPR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Internet</a:t>
            </a:r>
            <a:r>
              <a:rPr sz="1800" spc="-3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94E52"/>
                </a:solidFill>
                <a:latin typeface="Times New Roman"/>
                <a:cs typeface="Times New Roman"/>
              </a:rPr>
              <a:t>of</a:t>
            </a:r>
            <a:r>
              <a:rPr sz="1800" spc="-65" dirty="0">
                <a:solidFill>
                  <a:srgbClr val="494E52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94E52"/>
                </a:solidFill>
                <a:latin typeface="Times New Roman"/>
                <a:cs typeface="Times New Roman"/>
              </a:rPr>
              <a:t>Things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0607" y="5141467"/>
            <a:ext cx="4628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Lucida Sans Unicode"/>
                <a:cs typeface="Lucida Sans Unicode"/>
              </a:rPr>
              <a:t>More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14" dirty="0">
                <a:latin typeface="Lucida Sans Unicode"/>
                <a:cs typeface="Lucida Sans Unicode"/>
              </a:rPr>
              <a:t>about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me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55" dirty="0">
                <a:latin typeface="Lucida Sans Unicode"/>
                <a:cs typeface="Lucida Sans Unicode"/>
              </a:rPr>
              <a:t>--</a:t>
            </a:r>
            <a:r>
              <a:rPr sz="1800" spc="-150" dirty="0">
                <a:latin typeface="Lucida Sans Unicode"/>
                <a:cs typeface="Lucida Sans Unicode"/>
              </a:rPr>
              <a:t>&gt;</a:t>
            </a:r>
            <a:r>
              <a:rPr sz="1800" u="sng" spc="-15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https://zahmaad.github.io/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5709" y="433323"/>
            <a:ext cx="1737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About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me!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329" y="1307084"/>
            <a:ext cx="1996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rebuchet MS"/>
                <a:cs typeface="Trebuchet MS"/>
              </a:rPr>
              <a:t>Zubair</a:t>
            </a:r>
            <a:r>
              <a:rPr sz="2400" b="1" spc="-135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Ahmad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4844" y="5489174"/>
            <a:ext cx="556779" cy="77949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5F7905-4C75-354E-9A2A-3058C74FEC6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BEE81D-1E6F-CA42-A738-445BB69B8B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3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latin typeface="Trebuchet MS"/>
                <a:cs typeface="Trebuchet MS"/>
              </a:rPr>
              <a:t>Schedule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988" y="1483867"/>
            <a:ext cx="3294379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When?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</a:pP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lang="en-US" spc="-80" dirty="0">
                <a:latin typeface="Lucida Sans Unicode"/>
                <a:cs typeface="Lucida Sans Unicode"/>
              </a:rPr>
              <a:t>Check your class schedule 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2425" y="1483867"/>
            <a:ext cx="152336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Where?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633730" lvl="1" indent="-176530">
              <a:lnSpc>
                <a:spcPct val="100000"/>
              </a:lnSpc>
              <a:buChar char="-"/>
              <a:tabLst>
                <a:tab pos="633730" algn="l"/>
              </a:tabLst>
            </a:pPr>
            <a:r>
              <a:rPr sz="1800" spc="-10" dirty="0">
                <a:latin typeface="Lucida Sans Unicode"/>
                <a:cs typeface="Lucida Sans Unicode"/>
              </a:rPr>
              <a:t>Here!</a:t>
            </a:r>
            <a:endParaRPr sz="1800" dirty="0">
              <a:latin typeface="Lucida Sans Unicode"/>
              <a:cs typeface="Lucida Sans Unicode"/>
            </a:endParaRPr>
          </a:p>
          <a:p>
            <a:pPr marL="622300" lvl="1" indent="-176530">
              <a:lnSpc>
                <a:spcPct val="100000"/>
              </a:lnSpc>
              <a:spcBef>
                <a:spcPts val="45"/>
              </a:spcBef>
              <a:buChar char="-"/>
              <a:tabLst>
                <a:tab pos="622300" algn="l"/>
              </a:tabLst>
            </a:pPr>
            <a:r>
              <a:rPr sz="1800" spc="-145" dirty="0">
                <a:latin typeface="Lucida Sans Unicode"/>
                <a:cs typeface="Lucida Sans Unicode"/>
              </a:rPr>
              <a:t>LH</a:t>
            </a:r>
            <a:r>
              <a:rPr lang="en-US" sz="1800" spc="-145" dirty="0">
                <a:latin typeface="Lucida Sans Unicode"/>
                <a:cs typeface="Lucida Sans Unicode"/>
              </a:rPr>
              <a:t>9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25" dirty="0" err="1">
                <a:latin typeface="Lucida Sans Unicode"/>
                <a:cs typeface="Lucida Sans Unicode"/>
              </a:rPr>
              <a:t>A</a:t>
            </a:r>
            <a:r>
              <a:rPr lang="en-US" sz="1800" spc="-25" dirty="0" err="1">
                <a:latin typeface="Lucida Sans Unicode"/>
                <a:cs typeface="Lucida Sans Unicode"/>
              </a:rPr>
              <a:t>c</a:t>
            </a:r>
            <a:r>
              <a:rPr sz="1800" spc="-25" dirty="0" err="1">
                <a:latin typeface="Lucida Sans Unicode"/>
                <a:cs typeface="Lucida Sans Unicode"/>
              </a:rPr>
              <a:t>B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967" y="3273044"/>
            <a:ext cx="352996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What?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98475" lvl="1" indent="-176530">
              <a:lnSpc>
                <a:spcPct val="100000"/>
              </a:lnSpc>
              <a:buChar char="-"/>
              <a:tabLst>
                <a:tab pos="498475" algn="l"/>
              </a:tabLst>
            </a:pPr>
            <a:r>
              <a:rPr sz="1800" spc="-130" dirty="0">
                <a:latin typeface="Lucida Sans Unicode"/>
                <a:cs typeface="Lucida Sans Unicode"/>
              </a:rPr>
              <a:t>Lecturer</a:t>
            </a:r>
            <a:r>
              <a:rPr lang="en-US" sz="1800" spc="-130" dirty="0">
                <a:latin typeface="Lucida Sans Unicode"/>
                <a:cs typeface="Lucida Sans Unicode"/>
              </a:rPr>
              <a:t>s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spcBef>
                <a:spcPts val="25"/>
              </a:spcBef>
              <a:buChar char="-"/>
              <a:tabLst>
                <a:tab pos="498475" algn="l"/>
              </a:tabLst>
            </a:pPr>
            <a:r>
              <a:rPr sz="1800" spc="-160" dirty="0">
                <a:latin typeface="Lucida Sans Unicode"/>
                <a:cs typeface="Lucida Sans Unicode"/>
              </a:rPr>
              <a:t>Quizzes/</a:t>
            </a:r>
            <a:r>
              <a:rPr sz="1800" spc="-80" dirty="0">
                <a:latin typeface="Lucida Sans Unicode"/>
                <a:cs typeface="Lucida Sans Unicode"/>
              </a:rPr>
              <a:t>Project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buChar char="-"/>
              <a:tabLst>
                <a:tab pos="498475" algn="l"/>
              </a:tabLst>
            </a:pPr>
            <a:r>
              <a:rPr sz="1800" spc="-125" dirty="0">
                <a:latin typeface="Lucida Sans Unicode"/>
                <a:cs typeface="Lucida Sans Unicode"/>
              </a:rPr>
              <a:t>Mid/Final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Exams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3442" y="3273044"/>
            <a:ext cx="3127375" cy="2510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Attendance?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ct val="100000"/>
              </a:lnSpc>
              <a:buChar char="-"/>
              <a:tabLst>
                <a:tab pos="560705" algn="l"/>
              </a:tabLst>
            </a:pPr>
            <a:r>
              <a:rPr sz="1800" spc="-114" dirty="0">
                <a:latin typeface="Lucida Sans Unicode"/>
                <a:cs typeface="Lucida Sans Unicode"/>
              </a:rPr>
              <a:t>Active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Attendance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35"/>
              </a:lnSpc>
              <a:spcBef>
                <a:spcPts val="25"/>
              </a:spcBef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Dead </a:t>
            </a:r>
            <a:r>
              <a:rPr sz="1800" b="1" spc="-10" dirty="0">
                <a:solidFill>
                  <a:srgbClr val="FF0000"/>
                </a:solidFill>
                <a:latin typeface="Trebuchet MS"/>
                <a:cs typeface="Trebuchet MS"/>
              </a:rPr>
              <a:t>Bodies.</a:t>
            </a: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ts val="2135"/>
              </a:lnSpc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spc="-40" dirty="0">
                <a:solidFill>
                  <a:srgbClr val="548235"/>
                </a:solidFill>
                <a:latin typeface="Trebuchet MS"/>
                <a:cs typeface="Trebuchet MS"/>
              </a:rPr>
              <a:t>Active</a:t>
            </a:r>
            <a:r>
              <a:rPr sz="1800" b="1" spc="-85" dirty="0">
                <a:solidFill>
                  <a:srgbClr val="548235"/>
                </a:solidFill>
                <a:latin typeface="Trebuchet MS"/>
                <a:cs typeface="Trebuchet MS"/>
              </a:rPr>
              <a:t> </a:t>
            </a:r>
            <a:r>
              <a:rPr sz="1800" b="1" spc="40" dirty="0">
                <a:solidFill>
                  <a:srgbClr val="548235"/>
                </a:solidFill>
                <a:latin typeface="Trebuchet MS"/>
                <a:cs typeface="Trebuchet MS"/>
              </a:rPr>
              <a:t>Minds</a:t>
            </a:r>
            <a:endParaRPr sz="1800" dirty="0">
              <a:latin typeface="Trebuchet MS"/>
              <a:cs typeface="Trebuchet MS"/>
            </a:endParaRPr>
          </a:p>
          <a:p>
            <a:pPr marL="12700" marR="5080" lvl="1" indent="548005">
              <a:lnSpc>
                <a:spcPts val="2090"/>
              </a:lnSpc>
              <a:spcBef>
                <a:spcPts val="175"/>
              </a:spcBef>
              <a:buChar char="-"/>
              <a:tabLst>
                <a:tab pos="560705" algn="l"/>
              </a:tabLst>
            </a:pPr>
            <a:r>
              <a:rPr sz="1800" spc="-110" dirty="0">
                <a:latin typeface="Lucida Sans Unicode"/>
                <a:cs typeface="Lucida Sans Unicode"/>
              </a:rPr>
              <a:t>Mobiles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in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spc="-140" dirty="0">
                <a:latin typeface="Lucida Sans Unicode"/>
                <a:cs typeface="Lucida Sans Unicode"/>
              </a:rPr>
              <a:t>hands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235" dirty="0">
                <a:latin typeface="Lucida Sans Unicode"/>
                <a:cs typeface="Lucida Sans Unicode"/>
              </a:rPr>
              <a:t>&gt;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05" dirty="0">
                <a:latin typeface="Lucida Sans Unicode"/>
                <a:cs typeface="Lucida Sans Unicode"/>
              </a:rPr>
              <a:t>Mark </a:t>
            </a:r>
            <a:r>
              <a:rPr lang="en-US" sz="1800" spc="-105" dirty="0">
                <a:latin typeface="Lucida Sans Unicode"/>
                <a:cs typeface="Lucida Sans Unicode"/>
              </a:rPr>
              <a:t>  </a:t>
            </a:r>
            <a:r>
              <a:rPr sz="1800" spc="-150" dirty="0">
                <a:latin typeface="Lucida Sans Unicode"/>
                <a:cs typeface="Lucida Sans Unicode"/>
              </a:rPr>
              <a:t>as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absent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sz="1800" spc="-235" dirty="0">
                <a:latin typeface="Lucida Sans Unicode"/>
                <a:cs typeface="Lucida Sans Unicode"/>
              </a:rPr>
              <a:t>80%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mandatory</a:t>
            </a:r>
            <a:endParaRPr lang="en-US" sz="1800" spc="-1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5 minutes threshold</a:t>
            </a:r>
            <a:endParaRPr sz="1800" b="1" dirty="0">
              <a:solidFill>
                <a:srgbClr val="FF0000"/>
              </a:solidFill>
              <a:latin typeface="Lucida Sans Unicode"/>
              <a:cs typeface="Lucida Sans Unicode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7D0C27-CE9A-4C42-8672-5E472C565A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95260C-85E6-2C45-859C-FF223799AA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4</a:t>
            </a:fld>
            <a:endParaRPr lang="en-US"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rebuchet MS"/>
                <a:cs typeface="Trebuchet MS"/>
              </a:rPr>
              <a:t>Webpage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467194"/>
            <a:ext cx="316293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75" dirty="0">
                <a:latin typeface="Trebuchet MS"/>
                <a:cs typeface="Trebuchet MS"/>
              </a:rPr>
              <a:t>Lectures/</a:t>
            </a:r>
            <a:r>
              <a:rPr sz="2400" b="1" spc="-9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Slides</a:t>
            </a:r>
            <a:endParaRPr sz="24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b="1" spc="-10" dirty="0">
                <a:latin typeface="Trebuchet MS"/>
                <a:cs typeface="Trebuchet MS"/>
              </a:rPr>
              <a:t>Books</a:t>
            </a:r>
            <a:endParaRPr sz="24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30" dirty="0">
                <a:latin typeface="Trebuchet MS"/>
                <a:cs typeface="Trebuchet MS"/>
              </a:rPr>
              <a:t>Project</a:t>
            </a:r>
            <a:endParaRPr sz="24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20" dirty="0">
                <a:latin typeface="Trebuchet MS"/>
                <a:cs typeface="Trebuchet MS"/>
              </a:rPr>
              <a:t>Labs</a:t>
            </a:r>
            <a:r>
              <a:rPr sz="2400" b="1" spc="-14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Material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1953" y="5927852"/>
            <a:ext cx="720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4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https://github.com/ZAhmaad/Secure-</a:t>
            </a:r>
            <a:r>
              <a:rPr sz="1800" u="sng" spc="-114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Software-</a:t>
            </a:r>
            <a:r>
              <a:rPr sz="1800" u="sng" spc="-1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Design-</a:t>
            </a:r>
            <a:r>
              <a:rPr sz="1800" u="sng" spc="-13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And-</a:t>
            </a:r>
            <a:r>
              <a:rPr sz="1800" u="sng" spc="-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Engineering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D66E0-0716-B643-BC14-E8A8E07B3D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529CE-3024-4C45-9F55-843BA00951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5</a:t>
            </a:fld>
            <a:endParaRPr lang="en-US"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8832A3-6073-094E-9205-D9BAFF16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691933"/>
            <a:ext cx="6834393" cy="3663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87C42-B7E5-1D41-B65E-A13E9FE705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3D6F0-65DC-B24D-9B2C-330FC0E436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6</a:t>
            </a:fld>
            <a:endParaRPr lang="en-US" spc="-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3359BF-FA72-0F45-ACF8-98A67D585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789322"/>
              </p:ext>
            </p:extLst>
          </p:nvPr>
        </p:nvGraphicFramePr>
        <p:xfrm>
          <a:off x="1295400" y="1775230"/>
          <a:ext cx="7848600" cy="3144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0598">
                  <a:extLst>
                    <a:ext uri="{9D8B030D-6E8A-4147-A177-3AD203B41FA5}">
                      <a16:colId xmlns:a16="http://schemas.microsoft.com/office/drawing/2014/main" val="4041957469"/>
                    </a:ext>
                  </a:extLst>
                </a:gridCol>
                <a:gridCol w="3115241">
                  <a:extLst>
                    <a:ext uri="{9D8B030D-6E8A-4147-A177-3AD203B41FA5}">
                      <a16:colId xmlns:a16="http://schemas.microsoft.com/office/drawing/2014/main" val="2278655834"/>
                    </a:ext>
                  </a:extLst>
                </a:gridCol>
                <a:gridCol w="1860107">
                  <a:extLst>
                    <a:ext uri="{9D8B030D-6E8A-4147-A177-3AD203B41FA5}">
                      <a16:colId xmlns:a16="http://schemas.microsoft.com/office/drawing/2014/main" val="3164102918"/>
                    </a:ext>
                  </a:extLst>
                </a:gridCol>
                <a:gridCol w="2272654">
                  <a:extLst>
                    <a:ext uri="{9D8B030D-6E8A-4147-A177-3AD203B41FA5}">
                      <a16:colId xmlns:a16="http://schemas.microsoft.com/office/drawing/2014/main" val="2558400245"/>
                    </a:ext>
                  </a:extLst>
                </a:gridCol>
              </a:tblGrid>
              <a:tr h="770990"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Sr. No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Course Learning Outcomes (CLOs)</a:t>
                      </a:r>
                      <a:r>
                        <a:rPr lang="en-US" sz="1100" baseline="300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Graduate Attributes (GA)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Bloom’s Taxonomy level (Cognitive domain)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extLst>
                  <a:ext uri="{0D108BD9-81ED-4DB2-BD59-A6C34878D82A}">
                    <a16:rowId xmlns:a16="http://schemas.microsoft.com/office/drawing/2014/main" val="1244706716"/>
                  </a:ext>
                </a:extLst>
              </a:tr>
              <a:tr h="51198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CLO 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Understand secure software development process and detect insecure programming practices and proficiently implement secure alternatives to enhance software security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GA-3 (Problem Analysis)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C2 (Understanding)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extLst>
                  <a:ext uri="{0D108BD9-81ED-4DB2-BD59-A6C34878D82A}">
                    <a16:rowId xmlns:a16="http://schemas.microsoft.com/office/drawing/2014/main" val="1596322177"/>
                  </a:ext>
                </a:extLst>
              </a:tr>
              <a:tr h="51198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CLO 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Utilize frameworks for software security analysis and testing, with a clear grasp of their capabilities and limitations in practical applications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GA-5 (Modern Tool Usage)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C3 (Applying)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extLst>
                  <a:ext uri="{0D108BD9-81ED-4DB2-BD59-A6C34878D82A}">
                    <a16:rowId xmlns:a16="http://schemas.microsoft.com/office/drawing/2014/main" val="1589387154"/>
                  </a:ext>
                </a:extLst>
              </a:tr>
              <a:tr h="51198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CLO 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Analyze and conduct security testing for real world applications.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GA-4 (Design/Development of Solutions)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C4 (Analyzing)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extLst>
                  <a:ext uri="{0D108BD9-81ED-4DB2-BD59-A6C34878D82A}">
                    <a16:rowId xmlns:a16="http://schemas.microsoft.com/office/drawing/2014/main" val="294566969"/>
                  </a:ext>
                </a:extLst>
              </a:tr>
              <a:tr h="185019">
                <a:tc>
                  <a:txBody>
                    <a:bodyPr/>
                    <a:lstStyle/>
                    <a:p>
                      <a:pPr marL="45720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53" marR="47353" marT="0" marB="0" anchor="ctr"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2022"/>
                  </a:ext>
                </a:extLst>
              </a:tr>
            </a:tbl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40F90941-35A1-654F-9ED7-4CB0653EF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CLO – GA Mapping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455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Grading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Policy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63924"/>
              </p:ext>
            </p:extLst>
          </p:nvPr>
        </p:nvGraphicFramePr>
        <p:xfrm>
          <a:off x="674687" y="1819275"/>
          <a:ext cx="7574279" cy="313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0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Assessment</a:t>
                      </a:r>
                      <a:r>
                        <a:rPr sz="1200" b="1" spc="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Items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Percentage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Quizzes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pc="-25" dirty="0"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%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Project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lang="en-US" sz="1200" b="1" spc="-25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%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Midterm</a:t>
                      </a:r>
                      <a:r>
                        <a:rPr sz="1200" b="1" spc="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Exam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30%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Final</a:t>
                      </a:r>
                      <a:r>
                        <a:rPr sz="12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Exam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40%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39948-40EE-4E40-BCB5-639171D870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0C528-CD11-BE46-A350-2495415C544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E7B9B-EE19-6D42-9D6F-DAD52CC354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8</a:t>
            </a:fld>
            <a:endParaRPr lang="en-US" spc="-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0F8A29-389C-8F41-A473-E12F8BC51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125988"/>
              </p:ext>
            </p:extLst>
          </p:nvPr>
        </p:nvGraphicFramePr>
        <p:xfrm>
          <a:off x="1371600" y="1828800"/>
          <a:ext cx="6705598" cy="2514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6219">
                  <a:extLst>
                    <a:ext uri="{9D8B030D-6E8A-4147-A177-3AD203B41FA5}">
                      <a16:colId xmlns:a16="http://schemas.microsoft.com/office/drawing/2014/main" val="1073962847"/>
                    </a:ext>
                  </a:extLst>
                </a:gridCol>
                <a:gridCol w="1496687">
                  <a:extLst>
                    <a:ext uri="{9D8B030D-6E8A-4147-A177-3AD203B41FA5}">
                      <a16:colId xmlns:a16="http://schemas.microsoft.com/office/drawing/2014/main" val="2979711174"/>
                    </a:ext>
                  </a:extLst>
                </a:gridCol>
                <a:gridCol w="1661346">
                  <a:extLst>
                    <a:ext uri="{9D8B030D-6E8A-4147-A177-3AD203B41FA5}">
                      <a16:colId xmlns:a16="http://schemas.microsoft.com/office/drawing/2014/main" val="1847417744"/>
                    </a:ext>
                  </a:extLst>
                </a:gridCol>
                <a:gridCol w="1661346">
                  <a:extLst>
                    <a:ext uri="{9D8B030D-6E8A-4147-A177-3AD203B41FA5}">
                      <a16:colId xmlns:a16="http://schemas.microsoft.com/office/drawing/2014/main" val="127310176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dirty="0">
                          <a:effectLst/>
                        </a:rPr>
                        <a:t>Assessment tools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2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spc="25" dirty="0">
                          <a:effectLst/>
                        </a:rPr>
                        <a:t>CLO_1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7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endParaRPr lang="en-US" sz="7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spc="25" dirty="0">
                          <a:effectLst/>
                        </a:rPr>
                        <a:t>CLO_2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4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CLO_3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6317313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Quizzes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4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50%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4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50%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 spc="25">
                          <a:effectLst/>
                        </a:rPr>
                        <a:t>-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847613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Project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>
                        <a:lnSpc>
                          <a:spcPct val="115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>
                          <a:effectLst/>
                        </a:rPr>
                        <a:t>-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400" spc="25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100%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23704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Midterm Exam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effectLst/>
                        </a:rPr>
                        <a:t>50%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 spc="25">
                          <a:effectLst/>
                        </a:rPr>
                        <a:t>-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 spc="25">
                          <a:effectLst/>
                        </a:rPr>
                        <a:t>-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8435622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spc="25" dirty="0">
                          <a:effectLst/>
                        </a:rPr>
                        <a:t>Final Exam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 spc="25">
                          <a:effectLst/>
                        </a:rPr>
                        <a:t>-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effectLst/>
                        </a:rPr>
                        <a:t>50%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00" spc="25" dirty="0">
                          <a:effectLst/>
                        </a:rPr>
                        <a:t>-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850683"/>
                  </a:ext>
                </a:extLst>
              </a:tr>
            </a:tbl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CD7D653E-7884-9947-B266-1A03EA8BC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Grading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Policy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48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Project-</a:t>
            </a:r>
            <a:r>
              <a:rPr sz="2800" spc="-10" dirty="0">
                <a:latin typeface="Times New Roman"/>
                <a:cs typeface="Times New Roman"/>
              </a:rPr>
              <a:t>Quizzes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8056" y="1429003"/>
            <a:ext cx="7637780" cy="7520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97815" marR="5080" indent="-285750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35" dirty="0">
                <a:latin typeface="Trebuchet MS"/>
                <a:cs typeface="Trebuchet MS"/>
              </a:rPr>
              <a:t>project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quizzes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-85" dirty="0">
                <a:latin typeface="Trebuchet MS"/>
                <a:cs typeface="Trebuchet MS"/>
              </a:rPr>
              <a:t>will</a:t>
            </a:r>
            <a:r>
              <a:rPr sz="2400" b="1" spc="-80" dirty="0">
                <a:latin typeface="Trebuchet MS"/>
                <a:cs typeface="Trebuchet MS"/>
              </a:rPr>
              <a:t> </a:t>
            </a:r>
            <a:r>
              <a:rPr sz="2400" b="1" spc="-25" dirty="0">
                <a:latin typeface="Trebuchet MS"/>
                <a:cs typeface="Trebuchet MS"/>
              </a:rPr>
              <a:t>be </a:t>
            </a:r>
            <a:r>
              <a:rPr sz="2400" b="1" spc="-10" dirty="0">
                <a:latin typeface="Trebuchet MS"/>
                <a:cs typeface="Trebuchet MS"/>
              </a:rPr>
              <a:t>taken</a:t>
            </a:r>
            <a:endParaRPr sz="24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Trebuchet MS"/>
                <a:cs typeface="Trebuchet MS"/>
              </a:rPr>
              <a:t>Announced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and/or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unannounced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quizzes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1274" y="3454908"/>
            <a:ext cx="1868170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ts val="3815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3200" b="1" spc="-10" dirty="0">
                <a:latin typeface="Trebuchet MS"/>
                <a:cs typeface="Trebuchet MS"/>
              </a:rPr>
              <a:t>Github</a:t>
            </a:r>
            <a:endParaRPr sz="3200">
              <a:latin typeface="Trebuchet MS"/>
              <a:cs typeface="Trebuchet MS"/>
            </a:endParaRPr>
          </a:p>
          <a:p>
            <a:pPr marL="297815" indent="-285115">
              <a:lnSpc>
                <a:spcPts val="3815"/>
              </a:lnSpc>
              <a:buFont typeface="Arial MT"/>
              <a:buChar char="•"/>
              <a:tabLst>
                <a:tab pos="297815" algn="l"/>
              </a:tabLst>
            </a:pPr>
            <a:r>
              <a:rPr sz="3200" b="1" spc="-70" dirty="0">
                <a:latin typeface="Trebuchet MS"/>
                <a:cs typeface="Trebuchet MS"/>
              </a:rPr>
              <a:t>Overleaf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82351" y="3577230"/>
            <a:ext cx="563245" cy="815975"/>
          </a:xfrm>
          <a:custGeom>
            <a:avLst/>
            <a:gdLst/>
            <a:ahLst/>
            <a:cxnLst/>
            <a:rect l="l" t="t" r="r" b="b"/>
            <a:pathLst>
              <a:path w="563245" h="815975">
                <a:moveTo>
                  <a:pt x="0" y="0"/>
                </a:moveTo>
                <a:lnTo>
                  <a:pt x="74795" y="1674"/>
                </a:lnTo>
                <a:lnTo>
                  <a:pt x="142005" y="6401"/>
                </a:lnTo>
                <a:lnTo>
                  <a:pt x="198947" y="13733"/>
                </a:lnTo>
                <a:lnTo>
                  <a:pt x="242941" y="23224"/>
                </a:lnTo>
                <a:lnTo>
                  <a:pt x="281354" y="46890"/>
                </a:lnTo>
                <a:lnTo>
                  <a:pt x="281354" y="361072"/>
                </a:lnTo>
                <a:lnTo>
                  <a:pt x="291404" y="373537"/>
                </a:lnTo>
                <a:lnTo>
                  <a:pt x="363761" y="394229"/>
                </a:lnTo>
                <a:lnTo>
                  <a:pt x="420703" y="401561"/>
                </a:lnTo>
                <a:lnTo>
                  <a:pt x="487913" y="406288"/>
                </a:lnTo>
                <a:lnTo>
                  <a:pt x="562708" y="407963"/>
                </a:lnTo>
                <a:lnTo>
                  <a:pt x="487913" y="409637"/>
                </a:lnTo>
                <a:lnTo>
                  <a:pt x="420703" y="414364"/>
                </a:lnTo>
                <a:lnTo>
                  <a:pt x="363761" y="421696"/>
                </a:lnTo>
                <a:lnTo>
                  <a:pt x="319767" y="431187"/>
                </a:lnTo>
                <a:lnTo>
                  <a:pt x="281354" y="454853"/>
                </a:lnTo>
                <a:lnTo>
                  <a:pt x="281354" y="769035"/>
                </a:lnTo>
                <a:lnTo>
                  <a:pt x="271304" y="781500"/>
                </a:lnTo>
                <a:lnTo>
                  <a:pt x="242941" y="792701"/>
                </a:lnTo>
                <a:lnTo>
                  <a:pt x="198947" y="802192"/>
                </a:lnTo>
                <a:lnTo>
                  <a:pt x="142005" y="809524"/>
                </a:lnTo>
                <a:lnTo>
                  <a:pt x="74795" y="814251"/>
                </a:lnTo>
                <a:lnTo>
                  <a:pt x="0" y="815926"/>
                </a:lnTo>
              </a:path>
            </a:pathLst>
          </a:custGeom>
          <a:ln w="1270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06678" y="3821683"/>
            <a:ext cx="217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rebuchet MS"/>
                <a:cs typeface="Trebuchet MS"/>
              </a:rPr>
              <a:t>Project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9411374-99EB-7D41-B98E-695F5507DE7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expect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course?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68056" y="1429003"/>
            <a:ext cx="7660005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65" dirty="0">
                <a:latin typeface="Trebuchet MS"/>
                <a:cs typeface="Trebuchet MS"/>
              </a:rPr>
              <a:t>Secure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Software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Development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Process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Arial MT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45" dirty="0">
                <a:solidFill>
                  <a:srgbClr val="1F2328"/>
                </a:solidFill>
                <a:latin typeface="Trebuchet MS"/>
                <a:cs typeface="Trebuchet MS"/>
              </a:rPr>
              <a:t>Detect</a:t>
            </a:r>
            <a:r>
              <a:rPr sz="2400" b="1" spc="-20" dirty="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1F2328"/>
                </a:solidFill>
                <a:latin typeface="Trebuchet MS"/>
                <a:cs typeface="Trebuchet MS"/>
              </a:rPr>
              <a:t>and</a:t>
            </a:r>
            <a:r>
              <a:rPr sz="2400" b="1" spc="-10" dirty="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1F2328"/>
                </a:solidFill>
                <a:latin typeface="Trebuchet MS"/>
                <a:cs typeface="Trebuchet MS"/>
              </a:rPr>
              <a:t>Mitigate</a:t>
            </a:r>
            <a:r>
              <a:rPr sz="2400" b="1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55" dirty="0">
                <a:solidFill>
                  <a:srgbClr val="FF0000"/>
                </a:solidFill>
                <a:latin typeface="Trebuchet MS"/>
                <a:cs typeface="Trebuchet MS"/>
              </a:rPr>
              <a:t>Insecure</a:t>
            </a:r>
            <a:r>
              <a:rPr sz="2400" b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1F2328"/>
                </a:solidFill>
                <a:latin typeface="Trebuchet MS"/>
                <a:cs typeface="Trebuchet MS"/>
              </a:rPr>
              <a:t>Programming</a:t>
            </a:r>
            <a:r>
              <a:rPr sz="2400" b="1" spc="-15" dirty="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1F2328"/>
                </a:solidFill>
                <a:latin typeface="Trebuchet MS"/>
                <a:cs typeface="Trebuchet MS"/>
              </a:rPr>
              <a:t>Practices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rebuchet MS"/>
                <a:cs typeface="Trebuchet MS"/>
              </a:rPr>
              <a:t>Design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Conduct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spc="-70" dirty="0">
                <a:solidFill>
                  <a:srgbClr val="FF0000"/>
                </a:solidFill>
                <a:latin typeface="Trebuchet MS"/>
                <a:cs typeface="Trebuchet MS"/>
              </a:rPr>
              <a:t>Security</a:t>
            </a:r>
            <a:r>
              <a:rPr sz="2400" b="1" spc="-3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Testing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7729A-746D-CA44-91E2-7FE0DDB616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35" y="375411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learn?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27925" y="1210998"/>
            <a:ext cx="3467735" cy="1332230"/>
            <a:chOff x="6127925" y="1210998"/>
            <a:chExt cx="3467735" cy="1332230"/>
          </a:xfrm>
        </p:grpSpPr>
        <p:sp>
          <p:nvSpPr>
            <p:cNvPr id="4" name="object 4"/>
            <p:cNvSpPr/>
            <p:nvPr/>
          </p:nvSpPr>
          <p:spPr>
            <a:xfrm>
              <a:off x="6134275" y="1217348"/>
              <a:ext cx="3455035" cy="1319530"/>
            </a:xfrm>
            <a:custGeom>
              <a:avLst/>
              <a:gdLst/>
              <a:ahLst/>
              <a:cxnLst/>
              <a:rect l="l" t="t" r="r" b="b"/>
              <a:pathLst>
                <a:path w="3455034" h="1319530">
                  <a:moveTo>
                    <a:pt x="3234743" y="0"/>
                  </a:moveTo>
                  <a:lnTo>
                    <a:pt x="219825" y="0"/>
                  </a:lnTo>
                  <a:lnTo>
                    <a:pt x="175523" y="4466"/>
                  </a:lnTo>
                  <a:lnTo>
                    <a:pt x="134259" y="17275"/>
                  </a:lnTo>
                  <a:lnTo>
                    <a:pt x="96919" y="37542"/>
                  </a:lnTo>
                  <a:lnTo>
                    <a:pt x="64385" y="64385"/>
                  </a:lnTo>
                  <a:lnTo>
                    <a:pt x="37542" y="96919"/>
                  </a:lnTo>
                  <a:lnTo>
                    <a:pt x="17275" y="134259"/>
                  </a:lnTo>
                  <a:lnTo>
                    <a:pt x="4466" y="175523"/>
                  </a:lnTo>
                  <a:lnTo>
                    <a:pt x="0" y="219825"/>
                  </a:lnTo>
                  <a:lnTo>
                    <a:pt x="0" y="1099093"/>
                  </a:lnTo>
                  <a:lnTo>
                    <a:pt x="4466" y="1143395"/>
                  </a:lnTo>
                  <a:lnTo>
                    <a:pt x="17275" y="1184659"/>
                  </a:lnTo>
                  <a:lnTo>
                    <a:pt x="37542" y="1221999"/>
                  </a:lnTo>
                  <a:lnTo>
                    <a:pt x="64385" y="1254533"/>
                  </a:lnTo>
                  <a:lnTo>
                    <a:pt x="96919" y="1281376"/>
                  </a:lnTo>
                  <a:lnTo>
                    <a:pt x="134259" y="1301644"/>
                  </a:lnTo>
                  <a:lnTo>
                    <a:pt x="175523" y="1314453"/>
                  </a:lnTo>
                  <a:lnTo>
                    <a:pt x="219825" y="1318919"/>
                  </a:lnTo>
                  <a:lnTo>
                    <a:pt x="3234743" y="1318919"/>
                  </a:lnTo>
                  <a:lnTo>
                    <a:pt x="3279045" y="1314453"/>
                  </a:lnTo>
                  <a:lnTo>
                    <a:pt x="3320308" y="1301644"/>
                  </a:lnTo>
                  <a:lnTo>
                    <a:pt x="3357649" y="1281376"/>
                  </a:lnTo>
                  <a:lnTo>
                    <a:pt x="3390182" y="1254533"/>
                  </a:lnTo>
                  <a:lnTo>
                    <a:pt x="3417025" y="1221999"/>
                  </a:lnTo>
                  <a:lnTo>
                    <a:pt x="3437292" y="1184659"/>
                  </a:lnTo>
                  <a:lnTo>
                    <a:pt x="3450101" y="1143395"/>
                  </a:lnTo>
                  <a:lnTo>
                    <a:pt x="3454567" y="1099093"/>
                  </a:lnTo>
                  <a:lnTo>
                    <a:pt x="3454567" y="219825"/>
                  </a:lnTo>
                  <a:lnTo>
                    <a:pt x="3450101" y="175523"/>
                  </a:lnTo>
                  <a:lnTo>
                    <a:pt x="3437292" y="134259"/>
                  </a:lnTo>
                  <a:lnTo>
                    <a:pt x="3417025" y="96919"/>
                  </a:lnTo>
                  <a:lnTo>
                    <a:pt x="3390182" y="64385"/>
                  </a:lnTo>
                  <a:lnTo>
                    <a:pt x="3357649" y="37542"/>
                  </a:lnTo>
                  <a:lnTo>
                    <a:pt x="3320308" y="17275"/>
                  </a:lnTo>
                  <a:lnTo>
                    <a:pt x="3279045" y="4466"/>
                  </a:lnTo>
                  <a:lnTo>
                    <a:pt x="323474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4275" y="1217348"/>
              <a:ext cx="3455035" cy="1319530"/>
            </a:xfrm>
            <a:custGeom>
              <a:avLst/>
              <a:gdLst/>
              <a:ahLst/>
              <a:cxnLst/>
              <a:rect l="l" t="t" r="r" b="b"/>
              <a:pathLst>
                <a:path w="3455034" h="1319530">
                  <a:moveTo>
                    <a:pt x="0" y="219824"/>
                  </a:moveTo>
                  <a:lnTo>
                    <a:pt x="4466" y="175522"/>
                  </a:lnTo>
                  <a:lnTo>
                    <a:pt x="17274" y="134259"/>
                  </a:lnTo>
                  <a:lnTo>
                    <a:pt x="37542" y="96918"/>
                  </a:lnTo>
                  <a:lnTo>
                    <a:pt x="64385" y="64385"/>
                  </a:lnTo>
                  <a:lnTo>
                    <a:pt x="96918" y="37542"/>
                  </a:lnTo>
                  <a:lnTo>
                    <a:pt x="134258" y="17274"/>
                  </a:lnTo>
                  <a:lnTo>
                    <a:pt x="175522" y="4466"/>
                  </a:lnTo>
                  <a:lnTo>
                    <a:pt x="219824" y="0"/>
                  </a:lnTo>
                  <a:lnTo>
                    <a:pt x="3234743" y="0"/>
                  </a:lnTo>
                  <a:lnTo>
                    <a:pt x="3279045" y="4466"/>
                  </a:lnTo>
                  <a:lnTo>
                    <a:pt x="3320308" y="17274"/>
                  </a:lnTo>
                  <a:lnTo>
                    <a:pt x="3357648" y="37542"/>
                  </a:lnTo>
                  <a:lnTo>
                    <a:pt x="3390181" y="64385"/>
                  </a:lnTo>
                  <a:lnTo>
                    <a:pt x="3417024" y="96918"/>
                  </a:lnTo>
                  <a:lnTo>
                    <a:pt x="3437292" y="134259"/>
                  </a:lnTo>
                  <a:lnTo>
                    <a:pt x="3450100" y="175522"/>
                  </a:lnTo>
                  <a:lnTo>
                    <a:pt x="3454567" y="219824"/>
                  </a:lnTo>
                  <a:lnTo>
                    <a:pt x="3454567" y="1099093"/>
                  </a:lnTo>
                  <a:lnTo>
                    <a:pt x="3450100" y="1143395"/>
                  </a:lnTo>
                  <a:lnTo>
                    <a:pt x="3437292" y="1184658"/>
                  </a:lnTo>
                  <a:lnTo>
                    <a:pt x="3417024" y="1221999"/>
                  </a:lnTo>
                  <a:lnTo>
                    <a:pt x="3390181" y="1254532"/>
                  </a:lnTo>
                  <a:lnTo>
                    <a:pt x="3357648" y="1281375"/>
                  </a:lnTo>
                  <a:lnTo>
                    <a:pt x="3320308" y="1301643"/>
                  </a:lnTo>
                  <a:lnTo>
                    <a:pt x="3279045" y="1314451"/>
                  </a:lnTo>
                  <a:lnTo>
                    <a:pt x="3234743" y="1318918"/>
                  </a:lnTo>
                  <a:lnTo>
                    <a:pt x="219824" y="1318918"/>
                  </a:lnTo>
                  <a:lnTo>
                    <a:pt x="175522" y="1314451"/>
                  </a:lnTo>
                  <a:lnTo>
                    <a:pt x="134258" y="1301643"/>
                  </a:lnTo>
                  <a:lnTo>
                    <a:pt x="96918" y="1281375"/>
                  </a:lnTo>
                  <a:lnTo>
                    <a:pt x="64385" y="1254532"/>
                  </a:lnTo>
                  <a:lnTo>
                    <a:pt x="37542" y="1221999"/>
                  </a:lnTo>
                  <a:lnTo>
                    <a:pt x="17274" y="1184658"/>
                  </a:lnTo>
                  <a:lnTo>
                    <a:pt x="4466" y="1143395"/>
                  </a:lnTo>
                  <a:lnTo>
                    <a:pt x="0" y="1099093"/>
                  </a:lnTo>
                  <a:lnTo>
                    <a:pt x="0" y="21982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7400" y="1304035"/>
            <a:ext cx="2974340" cy="11226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457200" indent="-285750">
              <a:lnSpc>
                <a:spcPct val="103299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Secure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Software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38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Importance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43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principles</a:t>
            </a:r>
            <a:endParaRPr sz="1200" dirty="0">
              <a:latin typeface="Trebuchet MS"/>
              <a:cs typeface="Trebuchet MS"/>
            </a:endParaRPr>
          </a:p>
          <a:p>
            <a:pPr marL="298450" marR="14604" indent="-285750">
              <a:lnSpc>
                <a:spcPts val="1420"/>
              </a:lnSpc>
              <a:spcBef>
                <a:spcPts val="11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issues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properties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secure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812" y="1255878"/>
            <a:ext cx="4970780" cy="707390"/>
          </a:xfrm>
          <a:custGeom>
            <a:avLst/>
            <a:gdLst/>
            <a:ahLst/>
            <a:cxnLst/>
            <a:rect l="l" t="t" r="r" b="b"/>
            <a:pathLst>
              <a:path w="4970780" h="707389">
                <a:moveTo>
                  <a:pt x="0" y="0"/>
                </a:moveTo>
                <a:lnTo>
                  <a:pt x="918145" y="0"/>
                </a:lnTo>
                <a:lnTo>
                  <a:pt x="1311636" y="0"/>
                </a:lnTo>
                <a:lnTo>
                  <a:pt x="1573963" y="0"/>
                </a:lnTo>
                <a:lnTo>
                  <a:pt x="1573963" y="412626"/>
                </a:lnTo>
                <a:lnTo>
                  <a:pt x="4970324" y="490503"/>
                </a:lnTo>
                <a:lnTo>
                  <a:pt x="1573963" y="589466"/>
                </a:lnTo>
                <a:lnTo>
                  <a:pt x="1573963" y="707359"/>
                </a:lnTo>
                <a:lnTo>
                  <a:pt x="1311636" y="707359"/>
                </a:lnTo>
                <a:lnTo>
                  <a:pt x="918145" y="707359"/>
                </a:lnTo>
                <a:lnTo>
                  <a:pt x="0" y="707359"/>
                </a:lnTo>
                <a:lnTo>
                  <a:pt x="0" y="589466"/>
                </a:lnTo>
                <a:lnTo>
                  <a:pt x="0" y="412626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8012" y="1431035"/>
            <a:ext cx="1071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1</a:t>
            </a:r>
            <a:r>
              <a:rPr sz="1950" b="1" baseline="25641" dirty="0">
                <a:latin typeface="Trebuchet MS"/>
                <a:cs typeface="Trebuchet MS"/>
              </a:rPr>
              <a:t>st</a:t>
            </a:r>
            <a:r>
              <a:rPr sz="1950" b="1" spc="89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45" y="5034279"/>
            <a:ext cx="5118735" cy="612775"/>
          </a:xfrm>
          <a:custGeom>
            <a:avLst/>
            <a:gdLst/>
            <a:ahLst/>
            <a:cxnLst/>
            <a:rect l="l" t="t" r="r" b="b"/>
            <a:pathLst>
              <a:path w="5118735" h="612775">
                <a:moveTo>
                  <a:pt x="0" y="0"/>
                </a:moveTo>
                <a:lnTo>
                  <a:pt x="882395" y="0"/>
                </a:lnTo>
                <a:lnTo>
                  <a:pt x="1260565" y="0"/>
                </a:lnTo>
                <a:lnTo>
                  <a:pt x="1512678" y="0"/>
                </a:lnTo>
                <a:lnTo>
                  <a:pt x="1512678" y="102125"/>
                </a:lnTo>
                <a:lnTo>
                  <a:pt x="5118116" y="285085"/>
                </a:lnTo>
                <a:lnTo>
                  <a:pt x="1512678" y="255316"/>
                </a:lnTo>
                <a:lnTo>
                  <a:pt x="1512678" y="612758"/>
                </a:lnTo>
                <a:lnTo>
                  <a:pt x="1260565" y="612758"/>
                </a:lnTo>
                <a:lnTo>
                  <a:pt x="882395" y="612758"/>
                </a:lnTo>
                <a:lnTo>
                  <a:pt x="0" y="612758"/>
                </a:lnTo>
                <a:lnTo>
                  <a:pt x="0" y="255316"/>
                </a:lnTo>
                <a:lnTo>
                  <a:pt x="0" y="10212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4852" y="5161788"/>
            <a:ext cx="98234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4" dirty="0">
                <a:solidFill>
                  <a:srgbClr val="1F1F1F"/>
                </a:solidFill>
                <a:latin typeface="Trebuchet MS"/>
                <a:cs typeface="Trebuchet MS"/>
              </a:rPr>
              <a:t>3°</a:t>
            </a:r>
            <a:r>
              <a:rPr sz="2000" b="1" spc="-3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9845" y="3262697"/>
            <a:ext cx="2903220" cy="572770"/>
          </a:xfrm>
          <a:custGeom>
            <a:avLst/>
            <a:gdLst/>
            <a:ahLst/>
            <a:cxnLst/>
            <a:rect l="l" t="t" r="r" b="b"/>
            <a:pathLst>
              <a:path w="2903220" h="572770">
                <a:moveTo>
                  <a:pt x="0" y="0"/>
                </a:moveTo>
                <a:lnTo>
                  <a:pt x="929520" y="0"/>
                </a:lnTo>
                <a:lnTo>
                  <a:pt x="1327886" y="0"/>
                </a:lnTo>
                <a:lnTo>
                  <a:pt x="1593463" y="0"/>
                </a:lnTo>
                <a:lnTo>
                  <a:pt x="1593463" y="334101"/>
                </a:lnTo>
                <a:lnTo>
                  <a:pt x="2903034" y="309335"/>
                </a:lnTo>
                <a:lnTo>
                  <a:pt x="1593463" y="477288"/>
                </a:lnTo>
                <a:lnTo>
                  <a:pt x="1593463" y="572747"/>
                </a:lnTo>
                <a:lnTo>
                  <a:pt x="1327886" y="572747"/>
                </a:lnTo>
                <a:lnTo>
                  <a:pt x="929520" y="572747"/>
                </a:lnTo>
                <a:lnTo>
                  <a:pt x="0" y="572747"/>
                </a:lnTo>
                <a:lnTo>
                  <a:pt x="0" y="477288"/>
                </a:lnTo>
                <a:lnTo>
                  <a:pt x="0" y="334101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18251" y="3372611"/>
            <a:ext cx="11366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2</a:t>
            </a:r>
            <a:r>
              <a:rPr sz="1950" b="1" baseline="25641" dirty="0">
                <a:latin typeface="Trebuchet MS"/>
                <a:cs typeface="Trebuchet MS"/>
              </a:rPr>
              <a:t>nd</a:t>
            </a:r>
            <a:r>
              <a:rPr sz="1950" b="1" spc="187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4641" y="2965185"/>
            <a:ext cx="3786504" cy="1296670"/>
            <a:chOff x="4014641" y="2965185"/>
            <a:chExt cx="3786504" cy="1296670"/>
          </a:xfrm>
        </p:grpSpPr>
        <p:sp>
          <p:nvSpPr>
            <p:cNvPr id="14" name="object 14"/>
            <p:cNvSpPr/>
            <p:nvPr/>
          </p:nvSpPr>
          <p:spPr>
            <a:xfrm>
              <a:off x="4020991" y="2971535"/>
              <a:ext cx="3773804" cy="1283970"/>
            </a:xfrm>
            <a:custGeom>
              <a:avLst/>
              <a:gdLst/>
              <a:ahLst/>
              <a:cxnLst/>
              <a:rect l="l" t="t" r="r" b="b"/>
              <a:pathLst>
                <a:path w="3773804" h="1283970">
                  <a:moveTo>
                    <a:pt x="3559562" y="0"/>
                  </a:moveTo>
                  <a:lnTo>
                    <a:pt x="213965" y="0"/>
                  </a:lnTo>
                  <a:lnTo>
                    <a:pt x="164905" y="5651"/>
                  </a:lnTo>
                  <a:lnTo>
                    <a:pt x="119869" y="21747"/>
                  </a:lnTo>
                  <a:lnTo>
                    <a:pt x="80141" y="47005"/>
                  </a:lnTo>
                  <a:lnTo>
                    <a:pt x="47005" y="80141"/>
                  </a:lnTo>
                  <a:lnTo>
                    <a:pt x="21747" y="119869"/>
                  </a:lnTo>
                  <a:lnTo>
                    <a:pt x="5651" y="164905"/>
                  </a:lnTo>
                  <a:lnTo>
                    <a:pt x="0" y="213965"/>
                  </a:lnTo>
                  <a:lnTo>
                    <a:pt x="0" y="1069806"/>
                  </a:lnTo>
                  <a:lnTo>
                    <a:pt x="5651" y="1118866"/>
                  </a:lnTo>
                  <a:lnTo>
                    <a:pt x="21747" y="1163902"/>
                  </a:lnTo>
                  <a:lnTo>
                    <a:pt x="47005" y="1203630"/>
                  </a:lnTo>
                  <a:lnTo>
                    <a:pt x="80141" y="1236765"/>
                  </a:lnTo>
                  <a:lnTo>
                    <a:pt x="119869" y="1262023"/>
                  </a:lnTo>
                  <a:lnTo>
                    <a:pt x="164905" y="1278119"/>
                  </a:lnTo>
                  <a:lnTo>
                    <a:pt x="213965" y="1283770"/>
                  </a:lnTo>
                  <a:lnTo>
                    <a:pt x="3559562" y="1283770"/>
                  </a:lnTo>
                  <a:lnTo>
                    <a:pt x="3608622" y="1278119"/>
                  </a:lnTo>
                  <a:lnTo>
                    <a:pt x="3653658" y="1262023"/>
                  </a:lnTo>
                  <a:lnTo>
                    <a:pt x="3693386" y="1236765"/>
                  </a:lnTo>
                  <a:lnTo>
                    <a:pt x="3726521" y="1203630"/>
                  </a:lnTo>
                  <a:lnTo>
                    <a:pt x="3751779" y="1163902"/>
                  </a:lnTo>
                  <a:lnTo>
                    <a:pt x="3767875" y="1118866"/>
                  </a:lnTo>
                  <a:lnTo>
                    <a:pt x="3773526" y="1069806"/>
                  </a:lnTo>
                  <a:lnTo>
                    <a:pt x="3773526" y="213965"/>
                  </a:lnTo>
                  <a:lnTo>
                    <a:pt x="3767875" y="164905"/>
                  </a:lnTo>
                  <a:lnTo>
                    <a:pt x="3751779" y="119869"/>
                  </a:lnTo>
                  <a:lnTo>
                    <a:pt x="3726521" y="80141"/>
                  </a:lnTo>
                  <a:lnTo>
                    <a:pt x="3693386" y="47005"/>
                  </a:lnTo>
                  <a:lnTo>
                    <a:pt x="3653658" y="21747"/>
                  </a:lnTo>
                  <a:lnTo>
                    <a:pt x="3608622" y="5651"/>
                  </a:lnTo>
                  <a:lnTo>
                    <a:pt x="355956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0991" y="2971535"/>
              <a:ext cx="3773804" cy="1283970"/>
            </a:xfrm>
            <a:custGeom>
              <a:avLst/>
              <a:gdLst/>
              <a:ahLst/>
              <a:cxnLst/>
              <a:rect l="l" t="t" r="r" b="b"/>
              <a:pathLst>
                <a:path w="3773804" h="1283970">
                  <a:moveTo>
                    <a:pt x="0" y="213965"/>
                  </a:moveTo>
                  <a:lnTo>
                    <a:pt x="5650" y="164905"/>
                  </a:lnTo>
                  <a:lnTo>
                    <a:pt x="21747" y="119868"/>
                  </a:lnTo>
                  <a:lnTo>
                    <a:pt x="47005" y="80140"/>
                  </a:lnTo>
                  <a:lnTo>
                    <a:pt x="80140" y="47005"/>
                  </a:lnTo>
                  <a:lnTo>
                    <a:pt x="119868" y="21747"/>
                  </a:lnTo>
                  <a:lnTo>
                    <a:pt x="164904" y="5650"/>
                  </a:lnTo>
                  <a:lnTo>
                    <a:pt x="213965" y="0"/>
                  </a:lnTo>
                  <a:lnTo>
                    <a:pt x="3559562" y="0"/>
                  </a:lnTo>
                  <a:lnTo>
                    <a:pt x="3608622" y="5650"/>
                  </a:lnTo>
                  <a:lnTo>
                    <a:pt x="3653658" y="21747"/>
                  </a:lnTo>
                  <a:lnTo>
                    <a:pt x="3693385" y="47005"/>
                  </a:lnTo>
                  <a:lnTo>
                    <a:pt x="3726521" y="80140"/>
                  </a:lnTo>
                  <a:lnTo>
                    <a:pt x="3751779" y="119868"/>
                  </a:lnTo>
                  <a:lnTo>
                    <a:pt x="3767876" y="164905"/>
                  </a:lnTo>
                  <a:lnTo>
                    <a:pt x="3773527" y="213965"/>
                  </a:lnTo>
                  <a:lnTo>
                    <a:pt x="3773527" y="1069806"/>
                  </a:lnTo>
                  <a:lnTo>
                    <a:pt x="3767876" y="1118866"/>
                  </a:lnTo>
                  <a:lnTo>
                    <a:pt x="3751779" y="1163902"/>
                  </a:lnTo>
                  <a:lnTo>
                    <a:pt x="3726521" y="1203630"/>
                  </a:lnTo>
                  <a:lnTo>
                    <a:pt x="3693385" y="1236765"/>
                  </a:lnTo>
                  <a:lnTo>
                    <a:pt x="3653658" y="1262023"/>
                  </a:lnTo>
                  <a:lnTo>
                    <a:pt x="3608622" y="1278120"/>
                  </a:lnTo>
                  <a:lnTo>
                    <a:pt x="3559562" y="1283771"/>
                  </a:lnTo>
                  <a:lnTo>
                    <a:pt x="213965" y="1283771"/>
                  </a:lnTo>
                  <a:lnTo>
                    <a:pt x="164904" y="1278120"/>
                  </a:lnTo>
                  <a:lnTo>
                    <a:pt x="119868" y="1262023"/>
                  </a:lnTo>
                  <a:lnTo>
                    <a:pt x="80140" y="1236765"/>
                  </a:lnTo>
                  <a:lnTo>
                    <a:pt x="47005" y="1203630"/>
                  </a:lnTo>
                  <a:lnTo>
                    <a:pt x="21747" y="1163902"/>
                  </a:lnTo>
                  <a:lnTo>
                    <a:pt x="5650" y="1118866"/>
                  </a:lnTo>
                  <a:lnTo>
                    <a:pt x="0" y="1069806"/>
                  </a:lnTo>
                  <a:lnTo>
                    <a:pt x="0" y="213965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62400" y="3038347"/>
            <a:ext cx="3274060" cy="112268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98450" marR="57785" indent="-285750">
              <a:lnSpc>
                <a:spcPct val="105000"/>
              </a:lnSpc>
              <a:spcBef>
                <a:spcPts val="2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Life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Cycle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(SDLC)</a:t>
            </a:r>
            <a:endParaRPr sz="1200">
              <a:latin typeface="Trebuchet MS"/>
              <a:cs typeface="Trebuchet MS"/>
            </a:endParaRPr>
          </a:p>
          <a:p>
            <a:pPr marL="298450" marR="273050" indent="-285750">
              <a:lnSpc>
                <a:spcPts val="142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integrated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SDLC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phases</a:t>
            </a:r>
            <a:endParaRPr sz="1200">
              <a:latin typeface="Trebuchet MS"/>
              <a:cs typeface="Trebuchet MS"/>
            </a:endParaRPr>
          </a:p>
          <a:p>
            <a:pPr marL="298450" marR="5080" indent="-285750">
              <a:lnSpc>
                <a:spcPts val="1390"/>
              </a:lnSpc>
              <a:spcBef>
                <a:spcPts val="8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requirements: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sources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types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53267" y="4676260"/>
            <a:ext cx="3342004" cy="1397635"/>
            <a:chOff x="6253267" y="4676260"/>
            <a:chExt cx="3342004" cy="1397635"/>
          </a:xfrm>
        </p:grpSpPr>
        <p:sp>
          <p:nvSpPr>
            <p:cNvPr id="18" name="object 18"/>
            <p:cNvSpPr/>
            <p:nvPr/>
          </p:nvSpPr>
          <p:spPr>
            <a:xfrm>
              <a:off x="6259617" y="4682610"/>
              <a:ext cx="3329304" cy="1384935"/>
            </a:xfrm>
            <a:custGeom>
              <a:avLst/>
              <a:gdLst/>
              <a:ahLst/>
              <a:cxnLst/>
              <a:rect l="l" t="t" r="r" b="b"/>
              <a:pathLst>
                <a:path w="3329304" h="1384935">
                  <a:moveTo>
                    <a:pt x="3098462" y="0"/>
                  </a:moveTo>
                  <a:lnTo>
                    <a:pt x="230764" y="0"/>
                  </a:lnTo>
                  <a:lnTo>
                    <a:pt x="184257" y="4688"/>
                  </a:lnTo>
                  <a:lnTo>
                    <a:pt x="140940" y="18134"/>
                  </a:lnTo>
                  <a:lnTo>
                    <a:pt x="101741" y="39410"/>
                  </a:lnTo>
                  <a:lnTo>
                    <a:pt x="67589" y="67588"/>
                  </a:lnTo>
                  <a:lnTo>
                    <a:pt x="39410" y="101741"/>
                  </a:lnTo>
                  <a:lnTo>
                    <a:pt x="18134" y="140939"/>
                  </a:lnTo>
                  <a:lnTo>
                    <a:pt x="4688" y="184255"/>
                  </a:lnTo>
                  <a:lnTo>
                    <a:pt x="0" y="230762"/>
                  </a:lnTo>
                  <a:lnTo>
                    <a:pt x="0" y="1153793"/>
                  </a:lnTo>
                  <a:lnTo>
                    <a:pt x="4688" y="1200300"/>
                  </a:lnTo>
                  <a:lnTo>
                    <a:pt x="18134" y="1243617"/>
                  </a:lnTo>
                  <a:lnTo>
                    <a:pt x="39410" y="1282815"/>
                  </a:lnTo>
                  <a:lnTo>
                    <a:pt x="67589" y="1316968"/>
                  </a:lnTo>
                  <a:lnTo>
                    <a:pt x="101741" y="1345146"/>
                  </a:lnTo>
                  <a:lnTo>
                    <a:pt x="140940" y="1366423"/>
                  </a:lnTo>
                  <a:lnTo>
                    <a:pt x="184257" y="1379869"/>
                  </a:lnTo>
                  <a:lnTo>
                    <a:pt x="230764" y="1384557"/>
                  </a:lnTo>
                  <a:lnTo>
                    <a:pt x="3098462" y="1384557"/>
                  </a:lnTo>
                  <a:lnTo>
                    <a:pt x="3144968" y="1379869"/>
                  </a:lnTo>
                  <a:lnTo>
                    <a:pt x="3188285" y="1366423"/>
                  </a:lnTo>
                  <a:lnTo>
                    <a:pt x="3227483" y="1345146"/>
                  </a:lnTo>
                  <a:lnTo>
                    <a:pt x="3261635" y="1316968"/>
                  </a:lnTo>
                  <a:lnTo>
                    <a:pt x="3289814" y="1282815"/>
                  </a:lnTo>
                  <a:lnTo>
                    <a:pt x="3311090" y="1243617"/>
                  </a:lnTo>
                  <a:lnTo>
                    <a:pt x="3324536" y="1200300"/>
                  </a:lnTo>
                  <a:lnTo>
                    <a:pt x="3329224" y="1153793"/>
                  </a:lnTo>
                  <a:lnTo>
                    <a:pt x="3329224" y="230762"/>
                  </a:lnTo>
                  <a:lnTo>
                    <a:pt x="3324536" y="184255"/>
                  </a:lnTo>
                  <a:lnTo>
                    <a:pt x="3311090" y="140939"/>
                  </a:lnTo>
                  <a:lnTo>
                    <a:pt x="3289814" y="101741"/>
                  </a:lnTo>
                  <a:lnTo>
                    <a:pt x="3261635" y="67588"/>
                  </a:lnTo>
                  <a:lnTo>
                    <a:pt x="3227483" y="39410"/>
                  </a:lnTo>
                  <a:lnTo>
                    <a:pt x="3188285" y="18134"/>
                  </a:lnTo>
                  <a:lnTo>
                    <a:pt x="3144968" y="4688"/>
                  </a:lnTo>
                  <a:lnTo>
                    <a:pt x="309846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59617" y="4682610"/>
              <a:ext cx="3329304" cy="1384935"/>
            </a:xfrm>
            <a:custGeom>
              <a:avLst/>
              <a:gdLst/>
              <a:ahLst/>
              <a:cxnLst/>
              <a:rect l="l" t="t" r="r" b="b"/>
              <a:pathLst>
                <a:path w="3329304" h="1384935">
                  <a:moveTo>
                    <a:pt x="0" y="230763"/>
                  </a:moveTo>
                  <a:lnTo>
                    <a:pt x="4688" y="184256"/>
                  </a:lnTo>
                  <a:lnTo>
                    <a:pt x="18134" y="140939"/>
                  </a:lnTo>
                  <a:lnTo>
                    <a:pt x="39410" y="101741"/>
                  </a:lnTo>
                  <a:lnTo>
                    <a:pt x="67588" y="67589"/>
                  </a:lnTo>
                  <a:lnTo>
                    <a:pt x="101741" y="39410"/>
                  </a:lnTo>
                  <a:lnTo>
                    <a:pt x="140939" y="18134"/>
                  </a:lnTo>
                  <a:lnTo>
                    <a:pt x="184256" y="4688"/>
                  </a:lnTo>
                  <a:lnTo>
                    <a:pt x="230762" y="0"/>
                  </a:lnTo>
                  <a:lnTo>
                    <a:pt x="3098461" y="0"/>
                  </a:lnTo>
                  <a:lnTo>
                    <a:pt x="3144967" y="4688"/>
                  </a:lnTo>
                  <a:lnTo>
                    <a:pt x="3188284" y="18134"/>
                  </a:lnTo>
                  <a:lnTo>
                    <a:pt x="3227482" y="39410"/>
                  </a:lnTo>
                  <a:lnTo>
                    <a:pt x="3261635" y="67589"/>
                  </a:lnTo>
                  <a:lnTo>
                    <a:pt x="3289813" y="101741"/>
                  </a:lnTo>
                  <a:lnTo>
                    <a:pt x="3311089" y="140939"/>
                  </a:lnTo>
                  <a:lnTo>
                    <a:pt x="3324535" y="184256"/>
                  </a:lnTo>
                  <a:lnTo>
                    <a:pt x="3329224" y="230763"/>
                  </a:lnTo>
                  <a:lnTo>
                    <a:pt x="3329224" y="1153795"/>
                  </a:lnTo>
                  <a:lnTo>
                    <a:pt x="3324535" y="1200301"/>
                  </a:lnTo>
                  <a:lnTo>
                    <a:pt x="3311089" y="1243618"/>
                  </a:lnTo>
                  <a:lnTo>
                    <a:pt x="3289813" y="1282816"/>
                  </a:lnTo>
                  <a:lnTo>
                    <a:pt x="3261635" y="1316969"/>
                  </a:lnTo>
                  <a:lnTo>
                    <a:pt x="3227482" y="1345147"/>
                  </a:lnTo>
                  <a:lnTo>
                    <a:pt x="3188284" y="1366423"/>
                  </a:lnTo>
                  <a:lnTo>
                    <a:pt x="3144967" y="1379869"/>
                  </a:lnTo>
                  <a:lnTo>
                    <a:pt x="3098461" y="1384558"/>
                  </a:lnTo>
                  <a:lnTo>
                    <a:pt x="230762" y="1384558"/>
                  </a:lnTo>
                  <a:lnTo>
                    <a:pt x="184256" y="1379869"/>
                  </a:lnTo>
                  <a:lnTo>
                    <a:pt x="140939" y="1366423"/>
                  </a:lnTo>
                  <a:lnTo>
                    <a:pt x="101741" y="1345147"/>
                  </a:lnTo>
                  <a:lnTo>
                    <a:pt x="67588" y="1316969"/>
                  </a:lnTo>
                  <a:lnTo>
                    <a:pt x="39410" y="1282816"/>
                  </a:lnTo>
                  <a:lnTo>
                    <a:pt x="18134" y="1243618"/>
                  </a:lnTo>
                  <a:lnTo>
                    <a:pt x="4688" y="1200301"/>
                  </a:lnTo>
                  <a:lnTo>
                    <a:pt x="0" y="1153795"/>
                  </a:lnTo>
                  <a:lnTo>
                    <a:pt x="0" y="23076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05948" y="4891532"/>
            <a:ext cx="303149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Risk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Projects</a:t>
            </a:r>
            <a:endParaRPr sz="1200">
              <a:latin typeface="Trebuchet MS"/>
              <a:cs typeface="Trebuchet MS"/>
            </a:endParaRPr>
          </a:p>
          <a:p>
            <a:pPr marL="298450" marR="139700" indent="-285750">
              <a:lnSpc>
                <a:spcPts val="1390"/>
              </a:lnSpc>
              <a:spcBef>
                <a:spcPts val="16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Identifying,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analyzing,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mitigating risks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35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standards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endParaRPr sz="12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70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NIST,</a:t>
            </a:r>
            <a:r>
              <a:rPr sz="12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FIPS)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10DA60D-2AC9-EA41-996C-27E5A4DEDF9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35" y="375411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learn?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27925" y="1210998"/>
            <a:ext cx="3467735" cy="1332230"/>
            <a:chOff x="6127925" y="1210998"/>
            <a:chExt cx="3467735" cy="1332230"/>
          </a:xfrm>
        </p:grpSpPr>
        <p:sp>
          <p:nvSpPr>
            <p:cNvPr id="4" name="object 4"/>
            <p:cNvSpPr/>
            <p:nvPr/>
          </p:nvSpPr>
          <p:spPr>
            <a:xfrm>
              <a:off x="6134275" y="1217348"/>
              <a:ext cx="3455035" cy="1319530"/>
            </a:xfrm>
            <a:custGeom>
              <a:avLst/>
              <a:gdLst/>
              <a:ahLst/>
              <a:cxnLst/>
              <a:rect l="l" t="t" r="r" b="b"/>
              <a:pathLst>
                <a:path w="3455034" h="1319530">
                  <a:moveTo>
                    <a:pt x="3234743" y="0"/>
                  </a:moveTo>
                  <a:lnTo>
                    <a:pt x="219825" y="0"/>
                  </a:lnTo>
                  <a:lnTo>
                    <a:pt x="175523" y="4466"/>
                  </a:lnTo>
                  <a:lnTo>
                    <a:pt x="134259" y="17275"/>
                  </a:lnTo>
                  <a:lnTo>
                    <a:pt x="96919" y="37542"/>
                  </a:lnTo>
                  <a:lnTo>
                    <a:pt x="64385" y="64385"/>
                  </a:lnTo>
                  <a:lnTo>
                    <a:pt x="37542" y="96919"/>
                  </a:lnTo>
                  <a:lnTo>
                    <a:pt x="17275" y="134259"/>
                  </a:lnTo>
                  <a:lnTo>
                    <a:pt x="4466" y="175523"/>
                  </a:lnTo>
                  <a:lnTo>
                    <a:pt x="0" y="219825"/>
                  </a:lnTo>
                  <a:lnTo>
                    <a:pt x="0" y="1099093"/>
                  </a:lnTo>
                  <a:lnTo>
                    <a:pt x="4466" y="1143395"/>
                  </a:lnTo>
                  <a:lnTo>
                    <a:pt x="17275" y="1184659"/>
                  </a:lnTo>
                  <a:lnTo>
                    <a:pt x="37542" y="1221999"/>
                  </a:lnTo>
                  <a:lnTo>
                    <a:pt x="64385" y="1254533"/>
                  </a:lnTo>
                  <a:lnTo>
                    <a:pt x="96919" y="1281376"/>
                  </a:lnTo>
                  <a:lnTo>
                    <a:pt x="134259" y="1301644"/>
                  </a:lnTo>
                  <a:lnTo>
                    <a:pt x="175523" y="1314453"/>
                  </a:lnTo>
                  <a:lnTo>
                    <a:pt x="219825" y="1318919"/>
                  </a:lnTo>
                  <a:lnTo>
                    <a:pt x="3234743" y="1318919"/>
                  </a:lnTo>
                  <a:lnTo>
                    <a:pt x="3279045" y="1314453"/>
                  </a:lnTo>
                  <a:lnTo>
                    <a:pt x="3320308" y="1301644"/>
                  </a:lnTo>
                  <a:lnTo>
                    <a:pt x="3357649" y="1281376"/>
                  </a:lnTo>
                  <a:lnTo>
                    <a:pt x="3390182" y="1254533"/>
                  </a:lnTo>
                  <a:lnTo>
                    <a:pt x="3417025" y="1221999"/>
                  </a:lnTo>
                  <a:lnTo>
                    <a:pt x="3437292" y="1184659"/>
                  </a:lnTo>
                  <a:lnTo>
                    <a:pt x="3450101" y="1143395"/>
                  </a:lnTo>
                  <a:lnTo>
                    <a:pt x="3454567" y="1099093"/>
                  </a:lnTo>
                  <a:lnTo>
                    <a:pt x="3454567" y="219825"/>
                  </a:lnTo>
                  <a:lnTo>
                    <a:pt x="3450101" y="175523"/>
                  </a:lnTo>
                  <a:lnTo>
                    <a:pt x="3437292" y="134259"/>
                  </a:lnTo>
                  <a:lnTo>
                    <a:pt x="3417025" y="96919"/>
                  </a:lnTo>
                  <a:lnTo>
                    <a:pt x="3390182" y="64385"/>
                  </a:lnTo>
                  <a:lnTo>
                    <a:pt x="3357649" y="37542"/>
                  </a:lnTo>
                  <a:lnTo>
                    <a:pt x="3320308" y="17275"/>
                  </a:lnTo>
                  <a:lnTo>
                    <a:pt x="3279045" y="4466"/>
                  </a:lnTo>
                  <a:lnTo>
                    <a:pt x="323474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4275" y="1217348"/>
              <a:ext cx="3455035" cy="1319530"/>
            </a:xfrm>
            <a:custGeom>
              <a:avLst/>
              <a:gdLst/>
              <a:ahLst/>
              <a:cxnLst/>
              <a:rect l="l" t="t" r="r" b="b"/>
              <a:pathLst>
                <a:path w="3455034" h="1319530">
                  <a:moveTo>
                    <a:pt x="0" y="219824"/>
                  </a:moveTo>
                  <a:lnTo>
                    <a:pt x="4466" y="175522"/>
                  </a:lnTo>
                  <a:lnTo>
                    <a:pt x="17274" y="134259"/>
                  </a:lnTo>
                  <a:lnTo>
                    <a:pt x="37542" y="96918"/>
                  </a:lnTo>
                  <a:lnTo>
                    <a:pt x="64385" y="64385"/>
                  </a:lnTo>
                  <a:lnTo>
                    <a:pt x="96918" y="37542"/>
                  </a:lnTo>
                  <a:lnTo>
                    <a:pt x="134258" y="17274"/>
                  </a:lnTo>
                  <a:lnTo>
                    <a:pt x="175522" y="4466"/>
                  </a:lnTo>
                  <a:lnTo>
                    <a:pt x="219824" y="0"/>
                  </a:lnTo>
                  <a:lnTo>
                    <a:pt x="3234743" y="0"/>
                  </a:lnTo>
                  <a:lnTo>
                    <a:pt x="3279045" y="4466"/>
                  </a:lnTo>
                  <a:lnTo>
                    <a:pt x="3320308" y="17274"/>
                  </a:lnTo>
                  <a:lnTo>
                    <a:pt x="3357648" y="37542"/>
                  </a:lnTo>
                  <a:lnTo>
                    <a:pt x="3390181" y="64385"/>
                  </a:lnTo>
                  <a:lnTo>
                    <a:pt x="3417024" y="96918"/>
                  </a:lnTo>
                  <a:lnTo>
                    <a:pt x="3437292" y="134259"/>
                  </a:lnTo>
                  <a:lnTo>
                    <a:pt x="3450100" y="175522"/>
                  </a:lnTo>
                  <a:lnTo>
                    <a:pt x="3454567" y="219824"/>
                  </a:lnTo>
                  <a:lnTo>
                    <a:pt x="3454567" y="1099093"/>
                  </a:lnTo>
                  <a:lnTo>
                    <a:pt x="3450100" y="1143395"/>
                  </a:lnTo>
                  <a:lnTo>
                    <a:pt x="3437292" y="1184658"/>
                  </a:lnTo>
                  <a:lnTo>
                    <a:pt x="3417024" y="1221999"/>
                  </a:lnTo>
                  <a:lnTo>
                    <a:pt x="3390181" y="1254532"/>
                  </a:lnTo>
                  <a:lnTo>
                    <a:pt x="3357648" y="1281375"/>
                  </a:lnTo>
                  <a:lnTo>
                    <a:pt x="3320308" y="1301643"/>
                  </a:lnTo>
                  <a:lnTo>
                    <a:pt x="3279045" y="1314451"/>
                  </a:lnTo>
                  <a:lnTo>
                    <a:pt x="3234743" y="1318918"/>
                  </a:lnTo>
                  <a:lnTo>
                    <a:pt x="219824" y="1318918"/>
                  </a:lnTo>
                  <a:lnTo>
                    <a:pt x="175522" y="1314451"/>
                  </a:lnTo>
                  <a:lnTo>
                    <a:pt x="134258" y="1301643"/>
                  </a:lnTo>
                  <a:lnTo>
                    <a:pt x="96918" y="1281375"/>
                  </a:lnTo>
                  <a:lnTo>
                    <a:pt x="64385" y="1254532"/>
                  </a:lnTo>
                  <a:lnTo>
                    <a:pt x="37542" y="1221999"/>
                  </a:lnTo>
                  <a:lnTo>
                    <a:pt x="17274" y="1184658"/>
                  </a:lnTo>
                  <a:lnTo>
                    <a:pt x="4466" y="1143395"/>
                  </a:lnTo>
                  <a:lnTo>
                    <a:pt x="0" y="1099093"/>
                  </a:lnTo>
                  <a:lnTo>
                    <a:pt x="0" y="21982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7400" y="1212596"/>
            <a:ext cx="3161665" cy="13119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04800" indent="-285750">
              <a:lnSpc>
                <a:spcPct val="103299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principles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design considerations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38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Designing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design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principles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43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processes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best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practices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endParaRPr sz="1200">
              <a:latin typeface="Trebuchet MS"/>
              <a:cs typeface="Trebuchet MS"/>
            </a:endParaRPr>
          </a:p>
          <a:p>
            <a:pPr marL="298450">
              <a:lnSpc>
                <a:spcPts val="1430"/>
              </a:lnSpc>
              <a:spcBef>
                <a:spcPts val="50"/>
              </a:spcBef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OWASP</a:t>
            </a:r>
            <a:r>
              <a:rPr sz="1200" b="1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guides)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43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methodologies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STRIDE,</a:t>
            </a:r>
            <a:endParaRPr sz="12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45"/>
              </a:spcBef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DREAD,</a:t>
            </a:r>
            <a:r>
              <a:rPr sz="12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OCTAVE)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812" y="1255878"/>
            <a:ext cx="4970780" cy="707390"/>
          </a:xfrm>
          <a:custGeom>
            <a:avLst/>
            <a:gdLst/>
            <a:ahLst/>
            <a:cxnLst/>
            <a:rect l="l" t="t" r="r" b="b"/>
            <a:pathLst>
              <a:path w="4970780" h="707389">
                <a:moveTo>
                  <a:pt x="0" y="0"/>
                </a:moveTo>
                <a:lnTo>
                  <a:pt x="918145" y="0"/>
                </a:lnTo>
                <a:lnTo>
                  <a:pt x="1311636" y="0"/>
                </a:lnTo>
                <a:lnTo>
                  <a:pt x="1573963" y="0"/>
                </a:lnTo>
                <a:lnTo>
                  <a:pt x="1573963" y="412626"/>
                </a:lnTo>
                <a:lnTo>
                  <a:pt x="4970324" y="490503"/>
                </a:lnTo>
                <a:lnTo>
                  <a:pt x="1573963" y="589466"/>
                </a:lnTo>
                <a:lnTo>
                  <a:pt x="1573963" y="707359"/>
                </a:lnTo>
                <a:lnTo>
                  <a:pt x="1311636" y="707359"/>
                </a:lnTo>
                <a:lnTo>
                  <a:pt x="918145" y="707359"/>
                </a:lnTo>
                <a:lnTo>
                  <a:pt x="0" y="707359"/>
                </a:lnTo>
                <a:lnTo>
                  <a:pt x="0" y="589466"/>
                </a:lnTo>
                <a:lnTo>
                  <a:pt x="0" y="412626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95312" y="1431035"/>
            <a:ext cx="1097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4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82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45" y="5034279"/>
            <a:ext cx="5118735" cy="612775"/>
          </a:xfrm>
          <a:custGeom>
            <a:avLst/>
            <a:gdLst/>
            <a:ahLst/>
            <a:cxnLst/>
            <a:rect l="l" t="t" r="r" b="b"/>
            <a:pathLst>
              <a:path w="5118735" h="612775">
                <a:moveTo>
                  <a:pt x="0" y="0"/>
                </a:moveTo>
                <a:lnTo>
                  <a:pt x="882395" y="0"/>
                </a:lnTo>
                <a:lnTo>
                  <a:pt x="1260565" y="0"/>
                </a:lnTo>
                <a:lnTo>
                  <a:pt x="1512678" y="0"/>
                </a:lnTo>
                <a:lnTo>
                  <a:pt x="1512678" y="102125"/>
                </a:lnTo>
                <a:lnTo>
                  <a:pt x="5118116" y="285085"/>
                </a:lnTo>
                <a:lnTo>
                  <a:pt x="1512678" y="255316"/>
                </a:lnTo>
                <a:lnTo>
                  <a:pt x="1512678" y="612758"/>
                </a:lnTo>
                <a:lnTo>
                  <a:pt x="1260565" y="612758"/>
                </a:lnTo>
                <a:lnTo>
                  <a:pt x="882395" y="612758"/>
                </a:lnTo>
                <a:lnTo>
                  <a:pt x="0" y="612758"/>
                </a:lnTo>
                <a:lnTo>
                  <a:pt x="0" y="255316"/>
                </a:lnTo>
                <a:lnTo>
                  <a:pt x="0" y="10212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4852" y="5161788"/>
            <a:ext cx="982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4" dirty="0">
                <a:solidFill>
                  <a:srgbClr val="1F1F1F"/>
                </a:solidFill>
                <a:latin typeface="Trebuchet MS"/>
                <a:cs typeface="Trebuchet MS"/>
              </a:rPr>
              <a:t>6°</a:t>
            </a:r>
            <a:r>
              <a:rPr sz="2000" b="1" spc="-3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9845" y="3262697"/>
            <a:ext cx="2903220" cy="572770"/>
          </a:xfrm>
          <a:custGeom>
            <a:avLst/>
            <a:gdLst/>
            <a:ahLst/>
            <a:cxnLst/>
            <a:rect l="l" t="t" r="r" b="b"/>
            <a:pathLst>
              <a:path w="2903220" h="572770">
                <a:moveTo>
                  <a:pt x="0" y="0"/>
                </a:moveTo>
                <a:lnTo>
                  <a:pt x="929520" y="0"/>
                </a:lnTo>
                <a:lnTo>
                  <a:pt x="1327886" y="0"/>
                </a:lnTo>
                <a:lnTo>
                  <a:pt x="1593463" y="0"/>
                </a:lnTo>
                <a:lnTo>
                  <a:pt x="1593463" y="334101"/>
                </a:lnTo>
                <a:lnTo>
                  <a:pt x="2903034" y="309335"/>
                </a:lnTo>
                <a:lnTo>
                  <a:pt x="1593463" y="477288"/>
                </a:lnTo>
                <a:lnTo>
                  <a:pt x="1593463" y="572747"/>
                </a:lnTo>
                <a:lnTo>
                  <a:pt x="1327886" y="572747"/>
                </a:lnTo>
                <a:lnTo>
                  <a:pt x="929520" y="572747"/>
                </a:lnTo>
                <a:lnTo>
                  <a:pt x="0" y="572747"/>
                </a:lnTo>
                <a:lnTo>
                  <a:pt x="0" y="477288"/>
                </a:lnTo>
                <a:lnTo>
                  <a:pt x="0" y="334101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4782" y="3385311"/>
            <a:ext cx="1860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latin typeface="Trebuchet MS"/>
                <a:cs typeface="Trebuchet MS"/>
              </a:rPr>
              <a:t>th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3494" y="3372611"/>
            <a:ext cx="1046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sz="2000" b="1" spc="-50" dirty="0">
                <a:latin typeface="Trebuchet MS"/>
                <a:cs typeface="Trebuchet MS"/>
              </a:rPr>
              <a:t>5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14641" y="2965187"/>
            <a:ext cx="3335654" cy="1233805"/>
            <a:chOff x="4014641" y="2965187"/>
            <a:chExt cx="3335654" cy="1233805"/>
          </a:xfrm>
        </p:grpSpPr>
        <p:sp>
          <p:nvSpPr>
            <p:cNvPr id="15" name="object 15"/>
            <p:cNvSpPr/>
            <p:nvPr/>
          </p:nvSpPr>
          <p:spPr>
            <a:xfrm>
              <a:off x="4020991" y="2971537"/>
              <a:ext cx="3322954" cy="1221105"/>
            </a:xfrm>
            <a:custGeom>
              <a:avLst/>
              <a:gdLst/>
              <a:ahLst/>
              <a:cxnLst/>
              <a:rect l="l" t="t" r="r" b="b"/>
              <a:pathLst>
                <a:path w="3322954" h="1221104">
                  <a:moveTo>
                    <a:pt x="3118900" y="0"/>
                  </a:moveTo>
                  <a:lnTo>
                    <a:pt x="203443" y="0"/>
                  </a:lnTo>
                  <a:lnTo>
                    <a:pt x="156795" y="5373"/>
                  </a:lnTo>
                  <a:lnTo>
                    <a:pt x="113974" y="20678"/>
                  </a:lnTo>
                  <a:lnTo>
                    <a:pt x="76199" y="44694"/>
                  </a:lnTo>
                  <a:lnTo>
                    <a:pt x="44694" y="76199"/>
                  </a:lnTo>
                  <a:lnTo>
                    <a:pt x="20678" y="113973"/>
                  </a:lnTo>
                  <a:lnTo>
                    <a:pt x="5373" y="156795"/>
                  </a:lnTo>
                  <a:lnTo>
                    <a:pt x="0" y="203442"/>
                  </a:lnTo>
                  <a:lnTo>
                    <a:pt x="0" y="1017192"/>
                  </a:lnTo>
                  <a:lnTo>
                    <a:pt x="5373" y="1063840"/>
                  </a:lnTo>
                  <a:lnTo>
                    <a:pt x="20678" y="1106661"/>
                  </a:lnTo>
                  <a:lnTo>
                    <a:pt x="44694" y="1144435"/>
                  </a:lnTo>
                  <a:lnTo>
                    <a:pt x="76199" y="1175941"/>
                  </a:lnTo>
                  <a:lnTo>
                    <a:pt x="113974" y="1199956"/>
                  </a:lnTo>
                  <a:lnTo>
                    <a:pt x="156795" y="1215262"/>
                  </a:lnTo>
                  <a:lnTo>
                    <a:pt x="203443" y="1220635"/>
                  </a:lnTo>
                  <a:lnTo>
                    <a:pt x="3118900" y="1220635"/>
                  </a:lnTo>
                  <a:lnTo>
                    <a:pt x="3165547" y="1215262"/>
                  </a:lnTo>
                  <a:lnTo>
                    <a:pt x="3208369" y="1199956"/>
                  </a:lnTo>
                  <a:lnTo>
                    <a:pt x="3246143" y="1175941"/>
                  </a:lnTo>
                  <a:lnTo>
                    <a:pt x="3277649" y="1144435"/>
                  </a:lnTo>
                  <a:lnTo>
                    <a:pt x="3301665" y="1106661"/>
                  </a:lnTo>
                  <a:lnTo>
                    <a:pt x="3316970" y="1063840"/>
                  </a:lnTo>
                  <a:lnTo>
                    <a:pt x="3322344" y="1017192"/>
                  </a:lnTo>
                  <a:lnTo>
                    <a:pt x="3322344" y="203442"/>
                  </a:lnTo>
                  <a:lnTo>
                    <a:pt x="3316970" y="156795"/>
                  </a:lnTo>
                  <a:lnTo>
                    <a:pt x="3301665" y="113973"/>
                  </a:lnTo>
                  <a:lnTo>
                    <a:pt x="3277649" y="76199"/>
                  </a:lnTo>
                  <a:lnTo>
                    <a:pt x="3246143" y="44694"/>
                  </a:lnTo>
                  <a:lnTo>
                    <a:pt x="3208369" y="20678"/>
                  </a:lnTo>
                  <a:lnTo>
                    <a:pt x="3165547" y="5373"/>
                  </a:lnTo>
                  <a:lnTo>
                    <a:pt x="311890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20991" y="2971537"/>
              <a:ext cx="3322954" cy="1221105"/>
            </a:xfrm>
            <a:custGeom>
              <a:avLst/>
              <a:gdLst/>
              <a:ahLst/>
              <a:cxnLst/>
              <a:rect l="l" t="t" r="r" b="b"/>
              <a:pathLst>
                <a:path w="3322954" h="1221104">
                  <a:moveTo>
                    <a:pt x="0" y="203443"/>
                  </a:moveTo>
                  <a:lnTo>
                    <a:pt x="5373" y="156795"/>
                  </a:lnTo>
                  <a:lnTo>
                    <a:pt x="20678" y="113973"/>
                  </a:lnTo>
                  <a:lnTo>
                    <a:pt x="44694" y="76199"/>
                  </a:lnTo>
                  <a:lnTo>
                    <a:pt x="76199" y="44694"/>
                  </a:lnTo>
                  <a:lnTo>
                    <a:pt x="113973" y="20678"/>
                  </a:lnTo>
                  <a:lnTo>
                    <a:pt x="156795" y="5373"/>
                  </a:lnTo>
                  <a:lnTo>
                    <a:pt x="203442" y="0"/>
                  </a:lnTo>
                  <a:lnTo>
                    <a:pt x="3118900" y="0"/>
                  </a:lnTo>
                  <a:lnTo>
                    <a:pt x="3165547" y="5373"/>
                  </a:lnTo>
                  <a:lnTo>
                    <a:pt x="3208369" y="20678"/>
                  </a:lnTo>
                  <a:lnTo>
                    <a:pt x="3246143" y="44694"/>
                  </a:lnTo>
                  <a:lnTo>
                    <a:pt x="3277649" y="76199"/>
                  </a:lnTo>
                  <a:lnTo>
                    <a:pt x="3301664" y="113973"/>
                  </a:lnTo>
                  <a:lnTo>
                    <a:pt x="3316970" y="156795"/>
                  </a:lnTo>
                  <a:lnTo>
                    <a:pt x="3322343" y="203443"/>
                  </a:lnTo>
                  <a:lnTo>
                    <a:pt x="3322343" y="1017193"/>
                  </a:lnTo>
                  <a:lnTo>
                    <a:pt x="3316970" y="1063840"/>
                  </a:lnTo>
                  <a:lnTo>
                    <a:pt x="3301664" y="1106662"/>
                  </a:lnTo>
                  <a:lnTo>
                    <a:pt x="3277649" y="1144436"/>
                  </a:lnTo>
                  <a:lnTo>
                    <a:pt x="3246143" y="1175942"/>
                  </a:lnTo>
                  <a:lnTo>
                    <a:pt x="3208369" y="1199957"/>
                  </a:lnTo>
                  <a:lnTo>
                    <a:pt x="3165547" y="1215262"/>
                  </a:lnTo>
                  <a:lnTo>
                    <a:pt x="3118900" y="1220636"/>
                  </a:lnTo>
                  <a:lnTo>
                    <a:pt x="203442" y="1220636"/>
                  </a:lnTo>
                  <a:lnTo>
                    <a:pt x="156795" y="1215262"/>
                  </a:lnTo>
                  <a:lnTo>
                    <a:pt x="113973" y="1199957"/>
                  </a:lnTo>
                  <a:lnTo>
                    <a:pt x="76199" y="1175942"/>
                  </a:lnTo>
                  <a:lnTo>
                    <a:pt x="44694" y="1144436"/>
                  </a:lnTo>
                  <a:lnTo>
                    <a:pt x="20678" y="1106662"/>
                  </a:lnTo>
                  <a:lnTo>
                    <a:pt x="5373" y="1063840"/>
                  </a:lnTo>
                  <a:lnTo>
                    <a:pt x="0" y="1017193"/>
                  </a:lnTo>
                  <a:lnTo>
                    <a:pt x="0" y="20344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59318" y="3099308"/>
            <a:ext cx="2591435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Frameworks</a:t>
            </a:r>
            <a:endParaRPr sz="1200" dirty="0">
              <a:latin typeface="Trebuchet MS"/>
              <a:cs typeface="Trebuchet MS"/>
            </a:endParaRPr>
          </a:p>
          <a:p>
            <a:pPr marL="298450" marR="5080" indent="-285750">
              <a:lnSpc>
                <a:spcPts val="142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frameworks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FFFFFF"/>
                </a:solidFill>
                <a:latin typeface="Trebuchet MS"/>
                <a:cs typeface="Trebuchet MS"/>
              </a:rPr>
              <a:t>(e.g.,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Zachman,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COBIT,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SABSA)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34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Practical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examples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applying</a:t>
            </a:r>
            <a:endParaRPr sz="1200" dirty="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frameworks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53267" y="4776344"/>
            <a:ext cx="2814533" cy="1297551"/>
            <a:chOff x="6253267" y="4676260"/>
            <a:chExt cx="3342004" cy="1397635"/>
          </a:xfrm>
        </p:grpSpPr>
        <p:sp>
          <p:nvSpPr>
            <p:cNvPr id="19" name="object 19"/>
            <p:cNvSpPr/>
            <p:nvPr/>
          </p:nvSpPr>
          <p:spPr>
            <a:xfrm>
              <a:off x="6259617" y="4682610"/>
              <a:ext cx="3329304" cy="1384935"/>
            </a:xfrm>
            <a:custGeom>
              <a:avLst/>
              <a:gdLst/>
              <a:ahLst/>
              <a:cxnLst/>
              <a:rect l="l" t="t" r="r" b="b"/>
              <a:pathLst>
                <a:path w="3329304" h="1384935">
                  <a:moveTo>
                    <a:pt x="3098462" y="0"/>
                  </a:moveTo>
                  <a:lnTo>
                    <a:pt x="230764" y="0"/>
                  </a:lnTo>
                  <a:lnTo>
                    <a:pt x="184257" y="4688"/>
                  </a:lnTo>
                  <a:lnTo>
                    <a:pt x="140940" y="18134"/>
                  </a:lnTo>
                  <a:lnTo>
                    <a:pt x="101741" y="39410"/>
                  </a:lnTo>
                  <a:lnTo>
                    <a:pt x="67589" y="67588"/>
                  </a:lnTo>
                  <a:lnTo>
                    <a:pt x="39410" y="101741"/>
                  </a:lnTo>
                  <a:lnTo>
                    <a:pt x="18134" y="140939"/>
                  </a:lnTo>
                  <a:lnTo>
                    <a:pt x="4688" y="184255"/>
                  </a:lnTo>
                  <a:lnTo>
                    <a:pt x="0" y="230762"/>
                  </a:lnTo>
                  <a:lnTo>
                    <a:pt x="0" y="1153793"/>
                  </a:lnTo>
                  <a:lnTo>
                    <a:pt x="4688" y="1200300"/>
                  </a:lnTo>
                  <a:lnTo>
                    <a:pt x="18134" y="1243617"/>
                  </a:lnTo>
                  <a:lnTo>
                    <a:pt x="39410" y="1282815"/>
                  </a:lnTo>
                  <a:lnTo>
                    <a:pt x="67589" y="1316968"/>
                  </a:lnTo>
                  <a:lnTo>
                    <a:pt x="101741" y="1345146"/>
                  </a:lnTo>
                  <a:lnTo>
                    <a:pt x="140940" y="1366423"/>
                  </a:lnTo>
                  <a:lnTo>
                    <a:pt x="184257" y="1379869"/>
                  </a:lnTo>
                  <a:lnTo>
                    <a:pt x="230764" y="1384557"/>
                  </a:lnTo>
                  <a:lnTo>
                    <a:pt x="3098462" y="1384557"/>
                  </a:lnTo>
                  <a:lnTo>
                    <a:pt x="3144968" y="1379869"/>
                  </a:lnTo>
                  <a:lnTo>
                    <a:pt x="3188285" y="1366423"/>
                  </a:lnTo>
                  <a:lnTo>
                    <a:pt x="3227483" y="1345146"/>
                  </a:lnTo>
                  <a:lnTo>
                    <a:pt x="3261635" y="1316968"/>
                  </a:lnTo>
                  <a:lnTo>
                    <a:pt x="3289814" y="1282815"/>
                  </a:lnTo>
                  <a:lnTo>
                    <a:pt x="3311090" y="1243617"/>
                  </a:lnTo>
                  <a:lnTo>
                    <a:pt x="3324536" y="1200300"/>
                  </a:lnTo>
                  <a:lnTo>
                    <a:pt x="3329224" y="1153793"/>
                  </a:lnTo>
                  <a:lnTo>
                    <a:pt x="3329224" y="230762"/>
                  </a:lnTo>
                  <a:lnTo>
                    <a:pt x="3324536" y="184255"/>
                  </a:lnTo>
                  <a:lnTo>
                    <a:pt x="3311090" y="140939"/>
                  </a:lnTo>
                  <a:lnTo>
                    <a:pt x="3289814" y="101741"/>
                  </a:lnTo>
                  <a:lnTo>
                    <a:pt x="3261635" y="67588"/>
                  </a:lnTo>
                  <a:lnTo>
                    <a:pt x="3227483" y="39410"/>
                  </a:lnTo>
                  <a:lnTo>
                    <a:pt x="3188285" y="18134"/>
                  </a:lnTo>
                  <a:lnTo>
                    <a:pt x="3144968" y="4688"/>
                  </a:lnTo>
                  <a:lnTo>
                    <a:pt x="309846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9617" y="4682610"/>
              <a:ext cx="3329304" cy="1384935"/>
            </a:xfrm>
            <a:custGeom>
              <a:avLst/>
              <a:gdLst/>
              <a:ahLst/>
              <a:cxnLst/>
              <a:rect l="l" t="t" r="r" b="b"/>
              <a:pathLst>
                <a:path w="3329304" h="1384935">
                  <a:moveTo>
                    <a:pt x="0" y="230763"/>
                  </a:moveTo>
                  <a:lnTo>
                    <a:pt x="4688" y="184256"/>
                  </a:lnTo>
                  <a:lnTo>
                    <a:pt x="18134" y="140939"/>
                  </a:lnTo>
                  <a:lnTo>
                    <a:pt x="39410" y="101741"/>
                  </a:lnTo>
                  <a:lnTo>
                    <a:pt x="67588" y="67589"/>
                  </a:lnTo>
                  <a:lnTo>
                    <a:pt x="101741" y="39410"/>
                  </a:lnTo>
                  <a:lnTo>
                    <a:pt x="140939" y="18134"/>
                  </a:lnTo>
                  <a:lnTo>
                    <a:pt x="184256" y="4688"/>
                  </a:lnTo>
                  <a:lnTo>
                    <a:pt x="230762" y="0"/>
                  </a:lnTo>
                  <a:lnTo>
                    <a:pt x="3098461" y="0"/>
                  </a:lnTo>
                  <a:lnTo>
                    <a:pt x="3144967" y="4688"/>
                  </a:lnTo>
                  <a:lnTo>
                    <a:pt x="3188284" y="18134"/>
                  </a:lnTo>
                  <a:lnTo>
                    <a:pt x="3227482" y="39410"/>
                  </a:lnTo>
                  <a:lnTo>
                    <a:pt x="3261635" y="67589"/>
                  </a:lnTo>
                  <a:lnTo>
                    <a:pt x="3289813" y="101741"/>
                  </a:lnTo>
                  <a:lnTo>
                    <a:pt x="3311089" y="140939"/>
                  </a:lnTo>
                  <a:lnTo>
                    <a:pt x="3324535" y="184256"/>
                  </a:lnTo>
                  <a:lnTo>
                    <a:pt x="3329224" y="230763"/>
                  </a:lnTo>
                  <a:lnTo>
                    <a:pt x="3329224" y="1153795"/>
                  </a:lnTo>
                  <a:lnTo>
                    <a:pt x="3324535" y="1200301"/>
                  </a:lnTo>
                  <a:lnTo>
                    <a:pt x="3311089" y="1243618"/>
                  </a:lnTo>
                  <a:lnTo>
                    <a:pt x="3289813" y="1282816"/>
                  </a:lnTo>
                  <a:lnTo>
                    <a:pt x="3261635" y="1316969"/>
                  </a:lnTo>
                  <a:lnTo>
                    <a:pt x="3227482" y="1345147"/>
                  </a:lnTo>
                  <a:lnTo>
                    <a:pt x="3188284" y="1366423"/>
                  </a:lnTo>
                  <a:lnTo>
                    <a:pt x="3144967" y="1379869"/>
                  </a:lnTo>
                  <a:lnTo>
                    <a:pt x="3098461" y="1384558"/>
                  </a:lnTo>
                  <a:lnTo>
                    <a:pt x="230762" y="1384558"/>
                  </a:lnTo>
                  <a:lnTo>
                    <a:pt x="184256" y="1379869"/>
                  </a:lnTo>
                  <a:lnTo>
                    <a:pt x="140939" y="1366423"/>
                  </a:lnTo>
                  <a:lnTo>
                    <a:pt x="101741" y="1345147"/>
                  </a:lnTo>
                  <a:lnTo>
                    <a:pt x="67588" y="1316969"/>
                  </a:lnTo>
                  <a:lnTo>
                    <a:pt x="39410" y="1282816"/>
                  </a:lnTo>
                  <a:lnTo>
                    <a:pt x="18134" y="1243618"/>
                  </a:lnTo>
                  <a:lnTo>
                    <a:pt x="4688" y="1200301"/>
                  </a:lnTo>
                  <a:lnTo>
                    <a:pt x="0" y="1153795"/>
                  </a:lnTo>
                  <a:lnTo>
                    <a:pt x="0" y="23076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07575" y="5025811"/>
            <a:ext cx="3031490" cy="59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Security Mechanism</a:t>
            </a: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Mechanism and Policy</a:t>
            </a: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How to regulate access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4BC6154-4FB4-2144-9553-2C3C6E371B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35" y="375411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learn?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27926" y="1210998"/>
            <a:ext cx="3022600" cy="1276985"/>
            <a:chOff x="6127926" y="1210998"/>
            <a:chExt cx="3022600" cy="1276985"/>
          </a:xfrm>
        </p:grpSpPr>
        <p:sp>
          <p:nvSpPr>
            <p:cNvPr id="4" name="object 4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2799096" y="0"/>
                  </a:moveTo>
                  <a:lnTo>
                    <a:pt x="210628" y="0"/>
                  </a:lnTo>
                  <a:lnTo>
                    <a:pt x="162333" y="5562"/>
                  </a:lnTo>
                  <a:lnTo>
                    <a:pt x="117999" y="21408"/>
                  </a:lnTo>
                  <a:lnTo>
                    <a:pt x="78890" y="46273"/>
                  </a:lnTo>
                  <a:lnTo>
                    <a:pt x="46272" y="78891"/>
                  </a:lnTo>
                  <a:lnTo>
                    <a:pt x="21408" y="118000"/>
                  </a:lnTo>
                  <a:lnTo>
                    <a:pt x="5562" y="162334"/>
                  </a:lnTo>
                  <a:lnTo>
                    <a:pt x="0" y="210629"/>
                  </a:lnTo>
                  <a:lnTo>
                    <a:pt x="0" y="1053123"/>
                  </a:lnTo>
                  <a:lnTo>
                    <a:pt x="5562" y="1101418"/>
                  </a:lnTo>
                  <a:lnTo>
                    <a:pt x="21408" y="1145752"/>
                  </a:lnTo>
                  <a:lnTo>
                    <a:pt x="46272" y="1184860"/>
                  </a:lnTo>
                  <a:lnTo>
                    <a:pt x="78890" y="1217478"/>
                  </a:lnTo>
                  <a:lnTo>
                    <a:pt x="117999" y="1242343"/>
                  </a:lnTo>
                  <a:lnTo>
                    <a:pt x="162333" y="1258188"/>
                  </a:lnTo>
                  <a:lnTo>
                    <a:pt x="210628" y="1263751"/>
                  </a:lnTo>
                  <a:lnTo>
                    <a:pt x="2799096" y="1263751"/>
                  </a:lnTo>
                  <a:lnTo>
                    <a:pt x="2847391" y="1258188"/>
                  </a:lnTo>
                  <a:lnTo>
                    <a:pt x="2891725" y="1242343"/>
                  </a:lnTo>
                  <a:lnTo>
                    <a:pt x="2930833" y="1217478"/>
                  </a:lnTo>
                  <a:lnTo>
                    <a:pt x="2963452" y="1184860"/>
                  </a:lnTo>
                  <a:lnTo>
                    <a:pt x="2988316" y="1145752"/>
                  </a:lnTo>
                  <a:lnTo>
                    <a:pt x="3004161" y="1101418"/>
                  </a:lnTo>
                  <a:lnTo>
                    <a:pt x="3009724" y="1053123"/>
                  </a:lnTo>
                  <a:lnTo>
                    <a:pt x="3009724" y="210629"/>
                  </a:lnTo>
                  <a:lnTo>
                    <a:pt x="3004161" y="162334"/>
                  </a:lnTo>
                  <a:lnTo>
                    <a:pt x="2988316" y="118000"/>
                  </a:lnTo>
                  <a:lnTo>
                    <a:pt x="2963452" y="78891"/>
                  </a:lnTo>
                  <a:lnTo>
                    <a:pt x="2930833" y="46273"/>
                  </a:lnTo>
                  <a:lnTo>
                    <a:pt x="2891725" y="21408"/>
                  </a:lnTo>
                  <a:lnTo>
                    <a:pt x="2847391" y="5562"/>
                  </a:lnTo>
                  <a:lnTo>
                    <a:pt x="2799096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0" y="210628"/>
                  </a:moveTo>
                  <a:lnTo>
                    <a:pt x="5562" y="162333"/>
                  </a:lnTo>
                  <a:lnTo>
                    <a:pt x="21408" y="117999"/>
                  </a:lnTo>
                  <a:lnTo>
                    <a:pt x="46272" y="78891"/>
                  </a:lnTo>
                  <a:lnTo>
                    <a:pt x="78890" y="46272"/>
                  </a:lnTo>
                  <a:lnTo>
                    <a:pt x="117999" y="21408"/>
                  </a:lnTo>
                  <a:lnTo>
                    <a:pt x="162332" y="5562"/>
                  </a:lnTo>
                  <a:lnTo>
                    <a:pt x="210628" y="0"/>
                  </a:lnTo>
                  <a:lnTo>
                    <a:pt x="2799096" y="0"/>
                  </a:lnTo>
                  <a:lnTo>
                    <a:pt x="2847391" y="5562"/>
                  </a:lnTo>
                  <a:lnTo>
                    <a:pt x="2891725" y="21408"/>
                  </a:lnTo>
                  <a:lnTo>
                    <a:pt x="2930833" y="46272"/>
                  </a:lnTo>
                  <a:lnTo>
                    <a:pt x="2963451" y="78891"/>
                  </a:lnTo>
                  <a:lnTo>
                    <a:pt x="2988315" y="117999"/>
                  </a:lnTo>
                  <a:lnTo>
                    <a:pt x="3004161" y="162333"/>
                  </a:lnTo>
                  <a:lnTo>
                    <a:pt x="3009724" y="210628"/>
                  </a:lnTo>
                  <a:lnTo>
                    <a:pt x="3009724" y="1053123"/>
                  </a:lnTo>
                  <a:lnTo>
                    <a:pt x="3004161" y="1101417"/>
                  </a:lnTo>
                  <a:lnTo>
                    <a:pt x="2988315" y="1145751"/>
                  </a:lnTo>
                  <a:lnTo>
                    <a:pt x="2963451" y="1184859"/>
                  </a:lnTo>
                  <a:lnTo>
                    <a:pt x="2930833" y="1217478"/>
                  </a:lnTo>
                  <a:lnTo>
                    <a:pt x="2891725" y="1242342"/>
                  </a:lnTo>
                  <a:lnTo>
                    <a:pt x="2847391" y="1258188"/>
                  </a:lnTo>
                  <a:lnTo>
                    <a:pt x="2799096" y="1263751"/>
                  </a:lnTo>
                  <a:lnTo>
                    <a:pt x="210628" y="1263751"/>
                  </a:lnTo>
                  <a:lnTo>
                    <a:pt x="162332" y="1258188"/>
                  </a:lnTo>
                  <a:lnTo>
                    <a:pt x="117999" y="1242342"/>
                  </a:lnTo>
                  <a:lnTo>
                    <a:pt x="78890" y="1217478"/>
                  </a:lnTo>
                  <a:lnTo>
                    <a:pt x="46272" y="1184859"/>
                  </a:lnTo>
                  <a:lnTo>
                    <a:pt x="21408" y="1145751"/>
                  </a:lnTo>
                  <a:lnTo>
                    <a:pt x="5562" y="1101417"/>
                  </a:lnTo>
                  <a:lnTo>
                    <a:pt x="0" y="1053123"/>
                  </a:lnTo>
                  <a:lnTo>
                    <a:pt x="0" y="21062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4708" y="1368044"/>
            <a:ext cx="262953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Common</a:t>
            </a:r>
            <a:r>
              <a:rPr sz="12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Vulnerabilities</a:t>
            </a:r>
            <a:endParaRPr sz="1200">
              <a:latin typeface="Trebuchet MS"/>
              <a:cs typeface="Trebuchet MS"/>
            </a:endParaRPr>
          </a:p>
          <a:p>
            <a:pPr marL="298450" marR="111125" indent="-285750">
              <a:lnSpc>
                <a:spcPts val="1390"/>
              </a:lnSpc>
              <a:spcBef>
                <a:spcPts val="13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vulnerabilities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(e.g.,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buffer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overflow,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SQL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injection)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38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Exploitation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endParaRPr sz="12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50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impacts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812" y="1255878"/>
            <a:ext cx="4970780" cy="707390"/>
          </a:xfrm>
          <a:custGeom>
            <a:avLst/>
            <a:gdLst/>
            <a:ahLst/>
            <a:cxnLst/>
            <a:rect l="l" t="t" r="r" b="b"/>
            <a:pathLst>
              <a:path w="4970780" h="707389">
                <a:moveTo>
                  <a:pt x="0" y="0"/>
                </a:moveTo>
                <a:lnTo>
                  <a:pt x="918145" y="0"/>
                </a:lnTo>
                <a:lnTo>
                  <a:pt x="1311636" y="0"/>
                </a:lnTo>
                <a:lnTo>
                  <a:pt x="1573963" y="0"/>
                </a:lnTo>
                <a:lnTo>
                  <a:pt x="1573963" y="412626"/>
                </a:lnTo>
                <a:lnTo>
                  <a:pt x="4970324" y="490503"/>
                </a:lnTo>
                <a:lnTo>
                  <a:pt x="1573963" y="589466"/>
                </a:lnTo>
                <a:lnTo>
                  <a:pt x="1573963" y="707359"/>
                </a:lnTo>
                <a:lnTo>
                  <a:pt x="1311636" y="707359"/>
                </a:lnTo>
                <a:lnTo>
                  <a:pt x="918145" y="707359"/>
                </a:lnTo>
                <a:lnTo>
                  <a:pt x="0" y="707359"/>
                </a:lnTo>
                <a:lnTo>
                  <a:pt x="0" y="589466"/>
                </a:lnTo>
                <a:lnTo>
                  <a:pt x="0" y="412626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95312" y="1431035"/>
            <a:ext cx="1097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7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82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45" y="5034279"/>
            <a:ext cx="5118735" cy="612775"/>
          </a:xfrm>
          <a:custGeom>
            <a:avLst/>
            <a:gdLst/>
            <a:ahLst/>
            <a:cxnLst/>
            <a:rect l="l" t="t" r="r" b="b"/>
            <a:pathLst>
              <a:path w="5118735" h="612775">
                <a:moveTo>
                  <a:pt x="0" y="0"/>
                </a:moveTo>
                <a:lnTo>
                  <a:pt x="882395" y="0"/>
                </a:lnTo>
                <a:lnTo>
                  <a:pt x="1260565" y="0"/>
                </a:lnTo>
                <a:lnTo>
                  <a:pt x="1512678" y="0"/>
                </a:lnTo>
                <a:lnTo>
                  <a:pt x="1512678" y="102125"/>
                </a:lnTo>
                <a:lnTo>
                  <a:pt x="5118116" y="285085"/>
                </a:lnTo>
                <a:lnTo>
                  <a:pt x="1512678" y="255316"/>
                </a:lnTo>
                <a:lnTo>
                  <a:pt x="1512678" y="612758"/>
                </a:lnTo>
                <a:lnTo>
                  <a:pt x="1260565" y="612758"/>
                </a:lnTo>
                <a:lnTo>
                  <a:pt x="882395" y="612758"/>
                </a:lnTo>
                <a:lnTo>
                  <a:pt x="0" y="612758"/>
                </a:lnTo>
                <a:lnTo>
                  <a:pt x="0" y="255316"/>
                </a:lnTo>
                <a:lnTo>
                  <a:pt x="0" y="10212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4852" y="5161788"/>
            <a:ext cx="9829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4" dirty="0">
                <a:solidFill>
                  <a:srgbClr val="1F1F1F"/>
                </a:solidFill>
                <a:latin typeface="Trebuchet MS"/>
                <a:cs typeface="Trebuchet MS"/>
              </a:rPr>
              <a:t>9°</a:t>
            </a:r>
            <a:r>
              <a:rPr sz="2000" b="1" spc="-35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9845" y="3262697"/>
            <a:ext cx="2903220" cy="572770"/>
          </a:xfrm>
          <a:custGeom>
            <a:avLst/>
            <a:gdLst/>
            <a:ahLst/>
            <a:cxnLst/>
            <a:rect l="l" t="t" r="r" b="b"/>
            <a:pathLst>
              <a:path w="2903220" h="572770">
                <a:moveTo>
                  <a:pt x="0" y="0"/>
                </a:moveTo>
                <a:lnTo>
                  <a:pt x="929520" y="0"/>
                </a:lnTo>
                <a:lnTo>
                  <a:pt x="1327886" y="0"/>
                </a:lnTo>
                <a:lnTo>
                  <a:pt x="1593463" y="0"/>
                </a:lnTo>
                <a:lnTo>
                  <a:pt x="1593463" y="334101"/>
                </a:lnTo>
                <a:lnTo>
                  <a:pt x="2903034" y="309335"/>
                </a:lnTo>
                <a:lnTo>
                  <a:pt x="1593463" y="477288"/>
                </a:lnTo>
                <a:lnTo>
                  <a:pt x="1593463" y="572747"/>
                </a:lnTo>
                <a:lnTo>
                  <a:pt x="1327886" y="572747"/>
                </a:lnTo>
                <a:lnTo>
                  <a:pt x="929520" y="572747"/>
                </a:lnTo>
                <a:lnTo>
                  <a:pt x="0" y="572747"/>
                </a:lnTo>
                <a:lnTo>
                  <a:pt x="0" y="477288"/>
                </a:lnTo>
                <a:lnTo>
                  <a:pt x="0" y="334101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4782" y="3385311"/>
            <a:ext cx="1860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latin typeface="Trebuchet MS"/>
                <a:cs typeface="Trebuchet MS"/>
              </a:rPr>
              <a:t>th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3494" y="3372611"/>
            <a:ext cx="1046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sz="2000" b="1" spc="-50" dirty="0">
                <a:latin typeface="Trebuchet MS"/>
                <a:cs typeface="Trebuchet MS"/>
              </a:rPr>
              <a:t>8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14642" y="2965187"/>
            <a:ext cx="3011805" cy="1233805"/>
            <a:chOff x="4014642" y="2965187"/>
            <a:chExt cx="3011805" cy="1233805"/>
          </a:xfrm>
        </p:grpSpPr>
        <p:sp>
          <p:nvSpPr>
            <p:cNvPr id="15" name="object 15"/>
            <p:cNvSpPr/>
            <p:nvPr/>
          </p:nvSpPr>
          <p:spPr>
            <a:xfrm>
              <a:off x="4020992" y="2971537"/>
              <a:ext cx="2999105" cy="1221105"/>
            </a:xfrm>
            <a:custGeom>
              <a:avLst/>
              <a:gdLst/>
              <a:ahLst/>
              <a:cxnLst/>
              <a:rect l="l" t="t" r="r" b="b"/>
              <a:pathLst>
                <a:path w="2999104" h="1221104">
                  <a:moveTo>
                    <a:pt x="2795341" y="0"/>
                  </a:moveTo>
                  <a:lnTo>
                    <a:pt x="203445" y="0"/>
                  </a:lnTo>
                  <a:lnTo>
                    <a:pt x="156797" y="5373"/>
                  </a:lnTo>
                  <a:lnTo>
                    <a:pt x="113975" y="20678"/>
                  </a:lnTo>
                  <a:lnTo>
                    <a:pt x="76200" y="44694"/>
                  </a:lnTo>
                  <a:lnTo>
                    <a:pt x="44694" y="76200"/>
                  </a:lnTo>
                  <a:lnTo>
                    <a:pt x="20678" y="113975"/>
                  </a:lnTo>
                  <a:lnTo>
                    <a:pt x="5373" y="156797"/>
                  </a:lnTo>
                  <a:lnTo>
                    <a:pt x="0" y="203445"/>
                  </a:lnTo>
                  <a:lnTo>
                    <a:pt x="0" y="1017191"/>
                  </a:lnTo>
                  <a:lnTo>
                    <a:pt x="5373" y="1063839"/>
                  </a:lnTo>
                  <a:lnTo>
                    <a:pt x="20678" y="1106661"/>
                  </a:lnTo>
                  <a:lnTo>
                    <a:pt x="44694" y="1144435"/>
                  </a:lnTo>
                  <a:lnTo>
                    <a:pt x="76200" y="1175941"/>
                  </a:lnTo>
                  <a:lnTo>
                    <a:pt x="113975" y="1199957"/>
                  </a:lnTo>
                  <a:lnTo>
                    <a:pt x="156797" y="1215263"/>
                  </a:lnTo>
                  <a:lnTo>
                    <a:pt x="203445" y="1220636"/>
                  </a:lnTo>
                  <a:lnTo>
                    <a:pt x="2795341" y="1220636"/>
                  </a:lnTo>
                  <a:lnTo>
                    <a:pt x="2841989" y="1215263"/>
                  </a:lnTo>
                  <a:lnTo>
                    <a:pt x="2884811" y="1199957"/>
                  </a:lnTo>
                  <a:lnTo>
                    <a:pt x="2922585" y="1175941"/>
                  </a:lnTo>
                  <a:lnTo>
                    <a:pt x="2954091" y="1144435"/>
                  </a:lnTo>
                  <a:lnTo>
                    <a:pt x="2978107" y="1106661"/>
                  </a:lnTo>
                  <a:lnTo>
                    <a:pt x="2993413" y="1063839"/>
                  </a:lnTo>
                  <a:lnTo>
                    <a:pt x="2998786" y="1017191"/>
                  </a:lnTo>
                  <a:lnTo>
                    <a:pt x="2998786" y="203445"/>
                  </a:lnTo>
                  <a:lnTo>
                    <a:pt x="2993413" y="156797"/>
                  </a:lnTo>
                  <a:lnTo>
                    <a:pt x="2978107" y="113975"/>
                  </a:lnTo>
                  <a:lnTo>
                    <a:pt x="2954091" y="76200"/>
                  </a:lnTo>
                  <a:lnTo>
                    <a:pt x="2922585" y="44694"/>
                  </a:lnTo>
                  <a:lnTo>
                    <a:pt x="2884811" y="20678"/>
                  </a:lnTo>
                  <a:lnTo>
                    <a:pt x="2841989" y="5373"/>
                  </a:lnTo>
                  <a:lnTo>
                    <a:pt x="279534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20992" y="2971537"/>
              <a:ext cx="2999105" cy="1221105"/>
            </a:xfrm>
            <a:custGeom>
              <a:avLst/>
              <a:gdLst/>
              <a:ahLst/>
              <a:cxnLst/>
              <a:rect l="l" t="t" r="r" b="b"/>
              <a:pathLst>
                <a:path w="2999104" h="1221104">
                  <a:moveTo>
                    <a:pt x="0" y="203444"/>
                  </a:moveTo>
                  <a:lnTo>
                    <a:pt x="5373" y="156796"/>
                  </a:lnTo>
                  <a:lnTo>
                    <a:pt x="20678" y="113974"/>
                  </a:lnTo>
                  <a:lnTo>
                    <a:pt x="44694" y="76200"/>
                  </a:lnTo>
                  <a:lnTo>
                    <a:pt x="76200" y="44694"/>
                  </a:lnTo>
                  <a:lnTo>
                    <a:pt x="113974" y="20678"/>
                  </a:lnTo>
                  <a:lnTo>
                    <a:pt x="156796" y="5373"/>
                  </a:lnTo>
                  <a:lnTo>
                    <a:pt x="203444" y="0"/>
                  </a:lnTo>
                  <a:lnTo>
                    <a:pt x="2795341" y="0"/>
                  </a:lnTo>
                  <a:lnTo>
                    <a:pt x="2841989" y="5373"/>
                  </a:lnTo>
                  <a:lnTo>
                    <a:pt x="2884811" y="20678"/>
                  </a:lnTo>
                  <a:lnTo>
                    <a:pt x="2922585" y="44694"/>
                  </a:lnTo>
                  <a:lnTo>
                    <a:pt x="2954091" y="76200"/>
                  </a:lnTo>
                  <a:lnTo>
                    <a:pt x="2978107" y="113974"/>
                  </a:lnTo>
                  <a:lnTo>
                    <a:pt x="2993412" y="156796"/>
                  </a:lnTo>
                  <a:lnTo>
                    <a:pt x="2998786" y="203444"/>
                  </a:lnTo>
                  <a:lnTo>
                    <a:pt x="2998786" y="1017191"/>
                  </a:lnTo>
                  <a:lnTo>
                    <a:pt x="2993412" y="1063839"/>
                  </a:lnTo>
                  <a:lnTo>
                    <a:pt x="2978107" y="1106661"/>
                  </a:lnTo>
                  <a:lnTo>
                    <a:pt x="2954091" y="1144435"/>
                  </a:lnTo>
                  <a:lnTo>
                    <a:pt x="2922585" y="1175941"/>
                  </a:lnTo>
                  <a:lnTo>
                    <a:pt x="2884811" y="1199957"/>
                  </a:lnTo>
                  <a:lnTo>
                    <a:pt x="2841989" y="1215262"/>
                  </a:lnTo>
                  <a:lnTo>
                    <a:pt x="2795341" y="1220636"/>
                  </a:lnTo>
                  <a:lnTo>
                    <a:pt x="203444" y="1220636"/>
                  </a:lnTo>
                  <a:lnTo>
                    <a:pt x="156796" y="1215262"/>
                  </a:lnTo>
                  <a:lnTo>
                    <a:pt x="113974" y="1199957"/>
                  </a:lnTo>
                  <a:lnTo>
                    <a:pt x="76200" y="1175941"/>
                  </a:lnTo>
                  <a:lnTo>
                    <a:pt x="44694" y="1144435"/>
                  </a:lnTo>
                  <a:lnTo>
                    <a:pt x="20678" y="1106661"/>
                  </a:lnTo>
                  <a:lnTo>
                    <a:pt x="5373" y="1063839"/>
                  </a:lnTo>
                  <a:lnTo>
                    <a:pt x="0" y="1017191"/>
                  </a:lnTo>
                  <a:lnTo>
                    <a:pt x="0" y="20344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59319" y="3099308"/>
            <a:ext cx="234188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Defensive</a:t>
            </a:r>
            <a:r>
              <a:rPr sz="1200" b="1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Coding</a:t>
            </a:r>
            <a:r>
              <a:rPr sz="1200" b="1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Practices</a:t>
            </a:r>
            <a:endParaRPr sz="1200">
              <a:latin typeface="Trebuchet MS"/>
              <a:cs typeface="Trebuchet MS"/>
            </a:endParaRPr>
          </a:p>
          <a:p>
            <a:pPr marL="298450" marR="59055" indent="-285750">
              <a:lnSpc>
                <a:spcPts val="142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techniques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defensive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coding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34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Avoiding</a:t>
            </a:r>
            <a:r>
              <a:rPr sz="12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vulnerabilities</a:t>
            </a:r>
            <a:r>
              <a:rPr sz="12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endParaRPr sz="12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polymorphic</a:t>
            </a: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malware</a:t>
            </a:r>
            <a:r>
              <a:rPr sz="12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attacks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53267" y="4676259"/>
            <a:ext cx="3009900" cy="1407795"/>
            <a:chOff x="6253267" y="4676259"/>
            <a:chExt cx="3009900" cy="1407795"/>
          </a:xfrm>
        </p:grpSpPr>
        <p:sp>
          <p:nvSpPr>
            <p:cNvPr id="19" name="object 19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2764481" y="0"/>
                  </a:moveTo>
                  <a:lnTo>
                    <a:pt x="232443" y="0"/>
                  </a:lnTo>
                  <a:lnTo>
                    <a:pt x="185597" y="4722"/>
                  </a:lnTo>
                  <a:lnTo>
                    <a:pt x="141965" y="18266"/>
                  </a:lnTo>
                  <a:lnTo>
                    <a:pt x="102482" y="39697"/>
                  </a:lnTo>
                  <a:lnTo>
                    <a:pt x="68081" y="68080"/>
                  </a:lnTo>
                  <a:lnTo>
                    <a:pt x="39697" y="102481"/>
                  </a:lnTo>
                  <a:lnTo>
                    <a:pt x="18266" y="141964"/>
                  </a:lnTo>
                  <a:lnTo>
                    <a:pt x="4722" y="185596"/>
                  </a:lnTo>
                  <a:lnTo>
                    <a:pt x="0" y="232441"/>
                  </a:lnTo>
                  <a:lnTo>
                    <a:pt x="0" y="1162190"/>
                  </a:lnTo>
                  <a:lnTo>
                    <a:pt x="4722" y="1209036"/>
                  </a:lnTo>
                  <a:lnTo>
                    <a:pt x="18266" y="1252667"/>
                  </a:lnTo>
                  <a:lnTo>
                    <a:pt x="39697" y="1292151"/>
                  </a:lnTo>
                  <a:lnTo>
                    <a:pt x="68081" y="1326552"/>
                  </a:lnTo>
                  <a:lnTo>
                    <a:pt x="102482" y="1354935"/>
                  </a:lnTo>
                  <a:lnTo>
                    <a:pt x="141965" y="1376366"/>
                  </a:lnTo>
                  <a:lnTo>
                    <a:pt x="185597" y="1389910"/>
                  </a:lnTo>
                  <a:lnTo>
                    <a:pt x="232443" y="1394632"/>
                  </a:lnTo>
                  <a:lnTo>
                    <a:pt x="2764481" y="1394632"/>
                  </a:lnTo>
                  <a:lnTo>
                    <a:pt x="2811326" y="1389910"/>
                  </a:lnTo>
                  <a:lnTo>
                    <a:pt x="2854958" y="1376366"/>
                  </a:lnTo>
                  <a:lnTo>
                    <a:pt x="2894441" y="1354935"/>
                  </a:lnTo>
                  <a:lnTo>
                    <a:pt x="2928842" y="1326552"/>
                  </a:lnTo>
                  <a:lnTo>
                    <a:pt x="2957225" y="1292151"/>
                  </a:lnTo>
                  <a:lnTo>
                    <a:pt x="2978656" y="1252667"/>
                  </a:lnTo>
                  <a:lnTo>
                    <a:pt x="2992200" y="1209036"/>
                  </a:lnTo>
                  <a:lnTo>
                    <a:pt x="2996923" y="1162190"/>
                  </a:lnTo>
                  <a:lnTo>
                    <a:pt x="2996923" y="232441"/>
                  </a:lnTo>
                  <a:lnTo>
                    <a:pt x="2992200" y="185596"/>
                  </a:lnTo>
                  <a:lnTo>
                    <a:pt x="2978656" y="141964"/>
                  </a:lnTo>
                  <a:lnTo>
                    <a:pt x="2957225" y="102481"/>
                  </a:lnTo>
                  <a:lnTo>
                    <a:pt x="2928842" y="68080"/>
                  </a:lnTo>
                  <a:lnTo>
                    <a:pt x="2894441" y="39697"/>
                  </a:lnTo>
                  <a:lnTo>
                    <a:pt x="2854958" y="18266"/>
                  </a:lnTo>
                  <a:lnTo>
                    <a:pt x="2811326" y="4722"/>
                  </a:lnTo>
                  <a:lnTo>
                    <a:pt x="276448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0" y="232442"/>
                  </a:moveTo>
                  <a:lnTo>
                    <a:pt x="4722" y="185596"/>
                  </a:lnTo>
                  <a:lnTo>
                    <a:pt x="18266" y="141965"/>
                  </a:lnTo>
                  <a:lnTo>
                    <a:pt x="39697" y="102481"/>
                  </a:lnTo>
                  <a:lnTo>
                    <a:pt x="68080" y="68080"/>
                  </a:lnTo>
                  <a:lnTo>
                    <a:pt x="102481" y="39697"/>
                  </a:lnTo>
                  <a:lnTo>
                    <a:pt x="141964" y="18266"/>
                  </a:lnTo>
                  <a:lnTo>
                    <a:pt x="185596" y="4722"/>
                  </a:lnTo>
                  <a:lnTo>
                    <a:pt x="232441" y="0"/>
                  </a:lnTo>
                  <a:lnTo>
                    <a:pt x="2764481" y="0"/>
                  </a:lnTo>
                  <a:lnTo>
                    <a:pt x="2811326" y="4722"/>
                  </a:lnTo>
                  <a:lnTo>
                    <a:pt x="2854957" y="18266"/>
                  </a:lnTo>
                  <a:lnTo>
                    <a:pt x="2894441" y="39697"/>
                  </a:lnTo>
                  <a:lnTo>
                    <a:pt x="2928842" y="68080"/>
                  </a:lnTo>
                  <a:lnTo>
                    <a:pt x="2957225" y="102481"/>
                  </a:lnTo>
                  <a:lnTo>
                    <a:pt x="2978656" y="141965"/>
                  </a:lnTo>
                  <a:lnTo>
                    <a:pt x="2992200" y="185596"/>
                  </a:lnTo>
                  <a:lnTo>
                    <a:pt x="2996923" y="232442"/>
                  </a:lnTo>
                  <a:lnTo>
                    <a:pt x="2996923" y="1162191"/>
                  </a:lnTo>
                  <a:lnTo>
                    <a:pt x="2992200" y="1209036"/>
                  </a:lnTo>
                  <a:lnTo>
                    <a:pt x="2978656" y="1252667"/>
                  </a:lnTo>
                  <a:lnTo>
                    <a:pt x="2957225" y="1292151"/>
                  </a:lnTo>
                  <a:lnTo>
                    <a:pt x="2928842" y="1326552"/>
                  </a:lnTo>
                  <a:lnTo>
                    <a:pt x="2894441" y="1354935"/>
                  </a:lnTo>
                  <a:lnTo>
                    <a:pt x="2854957" y="1376366"/>
                  </a:lnTo>
                  <a:lnTo>
                    <a:pt x="2811326" y="1389910"/>
                  </a:lnTo>
                  <a:lnTo>
                    <a:pt x="2764481" y="1394633"/>
                  </a:lnTo>
                  <a:lnTo>
                    <a:pt x="232441" y="1394633"/>
                  </a:lnTo>
                  <a:lnTo>
                    <a:pt x="185596" y="1389910"/>
                  </a:lnTo>
                  <a:lnTo>
                    <a:pt x="141964" y="1376366"/>
                  </a:lnTo>
                  <a:lnTo>
                    <a:pt x="102481" y="1354935"/>
                  </a:lnTo>
                  <a:lnTo>
                    <a:pt x="68080" y="1326552"/>
                  </a:lnTo>
                  <a:lnTo>
                    <a:pt x="39697" y="1292151"/>
                  </a:lnTo>
                  <a:lnTo>
                    <a:pt x="18266" y="1252667"/>
                  </a:lnTo>
                  <a:lnTo>
                    <a:pt x="4722" y="1209036"/>
                  </a:lnTo>
                  <a:lnTo>
                    <a:pt x="0" y="1162191"/>
                  </a:lnTo>
                  <a:lnTo>
                    <a:pt x="0" y="23244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06438" y="4897628"/>
            <a:ext cx="2577465" cy="946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7815" marR="5080" indent="-285750">
              <a:lnSpc>
                <a:spcPct val="103299"/>
              </a:lnSpc>
              <a:spcBef>
                <a:spcPts val="5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Implementation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Coding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39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Best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practices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coding</a:t>
            </a:r>
            <a:endParaRPr sz="1200">
              <a:latin typeface="Trebuchet MS"/>
              <a:cs typeface="Trebuchet MS"/>
            </a:endParaRPr>
          </a:p>
          <a:p>
            <a:pPr marL="297815" indent="-285115">
              <a:lnSpc>
                <a:spcPts val="141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endParaRPr sz="1200">
              <a:latin typeface="Trebuchet MS"/>
              <a:cs typeface="Trebuchet MS"/>
            </a:endParaRPr>
          </a:p>
          <a:p>
            <a:pPr marL="297815">
              <a:lnSpc>
                <a:spcPct val="100000"/>
              </a:lnSpc>
              <a:spcBef>
                <a:spcPts val="7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methodologies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F57A58F-3D5F-FF4B-A78D-9390FC7796A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35" y="375411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learn?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27926" y="1210998"/>
            <a:ext cx="3022600" cy="1276985"/>
            <a:chOff x="6127926" y="1210998"/>
            <a:chExt cx="3022600" cy="1276985"/>
          </a:xfrm>
        </p:grpSpPr>
        <p:sp>
          <p:nvSpPr>
            <p:cNvPr id="4" name="object 4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2799096" y="0"/>
                  </a:moveTo>
                  <a:lnTo>
                    <a:pt x="210628" y="0"/>
                  </a:lnTo>
                  <a:lnTo>
                    <a:pt x="162333" y="5562"/>
                  </a:lnTo>
                  <a:lnTo>
                    <a:pt x="117999" y="21408"/>
                  </a:lnTo>
                  <a:lnTo>
                    <a:pt x="78890" y="46273"/>
                  </a:lnTo>
                  <a:lnTo>
                    <a:pt x="46272" y="78891"/>
                  </a:lnTo>
                  <a:lnTo>
                    <a:pt x="21408" y="118000"/>
                  </a:lnTo>
                  <a:lnTo>
                    <a:pt x="5562" y="162334"/>
                  </a:lnTo>
                  <a:lnTo>
                    <a:pt x="0" y="210629"/>
                  </a:lnTo>
                  <a:lnTo>
                    <a:pt x="0" y="1053123"/>
                  </a:lnTo>
                  <a:lnTo>
                    <a:pt x="5562" y="1101418"/>
                  </a:lnTo>
                  <a:lnTo>
                    <a:pt x="21408" y="1145752"/>
                  </a:lnTo>
                  <a:lnTo>
                    <a:pt x="46272" y="1184860"/>
                  </a:lnTo>
                  <a:lnTo>
                    <a:pt x="78890" y="1217478"/>
                  </a:lnTo>
                  <a:lnTo>
                    <a:pt x="117999" y="1242343"/>
                  </a:lnTo>
                  <a:lnTo>
                    <a:pt x="162333" y="1258188"/>
                  </a:lnTo>
                  <a:lnTo>
                    <a:pt x="210628" y="1263751"/>
                  </a:lnTo>
                  <a:lnTo>
                    <a:pt x="2799096" y="1263751"/>
                  </a:lnTo>
                  <a:lnTo>
                    <a:pt x="2847391" y="1258188"/>
                  </a:lnTo>
                  <a:lnTo>
                    <a:pt x="2891725" y="1242343"/>
                  </a:lnTo>
                  <a:lnTo>
                    <a:pt x="2930833" y="1217478"/>
                  </a:lnTo>
                  <a:lnTo>
                    <a:pt x="2963452" y="1184860"/>
                  </a:lnTo>
                  <a:lnTo>
                    <a:pt x="2988316" y="1145752"/>
                  </a:lnTo>
                  <a:lnTo>
                    <a:pt x="3004161" y="1101418"/>
                  </a:lnTo>
                  <a:lnTo>
                    <a:pt x="3009724" y="1053123"/>
                  </a:lnTo>
                  <a:lnTo>
                    <a:pt x="3009724" y="210629"/>
                  </a:lnTo>
                  <a:lnTo>
                    <a:pt x="3004161" y="162334"/>
                  </a:lnTo>
                  <a:lnTo>
                    <a:pt x="2988316" y="118000"/>
                  </a:lnTo>
                  <a:lnTo>
                    <a:pt x="2963452" y="78891"/>
                  </a:lnTo>
                  <a:lnTo>
                    <a:pt x="2930833" y="46273"/>
                  </a:lnTo>
                  <a:lnTo>
                    <a:pt x="2891725" y="21408"/>
                  </a:lnTo>
                  <a:lnTo>
                    <a:pt x="2847391" y="5562"/>
                  </a:lnTo>
                  <a:lnTo>
                    <a:pt x="2799096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0" y="210628"/>
                  </a:moveTo>
                  <a:lnTo>
                    <a:pt x="5562" y="162333"/>
                  </a:lnTo>
                  <a:lnTo>
                    <a:pt x="21408" y="117999"/>
                  </a:lnTo>
                  <a:lnTo>
                    <a:pt x="46272" y="78891"/>
                  </a:lnTo>
                  <a:lnTo>
                    <a:pt x="78890" y="46272"/>
                  </a:lnTo>
                  <a:lnTo>
                    <a:pt x="117999" y="21408"/>
                  </a:lnTo>
                  <a:lnTo>
                    <a:pt x="162332" y="5562"/>
                  </a:lnTo>
                  <a:lnTo>
                    <a:pt x="210628" y="0"/>
                  </a:lnTo>
                  <a:lnTo>
                    <a:pt x="2799096" y="0"/>
                  </a:lnTo>
                  <a:lnTo>
                    <a:pt x="2847391" y="5562"/>
                  </a:lnTo>
                  <a:lnTo>
                    <a:pt x="2891725" y="21408"/>
                  </a:lnTo>
                  <a:lnTo>
                    <a:pt x="2930833" y="46272"/>
                  </a:lnTo>
                  <a:lnTo>
                    <a:pt x="2963451" y="78891"/>
                  </a:lnTo>
                  <a:lnTo>
                    <a:pt x="2988315" y="117999"/>
                  </a:lnTo>
                  <a:lnTo>
                    <a:pt x="3004161" y="162333"/>
                  </a:lnTo>
                  <a:lnTo>
                    <a:pt x="3009724" y="210628"/>
                  </a:lnTo>
                  <a:lnTo>
                    <a:pt x="3009724" y="1053123"/>
                  </a:lnTo>
                  <a:lnTo>
                    <a:pt x="3004161" y="1101417"/>
                  </a:lnTo>
                  <a:lnTo>
                    <a:pt x="2988315" y="1145751"/>
                  </a:lnTo>
                  <a:lnTo>
                    <a:pt x="2963451" y="1184859"/>
                  </a:lnTo>
                  <a:lnTo>
                    <a:pt x="2930833" y="1217478"/>
                  </a:lnTo>
                  <a:lnTo>
                    <a:pt x="2891725" y="1242342"/>
                  </a:lnTo>
                  <a:lnTo>
                    <a:pt x="2847391" y="1258188"/>
                  </a:lnTo>
                  <a:lnTo>
                    <a:pt x="2799096" y="1263751"/>
                  </a:lnTo>
                  <a:lnTo>
                    <a:pt x="210628" y="1263751"/>
                  </a:lnTo>
                  <a:lnTo>
                    <a:pt x="162332" y="1258188"/>
                  </a:lnTo>
                  <a:lnTo>
                    <a:pt x="117999" y="1242342"/>
                  </a:lnTo>
                  <a:lnTo>
                    <a:pt x="78890" y="1217478"/>
                  </a:lnTo>
                  <a:lnTo>
                    <a:pt x="46272" y="1184859"/>
                  </a:lnTo>
                  <a:lnTo>
                    <a:pt x="21408" y="1145751"/>
                  </a:lnTo>
                  <a:lnTo>
                    <a:pt x="5562" y="1101417"/>
                  </a:lnTo>
                  <a:lnTo>
                    <a:pt x="0" y="1053123"/>
                  </a:lnTo>
                  <a:lnTo>
                    <a:pt x="0" y="21062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4708" y="1276603"/>
            <a:ext cx="26701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endParaRPr sz="1200" dirty="0">
              <a:latin typeface="Trebuchet MS"/>
              <a:cs typeface="Trebuchet MS"/>
            </a:endParaRPr>
          </a:p>
          <a:p>
            <a:pPr marL="298450" marR="5080" indent="-285750">
              <a:lnSpc>
                <a:spcPts val="1390"/>
              </a:lnSpc>
              <a:spcBef>
                <a:spcPts val="13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concepts: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functional,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non-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functional,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testing.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38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methodologies</a:t>
            </a:r>
            <a:endParaRPr sz="1200" dirty="0">
              <a:latin typeface="Trebuchet MS"/>
              <a:cs typeface="Trebuchet MS"/>
            </a:endParaRPr>
          </a:p>
          <a:p>
            <a:pPr marL="298450">
              <a:lnSpc>
                <a:spcPts val="1430"/>
              </a:lnSpc>
              <a:spcBef>
                <a:spcPts val="45"/>
              </a:spcBef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tools.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430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Static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Dynamic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812" y="1255878"/>
            <a:ext cx="4970780" cy="707390"/>
          </a:xfrm>
          <a:custGeom>
            <a:avLst/>
            <a:gdLst/>
            <a:ahLst/>
            <a:cxnLst/>
            <a:rect l="l" t="t" r="r" b="b"/>
            <a:pathLst>
              <a:path w="4970780" h="707389">
                <a:moveTo>
                  <a:pt x="0" y="0"/>
                </a:moveTo>
                <a:lnTo>
                  <a:pt x="918145" y="0"/>
                </a:lnTo>
                <a:lnTo>
                  <a:pt x="1311636" y="0"/>
                </a:lnTo>
                <a:lnTo>
                  <a:pt x="1573963" y="0"/>
                </a:lnTo>
                <a:lnTo>
                  <a:pt x="1573963" y="412626"/>
                </a:lnTo>
                <a:lnTo>
                  <a:pt x="4970324" y="490503"/>
                </a:lnTo>
                <a:lnTo>
                  <a:pt x="1573963" y="589466"/>
                </a:lnTo>
                <a:lnTo>
                  <a:pt x="1573963" y="707359"/>
                </a:lnTo>
                <a:lnTo>
                  <a:pt x="1311636" y="707359"/>
                </a:lnTo>
                <a:lnTo>
                  <a:pt x="918145" y="707359"/>
                </a:lnTo>
                <a:lnTo>
                  <a:pt x="0" y="707359"/>
                </a:lnTo>
                <a:lnTo>
                  <a:pt x="0" y="589466"/>
                </a:lnTo>
                <a:lnTo>
                  <a:pt x="0" y="412626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24668" y="1431035"/>
            <a:ext cx="1238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10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-30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45" y="5034279"/>
            <a:ext cx="5118735" cy="612775"/>
          </a:xfrm>
          <a:custGeom>
            <a:avLst/>
            <a:gdLst/>
            <a:ahLst/>
            <a:cxnLst/>
            <a:rect l="l" t="t" r="r" b="b"/>
            <a:pathLst>
              <a:path w="5118735" h="612775">
                <a:moveTo>
                  <a:pt x="0" y="0"/>
                </a:moveTo>
                <a:lnTo>
                  <a:pt x="882395" y="0"/>
                </a:lnTo>
                <a:lnTo>
                  <a:pt x="1260565" y="0"/>
                </a:lnTo>
                <a:lnTo>
                  <a:pt x="1512678" y="0"/>
                </a:lnTo>
                <a:lnTo>
                  <a:pt x="1512678" y="102125"/>
                </a:lnTo>
                <a:lnTo>
                  <a:pt x="5118116" y="285085"/>
                </a:lnTo>
                <a:lnTo>
                  <a:pt x="1512678" y="255316"/>
                </a:lnTo>
                <a:lnTo>
                  <a:pt x="1512678" y="612758"/>
                </a:lnTo>
                <a:lnTo>
                  <a:pt x="1260565" y="612758"/>
                </a:lnTo>
                <a:lnTo>
                  <a:pt x="882395" y="612758"/>
                </a:lnTo>
                <a:lnTo>
                  <a:pt x="0" y="612758"/>
                </a:lnTo>
                <a:lnTo>
                  <a:pt x="0" y="255316"/>
                </a:lnTo>
                <a:lnTo>
                  <a:pt x="0" y="10212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4208" y="5161788"/>
            <a:ext cx="1123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95" dirty="0">
                <a:solidFill>
                  <a:srgbClr val="1F1F1F"/>
                </a:solidFill>
                <a:latin typeface="Trebuchet MS"/>
                <a:cs typeface="Trebuchet MS"/>
              </a:rPr>
              <a:t>12°</a:t>
            </a:r>
            <a:r>
              <a:rPr sz="2000" b="1" spc="-3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9845" y="3262697"/>
            <a:ext cx="2903220" cy="572770"/>
          </a:xfrm>
          <a:custGeom>
            <a:avLst/>
            <a:gdLst/>
            <a:ahLst/>
            <a:cxnLst/>
            <a:rect l="l" t="t" r="r" b="b"/>
            <a:pathLst>
              <a:path w="2903220" h="572770">
                <a:moveTo>
                  <a:pt x="0" y="0"/>
                </a:moveTo>
                <a:lnTo>
                  <a:pt x="929520" y="0"/>
                </a:lnTo>
                <a:lnTo>
                  <a:pt x="1327886" y="0"/>
                </a:lnTo>
                <a:lnTo>
                  <a:pt x="1593463" y="0"/>
                </a:lnTo>
                <a:lnTo>
                  <a:pt x="1593463" y="334101"/>
                </a:lnTo>
                <a:lnTo>
                  <a:pt x="2903034" y="309335"/>
                </a:lnTo>
                <a:lnTo>
                  <a:pt x="1593463" y="477288"/>
                </a:lnTo>
                <a:lnTo>
                  <a:pt x="1593463" y="572747"/>
                </a:lnTo>
                <a:lnTo>
                  <a:pt x="1327886" y="572747"/>
                </a:lnTo>
                <a:lnTo>
                  <a:pt x="929520" y="572747"/>
                </a:lnTo>
                <a:lnTo>
                  <a:pt x="0" y="572747"/>
                </a:lnTo>
                <a:lnTo>
                  <a:pt x="0" y="477288"/>
                </a:lnTo>
                <a:lnTo>
                  <a:pt x="0" y="334101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7451" y="3372611"/>
            <a:ext cx="1238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11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-30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4642" y="2965187"/>
            <a:ext cx="3011805" cy="1233805"/>
            <a:chOff x="4014642" y="2965187"/>
            <a:chExt cx="3011805" cy="1233805"/>
          </a:xfrm>
        </p:grpSpPr>
        <p:sp>
          <p:nvSpPr>
            <p:cNvPr id="14" name="object 14"/>
            <p:cNvSpPr/>
            <p:nvPr/>
          </p:nvSpPr>
          <p:spPr>
            <a:xfrm>
              <a:off x="4020992" y="2971537"/>
              <a:ext cx="2999105" cy="1221105"/>
            </a:xfrm>
            <a:custGeom>
              <a:avLst/>
              <a:gdLst/>
              <a:ahLst/>
              <a:cxnLst/>
              <a:rect l="l" t="t" r="r" b="b"/>
              <a:pathLst>
                <a:path w="2999104" h="1221104">
                  <a:moveTo>
                    <a:pt x="2795341" y="0"/>
                  </a:moveTo>
                  <a:lnTo>
                    <a:pt x="203445" y="0"/>
                  </a:lnTo>
                  <a:lnTo>
                    <a:pt x="156797" y="5373"/>
                  </a:lnTo>
                  <a:lnTo>
                    <a:pt x="113975" y="20678"/>
                  </a:lnTo>
                  <a:lnTo>
                    <a:pt x="76200" y="44694"/>
                  </a:lnTo>
                  <a:lnTo>
                    <a:pt x="44694" y="76200"/>
                  </a:lnTo>
                  <a:lnTo>
                    <a:pt x="20678" y="113975"/>
                  </a:lnTo>
                  <a:lnTo>
                    <a:pt x="5373" y="156797"/>
                  </a:lnTo>
                  <a:lnTo>
                    <a:pt x="0" y="203445"/>
                  </a:lnTo>
                  <a:lnTo>
                    <a:pt x="0" y="1017191"/>
                  </a:lnTo>
                  <a:lnTo>
                    <a:pt x="5373" y="1063839"/>
                  </a:lnTo>
                  <a:lnTo>
                    <a:pt x="20678" y="1106661"/>
                  </a:lnTo>
                  <a:lnTo>
                    <a:pt x="44694" y="1144435"/>
                  </a:lnTo>
                  <a:lnTo>
                    <a:pt x="76200" y="1175941"/>
                  </a:lnTo>
                  <a:lnTo>
                    <a:pt x="113975" y="1199957"/>
                  </a:lnTo>
                  <a:lnTo>
                    <a:pt x="156797" y="1215263"/>
                  </a:lnTo>
                  <a:lnTo>
                    <a:pt x="203445" y="1220636"/>
                  </a:lnTo>
                  <a:lnTo>
                    <a:pt x="2795341" y="1220636"/>
                  </a:lnTo>
                  <a:lnTo>
                    <a:pt x="2841989" y="1215263"/>
                  </a:lnTo>
                  <a:lnTo>
                    <a:pt x="2884811" y="1199957"/>
                  </a:lnTo>
                  <a:lnTo>
                    <a:pt x="2922585" y="1175941"/>
                  </a:lnTo>
                  <a:lnTo>
                    <a:pt x="2954091" y="1144435"/>
                  </a:lnTo>
                  <a:lnTo>
                    <a:pt x="2978107" y="1106661"/>
                  </a:lnTo>
                  <a:lnTo>
                    <a:pt x="2993413" y="1063839"/>
                  </a:lnTo>
                  <a:lnTo>
                    <a:pt x="2998786" y="1017191"/>
                  </a:lnTo>
                  <a:lnTo>
                    <a:pt x="2998786" y="203445"/>
                  </a:lnTo>
                  <a:lnTo>
                    <a:pt x="2993413" y="156797"/>
                  </a:lnTo>
                  <a:lnTo>
                    <a:pt x="2978107" y="113975"/>
                  </a:lnTo>
                  <a:lnTo>
                    <a:pt x="2954091" y="76200"/>
                  </a:lnTo>
                  <a:lnTo>
                    <a:pt x="2922585" y="44694"/>
                  </a:lnTo>
                  <a:lnTo>
                    <a:pt x="2884811" y="20678"/>
                  </a:lnTo>
                  <a:lnTo>
                    <a:pt x="2841989" y="5373"/>
                  </a:lnTo>
                  <a:lnTo>
                    <a:pt x="279534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0992" y="2971537"/>
              <a:ext cx="2999105" cy="1221105"/>
            </a:xfrm>
            <a:custGeom>
              <a:avLst/>
              <a:gdLst/>
              <a:ahLst/>
              <a:cxnLst/>
              <a:rect l="l" t="t" r="r" b="b"/>
              <a:pathLst>
                <a:path w="2999104" h="1221104">
                  <a:moveTo>
                    <a:pt x="0" y="203444"/>
                  </a:moveTo>
                  <a:lnTo>
                    <a:pt x="5373" y="156796"/>
                  </a:lnTo>
                  <a:lnTo>
                    <a:pt x="20678" y="113974"/>
                  </a:lnTo>
                  <a:lnTo>
                    <a:pt x="44694" y="76200"/>
                  </a:lnTo>
                  <a:lnTo>
                    <a:pt x="76200" y="44694"/>
                  </a:lnTo>
                  <a:lnTo>
                    <a:pt x="113974" y="20678"/>
                  </a:lnTo>
                  <a:lnTo>
                    <a:pt x="156796" y="5373"/>
                  </a:lnTo>
                  <a:lnTo>
                    <a:pt x="203444" y="0"/>
                  </a:lnTo>
                  <a:lnTo>
                    <a:pt x="2795341" y="0"/>
                  </a:lnTo>
                  <a:lnTo>
                    <a:pt x="2841989" y="5373"/>
                  </a:lnTo>
                  <a:lnTo>
                    <a:pt x="2884811" y="20678"/>
                  </a:lnTo>
                  <a:lnTo>
                    <a:pt x="2922585" y="44694"/>
                  </a:lnTo>
                  <a:lnTo>
                    <a:pt x="2954091" y="76200"/>
                  </a:lnTo>
                  <a:lnTo>
                    <a:pt x="2978107" y="113974"/>
                  </a:lnTo>
                  <a:lnTo>
                    <a:pt x="2993412" y="156796"/>
                  </a:lnTo>
                  <a:lnTo>
                    <a:pt x="2998786" y="203444"/>
                  </a:lnTo>
                  <a:lnTo>
                    <a:pt x="2998786" y="1017191"/>
                  </a:lnTo>
                  <a:lnTo>
                    <a:pt x="2993412" y="1063839"/>
                  </a:lnTo>
                  <a:lnTo>
                    <a:pt x="2978107" y="1106661"/>
                  </a:lnTo>
                  <a:lnTo>
                    <a:pt x="2954091" y="1144435"/>
                  </a:lnTo>
                  <a:lnTo>
                    <a:pt x="2922585" y="1175941"/>
                  </a:lnTo>
                  <a:lnTo>
                    <a:pt x="2884811" y="1199957"/>
                  </a:lnTo>
                  <a:lnTo>
                    <a:pt x="2841989" y="1215262"/>
                  </a:lnTo>
                  <a:lnTo>
                    <a:pt x="2795341" y="1220636"/>
                  </a:lnTo>
                  <a:lnTo>
                    <a:pt x="203444" y="1220636"/>
                  </a:lnTo>
                  <a:lnTo>
                    <a:pt x="156796" y="1215262"/>
                  </a:lnTo>
                  <a:lnTo>
                    <a:pt x="113974" y="1199957"/>
                  </a:lnTo>
                  <a:lnTo>
                    <a:pt x="76200" y="1175941"/>
                  </a:lnTo>
                  <a:lnTo>
                    <a:pt x="44694" y="1144435"/>
                  </a:lnTo>
                  <a:lnTo>
                    <a:pt x="20678" y="1106661"/>
                  </a:lnTo>
                  <a:lnTo>
                    <a:pt x="5373" y="1063839"/>
                  </a:lnTo>
                  <a:lnTo>
                    <a:pt x="0" y="1017191"/>
                  </a:lnTo>
                  <a:lnTo>
                    <a:pt x="0" y="20344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253267" y="4676259"/>
            <a:ext cx="2691616" cy="970795"/>
            <a:chOff x="6253267" y="4676259"/>
            <a:chExt cx="3009900" cy="1407795"/>
          </a:xfrm>
        </p:grpSpPr>
        <p:sp>
          <p:nvSpPr>
            <p:cNvPr id="18" name="object 18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2764481" y="0"/>
                  </a:moveTo>
                  <a:lnTo>
                    <a:pt x="232443" y="0"/>
                  </a:lnTo>
                  <a:lnTo>
                    <a:pt x="185597" y="4722"/>
                  </a:lnTo>
                  <a:lnTo>
                    <a:pt x="141965" y="18266"/>
                  </a:lnTo>
                  <a:lnTo>
                    <a:pt x="102482" y="39697"/>
                  </a:lnTo>
                  <a:lnTo>
                    <a:pt x="68081" y="68080"/>
                  </a:lnTo>
                  <a:lnTo>
                    <a:pt x="39697" y="102481"/>
                  </a:lnTo>
                  <a:lnTo>
                    <a:pt x="18266" y="141964"/>
                  </a:lnTo>
                  <a:lnTo>
                    <a:pt x="4722" y="185596"/>
                  </a:lnTo>
                  <a:lnTo>
                    <a:pt x="0" y="232441"/>
                  </a:lnTo>
                  <a:lnTo>
                    <a:pt x="0" y="1162190"/>
                  </a:lnTo>
                  <a:lnTo>
                    <a:pt x="4722" y="1209036"/>
                  </a:lnTo>
                  <a:lnTo>
                    <a:pt x="18266" y="1252667"/>
                  </a:lnTo>
                  <a:lnTo>
                    <a:pt x="39697" y="1292151"/>
                  </a:lnTo>
                  <a:lnTo>
                    <a:pt x="68081" y="1326552"/>
                  </a:lnTo>
                  <a:lnTo>
                    <a:pt x="102482" y="1354935"/>
                  </a:lnTo>
                  <a:lnTo>
                    <a:pt x="141965" y="1376366"/>
                  </a:lnTo>
                  <a:lnTo>
                    <a:pt x="185597" y="1389910"/>
                  </a:lnTo>
                  <a:lnTo>
                    <a:pt x="232443" y="1394632"/>
                  </a:lnTo>
                  <a:lnTo>
                    <a:pt x="2764481" y="1394632"/>
                  </a:lnTo>
                  <a:lnTo>
                    <a:pt x="2811326" y="1389910"/>
                  </a:lnTo>
                  <a:lnTo>
                    <a:pt x="2854958" y="1376366"/>
                  </a:lnTo>
                  <a:lnTo>
                    <a:pt x="2894441" y="1354935"/>
                  </a:lnTo>
                  <a:lnTo>
                    <a:pt x="2928842" y="1326552"/>
                  </a:lnTo>
                  <a:lnTo>
                    <a:pt x="2957225" y="1292151"/>
                  </a:lnTo>
                  <a:lnTo>
                    <a:pt x="2978656" y="1252667"/>
                  </a:lnTo>
                  <a:lnTo>
                    <a:pt x="2992200" y="1209036"/>
                  </a:lnTo>
                  <a:lnTo>
                    <a:pt x="2996923" y="1162190"/>
                  </a:lnTo>
                  <a:lnTo>
                    <a:pt x="2996923" y="232441"/>
                  </a:lnTo>
                  <a:lnTo>
                    <a:pt x="2992200" y="185596"/>
                  </a:lnTo>
                  <a:lnTo>
                    <a:pt x="2978656" y="141964"/>
                  </a:lnTo>
                  <a:lnTo>
                    <a:pt x="2957225" y="102481"/>
                  </a:lnTo>
                  <a:lnTo>
                    <a:pt x="2928842" y="68080"/>
                  </a:lnTo>
                  <a:lnTo>
                    <a:pt x="2894441" y="39697"/>
                  </a:lnTo>
                  <a:lnTo>
                    <a:pt x="2854958" y="18266"/>
                  </a:lnTo>
                  <a:lnTo>
                    <a:pt x="2811326" y="4722"/>
                  </a:lnTo>
                  <a:lnTo>
                    <a:pt x="276448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0" y="232442"/>
                  </a:moveTo>
                  <a:lnTo>
                    <a:pt x="4722" y="185596"/>
                  </a:lnTo>
                  <a:lnTo>
                    <a:pt x="18266" y="141965"/>
                  </a:lnTo>
                  <a:lnTo>
                    <a:pt x="39697" y="102481"/>
                  </a:lnTo>
                  <a:lnTo>
                    <a:pt x="68080" y="68080"/>
                  </a:lnTo>
                  <a:lnTo>
                    <a:pt x="102481" y="39697"/>
                  </a:lnTo>
                  <a:lnTo>
                    <a:pt x="141964" y="18266"/>
                  </a:lnTo>
                  <a:lnTo>
                    <a:pt x="185596" y="4722"/>
                  </a:lnTo>
                  <a:lnTo>
                    <a:pt x="232441" y="0"/>
                  </a:lnTo>
                  <a:lnTo>
                    <a:pt x="2764481" y="0"/>
                  </a:lnTo>
                  <a:lnTo>
                    <a:pt x="2811326" y="4722"/>
                  </a:lnTo>
                  <a:lnTo>
                    <a:pt x="2854957" y="18266"/>
                  </a:lnTo>
                  <a:lnTo>
                    <a:pt x="2894441" y="39697"/>
                  </a:lnTo>
                  <a:lnTo>
                    <a:pt x="2928842" y="68080"/>
                  </a:lnTo>
                  <a:lnTo>
                    <a:pt x="2957225" y="102481"/>
                  </a:lnTo>
                  <a:lnTo>
                    <a:pt x="2978656" y="141965"/>
                  </a:lnTo>
                  <a:lnTo>
                    <a:pt x="2992200" y="185596"/>
                  </a:lnTo>
                  <a:lnTo>
                    <a:pt x="2996923" y="232442"/>
                  </a:lnTo>
                  <a:lnTo>
                    <a:pt x="2996923" y="1162191"/>
                  </a:lnTo>
                  <a:lnTo>
                    <a:pt x="2992200" y="1209036"/>
                  </a:lnTo>
                  <a:lnTo>
                    <a:pt x="2978656" y="1252667"/>
                  </a:lnTo>
                  <a:lnTo>
                    <a:pt x="2957225" y="1292151"/>
                  </a:lnTo>
                  <a:lnTo>
                    <a:pt x="2928842" y="1326552"/>
                  </a:lnTo>
                  <a:lnTo>
                    <a:pt x="2894441" y="1354935"/>
                  </a:lnTo>
                  <a:lnTo>
                    <a:pt x="2854957" y="1376366"/>
                  </a:lnTo>
                  <a:lnTo>
                    <a:pt x="2811326" y="1389910"/>
                  </a:lnTo>
                  <a:lnTo>
                    <a:pt x="2764481" y="1394633"/>
                  </a:lnTo>
                  <a:lnTo>
                    <a:pt x="232441" y="1394633"/>
                  </a:lnTo>
                  <a:lnTo>
                    <a:pt x="185596" y="1389910"/>
                  </a:lnTo>
                  <a:lnTo>
                    <a:pt x="141964" y="1376366"/>
                  </a:lnTo>
                  <a:lnTo>
                    <a:pt x="102481" y="1354935"/>
                  </a:lnTo>
                  <a:lnTo>
                    <a:pt x="68080" y="1326552"/>
                  </a:lnTo>
                  <a:lnTo>
                    <a:pt x="39697" y="1292151"/>
                  </a:lnTo>
                  <a:lnTo>
                    <a:pt x="18266" y="1252667"/>
                  </a:lnTo>
                  <a:lnTo>
                    <a:pt x="4722" y="1209036"/>
                  </a:lnTo>
                  <a:lnTo>
                    <a:pt x="0" y="1162191"/>
                  </a:lnTo>
                  <a:lnTo>
                    <a:pt x="0" y="23244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10970" y="4779326"/>
            <a:ext cx="2627630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endParaRPr lang="en-US" sz="1600" b="1" spc="-3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600" b="1" spc="-30" dirty="0">
                <a:solidFill>
                  <a:srgbClr val="FFFFFF"/>
                </a:solidFill>
                <a:latin typeface="Trebuchet MS"/>
                <a:cs typeface="Trebuchet MS"/>
              </a:rPr>
              <a:t>API Security 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48438722-A3C1-1D43-A4D0-9F6D1F4A5BF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01C3DE34-DA3A-3C41-9F31-FEE78D66401E}"/>
              </a:ext>
            </a:extLst>
          </p:cNvPr>
          <p:cNvSpPr txBox="1"/>
          <p:nvPr/>
        </p:nvSpPr>
        <p:spPr>
          <a:xfrm>
            <a:off x="4206729" y="3036032"/>
            <a:ext cx="26276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r>
              <a:rPr sz="12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Protocols</a:t>
            </a:r>
            <a:endParaRPr sz="1200" dirty="0">
              <a:latin typeface="Trebuchet MS"/>
              <a:cs typeface="Trebuchet MS"/>
            </a:endParaRPr>
          </a:p>
          <a:p>
            <a:pPr marL="297815" marR="5080" indent="-285750">
              <a:lnSpc>
                <a:spcPts val="1420"/>
              </a:lnSpc>
              <a:spcBef>
                <a:spcPts val="11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Common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Pitfalls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Ways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2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Analyze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Protocols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34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Login-only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protocols</a:t>
            </a:r>
            <a:endParaRPr sz="1200" dirty="0">
              <a:latin typeface="Trebuchet MS"/>
              <a:cs typeface="Trebuchet MS"/>
            </a:endParaRPr>
          </a:p>
          <a:p>
            <a:pPr marL="297815" marR="147955" indent="-285750">
              <a:lnSpc>
                <a:spcPts val="1390"/>
              </a:lnSpc>
              <a:spcBef>
                <a:spcPts val="16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Mutual</a:t>
            </a:r>
            <a:r>
              <a:rPr sz="12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r>
              <a:rPr sz="12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2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Key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Distribution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Center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35" y="375411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will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learn?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27926" y="1210998"/>
            <a:ext cx="3022600" cy="1276985"/>
            <a:chOff x="6127926" y="1210998"/>
            <a:chExt cx="3022600" cy="1276985"/>
          </a:xfrm>
        </p:grpSpPr>
        <p:sp>
          <p:nvSpPr>
            <p:cNvPr id="4" name="object 4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2799096" y="0"/>
                  </a:moveTo>
                  <a:lnTo>
                    <a:pt x="210628" y="0"/>
                  </a:lnTo>
                  <a:lnTo>
                    <a:pt x="162333" y="5562"/>
                  </a:lnTo>
                  <a:lnTo>
                    <a:pt x="117999" y="21408"/>
                  </a:lnTo>
                  <a:lnTo>
                    <a:pt x="78890" y="46273"/>
                  </a:lnTo>
                  <a:lnTo>
                    <a:pt x="46272" y="78891"/>
                  </a:lnTo>
                  <a:lnTo>
                    <a:pt x="21408" y="118000"/>
                  </a:lnTo>
                  <a:lnTo>
                    <a:pt x="5562" y="162334"/>
                  </a:lnTo>
                  <a:lnTo>
                    <a:pt x="0" y="210629"/>
                  </a:lnTo>
                  <a:lnTo>
                    <a:pt x="0" y="1053123"/>
                  </a:lnTo>
                  <a:lnTo>
                    <a:pt x="5562" y="1101418"/>
                  </a:lnTo>
                  <a:lnTo>
                    <a:pt x="21408" y="1145752"/>
                  </a:lnTo>
                  <a:lnTo>
                    <a:pt x="46272" y="1184860"/>
                  </a:lnTo>
                  <a:lnTo>
                    <a:pt x="78890" y="1217478"/>
                  </a:lnTo>
                  <a:lnTo>
                    <a:pt x="117999" y="1242343"/>
                  </a:lnTo>
                  <a:lnTo>
                    <a:pt x="162333" y="1258188"/>
                  </a:lnTo>
                  <a:lnTo>
                    <a:pt x="210628" y="1263751"/>
                  </a:lnTo>
                  <a:lnTo>
                    <a:pt x="2799096" y="1263751"/>
                  </a:lnTo>
                  <a:lnTo>
                    <a:pt x="2847391" y="1258188"/>
                  </a:lnTo>
                  <a:lnTo>
                    <a:pt x="2891725" y="1242343"/>
                  </a:lnTo>
                  <a:lnTo>
                    <a:pt x="2930833" y="1217478"/>
                  </a:lnTo>
                  <a:lnTo>
                    <a:pt x="2963452" y="1184860"/>
                  </a:lnTo>
                  <a:lnTo>
                    <a:pt x="2988316" y="1145752"/>
                  </a:lnTo>
                  <a:lnTo>
                    <a:pt x="3004161" y="1101418"/>
                  </a:lnTo>
                  <a:lnTo>
                    <a:pt x="3009724" y="1053123"/>
                  </a:lnTo>
                  <a:lnTo>
                    <a:pt x="3009724" y="210629"/>
                  </a:lnTo>
                  <a:lnTo>
                    <a:pt x="3004161" y="162334"/>
                  </a:lnTo>
                  <a:lnTo>
                    <a:pt x="2988316" y="118000"/>
                  </a:lnTo>
                  <a:lnTo>
                    <a:pt x="2963452" y="78891"/>
                  </a:lnTo>
                  <a:lnTo>
                    <a:pt x="2930833" y="46273"/>
                  </a:lnTo>
                  <a:lnTo>
                    <a:pt x="2891725" y="21408"/>
                  </a:lnTo>
                  <a:lnTo>
                    <a:pt x="2847391" y="5562"/>
                  </a:lnTo>
                  <a:lnTo>
                    <a:pt x="2799096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4276" y="1217348"/>
              <a:ext cx="3009900" cy="1264285"/>
            </a:xfrm>
            <a:custGeom>
              <a:avLst/>
              <a:gdLst/>
              <a:ahLst/>
              <a:cxnLst/>
              <a:rect l="l" t="t" r="r" b="b"/>
              <a:pathLst>
                <a:path w="3009900" h="1264285">
                  <a:moveTo>
                    <a:pt x="0" y="210628"/>
                  </a:moveTo>
                  <a:lnTo>
                    <a:pt x="5562" y="162333"/>
                  </a:lnTo>
                  <a:lnTo>
                    <a:pt x="21408" y="117999"/>
                  </a:lnTo>
                  <a:lnTo>
                    <a:pt x="46272" y="78891"/>
                  </a:lnTo>
                  <a:lnTo>
                    <a:pt x="78890" y="46272"/>
                  </a:lnTo>
                  <a:lnTo>
                    <a:pt x="117999" y="21408"/>
                  </a:lnTo>
                  <a:lnTo>
                    <a:pt x="162332" y="5562"/>
                  </a:lnTo>
                  <a:lnTo>
                    <a:pt x="210628" y="0"/>
                  </a:lnTo>
                  <a:lnTo>
                    <a:pt x="2799096" y="0"/>
                  </a:lnTo>
                  <a:lnTo>
                    <a:pt x="2847391" y="5562"/>
                  </a:lnTo>
                  <a:lnTo>
                    <a:pt x="2891725" y="21408"/>
                  </a:lnTo>
                  <a:lnTo>
                    <a:pt x="2930833" y="46272"/>
                  </a:lnTo>
                  <a:lnTo>
                    <a:pt x="2963451" y="78891"/>
                  </a:lnTo>
                  <a:lnTo>
                    <a:pt x="2988315" y="117999"/>
                  </a:lnTo>
                  <a:lnTo>
                    <a:pt x="3004161" y="162333"/>
                  </a:lnTo>
                  <a:lnTo>
                    <a:pt x="3009724" y="210628"/>
                  </a:lnTo>
                  <a:lnTo>
                    <a:pt x="3009724" y="1053123"/>
                  </a:lnTo>
                  <a:lnTo>
                    <a:pt x="3004161" y="1101417"/>
                  </a:lnTo>
                  <a:lnTo>
                    <a:pt x="2988315" y="1145751"/>
                  </a:lnTo>
                  <a:lnTo>
                    <a:pt x="2963451" y="1184859"/>
                  </a:lnTo>
                  <a:lnTo>
                    <a:pt x="2930833" y="1217478"/>
                  </a:lnTo>
                  <a:lnTo>
                    <a:pt x="2891725" y="1242342"/>
                  </a:lnTo>
                  <a:lnTo>
                    <a:pt x="2847391" y="1258188"/>
                  </a:lnTo>
                  <a:lnTo>
                    <a:pt x="2799096" y="1263751"/>
                  </a:lnTo>
                  <a:lnTo>
                    <a:pt x="210628" y="1263751"/>
                  </a:lnTo>
                  <a:lnTo>
                    <a:pt x="162332" y="1258188"/>
                  </a:lnTo>
                  <a:lnTo>
                    <a:pt x="117999" y="1242342"/>
                  </a:lnTo>
                  <a:lnTo>
                    <a:pt x="78890" y="1217478"/>
                  </a:lnTo>
                  <a:lnTo>
                    <a:pt x="46272" y="1184859"/>
                  </a:lnTo>
                  <a:lnTo>
                    <a:pt x="21408" y="1145751"/>
                  </a:lnTo>
                  <a:lnTo>
                    <a:pt x="5562" y="1101417"/>
                  </a:lnTo>
                  <a:lnTo>
                    <a:pt x="0" y="1053123"/>
                  </a:lnTo>
                  <a:lnTo>
                    <a:pt x="0" y="21062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4708" y="1276603"/>
            <a:ext cx="2700655" cy="11226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5080" indent="-285750">
              <a:lnSpc>
                <a:spcPct val="103299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Modern</a:t>
            </a:r>
            <a:r>
              <a:rPr sz="12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sz="1200" b="1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Development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Browser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Mechanism</a:t>
            </a:r>
            <a:endParaRPr sz="1200" dirty="0">
              <a:latin typeface="Trebuchet MS"/>
              <a:cs typeface="Trebuchet MS"/>
            </a:endParaRPr>
          </a:p>
          <a:p>
            <a:pPr marL="298450" marR="29209" indent="-285750">
              <a:lnSpc>
                <a:spcPts val="142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Building</a:t>
            </a: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blocks</a:t>
            </a: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modern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sz="12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applications.</a:t>
            </a:r>
            <a:endParaRPr sz="1200" dirty="0">
              <a:latin typeface="Trebuchet MS"/>
              <a:cs typeface="Trebuchet MS"/>
            </a:endParaRPr>
          </a:p>
          <a:p>
            <a:pPr marL="298450" marR="112395" indent="-285750">
              <a:lnSpc>
                <a:spcPts val="1420"/>
              </a:lnSpc>
              <a:spcBef>
                <a:spcPts val="65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future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sz="12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authentication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web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812" y="1255878"/>
            <a:ext cx="4970780" cy="707390"/>
          </a:xfrm>
          <a:custGeom>
            <a:avLst/>
            <a:gdLst/>
            <a:ahLst/>
            <a:cxnLst/>
            <a:rect l="l" t="t" r="r" b="b"/>
            <a:pathLst>
              <a:path w="4970780" h="707389">
                <a:moveTo>
                  <a:pt x="0" y="0"/>
                </a:moveTo>
                <a:lnTo>
                  <a:pt x="918145" y="0"/>
                </a:lnTo>
                <a:lnTo>
                  <a:pt x="1311636" y="0"/>
                </a:lnTo>
                <a:lnTo>
                  <a:pt x="1573963" y="0"/>
                </a:lnTo>
                <a:lnTo>
                  <a:pt x="1573963" y="412626"/>
                </a:lnTo>
                <a:lnTo>
                  <a:pt x="4970324" y="490503"/>
                </a:lnTo>
                <a:lnTo>
                  <a:pt x="1573963" y="589466"/>
                </a:lnTo>
                <a:lnTo>
                  <a:pt x="1573963" y="707359"/>
                </a:lnTo>
                <a:lnTo>
                  <a:pt x="1311636" y="707359"/>
                </a:lnTo>
                <a:lnTo>
                  <a:pt x="918145" y="707359"/>
                </a:lnTo>
                <a:lnTo>
                  <a:pt x="0" y="707359"/>
                </a:lnTo>
                <a:lnTo>
                  <a:pt x="0" y="589466"/>
                </a:lnTo>
                <a:lnTo>
                  <a:pt x="0" y="412626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24668" y="1431035"/>
            <a:ext cx="1238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13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-30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845" y="5034279"/>
            <a:ext cx="5118735" cy="612775"/>
          </a:xfrm>
          <a:custGeom>
            <a:avLst/>
            <a:gdLst/>
            <a:ahLst/>
            <a:cxnLst/>
            <a:rect l="l" t="t" r="r" b="b"/>
            <a:pathLst>
              <a:path w="5118735" h="612775">
                <a:moveTo>
                  <a:pt x="0" y="0"/>
                </a:moveTo>
                <a:lnTo>
                  <a:pt x="882395" y="0"/>
                </a:lnTo>
                <a:lnTo>
                  <a:pt x="1260565" y="0"/>
                </a:lnTo>
                <a:lnTo>
                  <a:pt x="1512678" y="0"/>
                </a:lnTo>
                <a:lnTo>
                  <a:pt x="1512678" y="102125"/>
                </a:lnTo>
                <a:lnTo>
                  <a:pt x="5118116" y="285085"/>
                </a:lnTo>
                <a:lnTo>
                  <a:pt x="1512678" y="255316"/>
                </a:lnTo>
                <a:lnTo>
                  <a:pt x="1512678" y="612758"/>
                </a:lnTo>
                <a:lnTo>
                  <a:pt x="1260565" y="612758"/>
                </a:lnTo>
                <a:lnTo>
                  <a:pt x="882395" y="612758"/>
                </a:lnTo>
                <a:lnTo>
                  <a:pt x="0" y="612758"/>
                </a:lnTo>
                <a:lnTo>
                  <a:pt x="0" y="255316"/>
                </a:lnTo>
                <a:lnTo>
                  <a:pt x="0" y="10212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4208" y="5161788"/>
            <a:ext cx="1123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95" dirty="0">
                <a:solidFill>
                  <a:srgbClr val="1F1F1F"/>
                </a:solidFill>
                <a:latin typeface="Trebuchet MS"/>
                <a:cs typeface="Trebuchet MS"/>
              </a:rPr>
              <a:t>15°</a:t>
            </a:r>
            <a:r>
              <a:rPr sz="2000" b="1" spc="-30" dirty="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9845" y="3262697"/>
            <a:ext cx="2903220" cy="572770"/>
          </a:xfrm>
          <a:custGeom>
            <a:avLst/>
            <a:gdLst/>
            <a:ahLst/>
            <a:cxnLst/>
            <a:rect l="l" t="t" r="r" b="b"/>
            <a:pathLst>
              <a:path w="2903220" h="572770">
                <a:moveTo>
                  <a:pt x="0" y="0"/>
                </a:moveTo>
                <a:lnTo>
                  <a:pt x="929520" y="0"/>
                </a:lnTo>
                <a:lnTo>
                  <a:pt x="1327886" y="0"/>
                </a:lnTo>
                <a:lnTo>
                  <a:pt x="1593463" y="0"/>
                </a:lnTo>
                <a:lnTo>
                  <a:pt x="1593463" y="334101"/>
                </a:lnTo>
                <a:lnTo>
                  <a:pt x="2903034" y="309335"/>
                </a:lnTo>
                <a:lnTo>
                  <a:pt x="1593463" y="477288"/>
                </a:lnTo>
                <a:lnTo>
                  <a:pt x="1593463" y="572747"/>
                </a:lnTo>
                <a:lnTo>
                  <a:pt x="1327886" y="572747"/>
                </a:lnTo>
                <a:lnTo>
                  <a:pt x="929520" y="572747"/>
                </a:lnTo>
                <a:lnTo>
                  <a:pt x="0" y="572747"/>
                </a:lnTo>
                <a:lnTo>
                  <a:pt x="0" y="477288"/>
                </a:lnTo>
                <a:lnTo>
                  <a:pt x="0" y="334101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7451" y="3372611"/>
            <a:ext cx="1238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14</a:t>
            </a:r>
            <a:r>
              <a:rPr sz="1950" b="1" baseline="25641" dirty="0">
                <a:latin typeface="Trebuchet MS"/>
                <a:cs typeface="Trebuchet MS"/>
              </a:rPr>
              <a:t>th</a:t>
            </a:r>
            <a:r>
              <a:rPr sz="1950" b="1" spc="-30" baseline="25641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Week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4642" y="2965187"/>
            <a:ext cx="2730500" cy="1080770"/>
            <a:chOff x="4014642" y="2965187"/>
            <a:chExt cx="2730500" cy="1080770"/>
          </a:xfrm>
        </p:grpSpPr>
        <p:sp>
          <p:nvSpPr>
            <p:cNvPr id="14" name="object 14"/>
            <p:cNvSpPr/>
            <p:nvPr/>
          </p:nvSpPr>
          <p:spPr>
            <a:xfrm>
              <a:off x="4020992" y="2971537"/>
              <a:ext cx="2717800" cy="1068070"/>
            </a:xfrm>
            <a:custGeom>
              <a:avLst/>
              <a:gdLst/>
              <a:ahLst/>
              <a:cxnLst/>
              <a:rect l="l" t="t" r="r" b="b"/>
              <a:pathLst>
                <a:path w="2717800" h="1068070">
                  <a:moveTo>
                    <a:pt x="2539464" y="0"/>
                  </a:moveTo>
                  <a:lnTo>
                    <a:pt x="177967" y="0"/>
                  </a:lnTo>
                  <a:lnTo>
                    <a:pt x="130656" y="6357"/>
                  </a:lnTo>
                  <a:lnTo>
                    <a:pt x="88143" y="24297"/>
                  </a:lnTo>
                  <a:lnTo>
                    <a:pt x="52125" y="52125"/>
                  </a:lnTo>
                  <a:lnTo>
                    <a:pt x="24297" y="88143"/>
                  </a:lnTo>
                  <a:lnTo>
                    <a:pt x="6357" y="130656"/>
                  </a:lnTo>
                  <a:lnTo>
                    <a:pt x="0" y="177967"/>
                  </a:lnTo>
                  <a:lnTo>
                    <a:pt x="0" y="889822"/>
                  </a:lnTo>
                  <a:lnTo>
                    <a:pt x="6357" y="937133"/>
                  </a:lnTo>
                  <a:lnTo>
                    <a:pt x="24297" y="979646"/>
                  </a:lnTo>
                  <a:lnTo>
                    <a:pt x="52125" y="1015665"/>
                  </a:lnTo>
                  <a:lnTo>
                    <a:pt x="88143" y="1043492"/>
                  </a:lnTo>
                  <a:lnTo>
                    <a:pt x="130656" y="1061433"/>
                  </a:lnTo>
                  <a:lnTo>
                    <a:pt x="177967" y="1067790"/>
                  </a:lnTo>
                  <a:lnTo>
                    <a:pt x="2539464" y="1067790"/>
                  </a:lnTo>
                  <a:lnTo>
                    <a:pt x="2586775" y="1061433"/>
                  </a:lnTo>
                  <a:lnTo>
                    <a:pt x="2629287" y="1043492"/>
                  </a:lnTo>
                  <a:lnTo>
                    <a:pt x="2665306" y="1015665"/>
                  </a:lnTo>
                  <a:lnTo>
                    <a:pt x="2693133" y="979646"/>
                  </a:lnTo>
                  <a:lnTo>
                    <a:pt x="2711074" y="937133"/>
                  </a:lnTo>
                  <a:lnTo>
                    <a:pt x="2717431" y="889822"/>
                  </a:lnTo>
                  <a:lnTo>
                    <a:pt x="2717431" y="177967"/>
                  </a:lnTo>
                  <a:lnTo>
                    <a:pt x="2711074" y="130656"/>
                  </a:lnTo>
                  <a:lnTo>
                    <a:pt x="2693133" y="88143"/>
                  </a:lnTo>
                  <a:lnTo>
                    <a:pt x="2665306" y="52125"/>
                  </a:lnTo>
                  <a:lnTo>
                    <a:pt x="2629287" y="24297"/>
                  </a:lnTo>
                  <a:lnTo>
                    <a:pt x="2586775" y="6357"/>
                  </a:lnTo>
                  <a:lnTo>
                    <a:pt x="253946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0992" y="2971537"/>
              <a:ext cx="2717800" cy="1068070"/>
            </a:xfrm>
            <a:custGeom>
              <a:avLst/>
              <a:gdLst/>
              <a:ahLst/>
              <a:cxnLst/>
              <a:rect l="l" t="t" r="r" b="b"/>
              <a:pathLst>
                <a:path w="2717800" h="1068070">
                  <a:moveTo>
                    <a:pt x="0" y="177967"/>
                  </a:moveTo>
                  <a:lnTo>
                    <a:pt x="6357" y="130656"/>
                  </a:lnTo>
                  <a:lnTo>
                    <a:pt x="24297" y="88143"/>
                  </a:lnTo>
                  <a:lnTo>
                    <a:pt x="52125" y="52125"/>
                  </a:lnTo>
                  <a:lnTo>
                    <a:pt x="88143" y="24297"/>
                  </a:lnTo>
                  <a:lnTo>
                    <a:pt x="130656" y="6357"/>
                  </a:lnTo>
                  <a:lnTo>
                    <a:pt x="177967" y="0"/>
                  </a:lnTo>
                  <a:lnTo>
                    <a:pt x="2539465" y="0"/>
                  </a:lnTo>
                  <a:lnTo>
                    <a:pt x="2586775" y="6357"/>
                  </a:lnTo>
                  <a:lnTo>
                    <a:pt x="2629288" y="24297"/>
                  </a:lnTo>
                  <a:lnTo>
                    <a:pt x="2665306" y="52125"/>
                  </a:lnTo>
                  <a:lnTo>
                    <a:pt x="2693134" y="88143"/>
                  </a:lnTo>
                  <a:lnTo>
                    <a:pt x="2711074" y="130656"/>
                  </a:lnTo>
                  <a:lnTo>
                    <a:pt x="2717432" y="177967"/>
                  </a:lnTo>
                  <a:lnTo>
                    <a:pt x="2717432" y="889823"/>
                  </a:lnTo>
                  <a:lnTo>
                    <a:pt x="2711074" y="937134"/>
                  </a:lnTo>
                  <a:lnTo>
                    <a:pt x="2693134" y="979647"/>
                  </a:lnTo>
                  <a:lnTo>
                    <a:pt x="2665306" y="1015665"/>
                  </a:lnTo>
                  <a:lnTo>
                    <a:pt x="2629288" y="1043493"/>
                  </a:lnTo>
                  <a:lnTo>
                    <a:pt x="2586775" y="1061433"/>
                  </a:lnTo>
                  <a:lnTo>
                    <a:pt x="2539465" y="1067791"/>
                  </a:lnTo>
                  <a:lnTo>
                    <a:pt x="177967" y="1067791"/>
                  </a:lnTo>
                  <a:lnTo>
                    <a:pt x="130656" y="1061433"/>
                  </a:lnTo>
                  <a:lnTo>
                    <a:pt x="88143" y="1043493"/>
                  </a:lnTo>
                  <a:lnTo>
                    <a:pt x="52125" y="1015665"/>
                  </a:lnTo>
                  <a:lnTo>
                    <a:pt x="24297" y="979647"/>
                  </a:lnTo>
                  <a:lnTo>
                    <a:pt x="6357" y="937134"/>
                  </a:lnTo>
                  <a:lnTo>
                    <a:pt x="0" y="889823"/>
                  </a:lnTo>
                  <a:lnTo>
                    <a:pt x="0" y="177967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51858" y="3023108"/>
            <a:ext cx="238125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 in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endParaRPr sz="1200" dirty="0">
              <a:latin typeface="Trebuchet MS"/>
              <a:cs typeface="Trebuchet MS"/>
            </a:endParaRPr>
          </a:p>
          <a:p>
            <a:pPr marL="298450" marR="491490" indent="-285750">
              <a:lnSpc>
                <a:spcPts val="142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Client-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side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attacks</a:t>
            </a: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defenses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ts val="1345"/>
              </a:lnSpc>
              <a:buFont typeface="Arial MT"/>
              <a:buChar char="•"/>
              <a:tabLst>
                <a:tab pos="297815" algn="l"/>
              </a:tabLst>
            </a:pP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Server-side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attacks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 and</a:t>
            </a:r>
            <a:endParaRPr sz="1200" dirty="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70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defenses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53267" y="4676259"/>
            <a:ext cx="3009900" cy="1343541"/>
            <a:chOff x="6253267" y="4676259"/>
            <a:chExt cx="3009900" cy="1407795"/>
          </a:xfrm>
        </p:grpSpPr>
        <p:sp>
          <p:nvSpPr>
            <p:cNvPr id="18" name="object 18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2764481" y="0"/>
                  </a:moveTo>
                  <a:lnTo>
                    <a:pt x="232443" y="0"/>
                  </a:lnTo>
                  <a:lnTo>
                    <a:pt x="185597" y="4722"/>
                  </a:lnTo>
                  <a:lnTo>
                    <a:pt x="141965" y="18266"/>
                  </a:lnTo>
                  <a:lnTo>
                    <a:pt x="102482" y="39697"/>
                  </a:lnTo>
                  <a:lnTo>
                    <a:pt x="68081" y="68080"/>
                  </a:lnTo>
                  <a:lnTo>
                    <a:pt x="39697" y="102481"/>
                  </a:lnTo>
                  <a:lnTo>
                    <a:pt x="18266" y="141964"/>
                  </a:lnTo>
                  <a:lnTo>
                    <a:pt x="4722" y="185596"/>
                  </a:lnTo>
                  <a:lnTo>
                    <a:pt x="0" y="232441"/>
                  </a:lnTo>
                  <a:lnTo>
                    <a:pt x="0" y="1162190"/>
                  </a:lnTo>
                  <a:lnTo>
                    <a:pt x="4722" y="1209036"/>
                  </a:lnTo>
                  <a:lnTo>
                    <a:pt x="18266" y="1252667"/>
                  </a:lnTo>
                  <a:lnTo>
                    <a:pt x="39697" y="1292151"/>
                  </a:lnTo>
                  <a:lnTo>
                    <a:pt x="68081" y="1326552"/>
                  </a:lnTo>
                  <a:lnTo>
                    <a:pt x="102482" y="1354935"/>
                  </a:lnTo>
                  <a:lnTo>
                    <a:pt x="141965" y="1376366"/>
                  </a:lnTo>
                  <a:lnTo>
                    <a:pt x="185597" y="1389910"/>
                  </a:lnTo>
                  <a:lnTo>
                    <a:pt x="232443" y="1394632"/>
                  </a:lnTo>
                  <a:lnTo>
                    <a:pt x="2764481" y="1394632"/>
                  </a:lnTo>
                  <a:lnTo>
                    <a:pt x="2811326" y="1389910"/>
                  </a:lnTo>
                  <a:lnTo>
                    <a:pt x="2854958" y="1376366"/>
                  </a:lnTo>
                  <a:lnTo>
                    <a:pt x="2894441" y="1354935"/>
                  </a:lnTo>
                  <a:lnTo>
                    <a:pt x="2928842" y="1326552"/>
                  </a:lnTo>
                  <a:lnTo>
                    <a:pt x="2957225" y="1292151"/>
                  </a:lnTo>
                  <a:lnTo>
                    <a:pt x="2978656" y="1252667"/>
                  </a:lnTo>
                  <a:lnTo>
                    <a:pt x="2992200" y="1209036"/>
                  </a:lnTo>
                  <a:lnTo>
                    <a:pt x="2996923" y="1162190"/>
                  </a:lnTo>
                  <a:lnTo>
                    <a:pt x="2996923" y="232441"/>
                  </a:lnTo>
                  <a:lnTo>
                    <a:pt x="2992200" y="185596"/>
                  </a:lnTo>
                  <a:lnTo>
                    <a:pt x="2978656" y="141964"/>
                  </a:lnTo>
                  <a:lnTo>
                    <a:pt x="2957225" y="102481"/>
                  </a:lnTo>
                  <a:lnTo>
                    <a:pt x="2928842" y="68080"/>
                  </a:lnTo>
                  <a:lnTo>
                    <a:pt x="2894441" y="39697"/>
                  </a:lnTo>
                  <a:lnTo>
                    <a:pt x="2854958" y="18266"/>
                  </a:lnTo>
                  <a:lnTo>
                    <a:pt x="2811326" y="4722"/>
                  </a:lnTo>
                  <a:lnTo>
                    <a:pt x="276448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59617" y="4682609"/>
              <a:ext cx="2997200" cy="1395095"/>
            </a:xfrm>
            <a:custGeom>
              <a:avLst/>
              <a:gdLst/>
              <a:ahLst/>
              <a:cxnLst/>
              <a:rect l="l" t="t" r="r" b="b"/>
              <a:pathLst>
                <a:path w="2997200" h="1395095">
                  <a:moveTo>
                    <a:pt x="0" y="232442"/>
                  </a:moveTo>
                  <a:lnTo>
                    <a:pt x="4722" y="185596"/>
                  </a:lnTo>
                  <a:lnTo>
                    <a:pt x="18266" y="141965"/>
                  </a:lnTo>
                  <a:lnTo>
                    <a:pt x="39697" y="102481"/>
                  </a:lnTo>
                  <a:lnTo>
                    <a:pt x="68080" y="68080"/>
                  </a:lnTo>
                  <a:lnTo>
                    <a:pt x="102481" y="39697"/>
                  </a:lnTo>
                  <a:lnTo>
                    <a:pt x="141964" y="18266"/>
                  </a:lnTo>
                  <a:lnTo>
                    <a:pt x="185596" y="4722"/>
                  </a:lnTo>
                  <a:lnTo>
                    <a:pt x="232441" y="0"/>
                  </a:lnTo>
                  <a:lnTo>
                    <a:pt x="2764481" y="0"/>
                  </a:lnTo>
                  <a:lnTo>
                    <a:pt x="2811326" y="4722"/>
                  </a:lnTo>
                  <a:lnTo>
                    <a:pt x="2854957" y="18266"/>
                  </a:lnTo>
                  <a:lnTo>
                    <a:pt x="2894441" y="39697"/>
                  </a:lnTo>
                  <a:lnTo>
                    <a:pt x="2928842" y="68080"/>
                  </a:lnTo>
                  <a:lnTo>
                    <a:pt x="2957225" y="102481"/>
                  </a:lnTo>
                  <a:lnTo>
                    <a:pt x="2978656" y="141965"/>
                  </a:lnTo>
                  <a:lnTo>
                    <a:pt x="2992200" y="185596"/>
                  </a:lnTo>
                  <a:lnTo>
                    <a:pt x="2996923" y="232442"/>
                  </a:lnTo>
                  <a:lnTo>
                    <a:pt x="2996923" y="1162191"/>
                  </a:lnTo>
                  <a:lnTo>
                    <a:pt x="2992200" y="1209036"/>
                  </a:lnTo>
                  <a:lnTo>
                    <a:pt x="2978656" y="1252667"/>
                  </a:lnTo>
                  <a:lnTo>
                    <a:pt x="2957225" y="1292151"/>
                  </a:lnTo>
                  <a:lnTo>
                    <a:pt x="2928842" y="1326552"/>
                  </a:lnTo>
                  <a:lnTo>
                    <a:pt x="2894441" y="1354935"/>
                  </a:lnTo>
                  <a:lnTo>
                    <a:pt x="2854957" y="1376366"/>
                  </a:lnTo>
                  <a:lnTo>
                    <a:pt x="2811326" y="1389910"/>
                  </a:lnTo>
                  <a:lnTo>
                    <a:pt x="2764481" y="1394633"/>
                  </a:lnTo>
                  <a:lnTo>
                    <a:pt x="232441" y="1394633"/>
                  </a:lnTo>
                  <a:lnTo>
                    <a:pt x="185596" y="1389910"/>
                  </a:lnTo>
                  <a:lnTo>
                    <a:pt x="141964" y="1376366"/>
                  </a:lnTo>
                  <a:lnTo>
                    <a:pt x="102481" y="1354935"/>
                  </a:lnTo>
                  <a:lnTo>
                    <a:pt x="68080" y="1326552"/>
                  </a:lnTo>
                  <a:lnTo>
                    <a:pt x="39697" y="1292151"/>
                  </a:lnTo>
                  <a:lnTo>
                    <a:pt x="18266" y="1252667"/>
                  </a:lnTo>
                  <a:lnTo>
                    <a:pt x="4722" y="1209036"/>
                  </a:lnTo>
                  <a:lnTo>
                    <a:pt x="0" y="1162191"/>
                  </a:lnTo>
                  <a:lnTo>
                    <a:pt x="0" y="23244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06438" y="4897628"/>
            <a:ext cx="2607310" cy="76796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270510" indent="-285750">
              <a:lnSpc>
                <a:spcPct val="100800"/>
              </a:lnSpc>
              <a:spcBef>
                <a:spcPts val="85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Emerging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trends</a:t>
            </a:r>
            <a:r>
              <a:rPr sz="12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secure </a:t>
            </a:r>
            <a:r>
              <a:rPr sz="1200" b="1" spc="-3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Trebuchet MS"/>
                <a:cs typeface="Trebuchet MS"/>
              </a:rPr>
              <a:t>engineering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Trebuchet MS"/>
                <a:cs typeface="Trebuchet MS"/>
              </a:rPr>
              <a:t>AI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security)</a:t>
            </a:r>
            <a:endParaRPr sz="12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7815" algn="l"/>
              </a:tabLst>
            </a:pPr>
            <a:r>
              <a:rPr sz="1200" b="1" spc="-45" dirty="0">
                <a:solidFill>
                  <a:srgbClr val="FFFFFF"/>
                </a:solidFill>
                <a:latin typeface="Trebuchet MS"/>
                <a:cs typeface="Trebuchet MS"/>
              </a:rPr>
              <a:t>Final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Q&amp;A</a:t>
            </a:r>
            <a:r>
              <a:rPr sz="12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2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discussions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AE72920-AB3B-8544-A810-E7383859326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CA7AD-1B95-A540-B2E6-6A1626F0677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5CA2F-268F-B344-9D69-765609409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16</a:t>
            </a:fld>
            <a:endParaRPr lang="en-US" spc="-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CB086B-6506-2F47-94E7-A47D41A84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16004"/>
              </p:ext>
            </p:extLst>
          </p:nvPr>
        </p:nvGraphicFramePr>
        <p:xfrm>
          <a:off x="914400" y="1524000"/>
          <a:ext cx="7239000" cy="3219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3648521541"/>
                    </a:ext>
                  </a:extLst>
                </a:gridCol>
              </a:tblGrid>
              <a:tr h="2667000">
                <a:tc>
                  <a:txBody>
                    <a:bodyPr/>
                    <a:lstStyle/>
                    <a:p>
                      <a:pPr algn="just">
                        <a:lnSpc>
                          <a:spcPct val="10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Reference books:</a:t>
                      </a: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en-US" sz="1600" u="sng" dirty="0">
                          <a:effectLst/>
                          <a:hlinkClick r:id="rId2"/>
                        </a:rPr>
                        <a:t>Designing Secure Software: A Guide for Developers</a:t>
                      </a:r>
                      <a:r>
                        <a:rPr lang="en-US" sz="1600" dirty="0">
                          <a:effectLst/>
                        </a:rPr>
                        <a:t> by Loren </a:t>
                      </a:r>
                      <a:r>
                        <a:rPr lang="en-US" sz="1600" dirty="0" err="1">
                          <a:effectLst/>
                        </a:rPr>
                        <a:t>Kohnfelder</a:t>
                      </a:r>
                      <a:r>
                        <a:rPr lang="en-US" sz="1600" dirty="0">
                          <a:effectLst/>
                        </a:rPr>
                        <a:t> (2023) </a:t>
                      </a: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Official (ISC)2 Guide to the CSSLP (latest) </a:t>
                      </a: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Software Security: Building Security In, 1st Edition by Gary McGraw</a:t>
                      </a:r>
                    </a:p>
                    <a:p>
                      <a:pPr algn="just">
                        <a:lnSpc>
                          <a:spcPct val="10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Additional books:</a:t>
                      </a: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Ross Anderson. Security Engineering. Wiley. </a:t>
                      </a:r>
                      <a:r>
                        <a:rPr lang="it-IT" sz="1600" dirty="0">
                          <a:effectLst/>
                        </a:rPr>
                        <a:t>2nd </a:t>
                      </a:r>
                      <a:r>
                        <a:rPr lang="it-IT" sz="1600" dirty="0" err="1">
                          <a:effectLst/>
                        </a:rPr>
                        <a:t>edition</a:t>
                      </a:r>
                      <a:r>
                        <a:rPr lang="it-IT" sz="1600" dirty="0">
                          <a:effectLst/>
                        </a:rPr>
                        <a:t>. 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Mathias </a:t>
                      </a:r>
                      <a:r>
                        <a:rPr lang="en-US" sz="1600" dirty="0" err="1">
                          <a:effectLst/>
                        </a:rPr>
                        <a:t>Paye</a:t>
                      </a:r>
                      <a:r>
                        <a:rPr lang="en-US" sz="1600" dirty="0">
                          <a:effectLst/>
                        </a:rPr>
                        <a:t>. Software Security Principles, Policies, and Protection. </a:t>
                      </a:r>
                      <a:r>
                        <a:rPr lang="it-IT" sz="1600" dirty="0">
                          <a:effectLst/>
                        </a:rPr>
                        <a:t>(</a:t>
                      </a:r>
                      <a:r>
                        <a:rPr lang="it-IT" sz="1600" dirty="0" err="1">
                          <a:effectLst/>
                        </a:rPr>
                        <a:t>January</a:t>
                      </a:r>
                      <a:r>
                        <a:rPr lang="it-IT" sz="1600" dirty="0">
                          <a:effectLst/>
                        </a:rPr>
                        <a:t> 2019, v0.33) 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dirty="0">
                          <a:effectLst/>
                        </a:rPr>
                        <a:t>Theodor Richardson &amp; Charles </a:t>
                      </a:r>
                      <a:r>
                        <a:rPr lang="en-US" sz="1600" dirty="0" err="1">
                          <a:effectLst/>
                        </a:rPr>
                        <a:t>Thies</a:t>
                      </a:r>
                      <a:r>
                        <a:rPr lang="en-US" sz="1600" dirty="0">
                          <a:effectLst/>
                        </a:rPr>
                        <a:t>. Secure Software Design. </a:t>
                      </a:r>
                      <a:r>
                        <a:rPr lang="it-IT" sz="1600" dirty="0">
                          <a:effectLst/>
                        </a:rPr>
                        <a:t>Jones &amp; </a:t>
                      </a:r>
                      <a:r>
                        <a:rPr lang="it-IT" sz="1600" dirty="0" err="1">
                          <a:effectLst/>
                        </a:rPr>
                        <a:t>Bartlett</a:t>
                      </a:r>
                      <a:r>
                        <a:rPr lang="it-IT" sz="1600" dirty="0">
                          <a:effectLst/>
                        </a:rPr>
                        <a:t> Learning. 2013 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u="none" strike="noStrike" dirty="0">
                          <a:effectLst/>
                          <a:hlinkClick r:id="rId3"/>
                        </a:rPr>
                        <a:t>Secure by Design</a:t>
                      </a:r>
                      <a:r>
                        <a:rPr lang="en-US" sz="1600" dirty="0">
                          <a:effectLst/>
                        </a:rPr>
                        <a:t> - Dan Bergh </a:t>
                      </a:r>
                      <a:r>
                        <a:rPr lang="en-US" sz="1600" dirty="0" err="1">
                          <a:effectLst/>
                        </a:rPr>
                        <a:t>Johnsson</a:t>
                      </a:r>
                      <a:r>
                        <a:rPr lang="en-US" sz="1600" dirty="0">
                          <a:effectLst/>
                        </a:rPr>
                        <a:t>, Daniel </a:t>
                      </a:r>
                      <a:r>
                        <a:rPr lang="en-US" sz="1600" dirty="0" err="1">
                          <a:effectLst/>
                        </a:rPr>
                        <a:t>Deogun</a:t>
                      </a:r>
                      <a:r>
                        <a:rPr lang="en-US" sz="1600" dirty="0">
                          <a:effectLst/>
                        </a:rPr>
                        <a:t>, Daniel </a:t>
                      </a:r>
                      <a:r>
                        <a:rPr lang="en-US" sz="1600" dirty="0" err="1">
                          <a:effectLst/>
                        </a:rPr>
                        <a:t>Sawano</a:t>
                      </a:r>
                      <a:r>
                        <a:rPr lang="en-US" sz="1600" dirty="0">
                          <a:effectLst/>
                        </a:rPr>
                        <a:t> – Manning 2019</a:t>
                      </a:r>
                    </a:p>
                    <a:p>
                      <a:pPr marL="342900" lvl="0" indent="-342900" algn="l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600" u="none" strike="noStrike" dirty="0">
                          <a:effectLst/>
                          <a:hlinkClick r:id="rId4"/>
                        </a:rPr>
                        <a:t>Architecture Patterns with Python</a:t>
                      </a:r>
                      <a:r>
                        <a:rPr lang="en-US" sz="1600" dirty="0">
                          <a:effectLst/>
                        </a:rPr>
                        <a:t> - Harry Percival, Bob Gregory – O’Reilly 2020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195541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00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203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A</a:t>
            </a:r>
            <a:r>
              <a:rPr sz="2800" spc="-70" dirty="0"/>
              <a:t> </a:t>
            </a:r>
            <a:r>
              <a:rPr sz="2800" dirty="0"/>
              <a:t>Quick</a:t>
            </a:r>
            <a:r>
              <a:rPr sz="2800" spc="-70" dirty="0"/>
              <a:t> </a:t>
            </a:r>
            <a:r>
              <a:rPr sz="2800" dirty="0"/>
              <a:t>Starter</a:t>
            </a:r>
            <a:r>
              <a:rPr sz="2800" spc="-65" dirty="0"/>
              <a:t> </a:t>
            </a:r>
            <a:r>
              <a:rPr sz="2800" dirty="0"/>
              <a:t>Scenario</a:t>
            </a:r>
            <a:r>
              <a:rPr sz="2800" spc="-80" dirty="0"/>
              <a:t> </a:t>
            </a:r>
            <a:r>
              <a:rPr sz="2800" spc="-25" dirty="0"/>
              <a:t>(1)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3448" y="1917192"/>
            <a:ext cx="2993136" cy="29931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58684" y="1766178"/>
            <a:ext cx="2193290" cy="674370"/>
            <a:chOff x="6858684" y="1766178"/>
            <a:chExt cx="2193290" cy="674370"/>
          </a:xfrm>
        </p:grpSpPr>
        <p:sp>
          <p:nvSpPr>
            <p:cNvPr id="5" name="object 5"/>
            <p:cNvSpPr/>
            <p:nvPr/>
          </p:nvSpPr>
          <p:spPr>
            <a:xfrm>
              <a:off x="6865034" y="177252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69">
                  <a:moveTo>
                    <a:pt x="2070294" y="0"/>
                  </a:moveTo>
                  <a:lnTo>
                    <a:pt x="110197" y="0"/>
                  </a:lnTo>
                  <a:lnTo>
                    <a:pt x="67303" y="8659"/>
                  </a:lnTo>
                  <a:lnTo>
                    <a:pt x="32276" y="32276"/>
                  </a:lnTo>
                  <a:lnTo>
                    <a:pt x="8659" y="67303"/>
                  </a:lnTo>
                  <a:lnTo>
                    <a:pt x="0" y="110197"/>
                  </a:lnTo>
                  <a:lnTo>
                    <a:pt x="0" y="550984"/>
                  </a:lnTo>
                  <a:lnTo>
                    <a:pt x="8659" y="593878"/>
                  </a:lnTo>
                  <a:lnTo>
                    <a:pt x="32276" y="628905"/>
                  </a:lnTo>
                  <a:lnTo>
                    <a:pt x="67303" y="652522"/>
                  </a:lnTo>
                  <a:lnTo>
                    <a:pt x="110197" y="661182"/>
                  </a:lnTo>
                  <a:lnTo>
                    <a:pt x="2070294" y="661182"/>
                  </a:lnTo>
                  <a:lnTo>
                    <a:pt x="2113187" y="652522"/>
                  </a:lnTo>
                  <a:lnTo>
                    <a:pt x="2148215" y="628905"/>
                  </a:lnTo>
                  <a:lnTo>
                    <a:pt x="2171831" y="593878"/>
                  </a:lnTo>
                  <a:lnTo>
                    <a:pt x="2180490" y="550984"/>
                  </a:lnTo>
                  <a:lnTo>
                    <a:pt x="2180490" y="110197"/>
                  </a:lnTo>
                  <a:lnTo>
                    <a:pt x="2171831" y="67303"/>
                  </a:lnTo>
                  <a:lnTo>
                    <a:pt x="2148215" y="32276"/>
                  </a:lnTo>
                  <a:lnTo>
                    <a:pt x="2113187" y="8659"/>
                  </a:lnTo>
                  <a:lnTo>
                    <a:pt x="207029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65034" y="177252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69">
                  <a:moveTo>
                    <a:pt x="0" y="110198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3" y="8659"/>
                  </a:lnTo>
                  <a:lnTo>
                    <a:pt x="110197" y="0"/>
                  </a:lnTo>
                  <a:lnTo>
                    <a:pt x="2070294" y="0"/>
                  </a:lnTo>
                  <a:lnTo>
                    <a:pt x="2113188" y="8659"/>
                  </a:lnTo>
                  <a:lnTo>
                    <a:pt x="2148215" y="32276"/>
                  </a:lnTo>
                  <a:lnTo>
                    <a:pt x="2171832" y="67304"/>
                  </a:lnTo>
                  <a:lnTo>
                    <a:pt x="2180492" y="110198"/>
                  </a:lnTo>
                  <a:lnTo>
                    <a:pt x="2180492" y="550983"/>
                  </a:lnTo>
                  <a:lnTo>
                    <a:pt x="2171832" y="593877"/>
                  </a:lnTo>
                  <a:lnTo>
                    <a:pt x="2148215" y="628905"/>
                  </a:lnTo>
                  <a:lnTo>
                    <a:pt x="2113188" y="652522"/>
                  </a:lnTo>
                  <a:lnTo>
                    <a:pt x="2070294" y="661182"/>
                  </a:lnTo>
                  <a:lnTo>
                    <a:pt x="110197" y="661182"/>
                  </a:lnTo>
                  <a:lnTo>
                    <a:pt x="67303" y="652522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3"/>
                  </a:lnTo>
                  <a:lnTo>
                    <a:pt x="0" y="11019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41686" y="1941067"/>
            <a:ext cx="1627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Bank</a:t>
            </a:r>
            <a:r>
              <a:rPr sz="18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Staff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5215" y="4572683"/>
            <a:ext cx="2193290" cy="674370"/>
            <a:chOff x="215215" y="4572683"/>
            <a:chExt cx="2193290" cy="674370"/>
          </a:xfrm>
        </p:grpSpPr>
        <p:sp>
          <p:nvSpPr>
            <p:cNvPr id="9" name="object 9"/>
            <p:cNvSpPr/>
            <p:nvPr/>
          </p:nvSpPr>
          <p:spPr>
            <a:xfrm>
              <a:off x="221565" y="4579033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2070293" y="0"/>
                  </a:moveTo>
                  <a:lnTo>
                    <a:pt x="110197" y="0"/>
                  </a:lnTo>
                  <a:lnTo>
                    <a:pt x="67303" y="8660"/>
                  </a:lnTo>
                  <a:lnTo>
                    <a:pt x="32276" y="32276"/>
                  </a:lnTo>
                  <a:lnTo>
                    <a:pt x="8659" y="67304"/>
                  </a:lnTo>
                  <a:lnTo>
                    <a:pt x="0" y="110199"/>
                  </a:lnTo>
                  <a:lnTo>
                    <a:pt x="0" y="550984"/>
                  </a:lnTo>
                  <a:lnTo>
                    <a:pt x="8659" y="593878"/>
                  </a:lnTo>
                  <a:lnTo>
                    <a:pt x="32276" y="628906"/>
                  </a:lnTo>
                  <a:lnTo>
                    <a:pt x="67303" y="652522"/>
                  </a:lnTo>
                  <a:lnTo>
                    <a:pt x="110197" y="661182"/>
                  </a:lnTo>
                  <a:lnTo>
                    <a:pt x="2070293" y="661182"/>
                  </a:lnTo>
                  <a:lnTo>
                    <a:pt x="2113187" y="652522"/>
                  </a:lnTo>
                  <a:lnTo>
                    <a:pt x="2148215" y="628906"/>
                  </a:lnTo>
                  <a:lnTo>
                    <a:pt x="2171831" y="593878"/>
                  </a:lnTo>
                  <a:lnTo>
                    <a:pt x="2180491" y="550984"/>
                  </a:lnTo>
                  <a:lnTo>
                    <a:pt x="2180491" y="110199"/>
                  </a:lnTo>
                  <a:lnTo>
                    <a:pt x="2171831" y="67304"/>
                  </a:lnTo>
                  <a:lnTo>
                    <a:pt x="2148215" y="32276"/>
                  </a:lnTo>
                  <a:lnTo>
                    <a:pt x="2113187" y="8660"/>
                  </a:lnTo>
                  <a:lnTo>
                    <a:pt x="207029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565" y="4579033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0" y="110198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3" y="8659"/>
                  </a:lnTo>
                  <a:lnTo>
                    <a:pt x="110197" y="0"/>
                  </a:lnTo>
                  <a:lnTo>
                    <a:pt x="2070294" y="0"/>
                  </a:lnTo>
                  <a:lnTo>
                    <a:pt x="2113188" y="8659"/>
                  </a:lnTo>
                  <a:lnTo>
                    <a:pt x="2148215" y="32276"/>
                  </a:lnTo>
                  <a:lnTo>
                    <a:pt x="2171832" y="67304"/>
                  </a:lnTo>
                  <a:lnTo>
                    <a:pt x="2180492" y="110198"/>
                  </a:lnTo>
                  <a:lnTo>
                    <a:pt x="2180492" y="550983"/>
                  </a:lnTo>
                  <a:lnTo>
                    <a:pt x="2171832" y="593877"/>
                  </a:lnTo>
                  <a:lnTo>
                    <a:pt x="2148215" y="628905"/>
                  </a:lnTo>
                  <a:lnTo>
                    <a:pt x="2113188" y="652522"/>
                  </a:lnTo>
                  <a:lnTo>
                    <a:pt x="2070294" y="661182"/>
                  </a:lnTo>
                  <a:lnTo>
                    <a:pt x="110197" y="661182"/>
                  </a:lnTo>
                  <a:lnTo>
                    <a:pt x="67303" y="652522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3"/>
                  </a:lnTo>
                  <a:lnTo>
                    <a:pt x="0" y="11019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9648" y="4748276"/>
            <a:ext cx="158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FFFFFF"/>
                </a:solidFill>
                <a:latin typeface="Trebuchet MS"/>
                <a:cs typeface="Trebuchet MS"/>
              </a:rPr>
              <a:t>Physical</a:t>
            </a:r>
            <a:r>
              <a:rPr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Attack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6318" y="1857618"/>
            <a:ext cx="2193290" cy="674370"/>
            <a:chOff x="236318" y="1857618"/>
            <a:chExt cx="2193290" cy="674370"/>
          </a:xfrm>
        </p:grpSpPr>
        <p:sp>
          <p:nvSpPr>
            <p:cNvPr id="13" name="object 13"/>
            <p:cNvSpPr/>
            <p:nvPr/>
          </p:nvSpPr>
          <p:spPr>
            <a:xfrm>
              <a:off x="242668" y="186396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69">
                  <a:moveTo>
                    <a:pt x="2070294" y="0"/>
                  </a:moveTo>
                  <a:lnTo>
                    <a:pt x="110197" y="0"/>
                  </a:lnTo>
                  <a:lnTo>
                    <a:pt x="67303" y="8659"/>
                  </a:lnTo>
                  <a:lnTo>
                    <a:pt x="32276" y="32276"/>
                  </a:lnTo>
                  <a:lnTo>
                    <a:pt x="8659" y="67303"/>
                  </a:lnTo>
                  <a:lnTo>
                    <a:pt x="0" y="110197"/>
                  </a:lnTo>
                  <a:lnTo>
                    <a:pt x="0" y="550984"/>
                  </a:lnTo>
                  <a:lnTo>
                    <a:pt x="8659" y="593878"/>
                  </a:lnTo>
                  <a:lnTo>
                    <a:pt x="32276" y="628905"/>
                  </a:lnTo>
                  <a:lnTo>
                    <a:pt x="67303" y="652522"/>
                  </a:lnTo>
                  <a:lnTo>
                    <a:pt x="110197" y="661182"/>
                  </a:lnTo>
                  <a:lnTo>
                    <a:pt x="2070294" y="661182"/>
                  </a:lnTo>
                  <a:lnTo>
                    <a:pt x="2113188" y="652522"/>
                  </a:lnTo>
                  <a:lnTo>
                    <a:pt x="2148215" y="628905"/>
                  </a:lnTo>
                  <a:lnTo>
                    <a:pt x="2171832" y="593878"/>
                  </a:lnTo>
                  <a:lnTo>
                    <a:pt x="2180491" y="550984"/>
                  </a:lnTo>
                  <a:lnTo>
                    <a:pt x="2180491" y="110197"/>
                  </a:lnTo>
                  <a:lnTo>
                    <a:pt x="2171832" y="67303"/>
                  </a:lnTo>
                  <a:lnTo>
                    <a:pt x="2148215" y="32276"/>
                  </a:lnTo>
                  <a:lnTo>
                    <a:pt x="2113188" y="8659"/>
                  </a:lnTo>
                  <a:lnTo>
                    <a:pt x="207029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2668" y="186396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69">
                  <a:moveTo>
                    <a:pt x="0" y="110198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3" y="8659"/>
                  </a:lnTo>
                  <a:lnTo>
                    <a:pt x="110197" y="0"/>
                  </a:lnTo>
                  <a:lnTo>
                    <a:pt x="2070294" y="0"/>
                  </a:lnTo>
                  <a:lnTo>
                    <a:pt x="2113188" y="8659"/>
                  </a:lnTo>
                  <a:lnTo>
                    <a:pt x="2148215" y="32276"/>
                  </a:lnTo>
                  <a:lnTo>
                    <a:pt x="2171832" y="67304"/>
                  </a:lnTo>
                  <a:lnTo>
                    <a:pt x="2180492" y="110198"/>
                  </a:lnTo>
                  <a:lnTo>
                    <a:pt x="2180492" y="550983"/>
                  </a:lnTo>
                  <a:lnTo>
                    <a:pt x="2171832" y="593877"/>
                  </a:lnTo>
                  <a:lnTo>
                    <a:pt x="2148215" y="628905"/>
                  </a:lnTo>
                  <a:lnTo>
                    <a:pt x="2113188" y="652522"/>
                  </a:lnTo>
                  <a:lnTo>
                    <a:pt x="2070294" y="661182"/>
                  </a:lnTo>
                  <a:lnTo>
                    <a:pt x="110197" y="661182"/>
                  </a:lnTo>
                  <a:lnTo>
                    <a:pt x="67303" y="652522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3"/>
                  </a:lnTo>
                  <a:lnTo>
                    <a:pt x="0" y="11019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5807" y="1895347"/>
            <a:ext cx="195389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91795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sz="1800" b="1" spc="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Value </a:t>
            </a:r>
            <a:r>
              <a:rPr sz="1800" b="1" spc="50" dirty="0">
                <a:solidFill>
                  <a:srgbClr val="FFFFFF"/>
                </a:solidFill>
                <a:latin typeface="Trebuchet MS"/>
                <a:cs typeface="Trebuchet MS"/>
              </a:rPr>
              <a:t>Messaging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68880" y="4417938"/>
            <a:ext cx="2193290" cy="674370"/>
            <a:chOff x="6968880" y="4417938"/>
            <a:chExt cx="2193290" cy="674370"/>
          </a:xfrm>
        </p:grpSpPr>
        <p:sp>
          <p:nvSpPr>
            <p:cNvPr id="17" name="object 17"/>
            <p:cNvSpPr/>
            <p:nvPr/>
          </p:nvSpPr>
          <p:spPr>
            <a:xfrm>
              <a:off x="6975230" y="442428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2070294" y="0"/>
                  </a:moveTo>
                  <a:lnTo>
                    <a:pt x="110197" y="0"/>
                  </a:lnTo>
                  <a:lnTo>
                    <a:pt x="67303" y="8659"/>
                  </a:lnTo>
                  <a:lnTo>
                    <a:pt x="32276" y="32276"/>
                  </a:lnTo>
                  <a:lnTo>
                    <a:pt x="8659" y="67303"/>
                  </a:lnTo>
                  <a:lnTo>
                    <a:pt x="0" y="110197"/>
                  </a:lnTo>
                  <a:lnTo>
                    <a:pt x="0" y="550983"/>
                  </a:lnTo>
                  <a:lnTo>
                    <a:pt x="8659" y="593877"/>
                  </a:lnTo>
                  <a:lnTo>
                    <a:pt x="32276" y="628905"/>
                  </a:lnTo>
                  <a:lnTo>
                    <a:pt x="67303" y="652522"/>
                  </a:lnTo>
                  <a:lnTo>
                    <a:pt x="110197" y="661182"/>
                  </a:lnTo>
                  <a:lnTo>
                    <a:pt x="2070294" y="661182"/>
                  </a:lnTo>
                  <a:lnTo>
                    <a:pt x="2113187" y="652522"/>
                  </a:lnTo>
                  <a:lnTo>
                    <a:pt x="2148215" y="628905"/>
                  </a:lnTo>
                  <a:lnTo>
                    <a:pt x="2171832" y="593877"/>
                  </a:lnTo>
                  <a:lnTo>
                    <a:pt x="2180492" y="550983"/>
                  </a:lnTo>
                  <a:lnTo>
                    <a:pt x="2180492" y="110197"/>
                  </a:lnTo>
                  <a:lnTo>
                    <a:pt x="2171832" y="67303"/>
                  </a:lnTo>
                  <a:lnTo>
                    <a:pt x="2148215" y="32276"/>
                  </a:lnTo>
                  <a:lnTo>
                    <a:pt x="2113187" y="8659"/>
                  </a:lnTo>
                  <a:lnTo>
                    <a:pt x="207029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75230" y="4424288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0" y="110198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3" y="8659"/>
                  </a:lnTo>
                  <a:lnTo>
                    <a:pt x="110197" y="0"/>
                  </a:lnTo>
                  <a:lnTo>
                    <a:pt x="2070294" y="0"/>
                  </a:lnTo>
                  <a:lnTo>
                    <a:pt x="2113188" y="8659"/>
                  </a:lnTo>
                  <a:lnTo>
                    <a:pt x="2148215" y="32276"/>
                  </a:lnTo>
                  <a:lnTo>
                    <a:pt x="2171832" y="67304"/>
                  </a:lnTo>
                  <a:lnTo>
                    <a:pt x="2180492" y="110198"/>
                  </a:lnTo>
                  <a:lnTo>
                    <a:pt x="2180492" y="550983"/>
                  </a:lnTo>
                  <a:lnTo>
                    <a:pt x="2171832" y="593877"/>
                  </a:lnTo>
                  <a:lnTo>
                    <a:pt x="2148215" y="628905"/>
                  </a:lnTo>
                  <a:lnTo>
                    <a:pt x="2113188" y="652522"/>
                  </a:lnTo>
                  <a:lnTo>
                    <a:pt x="2070294" y="661182"/>
                  </a:lnTo>
                  <a:lnTo>
                    <a:pt x="110197" y="661182"/>
                  </a:lnTo>
                  <a:lnTo>
                    <a:pt x="67303" y="652522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3"/>
                  </a:lnTo>
                  <a:lnTo>
                    <a:pt x="0" y="11019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82839" y="4592828"/>
            <a:ext cx="1565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ATM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Machines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12209" y="5414399"/>
            <a:ext cx="2193290" cy="674370"/>
            <a:chOff x="3712209" y="5414399"/>
            <a:chExt cx="2193290" cy="674370"/>
          </a:xfrm>
        </p:grpSpPr>
        <p:sp>
          <p:nvSpPr>
            <p:cNvPr id="21" name="object 21"/>
            <p:cNvSpPr/>
            <p:nvPr/>
          </p:nvSpPr>
          <p:spPr>
            <a:xfrm>
              <a:off x="3718559" y="5420749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2070294" y="0"/>
                  </a:moveTo>
                  <a:lnTo>
                    <a:pt x="110197" y="0"/>
                  </a:lnTo>
                  <a:lnTo>
                    <a:pt x="67303" y="8659"/>
                  </a:lnTo>
                  <a:lnTo>
                    <a:pt x="32276" y="32276"/>
                  </a:lnTo>
                  <a:lnTo>
                    <a:pt x="8659" y="67303"/>
                  </a:lnTo>
                  <a:lnTo>
                    <a:pt x="0" y="110197"/>
                  </a:lnTo>
                  <a:lnTo>
                    <a:pt x="0" y="550984"/>
                  </a:lnTo>
                  <a:lnTo>
                    <a:pt x="8659" y="593878"/>
                  </a:lnTo>
                  <a:lnTo>
                    <a:pt x="32276" y="628905"/>
                  </a:lnTo>
                  <a:lnTo>
                    <a:pt x="67303" y="652522"/>
                  </a:lnTo>
                  <a:lnTo>
                    <a:pt x="110197" y="661182"/>
                  </a:lnTo>
                  <a:lnTo>
                    <a:pt x="2070294" y="661182"/>
                  </a:lnTo>
                  <a:lnTo>
                    <a:pt x="2113187" y="652522"/>
                  </a:lnTo>
                  <a:lnTo>
                    <a:pt x="2148215" y="628905"/>
                  </a:lnTo>
                  <a:lnTo>
                    <a:pt x="2171832" y="593878"/>
                  </a:lnTo>
                  <a:lnTo>
                    <a:pt x="2180492" y="550984"/>
                  </a:lnTo>
                  <a:lnTo>
                    <a:pt x="2180492" y="110197"/>
                  </a:lnTo>
                  <a:lnTo>
                    <a:pt x="2171832" y="67303"/>
                  </a:lnTo>
                  <a:lnTo>
                    <a:pt x="2148215" y="32276"/>
                  </a:lnTo>
                  <a:lnTo>
                    <a:pt x="2113187" y="8659"/>
                  </a:lnTo>
                  <a:lnTo>
                    <a:pt x="207029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18559" y="5420749"/>
              <a:ext cx="2180590" cy="661670"/>
            </a:xfrm>
            <a:custGeom>
              <a:avLst/>
              <a:gdLst/>
              <a:ahLst/>
              <a:cxnLst/>
              <a:rect l="l" t="t" r="r" b="b"/>
              <a:pathLst>
                <a:path w="2180590" h="661670">
                  <a:moveTo>
                    <a:pt x="0" y="110198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3" y="8659"/>
                  </a:lnTo>
                  <a:lnTo>
                    <a:pt x="110197" y="0"/>
                  </a:lnTo>
                  <a:lnTo>
                    <a:pt x="2070294" y="0"/>
                  </a:lnTo>
                  <a:lnTo>
                    <a:pt x="2113188" y="8659"/>
                  </a:lnTo>
                  <a:lnTo>
                    <a:pt x="2148215" y="32276"/>
                  </a:lnTo>
                  <a:lnTo>
                    <a:pt x="2171832" y="67304"/>
                  </a:lnTo>
                  <a:lnTo>
                    <a:pt x="2180492" y="110198"/>
                  </a:lnTo>
                  <a:lnTo>
                    <a:pt x="2180492" y="550983"/>
                  </a:lnTo>
                  <a:lnTo>
                    <a:pt x="2171832" y="593877"/>
                  </a:lnTo>
                  <a:lnTo>
                    <a:pt x="2148215" y="628905"/>
                  </a:lnTo>
                  <a:lnTo>
                    <a:pt x="2113188" y="652522"/>
                  </a:lnTo>
                  <a:lnTo>
                    <a:pt x="2070294" y="661182"/>
                  </a:lnTo>
                  <a:lnTo>
                    <a:pt x="110197" y="661182"/>
                  </a:lnTo>
                  <a:lnTo>
                    <a:pt x="67303" y="652522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3"/>
                  </a:lnTo>
                  <a:lnTo>
                    <a:pt x="0" y="11019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46817" y="5452364"/>
            <a:ext cx="132397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0800" marR="5080" indent="-3810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Website</a:t>
            </a:r>
            <a:r>
              <a:rPr sz="18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Mobile</a:t>
            </a:r>
            <a:r>
              <a:rPr sz="1800" b="1" spc="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5CAD4F6-4C6B-7643-BF51-F341221FE61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Why</a:t>
            </a:r>
            <a:r>
              <a:rPr sz="2800" spc="-50" dirty="0"/>
              <a:t> </a:t>
            </a:r>
            <a:r>
              <a:rPr sz="2800" dirty="0"/>
              <a:t>the</a:t>
            </a:r>
            <a:r>
              <a:rPr sz="2800" spc="-45" dirty="0"/>
              <a:t> </a:t>
            </a:r>
            <a:r>
              <a:rPr sz="2800" dirty="0"/>
              <a:t>problem</a:t>
            </a:r>
            <a:r>
              <a:rPr sz="2800" spc="-50" dirty="0"/>
              <a:t> </a:t>
            </a:r>
            <a:r>
              <a:rPr sz="2800" dirty="0"/>
              <a:t>is</a:t>
            </a:r>
            <a:r>
              <a:rPr sz="2800" spc="-50" dirty="0"/>
              <a:t> </a:t>
            </a:r>
            <a:r>
              <a:rPr sz="2800" spc="-10" dirty="0"/>
              <a:t>growing?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617710" y="3489280"/>
            <a:ext cx="3039745" cy="556895"/>
            <a:chOff x="3617710" y="3489280"/>
            <a:chExt cx="3039745" cy="556895"/>
          </a:xfrm>
        </p:grpSpPr>
        <p:sp>
          <p:nvSpPr>
            <p:cNvPr id="4" name="object 4"/>
            <p:cNvSpPr/>
            <p:nvPr/>
          </p:nvSpPr>
          <p:spPr>
            <a:xfrm>
              <a:off x="3624060" y="3495630"/>
              <a:ext cx="3027045" cy="544195"/>
            </a:xfrm>
            <a:custGeom>
              <a:avLst/>
              <a:gdLst/>
              <a:ahLst/>
              <a:cxnLst/>
              <a:rect l="l" t="t" r="r" b="b"/>
              <a:pathLst>
                <a:path w="3027045" h="544195">
                  <a:moveTo>
                    <a:pt x="2936330" y="0"/>
                  </a:moveTo>
                  <a:lnTo>
                    <a:pt x="90617" y="0"/>
                  </a:lnTo>
                  <a:lnTo>
                    <a:pt x="55344" y="7121"/>
                  </a:lnTo>
                  <a:lnTo>
                    <a:pt x="26540" y="26541"/>
                  </a:lnTo>
                  <a:lnTo>
                    <a:pt x="7121" y="55345"/>
                  </a:lnTo>
                  <a:lnTo>
                    <a:pt x="0" y="90617"/>
                  </a:lnTo>
                  <a:lnTo>
                    <a:pt x="0" y="453080"/>
                  </a:lnTo>
                  <a:lnTo>
                    <a:pt x="7121" y="488352"/>
                  </a:lnTo>
                  <a:lnTo>
                    <a:pt x="26540" y="517156"/>
                  </a:lnTo>
                  <a:lnTo>
                    <a:pt x="55344" y="536576"/>
                  </a:lnTo>
                  <a:lnTo>
                    <a:pt x="90617" y="543697"/>
                  </a:lnTo>
                  <a:lnTo>
                    <a:pt x="2936330" y="543697"/>
                  </a:lnTo>
                  <a:lnTo>
                    <a:pt x="2971601" y="536576"/>
                  </a:lnTo>
                  <a:lnTo>
                    <a:pt x="3000405" y="517156"/>
                  </a:lnTo>
                  <a:lnTo>
                    <a:pt x="3019824" y="488352"/>
                  </a:lnTo>
                  <a:lnTo>
                    <a:pt x="3026945" y="453080"/>
                  </a:lnTo>
                  <a:lnTo>
                    <a:pt x="3026945" y="90617"/>
                  </a:lnTo>
                  <a:lnTo>
                    <a:pt x="3019824" y="55345"/>
                  </a:lnTo>
                  <a:lnTo>
                    <a:pt x="3000405" y="26541"/>
                  </a:lnTo>
                  <a:lnTo>
                    <a:pt x="2971601" y="7121"/>
                  </a:lnTo>
                  <a:lnTo>
                    <a:pt x="293633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24060" y="3495630"/>
              <a:ext cx="3027045" cy="544195"/>
            </a:xfrm>
            <a:custGeom>
              <a:avLst/>
              <a:gdLst/>
              <a:ahLst/>
              <a:cxnLst/>
              <a:rect l="l" t="t" r="r" b="b"/>
              <a:pathLst>
                <a:path w="3027045" h="544195">
                  <a:moveTo>
                    <a:pt x="0" y="90616"/>
                  </a:moveTo>
                  <a:lnTo>
                    <a:pt x="7121" y="55344"/>
                  </a:lnTo>
                  <a:lnTo>
                    <a:pt x="26540" y="26541"/>
                  </a:lnTo>
                  <a:lnTo>
                    <a:pt x="55344" y="7121"/>
                  </a:lnTo>
                  <a:lnTo>
                    <a:pt x="90616" y="0"/>
                  </a:lnTo>
                  <a:lnTo>
                    <a:pt x="2936330" y="0"/>
                  </a:lnTo>
                  <a:lnTo>
                    <a:pt x="2971601" y="7121"/>
                  </a:lnTo>
                  <a:lnTo>
                    <a:pt x="3000405" y="26541"/>
                  </a:lnTo>
                  <a:lnTo>
                    <a:pt x="3019825" y="55344"/>
                  </a:lnTo>
                  <a:lnTo>
                    <a:pt x="3026946" y="90616"/>
                  </a:lnTo>
                  <a:lnTo>
                    <a:pt x="3026946" y="453080"/>
                  </a:lnTo>
                  <a:lnTo>
                    <a:pt x="3019825" y="488352"/>
                  </a:lnTo>
                  <a:lnTo>
                    <a:pt x="3000405" y="517155"/>
                  </a:lnTo>
                  <a:lnTo>
                    <a:pt x="2971601" y="536575"/>
                  </a:lnTo>
                  <a:lnTo>
                    <a:pt x="2936330" y="543697"/>
                  </a:lnTo>
                  <a:lnTo>
                    <a:pt x="90616" y="543697"/>
                  </a:lnTo>
                  <a:lnTo>
                    <a:pt x="55344" y="536575"/>
                  </a:lnTo>
                  <a:lnTo>
                    <a:pt x="26540" y="517155"/>
                  </a:lnTo>
                  <a:lnTo>
                    <a:pt x="7121" y="488352"/>
                  </a:lnTo>
                  <a:lnTo>
                    <a:pt x="0" y="453080"/>
                  </a:lnTo>
                  <a:lnTo>
                    <a:pt x="0" y="9061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69146" y="3589020"/>
            <a:ext cx="2137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Trinity</a:t>
            </a:r>
            <a:r>
              <a:rPr sz="20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0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FFFFFF"/>
                </a:solidFill>
                <a:latin typeface="Trebuchet MS"/>
                <a:cs typeface="Trebuchet MS"/>
              </a:rPr>
              <a:t>Troubles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368" y="1988794"/>
            <a:ext cx="3804920" cy="3696970"/>
          </a:xfrm>
          <a:custGeom>
            <a:avLst/>
            <a:gdLst/>
            <a:ahLst/>
            <a:cxnLst/>
            <a:rect l="l" t="t" r="r" b="b"/>
            <a:pathLst>
              <a:path w="3804920" h="3696970">
                <a:moveTo>
                  <a:pt x="0" y="3055628"/>
                </a:moveTo>
                <a:lnTo>
                  <a:pt x="1466415" y="3055628"/>
                </a:lnTo>
                <a:lnTo>
                  <a:pt x="3804868" y="0"/>
                </a:lnTo>
                <a:lnTo>
                  <a:pt x="2094878" y="3055628"/>
                </a:lnTo>
                <a:lnTo>
                  <a:pt x="2513854" y="3055628"/>
                </a:lnTo>
                <a:lnTo>
                  <a:pt x="2513854" y="3162431"/>
                </a:lnTo>
                <a:lnTo>
                  <a:pt x="2513854" y="3322637"/>
                </a:lnTo>
                <a:lnTo>
                  <a:pt x="2513854" y="3696452"/>
                </a:lnTo>
                <a:lnTo>
                  <a:pt x="2094878" y="3696452"/>
                </a:lnTo>
                <a:lnTo>
                  <a:pt x="1466415" y="3696452"/>
                </a:lnTo>
                <a:lnTo>
                  <a:pt x="0" y="3696452"/>
                </a:lnTo>
                <a:lnTo>
                  <a:pt x="0" y="3322637"/>
                </a:lnTo>
                <a:lnTo>
                  <a:pt x="0" y="3162431"/>
                </a:lnTo>
                <a:lnTo>
                  <a:pt x="0" y="3055628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94419" y="5186172"/>
            <a:ext cx="1309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Extensibility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0591" y="1265491"/>
            <a:ext cx="4219575" cy="3697604"/>
          </a:xfrm>
          <a:custGeom>
            <a:avLst/>
            <a:gdLst/>
            <a:ahLst/>
            <a:cxnLst/>
            <a:rect l="l" t="t" r="r" b="b"/>
            <a:pathLst>
              <a:path w="4219575" h="3697604">
                <a:moveTo>
                  <a:pt x="0" y="0"/>
                </a:moveTo>
                <a:lnTo>
                  <a:pt x="1470935" y="0"/>
                </a:lnTo>
                <a:lnTo>
                  <a:pt x="2101336" y="0"/>
                </a:lnTo>
                <a:lnTo>
                  <a:pt x="2521603" y="0"/>
                </a:lnTo>
                <a:lnTo>
                  <a:pt x="2521603" y="409342"/>
                </a:lnTo>
                <a:lnTo>
                  <a:pt x="2521603" y="584774"/>
                </a:lnTo>
                <a:lnTo>
                  <a:pt x="2521603" y="701730"/>
                </a:lnTo>
                <a:lnTo>
                  <a:pt x="2101336" y="701730"/>
                </a:lnTo>
                <a:lnTo>
                  <a:pt x="4219474" y="3697043"/>
                </a:lnTo>
                <a:lnTo>
                  <a:pt x="1470935" y="701730"/>
                </a:lnTo>
                <a:lnTo>
                  <a:pt x="0" y="701730"/>
                </a:lnTo>
                <a:lnTo>
                  <a:pt x="0" y="584774"/>
                </a:lnTo>
                <a:lnTo>
                  <a:pt x="0" y="409342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9086" y="1437132"/>
            <a:ext cx="1344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Connectivity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8044" y="4985172"/>
            <a:ext cx="6262370" cy="759460"/>
          </a:xfrm>
          <a:custGeom>
            <a:avLst/>
            <a:gdLst/>
            <a:ahLst/>
            <a:cxnLst/>
            <a:rect l="l" t="t" r="r" b="b"/>
            <a:pathLst>
              <a:path w="6262370" h="759460">
                <a:moveTo>
                  <a:pt x="3972922" y="0"/>
                </a:moveTo>
                <a:lnTo>
                  <a:pt x="4354439" y="0"/>
                </a:lnTo>
                <a:lnTo>
                  <a:pt x="4926715" y="0"/>
                </a:lnTo>
                <a:lnTo>
                  <a:pt x="6262026" y="0"/>
                </a:lnTo>
                <a:lnTo>
                  <a:pt x="6262026" y="442938"/>
                </a:lnTo>
                <a:lnTo>
                  <a:pt x="6262026" y="632768"/>
                </a:lnTo>
                <a:lnTo>
                  <a:pt x="6262026" y="759323"/>
                </a:lnTo>
                <a:lnTo>
                  <a:pt x="4926715" y="759323"/>
                </a:lnTo>
                <a:lnTo>
                  <a:pt x="4354439" y="759323"/>
                </a:lnTo>
                <a:lnTo>
                  <a:pt x="3972922" y="759323"/>
                </a:lnTo>
                <a:lnTo>
                  <a:pt x="3972922" y="632768"/>
                </a:lnTo>
                <a:lnTo>
                  <a:pt x="0" y="406489"/>
                </a:lnTo>
                <a:lnTo>
                  <a:pt x="3972922" y="442938"/>
                </a:lnTo>
                <a:lnTo>
                  <a:pt x="3972922" y="0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88712" y="5186172"/>
            <a:ext cx="12134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Complexity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1ABF536-ACA6-E942-AF96-6B5FF7DD43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Challenges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848631" y="1287580"/>
            <a:ext cx="4275455" cy="556895"/>
            <a:chOff x="2848631" y="1287580"/>
            <a:chExt cx="4275455" cy="556895"/>
          </a:xfrm>
        </p:grpSpPr>
        <p:sp>
          <p:nvSpPr>
            <p:cNvPr id="4" name="object 4"/>
            <p:cNvSpPr/>
            <p:nvPr/>
          </p:nvSpPr>
          <p:spPr>
            <a:xfrm>
              <a:off x="2854981" y="1293930"/>
              <a:ext cx="4262755" cy="544195"/>
            </a:xfrm>
            <a:custGeom>
              <a:avLst/>
              <a:gdLst/>
              <a:ahLst/>
              <a:cxnLst/>
              <a:rect l="l" t="t" r="r" b="b"/>
              <a:pathLst>
                <a:path w="4262755" h="544194">
                  <a:moveTo>
                    <a:pt x="4171894" y="0"/>
                  </a:moveTo>
                  <a:lnTo>
                    <a:pt x="90614" y="0"/>
                  </a:lnTo>
                  <a:lnTo>
                    <a:pt x="55342" y="7121"/>
                  </a:lnTo>
                  <a:lnTo>
                    <a:pt x="26540" y="26540"/>
                  </a:lnTo>
                  <a:lnTo>
                    <a:pt x="7120" y="55344"/>
                  </a:lnTo>
                  <a:lnTo>
                    <a:pt x="0" y="90617"/>
                  </a:lnTo>
                  <a:lnTo>
                    <a:pt x="0" y="453081"/>
                  </a:lnTo>
                  <a:lnTo>
                    <a:pt x="7120" y="488353"/>
                  </a:lnTo>
                  <a:lnTo>
                    <a:pt x="26540" y="517156"/>
                  </a:lnTo>
                  <a:lnTo>
                    <a:pt x="55342" y="536576"/>
                  </a:lnTo>
                  <a:lnTo>
                    <a:pt x="90614" y="543697"/>
                  </a:lnTo>
                  <a:lnTo>
                    <a:pt x="4171894" y="543697"/>
                  </a:lnTo>
                  <a:lnTo>
                    <a:pt x="4207165" y="536576"/>
                  </a:lnTo>
                  <a:lnTo>
                    <a:pt x="4235969" y="517156"/>
                  </a:lnTo>
                  <a:lnTo>
                    <a:pt x="4255388" y="488353"/>
                  </a:lnTo>
                  <a:lnTo>
                    <a:pt x="4262509" y="453081"/>
                  </a:lnTo>
                  <a:lnTo>
                    <a:pt x="4262509" y="90617"/>
                  </a:lnTo>
                  <a:lnTo>
                    <a:pt x="4255388" y="55344"/>
                  </a:lnTo>
                  <a:lnTo>
                    <a:pt x="4235969" y="26540"/>
                  </a:lnTo>
                  <a:lnTo>
                    <a:pt x="4207165" y="7121"/>
                  </a:lnTo>
                  <a:lnTo>
                    <a:pt x="417189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54981" y="1293930"/>
              <a:ext cx="4262755" cy="544195"/>
            </a:xfrm>
            <a:custGeom>
              <a:avLst/>
              <a:gdLst/>
              <a:ahLst/>
              <a:cxnLst/>
              <a:rect l="l" t="t" r="r" b="b"/>
              <a:pathLst>
                <a:path w="4262755" h="544194">
                  <a:moveTo>
                    <a:pt x="0" y="90616"/>
                  </a:moveTo>
                  <a:lnTo>
                    <a:pt x="7121" y="55344"/>
                  </a:lnTo>
                  <a:lnTo>
                    <a:pt x="26540" y="26540"/>
                  </a:lnTo>
                  <a:lnTo>
                    <a:pt x="55343" y="7121"/>
                  </a:lnTo>
                  <a:lnTo>
                    <a:pt x="90615" y="0"/>
                  </a:lnTo>
                  <a:lnTo>
                    <a:pt x="4171895" y="0"/>
                  </a:lnTo>
                  <a:lnTo>
                    <a:pt x="4207166" y="7121"/>
                  </a:lnTo>
                  <a:lnTo>
                    <a:pt x="4235970" y="26540"/>
                  </a:lnTo>
                  <a:lnTo>
                    <a:pt x="4255390" y="55344"/>
                  </a:lnTo>
                  <a:lnTo>
                    <a:pt x="4262511" y="90616"/>
                  </a:lnTo>
                  <a:lnTo>
                    <a:pt x="4262511" y="453080"/>
                  </a:lnTo>
                  <a:lnTo>
                    <a:pt x="4255390" y="488352"/>
                  </a:lnTo>
                  <a:lnTo>
                    <a:pt x="4235970" y="517156"/>
                  </a:lnTo>
                  <a:lnTo>
                    <a:pt x="4207166" y="536575"/>
                  </a:lnTo>
                  <a:lnTo>
                    <a:pt x="4171895" y="543697"/>
                  </a:lnTo>
                  <a:lnTo>
                    <a:pt x="90615" y="543697"/>
                  </a:lnTo>
                  <a:lnTo>
                    <a:pt x="55343" y="536575"/>
                  </a:lnTo>
                  <a:lnTo>
                    <a:pt x="26540" y="517156"/>
                  </a:lnTo>
                  <a:lnTo>
                    <a:pt x="7121" y="488352"/>
                  </a:lnTo>
                  <a:lnTo>
                    <a:pt x="0" y="453080"/>
                  </a:lnTo>
                  <a:lnTo>
                    <a:pt x="0" y="9061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97904" y="1314196"/>
            <a:ext cx="3776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Navigating</a:t>
            </a:r>
            <a:r>
              <a:rPr sz="28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Hurdles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894" y="1914213"/>
            <a:ext cx="3416300" cy="3583940"/>
          </a:xfrm>
          <a:custGeom>
            <a:avLst/>
            <a:gdLst/>
            <a:ahLst/>
            <a:cxnLst/>
            <a:rect l="l" t="t" r="r" b="b"/>
            <a:pathLst>
              <a:path w="3416300" h="3583940">
                <a:moveTo>
                  <a:pt x="0" y="2943086"/>
                </a:moveTo>
                <a:lnTo>
                  <a:pt x="1622711" y="2943086"/>
                </a:lnTo>
                <a:lnTo>
                  <a:pt x="3415704" y="0"/>
                </a:lnTo>
                <a:lnTo>
                  <a:pt x="2318159" y="2943086"/>
                </a:lnTo>
                <a:lnTo>
                  <a:pt x="2781791" y="2943086"/>
                </a:lnTo>
                <a:lnTo>
                  <a:pt x="2781791" y="3049889"/>
                </a:lnTo>
                <a:lnTo>
                  <a:pt x="2781791" y="3210095"/>
                </a:lnTo>
                <a:lnTo>
                  <a:pt x="2781791" y="3583910"/>
                </a:lnTo>
                <a:lnTo>
                  <a:pt x="2318159" y="3583910"/>
                </a:lnTo>
                <a:lnTo>
                  <a:pt x="1622711" y="3583910"/>
                </a:lnTo>
                <a:lnTo>
                  <a:pt x="0" y="3583910"/>
                </a:lnTo>
                <a:lnTo>
                  <a:pt x="0" y="3210095"/>
                </a:lnTo>
                <a:lnTo>
                  <a:pt x="0" y="3049889"/>
                </a:lnTo>
                <a:lnTo>
                  <a:pt x="0" y="2943086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6977" y="5000244"/>
            <a:ext cx="2595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1F1F"/>
                </a:solidFill>
                <a:latin typeface="Calibri"/>
                <a:cs typeface="Calibri"/>
              </a:rPr>
              <a:t>Iron</a:t>
            </a:r>
            <a:r>
              <a:rPr sz="2000" b="1" spc="-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Triangle</a:t>
            </a:r>
            <a:r>
              <a:rPr sz="2000" b="1" spc="-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Constraints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24060" y="1920564"/>
            <a:ext cx="3156585" cy="3577590"/>
          </a:xfrm>
          <a:custGeom>
            <a:avLst/>
            <a:gdLst/>
            <a:ahLst/>
            <a:cxnLst/>
            <a:rect l="l" t="t" r="r" b="b"/>
            <a:pathLst>
              <a:path w="3156584" h="3577590">
                <a:moveTo>
                  <a:pt x="0" y="2875827"/>
                </a:moveTo>
                <a:lnTo>
                  <a:pt x="526094" y="2875827"/>
                </a:lnTo>
                <a:lnTo>
                  <a:pt x="1072760" y="0"/>
                </a:lnTo>
                <a:lnTo>
                  <a:pt x="1315236" y="2875827"/>
                </a:lnTo>
                <a:lnTo>
                  <a:pt x="3156567" y="2875827"/>
                </a:lnTo>
                <a:lnTo>
                  <a:pt x="3156567" y="2992783"/>
                </a:lnTo>
                <a:lnTo>
                  <a:pt x="3156567" y="3168214"/>
                </a:lnTo>
                <a:lnTo>
                  <a:pt x="3156567" y="3577558"/>
                </a:lnTo>
                <a:lnTo>
                  <a:pt x="1315236" y="3577558"/>
                </a:lnTo>
                <a:lnTo>
                  <a:pt x="526094" y="3577558"/>
                </a:lnTo>
                <a:lnTo>
                  <a:pt x="0" y="3577558"/>
                </a:lnTo>
                <a:lnTo>
                  <a:pt x="0" y="3168214"/>
                </a:lnTo>
                <a:lnTo>
                  <a:pt x="0" y="2992783"/>
                </a:lnTo>
                <a:lnTo>
                  <a:pt x="0" y="2875827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44574" y="4969764"/>
            <a:ext cx="29159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1F1F"/>
                </a:solidFill>
                <a:latin typeface="Calibri"/>
                <a:cs typeface="Calibri"/>
              </a:rPr>
              <a:t>Security</a:t>
            </a:r>
            <a:r>
              <a:rPr sz="2000" b="1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1F1F"/>
                </a:solidFill>
                <a:latin typeface="Calibri"/>
                <a:cs typeface="Calibri"/>
              </a:rPr>
              <a:t>as</a:t>
            </a:r>
            <a:r>
              <a:rPr sz="2000" b="1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1F1F"/>
                </a:solidFill>
                <a:latin typeface="Calibri"/>
                <a:cs typeface="Calibri"/>
              </a:rPr>
              <a:t>an</a:t>
            </a:r>
            <a:r>
              <a:rPr sz="2000" b="1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Afterthought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6582" y="1895650"/>
            <a:ext cx="3350260" cy="3602990"/>
          </a:xfrm>
          <a:custGeom>
            <a:avLst/>
            <a:gdLst/>
            <a:ahLst/>
            <a:cxnLst/>
            <a:rect l="l" t="t" r="r" b="b"/>
            <a:pathLst>
              <a:path w="3350259" h="3602990">
                <a:moveTo>
                  <a:pt x="1060909" y="2843149"/>
                </a:moveTo>
                <a:lnTo>
                  <a:pt x="1442426" y="2843149"/>
                </a:lnTo>
                <a:lnTo>
                  <a:pt x="0" y="0"/>
                </a:lnTo>
                <a:lnTo>
                  <a:pt x="2014702" y="2843149"/>
                </a:lnTo>
                <a:lnTo>
                  <a:pt x="3350013" y="2843149"/>
                </a:lnTo>
                <a:lnTo>
                  <a:pt x="3350013" y="2969703"/>
                </a:lnTo>
                <a:lnTo>
                  <a:pt x="3350013" y="3159533"/>
                </a:lnTo>
                <a:lnTo>
                  <a:pt x="3350013" y="3602472"/>
                </a:lnTo>
                <a:lnTo>
                  <a:pt x="2014702" y="3602472"/>
                </a:lnTo>
                <a:lnTo>
                  <a:pt x="1442426" y="3602472"/>
                </a:lnTo>
                <a:lnTo>
                  <a:pt x="1060909" y="3602472"/>
                </a:lnTo>
                <a:lnTo>
                  <a:pt x="1060909" y="3159533"/>
                </a:lnTo>
                <a:lnTo>
                  <a:pt x="1060909" y="2969703"/>
                </a:lnTo>
                <a:lnTo>
                  <a:pt x="1060909" y="2843149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97026" y="4786884"/>
            <a:ext cx="15303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1F1F"/>
                </a:solidFill>
                <a:latin typeface="Calibri"/>
                <a:cs typeface="Calibri"/>
              </a:rPr>
              <a:t>Security</a:t>
            </a:r>
            <a:r>
              <a:rPr sz="2000" b="1" spc="-7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1F1F1F"/>
                </a:solidFill>
                <a:latin typeface="Calibri"/>
                <a:cs typeface="Calibri"/>
              </a:rPr>
              <a:t>Verus </a:t>
            </a:r>
            <a:r>
              <a:rPr sz="2000" b="1" spc="-10" dirty="0">
                <a:solidFill>
                  <a:srgbClr val="1F1F1F"/>
                </a:solidFill>
                <a:latin typeface="Calibri"/>
                <a:cs typeface="Calibri"/>
              </a:rPr>
              <a:t>Usability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1895A11-1F93-5F42-9832-6A0792FCDB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Iron</a:t>
            </a:r>
            <a:r>
              <a:rPr sz="2800" spc="-95" dirty="0"/>
              <a:t> </a:t>
            </a:r>
            <a:r>
              <a:rPr sz="2800" spc="-10" dirty="0"/>
              <a:t>Triangle</a:t>
            </a:r>
            <a:r>
              <a:rPr sz="2800" spc="-80" dirty="0"/>
              <a:t> </a:t>
            </a:r>
            <a:r>
              <a:rPr sz="2800" spc="-10" dirty="0"/>
              <a:t>Constraints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8607" y="2069592"/>
            <a:ext cx="5327904" cy="39410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1359" y="2434844"/>
            <a:ext cx="439039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itself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resource,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schedule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(time)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budget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intensive process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188551" y="2410459"/>
            <a:ext cx="3580129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spc="-10" dirty="0">
                <a:latin typeface="Calibri"/>
                <a:cs typeface="Calibri"/>
              </a:rPr>
              <a:t>Resources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(people)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appropriate </a:t>
            </a:r>
            <a:r>
              <a:rPr sz="1800" dirty="0">
                <a:latin typeface="Calibri"/>
                <a:cs typeface="Calibri"/>
              </a:rPr>
              <a:t>skills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knowledge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 </a:t>
            </a:r>
            <a:r>
              <a:rPr sz="1800" spc="-10" dirty="0">
                <a:latin typeface="Calibri"/>
                <a:cs typeface="Calibri"/>
              </a:rPr>
              <a:t>always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readily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costly.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3334" y="1334515"/>
            <a:ext cx="309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attacker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has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upper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hand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EF71B-15FC-F64A-9EF3-1A0DA2ED63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Security</a:t>
            </a:r>
            <a:r>
              <a:rPr sz="2800" spc="-40" dirty="0"/>
              <a:t> </a:t>
            </a:r>
            <a:r>
              <a:rPr sz="2800" dirty="0"/>
              <a:t>as</a:t>
            </a:r>
            <a:r>
              <a:rPr sz="2800" spc="-40" dirty="0"/>
              <a:t> </a:t>
            </a:r>
            <a:r>
              <a:rPr sz="2800" dirty="0"/>
              <a:t>an</a:t>
            </a:r>
            <a:r>
              <a:rPr sz="2800" spc="-40" dirty="0"/>
              <a:t> </a:t>
            </a:r>
            <a:r>
              <a:rPr sz="2800" spc="-10" dirty="0"/>
              <a:t>Afterthought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4903" y="2252472"/>
            <a:ext cx="5215128" cy="35722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830" y="1617979"/>
            <a:ext cx="4109085" cy="1647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6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97815" marR="749300" indent="-285750" algn="just">
              <a:lnSpc>
                <a:spcPct val="994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software,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instead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added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stage,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4958B-3AF4-454A-9A05-5556E25ECA7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Security</a:t>
            </a:r>
            <a:r>
              <a:rPr sz="2800" spc="-114" dirty="0"/>
              <a:t> </a:t>
            </a:r>
            <a:r>
              <a:rPr sz="2800" spc="-10" dirty="0"/>
              <a:t>Versus</a:t>
            </a:r>
            <a:r>
              <a:rPr sz="2800" spc="-110" dirty="0"/>
              <a:t> </a:t>
            </a:r>
            <a:r>
              <a:rPr sz="2800" spc="-10" dirty="0"/>
              <a:t>Usabilty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36318" y="1857618"/>
            <a:ext cx="4623435" cy="674370"/>
            <a:chOff x="236318" y="1857618"/>
            <a:chExt cx="4623435" cy="674370"/>
          </a:xfrm>
        </p:grpSpPr>
        <p:sp>
          <p:nvSpPr>
            <p:cNvPr id="4" name="object 4"/>
            <p:cNvSpPr/>
            <p:nvPr/>
          </p:nvSpPr>
          <p:spPr>
            <a:xfrm>
              <a:off x="242668" y="1863968"/>
              <a:ext cx="4610735" cy="661670"/>
            </a:xfrm>
            <a:custGeom>
              <a:avLst/>
              <a:gdLst/>
              <a:ahLst/>
              <a:cxnLst/>
              <a:rect l="l" t="t" r="r" b="b"/>
              <a:pathLst>
                <a:path w="4610735" h="661669">
                  <a:moveTo>
                    <a:pt x="4500486" y="0"/>
                  </a:moveTo>
                  <a:lnTo>
                    <a:pt x="110199" y="0"/>
                  </a:lnTo>
                  <a:lnTo>
                    <a:pt x="67304" y="8660"/>
                  </a:lnTo>
                  <a:lnTo>
                    <a:pt x="32276" y="32276"/>
                  </a:lnTo>
                  <a:lnTo>
                    <a:pt x="8660" y="67305"/>
                  </a:lnTo>
                  <a:lnTo>
                    <a:pt x="0" y="110200"/>
                  </a:lnTo>
                  <a:lnTo>
                    <a:pt x="0" y="550981"/>
                  </a:lnTo>
                  <a:lnTo>
                    <a:pt x="8660" y="593876"/>
                  </a:lnTo>
                  <a:lnTo>
                    <a:pt x="32276" y="628905"/>
                  </a:lnTo>
                  <a:lnTo>
                    <a:pt x="67304" y="652522"/>
                  </a:lnTo>
                  <a:lnTo>
                    <a:pt x="110199" y="661182"/>
                  </a:lnTo>
                  <a:lnTo>
                    <a:pt x="4500486" y="661182"/>
                  </a:lnTo>
                  <a:lnTo>
                    <a:pt x="4543380" y="652522"/>
                  </a:lnTo>
                  <a:lnTo>
                    <a:pt x="4578408" y="628905"/>
                  </a:lnTo>
                  <a:lnTo>
                    <a:pt x="4602025" y="593876"/>
                  </a:lnTo>
                  <a:lnTo>
                    <a:pt x="4610685" y="550981"/>
                  </a:lnTo>
                  <a:lnTo>
                    <a:pt x="4610685" y="110200"/>
                  </a:lnTo>
                  <a:lnTo>
                    <a:pt x="4602025" y="67305"/>
                  </a:lnTo>
                  <a:lnTo>
                    <a:pt x="4578408" y="32276"/>
                  </a:lnTo>
                  <a:lnTo>
                    <a:pt x="4543380" y="8660"/>
                  </a:lnTo>
                  <a:lnTo>
                    <a:pt x="4500486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2668" y="1863968"/>
              <a:ext cx="4610735" cy="661670"/>
            </a:xfrm>
            <a:custGeom>
              <a:avLst/>
              <a:gdLst/>
              <a:ahLst/>
              <a:cxnLst/>
              <a:rect l="l" t="t" r="r" b="b"/>
              <a:pathLst>
                <a:path w="4610735" h="661669">
                  <a:moveTo>
                    <a:pt x="0" y="110200"/>
                  </a:moveTo>
                  <a:lnTo>
                    <a:pt x="8660" y="67305"/>
                  </a:lnTo>
                  <a:lnTo>
                    <a:pt x="32276" y="32276"/>
                  </a:lnTo>
                  <a:lnTo>
                    <a:pt x="67304" y="8660"/>
                  </a:lnTo>
                  <a:lnTo>
                    <a:pt x="110199" y="0"/>
                  </a:lnTo>
                  <a:lnTo>
                    <a:pt x="4500486" y="0"/>
                  </a:lnTo>
                  <a:lnTo>
                    <a:pt x="4543380" y="8660"/>
                  </a:lnTo>
                  <a:lnTo>
                    <a:pt x="4578409" y="32276"/>
                  </a:lnTo>
                  <a:lnTo>
                    <a:pt x="4602026" y="67305"/>
                  </a:lnTo>
                  <a:lnTo>
                    <a:pt x="4610686" y="110200"/>
                  </a:lnTo>
                  <a:lnTo>
                    <a:pt x="4610686" y="550981"/>
                  </a:lnTo>
                  <a:lnTo>
                    <a:pt x="4602026" y="593876"/>
                  </a:lnTo>
                  <a:lnTo>
                    <a:pt x="4578409" y="628905"/>
                  </a:lnTo>
                  <a:lnTo>
                    <a:pt x="4543380" y="652521"/>
                  </a:lnTo>
                  <a:lnTo>
                    <a:pt x="4500486" y="661182"/>
                  </a:lnTo>
                  <a:lnTo>
                    <a:pt x="110199" y="661182"/>
                  </a:lnTo>
                  <a:lnTo>
                    <a:pt x="67304" y="652521"/>
                  </a:lnTo>
                  <a:lnTo>
                    <a:pt x="32276" y="628905"/>
                  </a:lnTo>
                  <a:lnTo>
                    <a:pt x="8660" y="593876"/>
                  </a:lnTo>
                  <a:lnTo>
                    <a:pt x="0" y="550981"/>
                  </a:lnTo>
                  <a:lnTo>
                    <a:pt x="0" y="11020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74004" y="2032508"/>
            <a:ext cx="314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sz="18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9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 Usability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866230" y="3355149"/>
            <a:ext cx="660844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98450" marR="5080" indent="-285750">
              <a:lnSpc>
                <a:spcPts val="2110"/>
              </a:lnSpc>
              <a:spcBef>
                <a:spcPts val="21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viewed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rendering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very </a:t>
            </a:r>
            <a:r>
              <a:rPr sz="1800" dirty="0">
                <a:latin typeface="Calibri"/>
                <a:cs typeface="Calibri"/>
              </a:rPr>
              <a:t>complex,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restrictive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unusable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6203248-D216-A447-A96B-93F2F6479A7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10" dirty="0"/>
              <a:t>Security???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2385" y="1566164"/>
            <a:ext cx="477329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marR="5080" indent="-285750">
              <a:lnSpc>
                <a:spcPct val="9940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not </a:t>
            </a:r>
            <a:r>
              <a:rPr sz="1800" spc="-10" dirty="0">
                <a:latin typeface="Calibri"/>
                <a:cs typeface="Calibri"/>
              </a:rPr>
              <a:t>always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necessarily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true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5514" y="5370067"/>
            <a:ext cx="357949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ts val="2125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35" dirty="0">
                <a:latin typeface="Lucida Sans Unicode"/>
                <a:cs typeface="Lucida Sans Unicode"/>
              </a:rPr>
              <a:t>Passwords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14" dirty="0">
                <a:latin typeface="Lucida Sans Unicode"/>
                <a:cs typeface="Lucida Sans Unicode"/>
              </a:rPr>
              <a:t>are</a:t>
            </a:r>
            <a:r>
              <a:rPr sz="1800" spc="-45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stored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in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plaintext.</a:t>
            </a:r>
            <a:endParaRPr sz="1800">
              <a:latin typeface="Lucida Sans Unicode"/>
              <a:cs typeface="Lucida Sans Unicode"/>
            </a:endParaRPr>
          </a:p>
          <a:p>
            <a:pPr marL="297815" indent="-285115">
              <a:lnSpc>
                <a:spcPts val="2125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20" dirty="0">
                <a:latin typeface="Lucida Sans Unicode"/>
                <a:cs typeface="Lucida Sans Unicode"/>
              </a:rPr>
              <a:t>There's</a:t>
            </a:r>
            <a:r>
              <a:rPr sz="1800" spc="-45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no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HTTPS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encryption</a:t>
            </a:r>
            <a:r>
              <a:rPr sz="1800" spc="-4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for</a:t>
            </a:r>
            <a:endParaRPr sz="1800">
              <a:latin typeface="Lucida Sans Unicode"/>
              <a:cs typeface="Lucida Sans Unicode"/>
            </a:endParaRPr>
          </a:p>
          <a:p>
            <a:pPr marL="298450">
              <a:lnSpc>
                <a:spcPct val="100000"/>
              </a:lnSpc>
              <a:spcBef>
                <a:spcPts val="45"/>
              </a:spcBef>
            </a:pPr>
            <a:r>
              <a:rPr sz="1800" spc="-114" dirty="0">
                <a:latin typeface="Lucida Sans Unicode"/>
                <a:cs typeface="Lucida Sans Unicode"/>
              </a:rPr>
              <a:t>data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in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transit.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32904" y="1226915"/>
            <a:ext cx="2898775" cy="674370"/>
            <a:chOff x="6332904" y="1226915"/>
            <a:chExt cx="2898775" cy="674370"/>
          </a:xfrm>
        </p:grpSpPr>
        <p:sp>
          <p:nvSpPr>
            <p:cNvPr id="7" name="object 7"/>
            <p:cNvSpPr/>
            <p:nvPr/>
          </p:nvSpPr>
          <p:spPr>
            <a:xfrm>
              <a:off x="6339254" y="1233265"/>
              <a:ext cx="2886075" cy="661670"/>
            </a:xfrm>
            <a:custGeom>
              <a:avLst/>
              <a:gdLst/>
              <a:ahLst/>
              <a:cxnLst/>
              <a:rect l="l" t="t" r="r" b="b"/>
              <a:pathLst>
                <a:path w="2886075" h="661669">
                  <a:moveTo>
                    <a:pt x="2775510" y="0"/>
                  </a:moveTo>
                  <a:lnTo>
                    <a:pt x="110199" y="0"/>
                  </a:lnTo>
                  <a:lnTo>
                    <a:pt x="67304" y="8660"/>
                  </a:lnTo>
                  <a:lnTo>
                    <a:pt x="32276" y="32276"/>
                  </a:lnTo>
                  <a:lnTo>
                    <a:pt x="8659" y="67304"/>
                  </a:lnTo>
                  <a:lnTo>
                    <a:pt x="0" y="110199"/>
                  </a:lnTo>
                  <a:lnTo>
                    <a:pt x="0" y="550981"/>
                  </a:lnTo>
                  <a:lnTo>
                    <a:pt x="8659" y="593876"/>
                  </a:lnTo>
                  <a:lnTo>
                    <a:pt x="32276" y="628905"/>
                  </a:lnTo>
                  <a:lnTo>
                    <a:pt x="67304" y="652522"/>
                  </a:lnTo>
                  <a:lnTo>
                    <a:pt x="110199" y="661182"/>
                  </a:lnTo>
                  <a:lnTo>
                    <a:pt x="2775510" y="661182"/>
                  </a:lnTo>
                  <a:lnTo>
                    <a:pt x="2818404" y="652522"/>
                  </a:lnTo>
                  <a:lnTo>
                    <a:pt x="2853431" y="628905"/>
                  </a:lnTo>
                  <a:lnTo>
                    <a:pt x="2877048" y="593876"/>
                  </a:lnTo>
                  <a:lnTo>
                    <a:pt x="2885707" y="550981"/>
                  </a:lnTo>
                  <a:lnTo>
                    <a:pt x="2885707" y="110199"/>
                  </a:lnTo>
                  <a:lnTo>
                    <a:pt x="2877048" y="67304"/>
                  </a:lnTo>
                  <a:lnTo>
                    <a:pt x="2853431" y="32276"/>
                  </a:lnTo>
                  <a:lnTo>
                    <a:pt x="2818404" y="8660"/>
                  </a:lnTo>
                  <a:lnTo>
                    <a:pt x="277551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39254" y="1233265"/>
              <a:ext cx="2886075" cy="661670"/>
            </a:xfrm>
            <a:custGeom>
              <a:avLst/>
              <a:gdLst/>
              <a:ahLst/>
              <a:cxnLst/>
              <a:rect l="l" t="t" r="r" b="b"/>
              <a:pathLst>
                <a:path w="2886075" h="661669">
                  <a:moveTo>
                    <a:pt x="0" y="110199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4" y="8660"/>
                  </a:lnTo>
                  <a:lnTo>
                    <a:pt x="110199" y="0"/>
                  </a:lnTo>
                  <a:lnTo>
                    <a:pt x="2775510" y="0"/>
                  </a:lnTo>
                  <a:lnTo>
                    <a:pt x="2818404" y="8660"/>
                  </a:lnTo>
                  <a:lnTo>
                    <a:pt x="2853432" y="32276"/>
                  </a:lnTo>
                  <a:lnTo>
                    <a:pt x="2877049" y="67304"/>
                  </a:lnTo>
                  <a:lnTo>
                    <a:pt x="2885709" y="110199"/>
                  </a:lnTo>
                  <a:lnTo>
                    <a:pt x="2885709" y="550982"/>
                  </a:lnTo>
                  <a:lnTo>
                    <a:pt x="2877049" y="593877"/>
                  </a:lnTo>
                  <a:lnTo>
                    <a:pt x="2853432" y="628905"/>
                  </a:lnTo>
                  <a:lnTo>
                    <a:pt x="2818404" y="652521"/>
                  </a:lnTo>
                  <a:lnTo>
                    <a:pt x="2775510" y="661182"/>
                  </a:lnTo>
                  <a:lnTo>
                    <a:pt x="110199" y="661182"/>
                  </a:lnTo>
                  <a:lnTo>
                    <a:pt x="67304" y="652521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2"/>
                  </a:lnTo>
                  <a:lnTo>
                    <a:pt x="0" y="11019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54984" y="1401571"/>
            <a:ext cx="225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FFFFFF"/>
                </a:solidFill>
                <a:latin typeface="Trebuchet MS"/>
                <a:cs typeface="Trebuchet MS"/>
              </a:rPr>
              <a:t>E-</a:t>
            </a:r>
            <a:r>
              <a:rPr sz="1800" b="1" spc="-35" dirty="0">
                <a:solidFill>
                  <a:srgbClr val="FFFFFF"/>
                </a:solidFill>
                <a:latin typeface="Trebuchet MS"/>
                <a:cs typeface="Trebuchet MS"/>
              </a:rPr>
              <a:t>commerce</a:t>
            </a:r>
            <a:r>
              <a:rPr sz="18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Website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4704" y="2858515"/>
            <a:ext cx="325183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b="1" spc="80" dirty="0">
                <a:latin typeface="Trebuchet MS"/>
                <a:cs typeface="Trebuchet MS"/>
              </a:rPr>
              <a:t>High-</a:t>
            </a:r>
            <a:r>
              <a:rPr sz="1800" b="1" spc="-25" dirty="0">
                <a:latin typeface="Trebuchet MS"/>
                <a:cs typeface="Trebuchet MS"/>
              </a:rPr>
              <a:t>Quality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but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50" dirty="0">
                <a:latin typeface="Trebuchet MS"/>
                <a:cs typeface="Trebuchet MS"/>
              </a:rPr>
              <a:t>Not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Secure: </a:t>
            </a:r>
            <a:r>
              <a:rPr sz="1800" spc="-120" dirty="0">
                <a:latin typeface="Lucida Sans Unicode"/>
                <a:cs typeface="Lucida Sans Unicode"/>
              </a:rPr>
              <a:t>Imagine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an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25" dirty="0">
                <a:latin typeface="Lucida Sans Unicode"/>
                <a:cs typeface="Lucida Sans Unicode"/>
              </a:rPr>
              <a:t>e-commerce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website </a:t>
            </a:r>
            <a:r>
              <a:rPr sz="1800" spc="-10" dirty="0">
                <a:latin typeface="Lucida Sans Unicode"/>
                <a:cs typeface="Lucida Sans Unicode"/>
              </a:rPr>
              <a:t>that: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3441" y="2013352"/>
            <a:ext cx="497840" cy="680085"/>
            <a:chOff x="7533441" y="2013352"/>
            <a:chExt cx="497840" cy="680085"/>
          </a:xfrm>
        </p:grpSpPr>
        <p:sp>
          <p:nvSpPr>
            <p:cNvPr id="12" name="object 12"/>
            <p:cNvSpPr/>
            <p:nvPr/>
          </p:nvSpPr>
          <p:spPr>
            <a:xfrm>
              <a:off x="7539791" y="2019702"/>
              <a:ext cx="485140" cy="667385"/>
            </a:xfrm>
            <a:custGeom>
              <a:avLst/>
              <a:gdLst/>
              <a:ahLst/>
              <a:cxnLst/>
              <a:rect l="l" t="t" r="r" b="b"/>
              <a:pathLst>
                <a:path w="485140" h="667385">
                  <a:moveTo>
                    <a:pt x="363474" y="0"/>
                  </a:moveTo>
                  <a:lnTo>
                    <a:pt x="121157" y="0"/>
                  </a:lnTo>
                  <a:lnTo>
                    <a:pt x="121157" y="424757"/>
                  </a:lnTo>
                  <a:lnTo>
                    <a:pt x="0" y="424757"/>
                  </a:lnTo>
                  <a:lnTo>
                    <a:pt x="242316" y="667073"/>
                  </a:lnTo>
                  <a:lnTo>
                    <a:pt x="484631" y="424757"/>
                  </a:lnTo>
                  <a:lnTo>
                    <a:pt x="363474" y="424757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39791" y="2019702"/>
              <a:ext cx="485140" cy="667385"/>
            </a:xfrm>
            <a:custGeom>
              <a:avLst/>
              <a:gdLst/>
              <a:ahLst/>
              <a:cxnLst/>
              <a:rect l="l" t="t" r="r" b="b"/>
              <a:pathLst>
                <a:path w="485140" h="667385">
                  <a:moveTo>
                    <a:pt x="0" y="424758"/>
                  </a:moveTo>
                  <a:lnTo>
                    <a:pt x="121158" y="424758"/>
                  </a:lnTo>
                  <a:lnTo>
                    <a:pt x="121158" y="0"/>
                  </a:lnTo>
                  <a:lnTo>
                    <a:pt x="363473" y="0"/>
                  </a:lnTo>
                  <a:lnTo>
                    <a:pt x="363473" y="424758"/>
                  </a:lnTo>
                  <a:lnTo>
                    <a:pt x="484632" y="424758"/>
                  </a:lnTo>
                  <a:lnTo>
                    <a:pt x="242316" y="667074"/>
                  </a:lnTo>
                  <a:lnTo>
                    <a:pt x="0" y="424758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18595" y="4848946"/>
            <a:ext cx="927100" cy="465455"/>
            <a:chOff x="7318595" y="4848946"/>
            <a:chExt cx="927100" cy="465455"/>
          </a:xfrm>
        </p:grpSpPr>
        <p:sp>
          <p:nvSpPr>
            <p:cNvPr id="15" name="object 15"/>
            <p:cNvSpPr/>
            <p:nvPr/>
          </p:nvSpPr>
          <p:spPr>
            <a:xfrm>
              <a:off x="7324945" y="4855296"/>
              <a:ext cx="914400" cy="452755"/>
            </a:xfrm>
            <a:custGeom>
              <a:avLst/>
              <a:gdLst/>
              <a:ahLst/>
              <a:cxnLst/>
              <a:rect l="l" t="t" r="r" b="b"/>
              <a:pathLst>
                <a:path w="914400" h="452754">
                  <a:moveTo>
                    <a:pt x="838868" y="0"/>
                  </a:moveTo>
                  <a:lnTo>
                    <a:pt x="75454" y="0"/>
                  </a:lnTo>
                  <a:lnTo>
                    <a:pt x="46084" y="5929"/>
                  </a:lnTo>
                  <a:lnTo>
                    <a:pt x="22100" y="22100"/>
                  </a:lnTo>
                  <a:lnTo>
                    <a:pt x="5929" y="46084"/>
                  </a:lnTo>
                  <a:lnTo>
                    <a:pt x="0" y="75454"/>
                  </a:lnTo>
                  <a:lnTo>
                    <a:pt x="0" y="377261"/>
                  </a:lnTo>
                  <a:lnTo>
                    <a:pt x="5929" y="406630"/>
                  </a:lnTo>
                  <a:lnTo>
                    <a:pt x="22100" y="430614"/>
                  </a:lnTo>
                  <a:lnTo>
                    <a:pt x="46084" y="446784"/>
                  </a:lnTo>
                  <a:lnTo>
                    <a:pt x="75454" y="452714"/>
                  </a:lnTo>
                  <a:lnTo>
                    <a:pt x="838868" y="452714"/>
                  </a:lnTo>
                  <a:lnTo>
                    <a:pt x="868238" y="446784"/>
                  </a:lnTo>
                  <a:lnTo>
                    <a:pt x="892221" y="430614"/>
                  </a:lnTo>
                  <a:lnTo>
                    <a:pt x="908391" y="406630"/>
                  </a:lnTo>
                  <a:lnTo>
                    <a:pt x="914321" y="377261"/>
                  </a:lnTo>
                  <a:lnTo>
                    <a:pt x="914321" y="75454"/>
                  </a:lnTo>
                  <a:lnTo>
                    <a:pt x="908391" y="46084"/>
                  </a:lnTo>
                  <a:lnTo>
                    <a:pt x="892221" y="22100"/>
                  </a:lnTo>
                  <a:lnTo>
                    <a:pt x="868238" y="5929"/>
                  </a:lnTo>
                  <a:lnTo>
                    <a:pt x="838868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24945" y="4855296"/>
              <a:ext cx="914400" cy="452755"/>
            </a:xfrm>
            <a:custGeom>
              <a:avLst/>
              <a:gdLst/>
              <a:ahLst/>
              <a:cxnLst/>
              <a:rect l="l" t="t" r="r" b="b"/>
              <a:pathLst>
                <a:path w="914400" h="452754">
                  <a:moveTo>
                    <a:pt x="0" y="75453"/>
                  </a:moveTo>
                  <a:lnTo>
                    <a:pt x="5929" y="46083"/>
                  </a:lnTo>
                  <a:lnTo>
                    <a:pt x="22099" y="22099"/>
                  </a:lnTo>
                  <a:lnTo>
                    <a:pt x="46083" y="5929"/>
                  </a:lnTo>
                  <a:lnTo>
                    <a:pt x="75453" y="0"/>
                  </a:lnTo>
                  <a:lnTo>
                    <a:pt x="838867" y="0"/>
                  </a:lnTo>
                  <a:lnTo>
                    <a:pt x="868237" y="5929"/>
                  </a:lnTo>
                  <a:lnTo>
                    <a:pt x="892221" y="22099"/>
                  </a:lnTo>
                  <a:lnTo>
                    <a:pt x="908391" y="46083"/>
                  </a:lnTo>
                  <a:lnTo>
                    <a:pt x="914321" y="75453"/>
                  </a:lnTo>
                  <a:lnTo>
                    <a:pt x="914321" y="377260"/>
                  </a:lnTo>
                  <a:lnTo>
                    <a:pt x="908391" y="406630"/>
                  </a:lnTo>
                  <a:lnTo>
                    <a:pt x="892221" y="430614"/>
                  </a:lnTo>
                  <a:lnTo>
                    <a:pt x="868237" y="446784"/>
                  </a:lnTo>
                  <a:lnTo>
                    <a:pt x="838867" y="452714"/>
                  </a:lnTo>
                  <a:lnTo>
                    <a:pt x="75453" y="452714"/>
                  </a:lnTo>
                  <a:lnTo>
                    <a:pt x="46083" y="446784"/>
                  </a:lnTo>
                  <a:lnTo>
                    <a:pt x="22099" y="430614"/>
                  </a:lnTo>
                  <a:lnTo>
                    <a:pt x="5929" y="406630"/>
                  </a:lnTo>
                  <a:lnTo>
                    <a:pt x="0" y="377260"/>
                  </a:lnTo>
                  <a:lnTo>
                    <a:pt x="0" y="7545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84704" y="3684523"/>
            <a:ext cx="324866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ts val="2125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30" dirty="0">
                <a:latin typeface="Lucida Sans Unicode"/>
                <a:cs typeface="Lucida Sans Unicode"/>
              </a:rPr>
              <a:t>Loads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125" dirty="0">
                <a:latin typeface="Lucida Sans Unicode"/>
                <a:cs typeface="Lucida Sans Unicode"/>
              </a:rPr>
              <a:t>pages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quickly.</a:t>
            </a:r>
            <a:endParaRPr sz="1800">
              <a:latin typeface="Lucida Sans Unicode"/>
              <a:cs typeface="Lucida Sans Unicode"/>
            </a:endParaRPr>
          </a:p>
          <a:p>
            <a:pPr marL="297815" indent="-285115">
              <a:lnSpc>
                <a:spcPts val="2125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30" dirty="0">
                <a:latin typeface="Lucida Sans Unicode"/>
                <a:cs typeface="Lucida Sans Unicode"/>
              </a:rPr>
              <a:t>Has</a:t>
            </a:r>
            <a:r>
              <a:rPr sz="1800" spc="-45" dirty="0">
                <a:latin typeface="Lucida Sans Unicode"/>
                <a:cs typeface="Lucida Sans Unicode"/>
              </a:rPr>
              <a:t> </a:t>
            </a:r>
            <a:r>
              <a:rPr sz="1800" spc="-120" dirty="0">
                <a:latin typeface="Lucida Sans Unicode"/>
                <a:cs typeface="Lucida Sans Unicode"/>
              </a:rPr>
              <a:t>an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spc="-125" dirty="0">
                <a:latin typeface="Lucida Sans Unicode"/>
                <a:cs typeface="Lucida Sans Unicode"/>
              </a:rPr>
              <a:t>intuitive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40" dirty="0">
                <a:latin typeface="Lucida Sans Unicode"/>
                <a:cs typeface="Lucida Sans Unicode"/>
              </a:rPr>
              <a:t>user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10" dirty="0">
                <a:latin typeface="Lucida Sans Unicode"/>
                <a:cs typeface="Lucida Sans Unicode"/>
              </a:rPr>
              <a:t>interface.</a:t>
            </a:r>
            <a:endParaRPr sz="1800">
              <a:latin typeface="Lucida Sans Unicode"/>
              <a:cs typeface="Lucida Sans Unicode"/>
            </a:endParaRPr>
          </a:p>
          <a:p>
            <a:pPr marL="298450" marR="494030" indent="-285750">
              <a:lnSpc>
                <a:spcPts val="2090"/>
              </a:lnSpc>
              <a:spcBef>
                <a:spcPts val="17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25" dirty="0">
                <a:latin typeface="Lucida Sans Unicode"/>
                <a:cs typeface="Lucida Sans Unicode"/>
              </a:rPr>
              <a:t>Processes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25" dirty="0">
                <a:latin typeface="Lucida Sans Unicode"/>
                <a:cs typeface="Lucida Sans Unicode"/>
              </a:rPr>
              <a:t>orders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5" dirty="0">
                <a:latin typeface="Lucida Sans Unicode"/>
                <a:cs typeface="Lucida Sans Unicode"/>
              </a:rPr>
              <a:t>without </a:t>
            </a:r>
            <a:r>
              <a:rPr sz="1800" spc="-35" dirty="0">
                <a:latin typeface="Lucida Sans Unicode"/>
                <a:cs typeface="Lucida Sans Unicode"/>
              </a:rPr>
              <a:t>crashing.</a:t>
            </a:r>
            <a:endParaRPr sz="1800">
              <a:latin typeface="Lucida Sans Unicode"/>
              <a:cs typeface="Lucida Sans Unicode"/>
            </a:endParaRPr>
          </a:p>
          <a:p>
            <a:pPr marR="45720" algn="ctr">
              <a:lnSpc>
                <a:spcPct val="100000"/>
              </a:lnSpc>
              <a:spcBef>
                <a:spcPts val="1115"/>
              </a:spcBef>
            </a:pP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00200" y="3799395"/>
            <a:ext cx="2898775" cy="674370"/>
            <a:chOff x="2181797" y="4280025"/>
            <a:chExt cx="2898775" cy="674370"/>
          </a:xfrm>
        </p:grpSpPr>
        <p:sp>
          <p:nvSpPr>
            <p:cNvPr id="19" name="object 19"/>
            <p:cNvSpPr/>
            <p:nvPr/>
          </p:nvSpPr>
          <p:spPr>
            <a:xfrm>
              <a:off x="2188147" y="4286375"/>
              <a:ext cx="2886075" cy="661670"/>
            </a:xfrm>
            <a:custGeom>
              <a:avLst/>
              <a:gdLst/>
              <a:ahLst/>
              <a:cxnLst/>
              <a:rect l="l" t="t" r="r" b="b"/>
              <a:pathLst>
                <a:path w="2886075" h="661670">
                  <a:moveTo>
                    <a:pt x="2775510" y="0"/>
                  </a:moveTo>
                  <a:lnTo>
                    <a:pt x="110199" y="0"/>
                  </a:lnTo>
                  <a:lnTo>
                    <a:pt x="67304" y="8660"/>
                  </a:lnTo>
                  <a:lnTo>
                    <a:pt x="32276" y="32276"/>
                  </a:lnTo>
                  <a:lnTo>
                    <a:pt x="8660" y="67305"/>
                  </a:lnTo>
                  <a:lnTo>
                    <a:pt x="0" y="110200"/>
                  </a:lnTo>
                  <a:lnTo>
                    <a:pt x="0" y="550983"/>
                  </a:lnTo>
                  <a:lnTo>
                    <a:pt x="8660" y="593877"/>
                  </a:lnTo>
                  <a:lnTo>
                    <a:pt x="32276" y="628905"/>
                  </a:lnTo>
                  <a:lnTo>
                    <a:pt x="67304" y="652522"/>
                  </a:lnTo>
                  <a:lnTo>
                    <a:pt x="110199" y="661182"/>
                  </a:lnTo>
                  <a:lnTo>
                    <a:pt x="2775510" y="661182"/>
                  </a:lnTo>
                  <a:lnTo>
                    <a:pt x="2818404" y="652522"/>
                  </a:lnTo>
                  <a:lnTo>
                    <a:pt x="2853432" y="628905"/>
                  </a:lnTo>
                  <a:lnTo>
                    <a:pt x="2877049" y="593877"/>
                  </a:lnTo>
                  <a:lnTo>
                    <a:pt x="2885709" y="550983"/>
                  </a:lnTo>
                  <a:lnTo>
                    <a:pt x="2885709" y="110200"/>
                  </a:lnTo>
                  <a:lnTo>
                    <a:pt x="2877049" y="67305"/>
                  </a:lnTo>
                  <a:lnTo>
                    <a:pt x="2853432" y="32276"/>
                  </a:lnTo>
                  <a:lnTo>
                    <a:pt x="2818404" y="8660"/>
                  </a:lnTo>
                  <a:lnTo>
                    <a:pt x="277551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8147" y="4286375"/>
              <a:ext cx="2886075" cy="661670"/>
            </a:xfrm>
            <a:custGeom>
              <a:avLst/>
              <a:gdLst/>
              <a:ahLst/>
              <a:cxnLst/>
              <a:rect l="l" t="t" r="r" b="b"/>
              <a:pathLst>
                <a:path w="2886075" h="661670">
                  <a:moveTo>
                    <a:pt x="0" y="110199"/>
                  </a:moveTo>
                  <a:lnTo>
                    <a:pt x="8659" y="67304"/>
                  </a:lnTo>
                  <a:lnTo>
                    <a:pt x="32276" y="32276"/>
                  </a:lnTo>
                  <a:lnTo>
                    <a:pt x="67304" y="8660"/>
                  </a:lnTo>
                  <a:lnTo>
                    <a:pt x="110199" y="0"/>
                  </a:lnTo>
                  <a:lnTo>
                    <a:pt x="2775510" y="0"/>
                  </a:lnTo>
                  <a:lnTo>
                    <a:pt x="2818404" y="8660"/>
                  </a:lnTo>
                  <a:lnTo>
                    <a:pt x="2853432" y="32276"/>
                  </a:lnTo>
                  <a:lnTo>
                    <a:pt x="2877049" y="67304"/>
                  </a:lnTo>
                  <a:lnTo>
                    <a:pt x="2885709" y="110199"/>
                  </a:lnTo>
                  <a:lnTo>
                    <a:pt x="2885709" y="550982"/>
                  </a:lnTo>
                  <a:lnTo>
                    <a:pt x="2877049" y="593877"/>
                  </a:lnTo>
                  <a:lnTo>
                    <a:pt x="2853432" y="628905"/>
                  </a:lnTo>
                  <a:lnTo>
                    <a:pt x="2818404" y="652521"/>
                  </a:lnTo>
                  <a:lnTo>
                    <a:pt x="2775510" y="661182"/>
                  </a:lnTo>
                  <a:lnTo>
                    <a:pt x="110199" y="661182"/>
                  </a:lnTo>
                  <a:lnTo>
                    <a:pt x="67304" y="652521"/>
                  </a:lnTo>
                  <a:lnTo>
                    <a:pt x="32276" y="628905"/>
                  </a:lnTo>
                  <a:lnTo>
                    <a:pt x="8659" y="593877"/>
                  </a:lnTo>
                  <a:lnTo>
                    <a:pt x="0" y="550982"/>
                  </a:lnTo>
                  <a:lnTo>
                    <a:pt x="0" y="11019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12217" y="3854005"/>
            <a:ext cx="264223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25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18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high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lack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endParaRPr sz="1800" dirty="0">
              <a:latin typeface="Lucida Sans Unicode"/>
              <a:cs typeface="Lucida Sans Unicode"/>
            </a:endParaRPr>
          </a:p>
          <a:p>
            <a:pPr algn="ctr">
              <a:lnSpc>
                <a:spcPts val="2125"/>
              </a:lnSpc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9CDDB4E3-2850-E046-AC0E-53DF9CA42C6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87E3A58-4F43-2A4A-B3FC-A5DEC3BA70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25329" y="6395442"/>
            <a:ext cx="656430" cy="553998"/>
          </a:xfrm>
        </p:spPr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z="1800" spc="-50" smtClean="0"/>
              <a:t>23</a:t>
            </a:fld>
            <a:endParaRPr lang="en-US" sz="1800" spc="-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90" dirty="0"/>
              <a:t> </a:t>
            </a:r>
            <a:r>
              <a:rPr dirty="0"/>
              <a:t>makes</a:t>
            </a:r>
            <a:r>
              <a:rPr spc="-90" dirty="0"/>
              <a:t> </a:t>
            </a:r>
            <a:r>
              <a:rPr dirty="0"/>
              <a:t>Software</a:t>
            </a:r>
            <a:r>
              <a:rPr spc="-90" dirty="0"/>
              <a:t> </a:t>
            </a:r>
            <a:r>
              <a:rPr spc="-10" dirty="0"/>
              <a:t>Secure?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463" y="1221804"/>
            <a:ext cx="6879099" cy="47610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C7A98-EE75-A44C-A619-85653CB087F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AE9CB-12E0-9843-969B-960CA46D74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067801" y="6411430"/>
            <a:ext cx="580230" cy="335915"/>
          </a:xfrm>
        </p:spPr>
        <p:txBody>
          <a:bodyPr/>
          <a:lstStyle/>
          <a:p>
            <a:pPr marL="166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t>24</a:t>
            </a:fld>
            <a:endParaRPr lang="en-US" spc="-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151"/>
            <a:ext cx="9906000" cy="6858000"/>
            <a:chOff x="0" y="0"/>
            <a:chExt cx="9906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911" y="0"/>
              <a:ext cx="1371600" cy="10485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3806360" y="2745259"/>
            <a:ext cx="27501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rebuchet MS"/>
                <a:cs typeface="Trebuchet MS"/>
              </a:rPr>
              <a:t>Questions?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26721" y="6411430"/>
            <a:ext cx="283210" cy="308418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lang="en-US" sz="2000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6819" y="3885692"/>
            <a:ext cx="2595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4472C4"/>
                </a:solidFill>
                <a:latin typeface="Trebuchet MS"/>
                <a:cs typeface="Trebuchet MS"/>
              </a:rPr>
              <a:t>zahmaad.github.io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E142E-50DD-264D-850F-8D874E81577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Dr. Zubair Ahmad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1217</Words>
  <Application>Microsoft Macintosh PowerPoint</Application>
  <PresentationFormat>A4 Paper (210x297 mm)</PresentationFormat>
  <Paragraphs>307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 MT</vt:lpstr>
      <vt:lpstr>Times New Roman</vt:lpstr>
      <vt:lpstr>Arial</vt:lpstr>
      <vt:lpstr>Calibri</vt:lpstr>
      <vt:lpstr>Cambria</vt:lpstr>
      <vt:lpstr>Lucida Sans Unicode</vt:lpstr>
      <vt:lpstr>Symbol</vt:lpstr>
      <vt:lpstr>Trebuchet MS</vt:lpstr>
      <vt:lpstr>Office Theme</vt:lpstr>
      <vt:lpstr>From Hello World to Hack-Proof</vt:lpstr>
      <vt:lpstr>PowerPoint Presentation</vt:lpstr>
      <vt:lpstr>About me!</vt:lpstr>
      <vt:lpstr>Schedule</vt:lpstr>
      <vt:lpstr>Webpage</vt:lpstr>
      <vt:lpstr>CLO – GA Mapping</vt:lpstr>
      <vt:lpstr>Grading Policy</vt:lpstr>
      <vt:lpstr>Grading Policy</vt:lpstr>
      <vt:lpstr>Project-Quizzes</vt:lpstr>
      <vt:lpstr>What Should you expect in this course?</vt:lpstr>
      <vt:lpstr>What We will learn?</vt:lpstr>
      <vt:lpstr>What We will learn?</vt:lpstr>
      <vt:lpstr>What We will learn?</vt:lpstr>
      <vt:lpstr>What We will learn?</vt:lpstr>
      <vt:lpstr>What We will learn?</vt:lpstr>
      <vt:lpstr>PowerPoint Presentation</vt:lpstr>
      <vt:lpstr>A Quick Starter Scenario (1)</vt:lpstr>
      <vt:lpstr>Why the problem is growing?</vt:lpstr>
      <vt:lpstr>Challenges</vt:lpstr>
      <vt:lpstr>Iron Triangle Constraints</vt:lpstr>
      <vt:lpstr>Security as an Afterthought</vt:lpstr>
      <vt:lpstr>Security Versus Usabilty</vt:lpstr>
      <vt:lpstr>Quality = Security???</vt:lpstr>
      <vt:lpstr>What makes Software Secure?</vt:lpstr>
      <vt:lpstr>Questions?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cp:lastModifiedBy>Microsoft Office User</cp:lastModifiedBy>
  <cp:revision>15</cp:revision>
  <dcterms:created xsi:type="dcterms:W3CDTF">2026-01-19T07:52:06Z</dcterms:created>
  <dcterms:modified xsi:type="dcterms:W3CDTF">2026-01-19T10:22:44Z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2026-01-19T00:00:00Z</vt:filetime>
  </property>
  <property fmtid="{D5CDD505-2E9C-101B-9397-08002B2CF9AE}" pid="5" name="Producer">
    <vt:lpwstr>macOS Version 10.16 (Build 21G646) Quartz PDFContext</vt:lpwstr>
  </property>
</Properties>
</file>