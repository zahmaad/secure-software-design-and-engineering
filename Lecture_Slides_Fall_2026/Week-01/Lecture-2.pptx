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80" r:id="rId2"/>
    <p:sldId id="441" r:id="rId3"/>
    <p:sldId id="442" r:id="rId4"/>
    <p:sldId id="404" r:id="rId5"/>
    <p:sldId id="438" r:id="rId6"/>
    <p:sldId id="378" r:id="rId7"/>
    <p:sldId id="258" r:id="rId8"/>
    <p:sldId id="439" r:id="rId9"/>
    <p:sldId id="440" r:id="rId10"/>
    <p:sldId id="443" r:id="rId11"/>
    <p:sldId id="372" r:id="rId12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441"/>
            <p14:sldId id="442"/>
            <p14:sldId id="404"/>
            <p14:sldId id="438"/>
            <p14:sldId id="378"/>
            <p14:sldId id="258"/>
            <p14:sldId id="439"/>
            <p14:sldId id="440"/>
            <p14:sldId id="443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17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083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572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/>
              <a:t>You, Me, </a:t>
            </a:r>
            <a:r>
              <a:rPr lang="en-US" b="1" dirty="0">
                <a:solidFill>
                  <a:srgbClr val="FF0000"/>
                </a:solidFill>
              </a:rPr>
              <a:t>Security</a:t>
            </a:r>
            <a:r>
              <a:rPr lang="en-US" b="1" dirty="0"/>
              <a:t> and SDLC</a:t>
            </a:r>
            <a:endParaRPr lang="en-US" dirty="0"/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Engineering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59575A-8D37-8A4C-AF75-959E17A12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9482B8B4-C143-4B41-822F-2065983178CC}"/>
              </a:ext>
            </a:extLst>
          </p:cNvPr>
          <p:cNvSpPr txBox="1">
            <a:spLocks/>
          </p:cNvSpPr>
          <p:nvPr/>
        </p:nvSpPr>
        <p:spPr>
          <a:xfrm>
            <a:off x="185709" y="340867"/>
            <a:ext cx="6049063" cy="559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lang="en-US" sz="2800" spc="-45">
                <a:latin typeface="Trebuchet MS"/>
                <a:cs typeface="Trebuchet MS"/>
              </a:rPr>
              <a:t>Schedule</a:t>
            </a:r>
            <a:endParaRPr lang="en-US" sz="280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9AA5467-B012-0647-A2BC-77FE4718F8D2}"/>
              </a:ext>
            </a:extLst>
          </p:cNvPr>
          <p:cNvSpPr txBox="1"/>
          <p:nvPr/>
        </p:nvSpPr>
        <p:spPr>
          <a:xfrm>
            <a:off x="753988" y="1483867"/>
            <a:ext cx="3294379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latin typeface="Trebuchet MS"/>
                <a:cs typeface="Trebuchet MS"/>
              </a:rPr>
              <a:t>When?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321945">
              <a:lnSpc>
                <a:spcPct val="100000"/>
              </a:lnSpc>
            </a:pPr>
            <a:r>
              <a:rPr sz="1800" spc="-155" dirty="0">
                <a:latin typeface="Lucida Sans Unicode"/>
                <a:cs typeface="Lucida Sans Unicode"/>
              </a:rPr>
              <a:t>-</a:t>
            </a:r>
            <a:r>
              <a:rPr sz="1800" spc="-60" dirty="0">
                <a:latin typeface="Lucida Sans Unicode"/>
                <a:cs typeface="Lucida Sans Unicode"/>
              </a:rPr>
              <a:t> </a:t>
            </a:r>
            <a:r>
              <a:rPr lang="en-US" spc="-80" dirty="0">
                <a:latin typeface="Lucida Sans Unicode"/>
                <a:cs typeface="Lucida Sans Unicode"/>
              </a:rPr>
              <a:t>Check your class schedule 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291C6896-23F7-0E40-980B-6206DE4C40B8}"/>
              </a:ext>
            </a:extLst>
          </p:cNvPr>
          <p:cNvSpPr txBox="1"/>
          <p:nvPr/>
        </p:nvSpPr>
        <p:spPr>
          <a:xfrm>
            <a:off x="5832425" y="1483867"/>
            <a:ext cx="1523365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latin typeface="Trebuchet MS"/>
                <a:cs typeface="Trebuchet MS"/>
              </a:rPr>
              <a:t>Where?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633730" lvl="1" indent="-176530">
              <a:lnSpc>
                <a:spcPct val="100000"/>
              </a:lnSpc>
              <a:buChar char="-"/>
              <a:tabLst>
                <a:tab pos="633730" algn="l"/>
              </a:tabLst>
            </a:pPr>
            <a:r>
              <a:rPr sz="1800" spc="-10" dirty="0">
                <a:latin typeface="Lucida Sans Unicode"/>
                <a:cs typeface="Lucida Sans Unicode"/>
              </a:rPr>
              <a:t>Here!</a:t>
            </a:r>
            <a:endParaRPr sz="1800" dirty="0">
              <a:latin typeface="Lucida Sans Unicode"/>
              <a:cs typeface="Lucida Sans Unicode"/>
            </a:endParaRPr>
          </a:p>
          <a:p>
            <a:pPr marL="622300" lvl="1" indent="-176530">
              <a:lnSpc>
                <a:spcPct val="100000"/>
              </a:lnSpc>
              <a:spcBef>
                <a:spcPts val="45"/>
              </a:spcBef>
              <a:buChar char="-"/>
              <a:tabLst>
                <a:tab pos="622300" algn="l"/>
              </a:tabLst>
            </a:pPr>
            <a:r>
              <a:rPr sz="1800" spc="-145" dirty="0">
                <a:latin typeface="Lucida Sans Unicode"/>
                <a:cs typeface="Lucida Sans Unicode"/>
              </a:rPr>
              <a:t>LH</a:t>
            </a:r>
            <a:r>
              <a:rPr lang="en-US" sz="1800" spc="-145" dirty="0">
                <a:latin typeface="Lucida Sans Unicode"/>
                <a:cs typeface="Lucida Sans Unicode"/>
              </a:rPr>
              <a:t>9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-25" dirty="0" err="1">
                <a:latin typeface="Lucida Sans Unicode"/>
                <a:cs typeface="Lucida Sans Unicode"/>
              </a:rPr>
              <a:t>A</a:t>
            </a:r>
            <a:r>
              <a:rPr lang="en-US" sz="1800" spc="-25" dirty="0" err="1">
                <a:latin typeface="Lucida Sans Unicode"/>
                <a:cs typeface="Lucida Sans Unicode"/>
              </a:rPr>
              <a:t>c</a:t>
            </a:r>
            <a:r>
              <a:rPr sz="1800" spc="-25" dirty="0" err="1">
                <a:latin typeface="Lucida Sans Unicode"/>
                <a:cs typeface="Lucida Sans Unicode"/>
              </a:rPr>
              <a:t>B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F114F9B2-645B-D142-A522-FABB29941DF6}"/>
              </a:ext>
            </a:extLst>
          </p:cNvPr>
          <p:cNvSpPr txBox="1"/>
          <p:nvPr/>
        </p:nvSpPr>
        <p:spPr>
          <a:xfrm>
            <a:off x="610967" y="3273044"/>
            <a:ext cx="3529965" cy="139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latin typeface="Trebuchet MS"/>
                <a:cs typeface="Trebuchet MS"/>
              </a:rPr>
              <a:t>What?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498475" lvl="1" indent="-176530">
              <a:lnSpc>
                <a:spcPct val="100000"/>
              </a:lnSpc>
              <a:buChar char="-"/>
              <a:tabLst>
                <a:tab pos="498475" algn="l"/>
              </a:tabLst>
            </a:pPr>
            <a:r>
              <a:rPr sz="1800" spc="-130">
                <a:latin typeface="Lucida Sans Unicode"/>
                <a:cs typeface="Lucida Sans Unicode"/>
              </a:rPr>
              <a:t>Lecture</a:t>
            </a:r>
            <a:r>
              <a:rPr lang="en-US" sz="1800" spc="-130">
                <a:latin typeface="Lucida Sans Unicode"/>
                <a:cs typeface="Lucida Sans Unicode"/>
              </a:rPr>
              <a:t>s</a:t>
            </a:r>
            <a:endParaRPr sz="1800" dirty="0">
              <a:latin typeface="Lucida Sans Unicode"/>
              <a:cs typeface="Lucida Sans Unicode"/>
            </a:endParaRPr>
          </a:p>
          <a:p>
            <a:pPr marL="498475" lvl="1" indent="-176530">
              <a:lnSpc>
                <a:spcPts val="2135"/>
              </a:lnSpc>
              <a:spcBef>
                <a:spcPts val="25"/>
              </a:spcBef>
              <a:buChar char="-"/>
              <a:tabLst>
                <a:tab pos="498475" algn="l"/>
              </a:tabLst>
            </a:pPr>
            <a:r>
              <a:rPr sz="1800" spc="-160" dirty="0">
                <a:latin typeface="Lucida Sans Unicode"/>
                <a:cs typeface="Lucida Sans Unicode"/>
              </a:rPr>
              <a:t>Quizzes/</a:t>
            </a:r>
            <a:r>
              <a:rPr sz="1800" spc="-80" dirty="0">
                <a:latin typeface="Lucida Sans Unicode"/>
                <a:cs typeface="Lucida Sans Unicode"/>
              </a:rPr>
              <a:t>Project</a:t>
            </a:r>
            <a:endParaRPr sz="1800" dirty="0">
              <a:latin typeface="Lucida Sans Unicode"/>
              <a:cs typeface="Lucida Sans Unicode"/>
            </a:endParaRPr>
          </a:p>
          <a:p>
            <a:pPr marL="498475" lvl="1" indent="-176530">
              <a:lnSpc>
                <a:spcPts val="2135"/>
              </a:lnSpc>
              <a:buChar char="-"/>
              <a:tabLst>
                <a:tab pos="498475" algn="l"/>
              </a:tabLst>
            </a:pPr>
            <a:r>
              <a:rPr sz="1800" spc="-125" dirty="0">
                <a:latin typeface="Lucida Sans Unicode"/>
                <a:cs typeface="Lucida Sans Unicode"/>
              </a:rPr>
              <a:t>Mid/Final</a:t>
            </a:r>
            <a:r>
              <a:rPr sz="1800" spc="-8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Exams</a:t>
            </a: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736A45C9-5083-B64F-8FB0-5FA49304D2F3}"/>
              </a:ext>
            </a:extLst>
          </p:cNvPr>
          <p:cNvSpPr txBox="1"/>
          <p:nvPr/>
        </p:nvSpPr>
        <p:spPr>
          <a:xfrm>
            <a:off x="6043442" y="3273044"/>
            <a:ext cx="3127375" cy="25109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latin typeface="Trebuchet MS"/>
                <a:cs typeface="Trebuchet MS"/>
              </a:rPr>
              <a:t>Attendance?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560705" lvl="1" indent="-176530">
              <a:lnSpc>
                <a:spcPct val="100000"/>
              </a:lnSpc>
              <a:buChar char="-"/>
              <a:tabLst>
                <a:tab pos="560705" algn="l"/>
              </a:tabLst>
            </a:pPr>
            <a:r>
              <a:rPr sz="1800" spc="-114" dirty="0">
                <a:latin typeface="Lucida Sans Unicode"/>
                <a:cs typeface="Lucida Sans Unicode"/>
              </a:rPr>
              <a:t>Active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Attendance</a:t>
            </a:r>
            <a:endParaRPr sz="1800" dirty="0">
              <a:latin typeface="Lucida Sans Unicode"/>
              <a:cs typeface="Lucida Sans Unicode"/>
            </a:endParaRPr>
          </a:p>
          <a:p>
            <a:pPr marL="560705" lvl="1" indent="-176530">
              <a:lnSpc>
                <a:spcPts val="2135"/>
              </a:lnSpc>
              <a:spcBef>
                <a:spcPts val="25"/>
              </a:spcBef>
              <a:buClr>
                <a:srgbClr val="000000"/>
              </a:buClr>
              <a:buFont typeface="Lucida Sans Unicode"/>
              <a:buChar char="-"/>
              <a:tabLst>
                <a:tab pos="560705" algn="l"/>
              </a:tabLst>
            </a:pPr>
            <a:r>
              <a:rPr sz="1800" b="1" dirty="0">
                <a:solidFill>
                  <a:srgbClr val="FF0000"/>
                </a:solidFill>
                <a:latin typeface="Trebuchet MS"/>
                <a:cs typeface="Trebuchet MS"/>
              </a:rPr>
              <a:t>Dead </a:t>
            </a:r>
            <a:r>
              <a:rPr sz="1800" b="1" spc="-10" dirty="0">
                <a:solidFill>
                  <a:srgbClr val="FF0000"/>
                </a:solidFill>
                <a:latin typeface="Trebuchet MS"/>
                <a:cs typeface="Trebuchet MS"/>
              </a:rPr>
              <a:t>Bodies.</a:t>
            </a:r>
            <a:endParaRPr sz="1800" dirty="0">
              <a:latin typeface="Trebuchet MS"/>
              <a:cs typeface="Trebuchet MS"/>
            </a:endParaRPr>
          </a:p>
          <a:p>
            <a:pPr marL="560705" lvl="1" indent="-176530">
              <a:lnSpc>
                <a:spcPts val="2135"/>
              </a:lnSpc>
              <a:buClr>
                <a:srgbClr val="000000"/>
              </a:buClr>
              <a:buFont typeface="Lucida Sans Unicode"/>
              <a:buChar char="-"/>
              <a:tabLst>
                <a:tab pos="560705" algn="l"/>
              </a:tabLst>
            </a:pPr>
            <a:r>
              <a:rPr sz="1800" b="1" spc="-40" dirty="0">
                <a:solidFill>
                  <a:srgbClr val="548235"/>
                </a:solidFill>
                <a:latin typeface="Trebuchet MS"/>
                <a:cs typeface="Trebuchet MS"/>
              </a:rPr>
              <a:t>Active</a:t>
            </a:r>
            <a:r>
              <a:rPr sz="1800" b="1" spc="-85" dirty="0">
                <a:solidFill>
                  <a:srgbClr val="548235"/>
                </a:solidFill>
                <a:latin typeface="Trebuchet MS"/>
                <a:cs typeface="Trebuchet MS"/>
              </a:rPr>
              <a:t> </a:t>
            </a:r>
            <a:r>
              <a:rPr sz="1800" b="1" spc="40" dirty="0">
                <a:solidFill>
                  <a:srgbClr val="548235"/>
                </a:solidFill>
                <a:latin typeface="Trebuchet MS"/>
                <a:cs typeface="Trebuchet MS"/>
              </a:rPr>
              <a:t>Minds</a:t>
            </a:r>
            <a:endParaRPr sz="1800" dirty="0">
              <a:latin typeface="Trebuchet MS"/>
              <a:cs typeface="Trebuchet MS"/>
            </a:endParaRPr>
          </a:p>
          <a:p>
            <a:pPr marL="12700" marR="5080" lvl="1" indent="548005">
              <a:lnSpc>
                <a:spcPts val="2090"/>
              </a:lnSpc>
              <a:spcBef>
                <a:spcPts val="175"/>
              </a:spcBef>
              <a:buChar char="-"/>
              <a:tabLst>
                <a:tab pos="560705" algn="l"/>
              </a:tabLst>
            </a:pPr>
            <a:r>
              <a:rPr sz="1800" spc="-110" dirty="0">
                <a:latin typeface="Lucida Sans Unicode"/>
                <a:cs typeface="Lucida Sans Unicode"/>
              </a:rPr>
              <a:t>Mobiles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spc="-135" dirty="0">
                <a:latin typeface="Lucida Sans Unicode"/>
                <a:cs typeface="Lucida Sans Unicode"/>
              </a:rPr>
              <a:t>in</a:t>
            </a:r>
            <a:r>
              <a:rPr sz="1800" spc="-55" dirty="0">
                <a:latin typeface="Lucida Sans Unicode"/>
                <a:cs typeface="Lucida Sans Unicode"/>
              </a:rPr>
              <a:t> </a:t>
            </a:r>
            <a:r>
              <a:rPr sz="1800" spc="-140" dirty="0">
                <a:latin typeface="Lucida Sans Unicode"/>
                <a:cs typeface="Lucida Sans Unicode"/>
              </a:rPr>
              <a:t>hands</a:t>
            </a:r>
            <a:r>
              <a:rPr sz="1800" spc="-40" dirty="0">
                <a:latin typeface="Lucida Sans Unicode"/>
                <a:cs typeface="Lucida Sans Unicode"/>
              </a:rPr>
              <a:t> </a:t>
            </a:r>
            <a:r>
              <a:rPr sz="1800" spc="-155" dirty="0">
                <a:latin typeface="Lucida Sans Unicode"/>
                <a:cs typeface="Lucida Sans Unicode"/>
              </a:rPr>
              <a:t>-</a:t>
            </a:r>
            <a:r>
              <a:rPr sz="1800" spc="-235" dirty="0">
                <a:latin typeface="Lucida Sans Unicode"/>
                <a:cs typeface="Lucida Sans Unicode"/>
              </a:rPr>
              <a:t>&gt;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-105" dirty="0">
                <a:latin typeface="Lucida Sans Unicode"/>
                <a:cs typeface="Lucida Sans Unicode"/>
              </a:rPr>
              <a:t>Mark </a:t>
            </a:r>
            <a:r>
              <a:rPr lang="en-US" sz="1800" spc="-105" dirty="0">
                <a:latin typeface="Lucida Sans Unicode"/>
                <a:cs typeface="Lucida Sans Unicode"/>
              </a:rPr>
              <a:t>  </a:t>
            </a:r>
            <a:r>
              <a:rPr sz="1800" spc="-150" dirty="0">
                <a:latin typeface="Lucida Sans Unicode"/>
                <a:cs typeface="Lucida Sans Unicode"/>
              </a:rPr>
              <a:t>as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absent</a:t>
            </a:r>
            <a:endParaRPr sz="1800" dirty="0">
              <a:latin typeface="Lucida Sans Unicode"/>
              <a:cs typeface="Lucida Sans Unicode"/>
            </a:endParaRPr>
          </a:p>
          <a:p>
            <a:pPr marL="560705" lvl="1" indent="-176530">
              <a:lnSpc>
                <a:spcPts val="2150"/>
              </a:lnSpc>
              <a:buChar char="-"/>
              <a:tabLst>
                <a:tab pos="560705" algn="l"/>
              </a:tabLst>
            </a:pPr>
            <a:r>
              <a:rPr sz="1800" spc="-235" dirty="0">
                <a:latin typeface="Lucida Sans Unicode"/>
                <a:cs typeface="Lucida Sans Unicode"/>
              </a:rPr>
              <a:t>80%</a:t>
            </a:r>
            <a:r>
              <a:rPr sz="1800" spc="-7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mandatory</a:t>
            </a:r>
            <a:endParaRPr lang="en-US" sz="1800" spc="-10" dirty="0">
              <a:latin typeface="Lucida Sans Unicode"/>
              <a:cs typeface="Lucida Sans Unicode"/>
            </a:endParaRPr>
          </a:p>
          <a:p>
            <a:pPr marL="560705" lvl="1" indent="-176530">
              <a:lnSpc>
                <a:spcPts val="2150"/>
              </a:lnSpc>
              <a:buChar char="-"/>
              <a:tabLst>
                <a:tab pos="56070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5 minutes threshold</a:t>
            </a:r>
            <a:endParaRPr sz="1800" b="1" dirty="0">
              <a:solidFill>
                <a:srgbClr val="FF0000"/>
              </a:solidFill>
              <a:latin typeface="Lucida Sans Unicode"/>
              <a:cs typeface="Lucida Sans Unicode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2A6443E9-967F-AB44-9F61-9EA5B3E1003C}"/>
              </a:ext>
            </a:extLst>
          </p:cNvPr>
          <p:cNvSpPr txBox="1">
            <a:spLocks/>
          </p:cNvSpPr>
          <p:nvPr/>
        </p:nvSpPr>
        <p:spPr>
          <a:xfrm>
            <a:off x="3368040" y="6377940"/>
            <a:ext cx="3169920" cy="2154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Dr. Zubair Ahmad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94C639B8-6A11-854C-90C0-CA6FAD0AC035}"/>
              </a:ext>
            </a:extLst>
          </p:cNvPr>
          <p:cNvSpPr txBox="1">
            <a:spLocks/>
          </p:cNvSpPr>
          <p:nvPr/>
        </p:nvSpPr>
        <p:spPr>
          <a:xfrm>
            <a:off x="9301321" y="6411430"/>
            <a:ext cx="346709" cy="33591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6370">
              <a:spcBef>
                <a:spcPts val="5"/>
              </a:spcBef>
            </a:pPr>
            <a:fld id="{81D60167-4931-47E6-BA6A-407CBD079E47}" type="slidenum">
              <a:rPr lang="en-US" spc="-50" smtClean="0"/>
              <a:pPr marL="166370">
                <a:spcBef>
                  <a:spcPts val="5"/>
                </a:spcBef>
              </a:pPr>
              <a:t>2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72708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D6B3EF-7595-0C4E-8411-DFAE6398F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5C9A07F7-FDAE-9B42-AC8E-B36724CA734E}"/>
              </a:ext>
            </a:extLst>
          </p:cNvPr>
          <p:cNvSpPr txBox="1">
            <a:spLocks/>
          </p:cNvSpPr>
          <p:nvPr/>
        </p:nvSpPr>
        <p:spPr>
          <a:xfrm>
            <a:off x="185709" y="340867"/>
            <a:ext cx="6049063" cy="559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lang="en-US" sz="2800" spc="-10">
                <a:latin typeface="Trebuchet MS"/>
                <a:cs typeface="Trebuchet MS"/>
              </a:rPr>
              <a:t>Webpage</a:t>
            </a:r>
            <a:endParaRPr lang="en-US" sz="2800">
              <a:latin typeface="Trebuchet MS"/>
              <a:cs typeface="Trebuchet M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D4A8496-CCA7-704D-B80A-573C1F6B0EA7}"/>
              </a:ext>
            </a:extLst>
          </p:cNvPr>
          <p:cNvSpPr txBox="1"/>
          <p:nvPr/>
        </p:nvSpPr>
        <p:spPr>
          <a:xfrm>
            <a:off x="304800" y="1467194"/>
            <a:ext cx="3162935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2000" b="1" spc="-75" dirty="0">
                <a:latin typeface="Trebuchet MS"/>
                <a:cs typeface="Trebuchet MS"/>
              </a:rPr>
              <a:t>Lectures/</a:t>
            </a:r>
            <a:r>
              <a:rPr sz="2000" b="1" spc="-9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Slides</a:t>
            </a:r>
            <a:endParaRPr sz="2000" dirty="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000" b="1" spc="-10" dirty="0">
                <a:latin typeface="Trebuchet MS"/>
                <a:cs typeface="Trebuchet MS"/>
              </a:rPr>
              <a:t>Books</a:t>
            </a:r>
            <a:endParaRPr sz="2000" dirty="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7815" algn="l"/>
              </a:tabLst>
            </a:pPr>
            <a:r>
              <a:rPr sz="2000" b="1" spc="-30" dirty="0">
                <a:latin typeface="Trebuchet MS"/>
                <a:cs typeface="Trebuchet MS"/>
              </a:rPr>
              <a:t>Project</a:t>
            </a:r>
            <a:endParaRPr sz="2000" dirty="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97815" algn="l"/>
              </a:tabLst>
            </a:pPr>
            <a:r>
              <a:rPr sz="2000" b="1" spc="-20" dirty="0">
                <a:latin typeface="Trebuchet MS"/>
                <a:cs typeface="Trebuchet MS"/>
              </a:rPr>
              <a:t>Labs</a:t>
            </a:r>
            <a:r>
              <a:rPr sz="2000" b="1" spc="-14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Material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FCC416F-5A6F-7540-B242-D7345E5C3A11}"/>
              </a:ext>
            </a:extLst>
          </p:cNvPr>
          <p:cNvSpPr txBox="1"/>
          <p:nvPr/>
        </p:nvSpPr>
        <p:spPr>
          <a:xfrm>
            <a:off x="1161953" y="5927852"/>
            <a:ext cx="7208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4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ucida Sans Unicode"/>
                <a:cs typeface="Lucida Sans Unicode"/>
              </a:rPr>
              <a:t>https://github.com/ZAhmaad/Secure-</a:t>
            </a:r>
            <a:r>
              <a:rPr sz="1800" u="sng" spc="-114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ucida Sans Unicode"/>
                <a:cs typeface="Lucida Sans Unicode"/>
              </a:rPr>
              <a:t>Software-</a:t>
            </a:r>
            <a:r>
              <a:rPr sz="1800" u="sng" spc="-13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ucida Sans Unicode"/>
                <a:cs typeface="Lucida Sans Unicode"/>
              </a:rPr>
              <a:t>Design-</a:t>
            </a:r>
            <a:r>
              <a:rPr sz="1800" u="sng" spc="-13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ucida Sans Unicode"/>
                <a:cs typeface="Lucida Sans Unicode"/>
              </a:rPr>
              <a:t>And-</a:t>
            </a:r>
            <a:r>
              <a:rPr sz="1800" u="sng" spc="-6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Lucida Sans Unicode"/>
                <a:cs typeface="Lucida Sans Unicode"/>
              </a:rPr>
              <a:t>Engineering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7F0F9-CD81-7F4F-9B08-BB3BAC44275E}"/>
              </a:ext>
            </a:extLst>
          </p:cNvPr>
          <p:cNvSpPr txBox="1">
            <a:spLocks/>
          </p:cNvSpPr>
          <p:nvPr/>
        </p:nvSpPr>
        <p:spPr>
          <a:xfrm>
            <a:off x="9301321" y="6411430"/>
            <a:ext cx="346709" cy="33591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6370">
              <a:spcBef>
                <a:spcPts val="5"/>
              </a:spcBef>
            </a:pPr>
            <a:fld id="{81D60167-4931-47E6-BA6A-407CBD079E47}" type="slidenum">
              <a:rPr lang="en-US" spc="-50" smtClean="0"/>
              <a:pPr marL="166370">
                <a:spcBef>
                  <a:spcPts val="5"/>
                </a:spcBef>
              </a:pPr>
              <a:t>3</a:t>
            </a:fld>
            <a:endParaRPr lang="en-US" spc="-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89EE08-1565-A847-932A-102D5AA62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691933"/>
            <a:ext cx="6834393" cy="366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95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1DA180-6180-B241-95FA-7D6E871E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A2BD7B-203B-FB40-B6A7-9E94F1D64F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" t="-1641" r="81942" b="17932"/>
          <a:stretch/>
        </p:blipFill>
        <p:spPr>
          <a:xfrm>
            <a:off x="184664" y="1247122"/>
            <a:ext cx="1640909" cy="38324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E715AA-D4BC-EC49-8E45-71AA2D0953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3" r="66074" b="15471"/>
          <a:stretch/>
        </p:blipFill>
        <p:spPr>
          <a:xfrm>
            <a:off x="1965069" y="1276458"/>
            <a:ext cx="1515649" cy="38700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85C933-87FA-F24E-B244-4CCB9BD1B8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33" r="410" b="8083"/>
          <a:stretch/>
        </p:blipFill>
        <p:spPr>
          <a:xfrm>
            <a:off x="8245226" y="1247122"/>
            <a:ext cx="1653435" cy="42082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C4CD2C-9CD5-194B-9C1D-A8F6E92091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9" r="50022" b="29588"/>
          <a:stretch/>
        </p:blipFill>
        <p:spPr>
          <a:xfrm>
            <a:off x="3620214" y="1327193"/>
            <a:ext cx="1490598" cy="32236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06C448-398A-2F47-A150-88F817724F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97" r="33812" b="8083"/>
          <a:stretch/>
        </p:blipFill>
        <p:spPr>
          <a:xfrm>
            <a:off x="5170086" y="1247122"/>
            <a:ext cx="1528304" cy="42082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C72831-66BE-C241-A240-E88DBBD8DA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72" r="17806" b="8083"/>
          <a:stretch/>
        </p:blipFill>
        <p:spPr>
          <a:xfrm>
            <a:off x="6723250" y="1247122"/>
            <a:ext cx="1521976" cy="420822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81614EA-0881-6D4D-8CB0-8A006BAEC7BF}"/>
              </a:ext>
            </a:extLst>
          </p:cNvPr>
          <p:cNvSpPr/>
          <p:nvPr/>
        </p:nvSpPr>
        <p:spPr>
          <a:xfrm>
            <a:off x="208295" y="386606"/>
            <a:ext cx="3884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A Quick overview of SDLC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5414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E2EBD7-B63C-E44C-9815-78C99C260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604BC-1DD4-4A4A-A050-C27F66819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52" y="1068219"/>
            <a:ext cx="4551008" cy="341092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A0B72EB-8713-BF41-8E36-7C8DD346524B}"/>
              </a:ext>
            </a:extLst>
          </p:cNvPr>
          <p:cNvSpPr/>
          <p:nvPr/>
        </p:nvSpPr>
        <p:spPr>
          <a:xfrm>
            <a:off x="1395447" y="4883972"/>
            <a:ext cx="1717288" cy="1204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Planning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1696B7-01F6-8940-80F3-BCA97C82AA88}"/>
              </a:ext>
            </a:extLst>
          </p:cNvPr>
          <p:cNvSpPr/>
          <p:nvPr/>
        </p:nvSpPr>
        <p:spPr>
          <a:xfrm>
            <a:off x="4079116" y="4883972"/>
            <a:ext cx="1717288" cy="1204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Develop</a:t>
            </a:r>
            <a:endParaRPr lang="en-US" sz="24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40CB735-EA24-D148-A9D9-DFF002C56D55}"/>
              </a:ext>
            </a:extLst>
          </p:cNvPr>
          <p:cNvSpPr/>
          <p:nvPr/>
        </p:nvSpPr>
        <p:spPr>
          <a:xfrm>
            <a:off x="6762785" y="4883972"/>
            <a:ext cx="1717288" cy="1204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Deploy</a:t>
            </a:r>
            <a:endParaRPr lang="en-US" sz="2400" dirty="0"/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C080F23C-E331-F041-8017-6767BC117FB7}"/>
              </a:ext>
            </a:extLst>
          </p:cNvPr>
          <p:cNvSpPr/>
          <p:nvPr/>
        </p:nvSpPr>
        <p:spPr>
          <a:xfrm>
            <a:off x="3211305" y="5162752"/>
            <a:ext cx="769240" cy="64677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4824B37B-E729-594C-B38C-1B2CF06EC4A5}"/>
              </a:ext>
            </a:extLst>
          </p:cNvPr>
          <p:cNvSpPr/>
          <p:nvPr/>
        </p:nvSpPr>
        <p:spPr>
          <a:xfrm>
            <a:off x="5915292" y="5162751"/>
            <a:ext cx="769240" cy="64677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5EFBCB-A18B-5544-958B-B7BB4A4A25AC}"/>
              </a:ext>
            </a:extLst>
          </p:cNvPr>
          <p:cNvSpPr/>
          <p:nvPr/>
        </p:nvSpPr>
        <p:spPr>
          <a:xfrm>
            <a:off x="208295" y="386606"/>
            <a:ext cx="35445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Waterfall Model (SDLC) </a:t>
            </a: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2CA238-6D96-1C47-B8E7-4D7F50AD4EAF}"/>
              </a:ext>
            </a:extLst>
          </p:cNvPr>
          <p:cNvSpPr/>
          <p:nvPr/>
        </p:nvSpPr>
        <p:spPr>
          <a:xfrm>
            <a:off x="4421393" y="1331435"/>
            <a:ext cx="49422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515"/>
                </a:solidFill>
              </a:rPr>
              <a:t>Tasks or activities into </a:t>
            </a:r>
            <a:r>
              <a:rPr lang="en-US" b="1" dirty="0">
                <a:solidFill>
                  <a:srgbClr val="151515"/>
                </a:solidFill>
              </a:rPr>
              <a:t>six to eight phases</a:t>
            </a:r>
            <a:endParaRPr lang="en-US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2E57C7-C961-6F40-A048-B1800DFFBB2B}"/>
              </a:ext>
            </a:extLst>
          </p:cNvPr>
          <p:cNvSpPr/>
          <p:nvPr/>
        </p:nvSpPr>
        <p:spPr>
          <a:xfrm>
            <a:off x="4421393" y="1963983"/>
            <a:ext cx="49422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515"/>
                </a:solidFill>
              </a:rPr>
              <a:t>Cultural Change to adopt Security planning</a:t>
            </a:r>
            <a:endParaRPr lang="en-U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363652-C527-9A43-92C5-3DAB63113CFD}"/>
              </a:ext>
            </a:extLst>
          </p:cNvPr>
          <p:cNvSpPr/>
          <p:nvPr/>
        </p:nvSpPr>
        <p:spPr>
          <a:xfrm>
            <a:off x="4451698" y="2547831"/>
            <a:ext cx="49422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515"/>
                </a:solidFill>
              </a:rPr>
              <a:t>Scope of the project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E9674C-B675-184A-9363-077AEAE80756}"/>
              </a:ext>
            </a:extLst>
          </p:cNvPr>
          <p:cNvSpPr/>
          <p:nvPr/>
        </p:nvSpPr>
        <p:spPr>
          <a:xfrm>
            <a:off x="4451698" y="3086777"/>
            <a:ext cx="49422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515"/>
                </a:solidFill>
              </a:rPr>
              <a:t>Functionality of the project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F40821-C304-C34D-9D5F-E91F1FAF7FA6}"/>
              </a:ext>
            </a:extLst>
          </p:cNvPr>
          <p:cNvSpPr/>
          <p:nvPr/>
        </p:nvSpPr>
        <p:spPr>
          <a:xfrm>
            <a:off x="4451698" y="3676276"/>
            <a:ext cx="49422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51515"/>
                </a:solidFill>
              </a:rPr>
              <a:t>Requirements of the project (Data, environment, </a:t>
            </a:r>
            <a:r>
              <a:rPr lang="en-US" dirty="0" err="1">
                <a:solidFill>
                  <a:srgbClr val="151515"/>
                </a:solidFill>
              </a:rPr>
              <a:t>etc</a:t>
            </a:r>
            <a:endParaRPr lang="en-US" b="1" dirty="0"/>
          </a:p>
        </p:txBody>
      </p:sp>
      <p:sp>
        <p:nvSpPr>
          <p:cNvPr id="16" name="Oval Callout 15">
            <a:extLst>
              <a:ext uri="{FF2B5EF4-FFF2-40B4-BE49-F238E27FC236}">
                <a16:creationId xmlns:a16="http://schemas.microsoft.com/office/drawing/2014/main" id="{C6C20E90-3F76-EB47-A7DB-0644047FE9A0}"/>
              </a:ext>
            </a:extLst>
          </p:cNvPr>
          <p:cNvSpPr/>
          <p:nvPr/>
        </p:nvSpPr>
        <p:spPr>
          <a:xfrm>
            <a:off x="8251115" y="2917163"/>
            <a:ext cx="1506071" cy="1082278"/>
          </a:xfrm>
          <a:prstGeom prst="wedgeEllipseCallo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Scope Creep</a:t>
            </a:r>
          </a:p>
        </p:txBody>
      </p:sp>
    </p:spTree>
    <p:extLst>
      <p:ext uri="{BB962C8B-B14F-4D97-AF65-F5344CB8AC3E}">
        <p14:creationId xmlns:p14="http://schemas.microsoft.com/office/powerpoint/2010/main" val="164141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/>
      <p:bldP spid="12" grpId="0"/>
      <p:bldP spid="13" grpId="0"/>
      <p:bldP spid="14" grpId="0"/>
      <p:bldP spid="15" grpId="0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1C8DF2-5D7A-2D42-AE26-F1D8CF5EB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5A75C-BA17-664C-9B58-3326D7AEE318}"/>
              </a:ext>
            </a:extLst>
          </p:cNvPr>
          <p:cNvSpPr txBox="1"/>
          <p:nvPr/>
        </p:nvSpPr>
        <p:spPr>
          <a:xfrm>
            <a:off x="422030" y="351692"/>
            <a:ext cx="6574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Why is Security Important in the SDLC?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326FA37-37A9-A04A-908E-0EE16235C2A2}"/>
              </a:ext>
            </a:extLst>
          </p:cNvPr>
          <p:cNvSpPr/>
          <p:nvPr/>
        </p:nvSpPr>
        <p:spPr>
          <a:xfrm>
            <a:off x="529772" y="1350476"/>
            <a:ext cx="7655223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Security related activities are deferred until the testing phase, which is late in the SDLC after most of the critical design and implementation has been completed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350AB6-13CF-6340-8477-F6BD21572A43}"/>
              </a:ext>
            </a:extLst>
          </p:cNvPr>
          <p:cNvSpPr/>
          <p:nvPr/>
        </p:nvSpPr>
        <p:spPr>
          <a:xfrm>
            <a:off x="2129348" y="3147133"/>
            <a:ext cx="1175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Shift Left</a:t>
            </a:r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BD334999-0F5D-0146-BC44-E44568265E32}"/>
              </a:ext>
            </a:extLst>
          </p:cNvPr>
          <p:cNvSpPr/>
          <p:nvPr/>
        </p:nvSpPr>
        <p:spPr>
          <a:xfrm>
            <a:off x="5743983" y="3794865"/>
            <a:ext cx="2104372" cy="78914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8E4561BF-292A-0941-9189-2A60811F21A1}"/>
              </a:ext>
            </a:extLst>
          </p:cNvPr>
          <p:cNvSpPr/>
          <p:nvPr/>
        </p:nvSpPr>
        <p:spPr>
          <a:xfrm rot="10800000">
            <a:off x="1501449" y="3794865"/>
            <a:ext cx="2104372" cy="78914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9B17A9-FCD8-3847-AF36-050134AD6CEE}"/>
              </a:ext>
            </a:extLst>
          </p:cNvPr>
          <p:cNvSpPr/>
          <p:nvPr/>
        </p:nvSpPr>
        <p:spPr>
          <a:xfrm>
            <a:off x="5831665" y="3147133"/>
            <a:ext cx="1295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Shift 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9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/>
      <p:bldP spid="10" grpId="0" animBg="1"/>
      <p:bldP spid="11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84" y="1471961"/>
            <a:ext cx="8484414" cy="451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4407-367F-BE40-9B0C-6C671B8948B7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Planning and Requirement Stage</a:t>
            </a:r>
          </a:p>
        </p:txBody>
      </p:sp>
      <p:pic>
        <p:nvPicPr>
          <p:cNvPr id="1025" name="Picture 1" descr="page124image50443680">
            <a:extLst>
              <a:ext uri="{FF2B5EF4-FFF2-40B4-BE49-F238E27FC236}">
                <a16:creationId xmlns:a16="http://schemas.microsoft.com/office/drawing/2014/main" id="{B0680B6A-8524-6F45-9962-48A86B0B9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84" y="1471961"/>
            <a:ext cx="4394125" cy="233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5DA655-47D6-0849-9506-AB5C5CFF3B0E}"/>
              </a:ext>
            </a:extLst>
          </p:cNvPr>
          <p:cNvSpPr/>
          <p:nvPr/>
        </p:nvSpPr>
        <p:spPr>
          <a:xfrm>
            <a:off x="5031409" y="1486370"/>
            <a:ext cx="494221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1515"/>
                </a:solidFill>
              </a:rPr>
              <a:t>Why should this </a:t>
            </a:r>
            <a:r>
              <a:rPr lang="en-US" sz="1600" b="1" dirty="0" err="1">
                <a:solidFill>
                  <a:srgbClr val="00B050"/>
                </a:solidFill>
              </a:rPr>
              <a:t>req</a:t>
            </a:r>
            <a:r>
              <a:rPr lang="en-US" sz="1600" dirty="0">
                <a:solidFill>
                  <a:srgbClr val="151515"/>
                </a:solidFill>
              </a:rPr>
              <a:t> be part of the system?</a:t>
            </a:r>
            <a:endParaRPr lang="en-US" sz="1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0A64D4-3D5A-B34B-B17B-D0BD84A6CEC6}"/>
              </a:ext>
            </a:extLst>
          </p:cNvPr>
          <p:cNvSpPr/>
          <p:nvPr/>
        </p:nvSpPr>
        <p:spPr>
          <a:xfrm>
            <a:off x="5031408" y="2146977"/>
            <a:ext cx="494221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1515"/>
                </a:solidFill>
              </a:rPr>
              <a:t>What are the constraints on this </a:t>
            </a:r>
            <a:r>
              <a:rPr lang="en-US" sz="1600" b="1" dirty="0">
                <a:solidFill>
                  <a:srgbClr val="00B050"/>
                </a:solidFill>
              </a:rPr>
              <a:t>requirement</a:t>
            </a:r>
            <a:r>
              <a:rPr lang="en-US" sz="1600" dirty="0">
                <a:solidFill>
                  <a:srgbClr val="151515"/>
                </a:solidFill>
              </a:rPr>
              <a:t>?</a:t>
            </a:r>
            <a:endParaRPr lang="en-US" sz="16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9DA7BD-AC97-7947-9F85-C72A6A116B6A}"/>
              </a:ext>
            </a:extLst>
          </p:cNvPr>
          <p:cNvSpPr/>
          <p:nvPr/>
        </p:nvSpPr>
        <p:spPr>
          <a:xfrm>
            <a:off x="5031408" y="2800297"/>
            <a:ext cx="494221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1515"/>
                </a:solidFill>
              </a:rPr>
              <a:t>What are the dependencies for this </a:t>
            </a:r>
            <a:r>
              <a:rPr lang="en-US" sz="1600" b="1" dirty="0">
                <a:solidFill>
                  <a:srgbClr val="00B050"/>
                </a:solidFill>
              </a:rPr>
              <a:t>requirement</a:t>
            </a:r>
            <a:r>
              <a:rPr lang="en-US" sz="1600" dirty="0">
                <a:solidFill>
                  <a:srgbClr val="151515"/>
                </a:solidFill>
              </a:rPr>
              <a:t>?</a:t>
            </a:r>
            <a:endParaRPr lang="en-US" sz="16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DD0411-2BE4-0E4F-87A3-11B4BC5F9386}"/>
              </a:ext>
            </a:extLst>
          </p:cNvPr>
          <p:cNvSpPr/>
          <p:nvPr/>
        </p:nvSpPr>
        <p:spPr>
          <a:xfrm>
            <a:off x="5031408" y="3492330"/>
            <a:ext cx="494221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51515"/>
                </a:solidFill>
              </a:rPr>
              <a:t>What are the stakeholders for this </a:t>
            </a:r>
            <a:r>
              <a:rPr lang="en-US" sz="1600" b="1" dirty="0">
                <a:solidFill>
                  <a:srgbClr val="00B050"/>
                </a:solidFill>
              </a:rPr>
              <a:t>requirement</a:t>
            </a:r>
            <a:r>
              <a:rPr lang="en-US" sz="1600" dirty="0">
                <a:solidFill>
                  <a:srgbClr val="151515"/>
                </a:solidFill>
              </a:rPr>
              <a:t>?</a:t>
            </a:r>
            <a:endParaRPr lang="en-US" sz="1600" b="1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394F6EF-C66E-AB49-9E14-220A720B3F1E}"/>
              </a:ext>
            </a:extLst>
          </p:cNvPr>
          <p:cNvSpPr/>
          <p:nvPr/>
        </p:nvSpPr>
        <p:spPr>
          <a:xfrm>
            <a:off x="1126715" y="5115362"/>
            <a:ext cx="1839558" cy="4392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What if?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95C8D-BCE3-F344-8C00-B441204829EC}"/>
              </a:ext>
            </a:extLst>
          </p:cNvPr>
          <p:cNvSpPr txBox="1"/>
          <p:nvPr/>
        </p:nvSpPr>
        <p:spPr>
          <a:xfrm>
            <a:off x="3668358" y="4660768"/>
            <a:ext cx="187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Fail Case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D8969D-DB43-DC46-9B38-1D3EC6B87F10}"/>
              </a:ext>
            </a:extLst>
          </p:cNvPr>
          <p:cNvSpPr txBox="1"/>
          <p:nvPr/>
        </p:nvSpPr>
        <p:spPr>
          <a:xfrm>
            <a:off x="3668357" y="5149693"/>
            <a:ext cx="187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Result of Failure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EC9119-828D-3741-A74B-1B8A6C3532B7}"/>
              </a:ext>
            </a:extLst>
          </p:cNvPr>
          <p:cNvSpPr txBox="1"/>
          <p:nvPr/>
        </p:nvSpPr>
        <p:spPr>
          <a:xfrm>
            <a:off x="3668357" y="5638618"/>
            <a:ext cx="2070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Associated Risks</a:t>
            </a:r>
          </a:p>
        </p:txBody>
      </p:sp>
    </p:spTree>
    <p:extLst>
      <p:ext uri="{BB962C8B-B14F-4D97-AF65-F5344CB8AC3E}">
        <p14:creationId xmlns:p14="http://schemas.microsoft.com/office/powerpoint/2010/main" val="40544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2" grpId="0" animBg="1"/>
      <p:bldP spid="8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0E0F26-AB07-D44C-9E3C-6CC0752E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8D80A6-9600-3148-BD1D-DF2A4B6615F4}"/>
              </a:ext>
            </a:extLst>
          </p:cNvPr>
          <p:cNvSpPr txBox="1"/>
          <p:nvPr/>
        </p:nvSpPr>
        <p:spPr>
          <a:xfrm>
            <a:off x="247426" y="484094"/>
            <a:ext cx="3399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Scenario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E39A12-12ED-D641-82C3-95F76C54B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339" y="2104382"/>
            <a:ext cx="5351259" cy="265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9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0E0F26-AB07-D44C-9E3C-6CC0752E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8D80A6-9600-3148-BD1D-DF2A4B6615F4}"/>
              </a:ext>
            </a:extLst>
          </p:cNvPr>
          <p:cNvSpPr txBox="1"/>
          <p:nvPr/>
        </p:nvSpPr>
        <p:spPr>
          <a:xfrm>
            <a:off x="247426" y="484094"/>
            <a:ext cx="3399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Scenario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E3ED21-8691-2F49-AFFA-91DAEC08F222}"/>
              </a:ext>
            </a:extLst>
          </p:cNvPr>
          <p:cNvSpPr txBox="1"/>
          <p:nvPr/>
        </p:nvSpPr>
        <p:spPr>
          <a:xfrm>
            <a:off x="1484554" y="2861533"/>
            <a:ext cx="7100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Network Interactions should follow a stateful pattern to allow traffic anomalies to be detected</a:t>
            </a:r>
          </a:p>
        </p:txBody>
      </p:sp>
    </p:spTree>
    <p:extLst>
      <p:ext uri="{BB962C8B-B14F-4D97-AF65-F5344CB8AC3E}">
        <p14:creationId xmlns:p14="http://schemas.microsoft.com/office/powerpoint/2010/main" val="107924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1109725</TotalTime>
  <Words>276</Words>
  <Application>Microsoft Macintosh PowerPoint</Application>
  <PresentationFormat>A4 Paper (210x297 mm)</PresentationFormat>
  <Paragraphs>85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Adobe Gothic Std B</vt:lpstr>
      <vt:lpstr>Arial MT</vt:lpstr>
      <vt:lpstr>等线</vt:lpstr>
      <vt:lpstr>等线</vt:lpstr>
      <vt:lpstr>等线 Light</vt:lpstr>
      <vt:lpstr>SimSun</vt:lpstr>
      <vt:lpstr>Arial</vt:lpstr>
      <vt:lpstr>Calibri</vt:lpstr>
      <vt:lpstr>Lucida Sans Unicode</vt:lpstr>
      <vt:lpstr>Times New Roman</vt:lpstr>
      <vt:lpstr>Trebuchet MS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657</cp:revision>
  <cp:lastPrinted>2025-01-23T10:52:12Z</cp:lastPrinted>
  <dcterms:created xsi:type="dcterms:W3CDTF">2018-07-17T04:46:00Z</dcterms:created>
  <dcterms:modified xsi:type="dcterms:W3CDTF">2026-01-21T10:34:13Z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