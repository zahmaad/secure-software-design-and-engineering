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317" r:id="rId3"/>
    <p:sldId id="318" r:id="rId4"/>
    <p:sldId id="319" r:id="rId5"/>
    <p:sldId id="316" r:id="rId6"/>
    <p:sldId id="266" r:id="rId7"/>
    <p:sldId id="259" r:id="rId8"/>
    <p:sldId id="294" r:id="rId9"/>
    <p:sldId id="320" r:id="rId10"/>
    <p:sldId id="296" r:id="rId11"/>
    <p:sldId id="308" r:id="rId12"/>
    <p:sldId id="309" r:id="rId13"/>
    <p:sldId id="311" r:id="rId14"/>
    <p:sldId id="312" r:id="rId15"/>
    <p:sldId id="260" r:id="rId16"/>
    <p:sldId id="310" r:id="rId17"/>
    <p:sldId id="261" r:id="rId18"/>
    <p:sldId id="307" r:id="rId19"/>
    <p:sldId id="313" r:id="rId20"/>
    <p:sldId id="262" r:id="rId21"/>
    <p:sldId id="314" r:id="rId22"/>
    <p:sldId id="263" r:id="rId23"/>
    <p:sldId id="315" r:id="rId24"/>
    <p:sldId id="321" r:id="rId25"/>
    <p:sldId id="322" r:id="rId26"/>
    <p:sldId id="323" r:id="rId27"/>
    <p:sldId id="324" r:id="rId28"/>
    <p:sldId id="325" r:id="rId29"/>
    <p:sldId id="326" r:id="rId30"/>
    <p:sldId id="295" r:id="rId31"/>
    <p:sldId id="267" r:id="rId32"/>
    <p:sldId id="327" r:id="rId33"/>
    <p:sldId id="302" r:id="rId34"/>
    <p:sldId id="300" r:id="rId35"/>
    <p:sldId id="297" r:id="rId36"/>
    <p:sldId id="328" r:id="rId37"/>
    <p:sldId id="29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/>
    <p:restoredTop sz="92237"/>
  </p:normalViewPr>
  <p:slideViewPr>
    <p:cSldViewPr snapToGrid="0" snapToObjects="1">
      <p:cViewPr varScale="1">
        <p:scale>
          <a:sx n="57" d="100"/>
          <a:sy n="57" d="100"/>
        </p:scale>
        <p:origin x="6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27F00-8DDB-854F-9A9B-0B5CA0EA011E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3F45D-8F89-AC43-B631-064C58CFD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3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4E94-4C7A-FF46-95A2-BAB490E67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E1FF62-30B0-3A4D-87F7-3BAC8B09E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B8255-1A10-744C-B16D-B7612930B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EFA13-DFC1-DD4C-B721-1CDC66EBBEBB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AEC37-FD7E-F440-9FEB-40D8A6851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2CD25-8137-864C-BDFF-5ABA052B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95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44BF6-2E63-BE4F-BD2C-89CA650A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21284-6452-A846-8E43-F0038979B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BB633-8144-DD4B-9949-54F742E84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B8607-C11A-EB40-8BE3-2604EEC78AD8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9F0FD-9DBB-254A-B1F2-459B36AD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86DE5-1FF2-4D42-A1B0-B955CEBA9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34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E8D2-74A0-0848-B04E-7692956BA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E49A6-5785-C44F-97E8-3C55117F0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CB75C-1310-714F-BA0A-7D24EE35E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76F90-0D24-C749-82EA-E4CAF5528564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A4D66-8850-0144-A3AB-D35064C1F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471D-2C49-814D-85E7-71FAD0E9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62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6A13-3727-794B-8D85-21FC6845F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E187E-A354-AE45-9B29-0D2E6961C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0E877-9A5D-8842-8531-5C50F6AD9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1D10B-544C-104B-BAB4-A01C9B68B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F4AA0-F0B2-694C-8D9B-2F2BE183273C}" type="datetime1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E1B89-7A88-1D40-8839-0F6304265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ABEAF1-76CE-534A-BD15-38A59BCFA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040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F0D79-3208-6A45-B5C5-03C649237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4AF15-6C73-0543-8F1E-203120E0F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41EFE-AE14-B248-9862-FC006958E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DB5DF-FDFA-5945-B8FF-BADD2A755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0DDC14-2A5D-1A46-885D-FCC8C240E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CEBC8-32EE-5E4D-8413-C51873197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A3D7-D1F2-A241-A60A-352468E4C080}" type="datetime1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68C062-F565-244D-912A-AD74EAE69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99EF08-C3C9-EF43-A6FA-58C6E9C46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95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AA88-E2C0-2E4A-94A2-5A6F6DE42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5D0489-D38A-7344-AC54-15B737F9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C9FA2-C831-1440-992E-341EFD75E1AE}" type="datetime1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3741D-1402-C347-BFC7-F75E12677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755C0-C30D-374B-8E9F-F3CA1E6D9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616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A00CDB-5713-A147-82A0-CF8909D24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24791-C3DF-F940-9776-581670EB4AE4}" type="datetime1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6DF59-33D8-C54D-AB86-49A5855CB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3A38A-5456-234E-A015-B5B1BC07C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64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19A86-70DD-2144-B300-606FBE249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CC533-7E62-3040-B9DA-874C337C3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87542-D6DA-3A49-A7D5-55B7618A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F7CE4-47E2-364B-B5F1-497CB20E0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C2F6-6BBB-E34B-A840-C3C5FEDE7F7C}" type="datetime1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B11C6-C839-6B40-B229-E1F9612B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41393-5AFB-C74F-84CB-13B3B4C8A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043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A2338-BEA2-6749-BBCE-D1BEA96C9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5B1F7-9C57-5143-8509-92BD66102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459050-6BB2-D24D-9B9B-DBE1AC423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AE7EB-2710-0D41-A4C6-BCF57E6D7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53C3B-6169-6545-984C-46BCA26B61D8}" type="datetime1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2F61E-BC78-EF4D-B67A-8979F922F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8C5B9-AB79-6546-9886-AABFF806B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062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A0DAF-FBDA-CC49-B4DD-BC344AEF4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61B40B-7E46-8640-93B5-EBFA96BC8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CC380-A0BE-D04A-AF1D-F9EED398F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C3DF-CD20-BF41-AB48-6542DA9874BD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AA343-CD84-A94D-8A59-AB036F7E5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63D64-C982-6C46-B86A-3E24C9E68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4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3B42FC-A315-1042-8AB8-F97321B4C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98D192-9F87-6147-B0F8-C404445C2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7FC61-5AD2-4246-917E-FD5891D40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622A-2ACB-B84D-B429-2CA907D3B4F2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F80DF-6D5A-3747-B76C-802BBF17A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9896-CE34-6049-8878-806036AA8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22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24E30-74EB-3742-8BED-911B166AC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EB106-A6FA-E345-AA09-158BA8321B3D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7D1A1-CE67-884B-83A6-DE942DF1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Dr. Zubair Ahmad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E41D2-9470-D54B-8A3B-10A732BBD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655F8-2492-1846-8425-4B01E38DDB0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3F4A4C-69DE-2A46-88C3-665A0B2C9AD3}"/>
              </a:ext>
            </a:extLst>
          </p:cNvPr>
          <p:cNvCxnSpPr>
            <a:cxnSpLocks/>
          </p:cNvCxnSpPr>
          <p:nvPr userDrawn="1"/>
        </p:nvCxnSpPr>
        <p:spPr>
          <a:xfrm>
            <a:off x="0" y="868680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893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25C873-53A6-3648-AA35-E0283CBA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31A18F-6452-2343-A628-7ED1E981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1F723C-7E4B-924E-A7BA-EEEEFA6BD726}"/>
              </a:ext>
            </a:extLst>
          </p:cNvPr>
          <p:cNvSpPr txBox="1"/>
          <p:nvPr/>
        </p:nvSpPr>
        <p:spPr>
          <a:xfrm>
            <a:off x="2725688" y="2870516"/>
            <a:ext cx="68646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</a:rPr>
              <a:t>Machine Learning Under Attack: Threats and Exploits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6C7FE9-E85D-3440-938E-385CE3F2E812}"/>
              </a:ext>
            </a:extLst>
          </p:cNvPr>
          <p:cNvSpPr txBox="1"/>
          <p:nvPr/>
        </p:nvSpPr>
        <p:spPr>
          <a:xfrm>
            <a:off x="2756452" y="440261"/>
            <a:ext cx="6833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Secure Software Design and Development CY321</a:t>
            </a:r>
          </a:p>
        </p:txBody>
      </p:sp>
    </p:spTree>
    <p:extLst>
      <p:ext uri="{BB962C8B-B14F-4D97-AF65-F5344CB8AC3E}">
        <p14:creationId xmlns:p14="http://schemas.microsoft.com/office/powerpoint/2010/main" val="2250494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58AF87-DA9B-944A-83A7-FB4F197E9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F02FE-426F-9D46-9483-2DAF8381B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2</a:t>
            </a:fld>
            <a:endParaRPr lang="en-US"/>
          </a:p>
        </p:txBody>
      </p:sp>
      <p:pic>
        <p:nvPicPr>
          <p:cNvPr id="6" name="object 47">
            <a:extLst>
              <a:ext uri="{FF2B5EF4-FFF2-40B4-BE49-F238E27FC236}">
                <a16:creationId xmlns:a16="http://schemas.microsoft.com/office/drawing/2014/main" id="{8762B262-AC3F-AB43-8B4D-157E81C35A2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0117" y="2338755"/>
            <a:ext cx="8831766" cy="2077128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788B06D7-C6E0-B34F-B1DE-C4CB4A985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2" y="36230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800" b="1" spc="-10" dirty="0">
                <a:latin typeface="Arial"/>
                <a:cs typeface="Arial"/>
              </a:rPr>
              <a:t>ML Attacks</a:t>
            </a:r>
            <a:endParaRPr lang="en-US" sz="28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1106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96ADD-5868-4240-BE60-BAD974724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7D848-6D55-2A40-9B8D-BCE95E8D3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3</a:t>
            </a:fld>
            <a:endParaRPr lang="en-US"/>
          </a:p>
        </p:txBody>
      </p:sp>
      <p:pic>
        <p:nvPicPr>
          <p:cNvPr id="6" name="object 47">
            <a:extLst>
              <a:ext uri="{FF2B5EF4-FFF2-40B4-BE49-F238E27FC236}">
                <a16:creationId xmlns:a16="http://schemas.microsoft.com/office/drawing/2014/main" id="{6D1467B7-B86A-5340-9F4F-665EF6A2F6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176" y="2408664"/>
            <a:ext cx="7083058" cy="200722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BB85019B-543E-0B42-BB24-A46A70E26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2" y="36230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800" b="1" spc="-10" dirty="0">
                <a:latin typeface="Arial"/>
                <a:cs typeface="Arial"/>
              </a:rPr>
              <a:t>ML Attacks</a:t>
            </a:r>
            <a:endParaRPr lang="en-US" sz="28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3514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E003A9-80C4-6D4F-9C0C-B6001236A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F41AC0-0DF4-B043-A611-7F83BB24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4</a:t>
            </a:fld>
            <a:endParaRPr lang="en-US"/>
          </a:p>
        </p:txBody>
      </p:sp>
      <p:pic>
        <p:nvPicPr>
          <p:cNvPr id="6" name="object 47">
            <a:extLst>
              <a:ext uri="{FF2B5EF4-FFF2-40B4-BE49-F238E27FC236}">
                <a16:creationId xmlns:a16="http://schemas.microsoft.com/office/drawing/2014/main" id="{9017F348-8FE2-214C-A085-C0B4B0ED56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2030" y="1851102"/>
            <a:ext cx="9567746" cy="3323064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AAA9B148-B3C9-5640-8EF3-BD2953C35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2" y="36230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800" b="1" spc="-10" dirty="0">
                <a:latin typeface="Arial"/>
                <a:cs typeface="Arial"/>
              </a:rPr>
              <a:t>ML Attacks</a:t>
            </a:r>
            <a:endParaRPr lang="en-US" sz="2800" b="1" dirty="0"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69025D-58D8-FA44-90EC-7A1906911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828" y="3695699"/>
            <a:ext cx="2474686" cy="185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79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B59D9F-7122-BB40-8B19-CD3096ABB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F24EF-0954-7A40-B967-ED1A6D63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587DC5-F542-884E-9650-4CE8EA673CA2}"/>
              </a:ext>
            </a:extLst>
          </p:cNvPr>
          <p:cNvSpPr/>
          <p:nvPr/>
        </p:nvSpPr>
        <p:spPr>
          <a:xfrm>
            <a:off x="957943" y="1197152"/>
            <a:ext cx="849085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2015, researchers showed that by adding </a:t>
            </a:r>
            <a:r>
              <a:rPr lang="en-US" b="1" dirty="0">
                <a:solidFill>
                  <a:srgbClr val="FF0000"/>
                </a:solidFill>
              </a:rPr>
              <a:t>imperceptible noise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to an image of a panda, a state-of-the-art ML model confidently classified it as a gibbon</a:t>
            </a:r>
            <a:r>
              <a:rPr lang="en-US" b="1" dirty="0"/>
              <a:t>, </a:t>
            </a:r>
            <a:r>
              <a:rPr lang="en-US" dirty="0"/>
              <a:t>with over 99% confidence.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a human, the image was unchanged.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the model, reality was rewritten.</a:t>
            </a:r>
          </a:p>
          <a:p>
            <a:endParaRPr lang="en-US" dirty="0"/>
          </a:p>
          <a:p>
            <a:r>
              <a:rPr lang="en-US" dirty="0"/>
              <a:t>The important part is not </a:t>
            </a:r>
            <a:r>
              <a:rPr lang="en-US" i="1" dirty="0"/>
              <a:t>that</a:t>
            </a:r>
            <a:r>
              <a:rPr lang="en-US" dirty="0"/>
              <a:t> it failed, but </a:t>
            </a:r>
            <a:r>
              <a:rPr lang="en-US" b="1" dirty="0">
                <a:solidFill>
                  <a:srgbClr val="FF0000"/>
                </a:solidFill>
              </a:rPr>
              <a:t>how confidently wrong it was</a:t>
            </a:r>
            <a:r>
              <a:rPr lang="en-US" dirty="0"/>
              <a:t>.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FD95A24F-0998-0F45-900A-8EAB53892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2" y="36230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800" b="1" spc="-10" dirty="0">
                <a:latin typeface="Arial"/>
                <a:cs typeface="Arial"/>
              </a:rPr>
              <a:t>ML Attacks</a:t>
            </a:r>
            <a:endParaRPr lang="en-US" sz="28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676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B9FA9-611D-954E-A91B-726C4BE99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6809F-481D-C04E-8F6F-53FC93818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A3A8DC93-AE74-CD43-8719-2798564FA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2" y="36230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800" b="1" spc="-10" dirty="0">
                <a:latin typeface="Arial"/>
                <a:cs typeface="Arial"/>
              </a:rPr>
              <a:t>ML Attacks</a:t>
            </a:r>
            <a:endParaRPr lang="en-US" sz="2800" b="1" dirty="0">
              <a:latin typeface="Arial"/>
              <a:cs typeface="Arial"/>
            </a:endParaRPr>
          </a:p>
        </p:txBody>
      </p:sp>
      <p:pic>
        <p:nvPicPr>
          <p:cNvPr id="7" name="object 47">
            <a:extLst>
              <a:ext uri="{FF2B5EF4-FFF2-40B4-BE49-F238E27FC236}">
                <a16:creationId xmlns:a16="http://schemas.microsoft.com/office/drawing/2014/main" id="{B59B8957-6EA5-2745-B928-72411C1F3A7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0380" y="1672683"/>
            <a:ext cx="9054791" cy="343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2DFECD-9602-5543-88DB-7B1E30DFA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97E7C-6F79-DE41-9D04-B958328C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7</a:t>
            </a:fld>
            <a:endParaRPr lang="en-US"/>
          </a:p>
        </p:txBody>
      </p:sp>
      <p:pic>
        <p:nvPicPr>
          <p:cNvPr id="8" name="object 47">
            <a:extLst>
              <a:ext uri="{FF2B5EF4-FFF2-40B4-BE49-F238E27FC236}">
                <a16:creationId xmlns:a16="http://schemas.microsoft.com/office/drawing/2014/main" id="{E28EA446-ED29-9D46-8520-BAC942CFFE9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9590" y="1382751"/>
            <a:ext cx="8140390" cy="3969834"/>
          </a:xfrm>
          <a:prstGeom prst="rect">
            <a:avLst/>
          </a:prstGeom>
        </p:spPr>
      </p:pic>
      <p:sp>
        <p:nvSpPr>
          <p:cNvPr id="6" name="TextBox 10">
            <a:extLst>
              <a:ext uri="{FF2B5EF4-FFF2-40B4-BE49-F238E27FC236}">
                <a16:creationId xmlns:a16="http://schemas.microsoft.com/office/drawing/2014/main" id="{B020398F-A819-2B42-8DBF-CA14F4FB6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2" y="36230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800" b="1" spc="-10" dirty="0">
                <a:latin typeface="Arial"/>
                <a:cs typeface="Arial"/>
              </a:rPr>
              <a:t>ML Attacks</a:t>
            </a:r>
            <a:endParaRPr lang="en-US" sz="28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610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F3791-D77B-224B-A6E3-864908D74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B2BF5-D6E8-F240-B640-55D21E9C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8</a:t>
            </a:fld>
            <a:endParaRPr lang="en-US"/>
          </a:p>
        </p:txBody>
      </p:sp>
      <p:pic>
        <p:nvPicPr>
          <p:cNvPr id="6" name="object 47">
            <a:extLst>
              <a:ext uri="{FF2B5EF4-FFF2-40B4-BE49-F238E27FC236}">
                <a16:creationId xmlns:a16="http://schemas.microsoft.com/office/drawing/2014/main" id="{185EBCFC-6389-1149-A3F8-DED0EB2CB31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9688" y="1159727"/>
            <a:ext cx="8452624" cy="359069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0340F1-90A4-1C41-9FE1-A36062FC206E}"/>
              </a:ext>
            </a:extLst>
          </p:cNvPr>
          <p:cNvSpPr/>
          <p:nvPr/>
        </p:nvSpPr>
        <p:spPr>
          <a:xfrm>
            <a:off x="1286108" y="5230218"/>
            <a:ext cx="10067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“In traditional software, we attack code. In ML, we attack </a:t>
            </a:r>
            <a:r>
              <a:rPr lang="en-US" u="sng" dirty="0">
                <a:solidFill>
                  <a:srgbClr val="C00000"/>
                </a:solidFill>
              </a:rPr>
              <a:t>data, models, and learning processes</a:t>
            </a:r>
            <a:r>
              <a:rPr lang="en-US" dirty="0"/>
              <a:t>.”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3BEAE726-9B6C-9B40-B4E0-69D0E0BBA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2" y="36230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800" b="1" spc="-10" dirty="0">
                <a:latin typeface="Arial"/>
                <a:cs typeface="Arial"/>
              </a:rPr>
              <a:t>ML Attacks</a:t>
            </a:r>
            <a:endParaRPr lang="en-US" sz="2800" b="1" dirty="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C71FA9-ACF2-3242-B912-BE61EDE4227E}"/>
              </a:ext>
            </a:extLst>
          </p:cNvPr>
          <p:cNvSpPr/>
          <p:nvPr/>
        </p:nvSpPr>
        <p:spPr>
          <a:xfrm>
            <a:off x="1382486" y="5609482"/>
            <a:ext cx="9753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I change one pixel in an image, you won’t notice, but the model might completely change its decision.</a:t>
            </a:r>
          </a:p>
        </p:txBody>
      </p:sp>
    </p:spTree>
    <p:extLst>
      <p:ext uri="{BB962C8B-B14F-4D97-AF65-F5344CB8AC3E}">
        <p14:creationId xmlns:p14="http://schemas.microsoft.com/office/powerpoint/2010/main" val="1920249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DF4738-8DB4-3344-8C8B-A2ADFF2FD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50E713-D00A-E74F-88E8-75FFC950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3DCB2EE6-A496-194A-A82E-2B452DDC2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2" y="36230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800" b="1" spc="-10" dirty="0">
                <a:latin typeface="Arial"/>
                <a:cs typeface="Arial"/>
              </a:rPr>
              <a:t>ML Attacks</a:t>
            </a:r>
            <a:endParaRPr lang="en-US" sz="2800" b="1" dirty="0">
              <a:latin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6B7674-4752-D64A-A7FC-F9AC4D0D7D91}"/>
              </a:ext>
            </a:extLst>
          </p:cNvPr>
          <p:cNvSpPr/>
          <p:nvPr/>
        </p:nvSpPr>
        <p:spPr>
          <a:xfrm>
            <a:off x="1330058" y="1756650"/>
            <a:ext cx="26807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Attacker</a:t>
            </a:r>
            <a:r>
              <a:rPr lang="en-US" sz="2800" b="1" dirty="0"/>
              <a:t> Goals??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9F27EE-5E08-B647-A561-DC0ECFF3F3E5}"/>
              </a:ext>
            </a:extLst>
          </p:cNvPr>
          <p:cNvSpPr/>
          <p:nvPr/>
        </p:nvSpPr>
        <p:spPr>
          <a:xfrm>
            <a:off x="1330058" y="2800389"/>
            <a:ext cx="35043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Attacker</a:t>
            </a:r>
            <a:r>
              <a:rPr lang="en-US" sz="2800" b="1" dirty="0"/>
              <a:t> Knowledge??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78DBF0-3663-CE4B-8E54-AC2680AF232B}"/>
              </a:ext>
            </a:extLst>
          </p:cNvPr>
          <p:cNvSpPr/>
          <p:nvPr/>
        </p:nvSpPr>
        <p:spPr>
          <a:xfrm>
            <a:off x="1330058" y="3841428"/>
            <a:ext cx="35832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Attacker</a:t>
            </a:r>
            <a:r>
              <a:rPr lang="en-US" sz="2800" b="1" dirty="0"/>
              <a:t> Capabilities??</a:t>
            </a:r>
          </a:p>
        </p:txBody>
      </p:sp>
    </p:spTree>
    <p:extLst>
      <p:ext uri="{BB962C8B-B14F-4D97-AF65-F5344CB8AC3E}">
        <p14:creationId xmlns:p14="http://schemas.microsoft.com/office/powerpoint/2010/main" val="221707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B9FA9-611D-954E-A91B-726C4BE99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6809F-481D-C04E-8F6F-53FC93818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6CA9BED5-33B7-0F47-A4AE-37636CBF9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2" y="36230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800" b="1" spc="-10" dirty="0">
                <a:latin typeface="Arial"/>
                <a:cs typeface="Arial"/>
              </a:rPr>
              <a:t>Evasion</a:t>
            </a:r>
            <a:endParaRPr lang="en-US" sz="2800" b="1" dirty="0">
              <a:latin typeface="Arial"/>
              <a:cs typeface="Arial"/>
            </a:endParaRPr>
          </a:p>
        </p:txBody>
      </p:sp>
      <p:pic>
        <p:nvPicPr>
          <p:cNvPr id="7" name="object 51">
            <a:extLst>
              <a:ext uri="{FF2B5EF4-FFF2-40B4-BE49-F238E27FC236}">
                <a16:creationId xmlns:a16="http://schemas.microsoft.com/office/drawing/2014/main" id="{12DE209C-6BD4-D543-A6E6-704D6000118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0449" y="3751583"/>
            <a:ext cx="8854067" cy="22548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8E292FE-0283-ED42-8B5A-74B91922DB5A}"/>
              </a:ext>
            </a:extLst>
          </p:cNvPr>
          <p:cNvSpPr/>
          <p:nvPr/>
        </p:nvSpPr>
        <p:spPr>
          <a:xfrm>
            <a:off x="990599" y="1184234"/>
            <a:ext cx="92239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An adversary crafts an adversarial example to evade detection, such as a spam email being incorrectly classified as legitimate.</a:t>
            </a:r>
            <a:br>
              <a:rPr lang="en-US" dirty="0"/>
            </a:br>
            <a:r>
              <a:rPr lang="en-US" b="1" dirty="0"/>
              <a:t>Goal:</a:t>
            </a:r>
            <a:r>
              <a:rPr lang="en-US" dirty="0"/>
              <a:t> Violation of integrity.</a:t>
            </a:r>
            <a:br>
              <a:rPr lang="en-US" dirty="0"/>
            </a:br>
            <a:r>
              <a:rPr lang="en-US" b="1" dirty="0"/>
              <a:t>Threat model:</a:t>
            </a:r>
            <a:r>
              <a:rPr lang="en-US" dirty="0"/>
              <a:t> The adversary is able to submit inputs to the model.</a:t>
            </a:r>
          </a:p>
        </p:txBody>
      </p:sp>
    </p:spTree>
    <p:extLst>
      <p:ext uri="{BB962C8B-B14F-4D97-AF65-F5344CB8AC3E}">
        <p14:creationId xmlns:p14="http://schemas.microsoft.com/office/powerpoint/2010/main" val="1467876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B9FA9-611D-954E-A91B-726C4BE99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6809F-481D-C04E-8F6F-53FC93818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6CA9BED5-33B7-0F47-A4AE-37636CBF9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2" y="36230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800" b="1" spc="-10" dirty="0">
                <a:latin typeface="Arial"/>
                <a:cs typeface="Arial"/>
              </a:rPr>
              <a:t>Evasion</a:t>
            </a:r>
            <a:endParaRPr lang="en-US" sz="2800" b="1" dirty="0">
              <a:latin typeface="Arial"/>
              <a:cs typeface="Arial"/>
            </a:endParaRPr>
          </a:p>
        </p:txBody>
      </p:sp>
      <p:pic>
        <p:nvPicPr>
          <p:cNvPr id="7" name="object 51">
            <a:extLst>
              <a:ext uri="{FF2B5EF4-FFF2-40B4-BE49-F238E27FC236}">
                <a16:creationId xmlns:a16="http://schemas.microsoft.com/office/drawing/2014/main" id="{12DE209C-6BD4-D543-A6E6-704D6000118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0449" y="3751583"/>
            <a:ext cx="8854067" cy="225487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7004A4-23FD-1C4D-961B-59FEC1A504F8}"/>
              </a:ext>
            </a:extLst>
          </p:cNvPr>
          <p:cNvSpPr/>
          <p:nvPr/>
        </p:nvSpPr>
        <p:spPr>
          <a:xfrm>
            <a:off x="869441" y="1185147"/>
            <a:ext cx="35520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30024"/>
                </a:solidFill>
                <a:latin typeface="Source Serif 4"/>
              </a:rPr>
              <a:t>Input perturbation attacks</a:t>
            </a:r>
            <a:endParaRPr lang="en-US" sz="2400" b="1" i="0" dirty="0">
              <a:solidFill>
                <a:srgbClr val="030024"/>
              </a:solidFill>
              <a:effectLst/>
              <a:latin typeface="Source Serif 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FA6BC1-EF34-3C46-981B-E9725BC59C31}"/>
              </a:ext>
            </a:extLst>
          </p:cNvPr>
          <p:cNvSpPr/>
          <p:nvPr/>
        </p:nvSpPr>
        <p:spPr>
          <a:xfrm>
            <a:off x="869441" y="2018791"/>
            <a:ext cx="2954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30024"/>
                </a:solidFill>
                <a:latin typeface="Source Serif 4"/>
              </a:rPr>
              <a:t>Feature-space attacks</a:t>
            </a:r>
            <a:endParaRPr lang="en-US" sz="2400" b="1" i="0" dirty="0">
              <a:solidFill>
                <a:srgbClr val="030024"/>
              </a:solidFill>
              <a:effectLst/>
              <a:latin typeface="Source Serif 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D83372-3956-8C4F-9EE5-1DFB3D0726D0}"/>
              </a:ext>
            </a:extLst>
          </p:cNvPr>
          <p:cNvSpPr/>
          <p:nvPr/>
        </p:nvSpPr>
        <p:spPr>
          <a:xfrm>
            <a:off x="900740" y="2884141"/>
            <a:ext cx="32281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30024"/>
                </a:solidFill>
                <a:latin typeface="Source Serif 4"/>
              </a:rPr>
              <a:t>Model inversion attacks</a:t>
            </a:r>
            <a:endParaRPr lang="en-US" sz="2400" b="1" i="0" dirty="0">
              <a:solidFill>
                <a:srgbClr val="030024"/>
              </a:solidFill>
              <a:effectLst/>
              <a:latin typeface="Source Serif 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F011C6-E733-6B4B-85CF-A0CD0FA3292F}"/>
              </a:ext>
            </a:extLst>
          </p:cNvPr>
          <p:cNvSpPr/>
          <p:nvPr/>
        </p:nvSpPr>
        <p:spPr>
          <a:xfrm>
            <a:off x="4720683" y="108243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50507D"/>
                </a:solidFill>
                <a:latin typeface="DM Sans"/>
              </a:rPr>
              <a:t>Involve modifying the input data to evade detection or classification by the model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5FD26F-5E47-034D-BAE8-2495944FC52C}"/>
              </a:ext>
            </a:extLst>
          </p:cNvPr>
          <p:cNvSpPr/>
          <p:nvPr/>
        </p:nvSpPr>
        <p:spPr>
          <a:xfrm>
            <a:off x="4681699" y="201879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50507D"/>
                </a:solidFill>
                <a:latin typeface="DM Sans"/>
              </a:rPr>
              <a:t>Involve modifying the features used by the model to make its predictions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B14CB5-94B8-8544-9D85-76A517620DEE}"/>
              </a:ext>
            </a:extLst>
          </p:cNvPr>
          <p:cNvSpPr/>
          <p:nvPr/>
        </p:nvSpPr>
        <p:spPr>
          <a:xfrm>
            <a:off x="4720683" y="281522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50507D"/>
                </a:solidFill>
                <a:latin typeface="DM Sans"/>
              </a:rPr>
              <a:t>Involve using the output of a model to infer some of its parameters or 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342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B9FA9-611D-954E-A91B-726C4BE99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6809F-481D-C04E-8F6F-53FC93818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6CA9BED5-33B7-0F47-A4AE-37636CBF9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2" y="36230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800" b="1" spc="-10" dirty="0">
                <a:latin typeface="Arial"/>
                <a:cs typeface="Arial"/>
              </a:rPr>
              <a:t>Evasion</a:t>
            </a:r>
            <a:endParaRPr lang="en-US" sz="2800" b="1" dirty="0">
              <a:latin typeface="Arial"/>
              <a:cs typeface="Arial"/>
            </a:endParaRPr>
          </a:p>
        </p:txBody>
      </p:sp>
      <p:pic>
        <p:nvPicPr>
          <p:cNvPr id="7" name="object 51">
            <a:extLst>
              <a:ext uri="{FF2B5EF4-FFF2-40B4-BE49-F238E27FC236}">
                <a16:creationId xmlns:a16="http://schemas.microsoft.com/office/drawing/2014/main" id="{12DE209C-6BD4-D543-A6E6-704D6000118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0449" y="3751583"/>
            <a:ext cx="8854067" cy="22548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1BDCA39-84DD-1841-A3E7-2708E78E1603}"/>
              </a:ext>
            </a:extLst>
          </p:cNvPr>
          <p:cNvSpPr/>
          <p:nvPr/>
        </p:nvSpPr>
        <p:spPr>
          <a:xfrm>
            <a:off x="869136" y="1237114"/>
            <a:ext cx="31242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30024"/>
                </a:solidFill>
                <a:latin typeface="Source Serif 4"/>
              </a:rPr>
              <a:t>Gradient-based attacks</a:t>
            </a:r>
            <a:endParaRPr lang="en-US" sz="2400" b="1" i="0" dirty="0">
              <a:solidFill>
                <a:srgbClr val="030024"/>
              </a:solidFill>
              <a:effectLst/>
              <a:latin typeface="Source Serif 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B0A433-92FD-8647-B3AD-48A8774E0E2D}"/>
              </a:ext>
            </a:extLst>
          </p:cNvPr>
          <p:cNvSpPr/>
          <p:nvPr/>
        </p:nvSpPr>
        <p:spPr>
          <a:xfrm>
            <a:off x="869136" y="2034439"/>
            <a:ext cx="36767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30024"/>
                </a:solidFill>
                <a:latin typeface="Source Serif 4"/>
              </a:rPr>
              <a:t>Optimization-based attacks</a:t>
            </a:r>
            <a:endParaRPr lang="en-US" sz="2400" b="1" i="0" dirty="0">
              <a:solidFill>
                <a:srgbClr val="030024"/>
              </a:solidFill>
              <a:effectLst/>
              <a:latin typeface="Source Serif 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95AA6D-DF94-C545-8A81-C5E9D87A64E2}"/>
              </a:ext>
            </a:extLst>
          </p:cNvPr>
          <p:cNvSpPr/>
          <p:nvPr/>
        </p:nvSpPr>
        <p:spPr>
          <a:xfrm>
            <a:off x="869136" y="2753661"/>
            <a:ext cx="23857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30024"/>
                </a:solidFill>
                <a:latin typeface="Source Serif 4"/>
              </a:rPr>
              <a:t>Black-box attacks</a:t>
            </a:r>
            <a:endParaRPr lang="en-US" sz="2400" b="1" i="0" dirty="0">
              <a:solidFill>
                <a:srgbClr val="030024"/>
              </a:solidFill>
              <a:effectLst/>
              <a:latin typeface="Source Serif 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B8C089-1AB7-F54E-8A35-876BDD51169D}"/>
              </a:ext>
            </a:extLst>
          </p:cNvPr>
          <p:cNvSpPr/>
          <p:nvPr/>
        </p:nvSpPr>
        <p:spPr>
          <a:xfrm>
            <a:off x="4545912" y="105159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50507D"/>
                </a:solidFill>
                <a:latin typeface="DM Sans"/>
              </a:rPr>
              <a:t>By manipulating the input data according to the gradient of the loss function regarding the input to cause the model's output to change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410F56-D0F6-E74F-9F68-8173F5E8D3A5}"/>
              </a:ext>
            </a:extLst>
          </p:cNvPr>
          <p:cNvSpPr/>
          <p:nvPr/>
        </p:nvSpPr>
        <p:spPr>
          <a:xfrm>
            <a:off x="4545912" y="201584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50507D"/>
                </a:solidFill>
                <a:latin typeface="DM Sans"/>
              </a:rPr>
              <a:t> Involve finding the optimal input that maximizes the model's loss function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C602CF-19F1-4F46-A60C-938889348F84}"/>
              </a:ext>
            </a:extLst>
          </p:cNvPr>
          <p:cNvSpPr/>
          <p:nvPr/>
        </p:nvSpPr>
        <p:spPr>
          <a:xfrm>
            <a:off x="4545912" y="277746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50507D"/>
                </a:solidFill>
                <a:latin typeface="DM Sans"/>
              </a:rPr>
              <a:t>Involve attacking a model without access to its internal parameters or 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892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701BE4-9DD9-3E46-BDFF-5363E7808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99673-4282-3944-B4F2-243F1BD3B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77623E-E730-0D49-B88A-9501F3C066EC}"/>
              </a:ext>
            </a:extLst>
          </p:cNvPr>
          <p:cNvSpPr/>
          <p:nvPr/>
        </p:nvSpPr>
        <p:spPr>
          <a:xfrm>
            <a:off x="527824" y="1194669"/>
            <a:ext cx="85046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Large datasets are expensive to generate</a:t>
            </a:r>
          </a:p>
          <a:p>
            <a:endParaRPr lang="en-US" dirty="0"/>
          </a:p>
          <a:p>
            <a:r>
              <a:rPr lang="en-US" dirty="0"/>
              <a:t>It is common practice to use training examples sourced from other often untrusted sources.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76562158-0DF1-394A-8E36-AD18C01EB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2" y="36230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800" b="1" spc="-10" dirty="0">
                <a:latin typeface="Arial"/>
                <a:cs typeface="Arial"/>
              </a:rPr>
              <a:t>Poisoning Attacks</a:t>
            </a:r>
            <a:endParaRPr lang="en-US" sz="2800" b="1" dirty="0">
              <a:latin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D09DB5-094D-F64B-87F3-B12E24E15C59}"/>
              </a:ext>
            </a:extLst>
          </p:cNvPr>
          <p:cNvSpPr/>
          <p:nvPr/>
        </p:nvSpPr>
        <p:spPr>
          <a:xfrm>
            <a:off x="295422" y="2704144"/>
            <a:ext cx="10907353" cy="4922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4160" marR="5080">
              <a:lnSpc>
                <a:spcPts val="950"/>
              </a:lnSpc>
              <a:spcBef>
                <a:spcPts val="860"/>
              </a:spcBef>
            </a:pPr>
            <a:r>
              <a:rPr lang="en-US" sz="2000" b="1" dirty="0">
                <a:solidFill>
                  <a:srgbClr val="FF4400"/>
                </a:solidFill>
                <a:latin typeface="Times New Roman"/>
                <a:cs typeface="Times New Roman"/>
              </a:rPr>
              <a:t>Data</a:t>
            </a:r>
            <a:r>
              <a:rPr lang="en-US" sz="2000" b="1" spc="-20" dirty="0">
                <a:solidFill>
                  <a:srgbClr val="FF4400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solidFill>
                  <a:srgbClr val="FF4400"/>
                </a:solidFill>
                <a:latin typeface="Times New Roman"/>
                <a:cs typeface="Times New Roman"/>
              </a:rPr>
              <a:t>poisoning</a:t>
            </a:r>
            <a:r>
              <a:rPr lang="en-US" sz="2000" b="1" spc="-15" dirty="0">
                <a:solidFill>
                  <a:srgbClr val="FF4400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attacks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replace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or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inject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maliciously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constructed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samples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into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training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set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of</a:t>
            </a:r>
            <a:r>
              <a:rPr lang="en-US" sz="2000" spc="5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spc="-20" dirty="0">
                <a:latin typeface="Times New Roman"/>
                <a:cs typeface="Times New Roman"/>
              </a:rPr>
              <a:t>   </a:t>
            </a:r>
          </a:p>
          <a:p>
            <a:pPr marL="264160" marR="5080">
              <a:lnSpc>
                <a:spcPts val="950"/>
              </a:lnSpc>
              <a:spcBef>
                <a:spcPts val="860"/>
              </a:spcBef>
            </a:pPr>
            <a:r>
              <a:rPr lang="en-US" sz="2000" dirty="0">
                <a:latin typeface="Times New Roman"/>
                <a:cs typeface="Times New Roman"/>
              </a:rPr>
              <a:t>learning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algorithm.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7905E4-2FC2-A940-81EB-F822127DEBDC}"/>
              </a:ext>
            </a:extLst>
          </p:cNvPr>
          <p:cNvSpPr/>
          <p:nvPr/>
        </p:nvSpPr>
        <p:spPr>
          <a:xfrm>
            <a:off x="678420" y="4259251"/>
            <a:ext cx="4390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b="1" dirty="0">
                <a:solidFill>
                  <a:srgbClr val="FF4400"/>
                </a:solidFill>
                <a:latin typeface="Times New Roman"/>
                <a:cs typeface="Times New Roman"/>
              </a:rPr>
              <a:t>What</a:t>
            </a:r>
            <a:r>
              <a:rPr lang="en-US" b="1" spc="-15" dirty="0">
                <a:solidFill>
                  <a:srgbClr val="FF440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4400"/>
                </a:solidFill>
                <a:latin typeface="Times New Roman"/>
                <a:cs typeface="Times New Roman"/>
              </a:rPr>
              <a:t>is</a:t>
            </a:r>
            <a:r>
              <a:rPr lang="en-US" b="1" spc="-10" dirty="0">
                <a:solidFill>
                  <a:srgbClr val="FF440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4400"/>
                </a:solidFill>
                <a:latin typeface="Times New Roman"/>
                <a:cs typeface="Times New Roman"/>
              </a:rPr>
              <a:t>the</a:t>
            </a:r>
            <a:r>
              <a:rPr lang="en-US" b="1" spc="-10" dirty="0">
                <a:solidFill>
                  <a:srgbClr val="FF440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4400"/>
                </a:solidFill>
                <a:latin typeface="Times New Roman"/>
                <a:cs typeface="Times New Roman"/>
              </a:rPr>
              <a:t>goal</a:t>
            </a:r>
            <a:r>
              <a:rPr lang="en-US" b="1" spc="-10" dirty="0">
                <a:solidFill>
                  <a:srgbClr val="FF440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4400"/>
                </a:solidFill>
                <a:latin typeface="Times New Roman"/>
                <a:cs typeface="Times New Roman"/>
              </a:rPr>
              <a:t>of</a:t>
            </a:r>
            <a:r>
              <a:rPr lang="en-US" b="1" spc="-10" dirty="0">
                <a:solidFill>
                  <a:srgbClr val="FF440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4400"/>
                </a:solidFill>
                <a:latin typeface="Times New Roman"/>
                <a:cs typeface="Times New Roman"/>
              </a:rPr>
              <a:t>data</a:t>
            </a:r>
            <a:r>
              <a:rPr lang="en-US" b="1" spc="-10" dirty="0">
                <a:solidFill>
                  <a:srgbClr val="FF4400"/>
                </a:solidFill>
                <a:latin typeface="Times New Roman"/>
                <a:cs typeface="Times New Roman"/>
              </a:rPr>
              <a:t> poisoning</a:t>
            </a:r>
            <a:r>
              <a:rPr lang="en-US" b="1" spc="-15" dirty="0">
                <a:solidFill>
                  <a:srgbClr val="FF4400"/>
                </a:solidFill>
                <a:latin typeface="Times New Roman"/>
                <a:cs typeface="Times New Roman"/>
              </a:rPr>
              <a:t> </a:t>
            </a:r>
            <a:r>
              <a:rPr lang="en-US" b="1" spc="-10" dirty="0">
                <a:solidFill>
                  <a:srgbClr val="FF4400"/>
                </a:solidFill>
                <a:latin typeface="Times New Roman"/>
                <a:cs typeface="Times New Roman"/>
              </a:rPr>
              <a:t>attacks?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D43C91-A040-3C45-88B6-E8D74901F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543249"/>
            <a:ext cx="508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63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7C20CD-AA48-C144-81DD-A9CCD831A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30352-70FF-174A-819D-19BC3E200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1D7385-2F42-BD47-A1AA-4BBAA3D6C203}"/>
              </a:ext>
            </a:extLst>
          </p:cNvPr>
          <p:cNvSpPr/>
          <p:nvPr/>
        </p:nvSpPr>
        <p:spPr>
          <a:xfrm>
            <a:off x="817755" y="1264819"/>
            <a:ext cx="9730501" cy="16019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6860" marR="43180" algn="just">
              <a:lnSpc>
                <a:spcPts val="950"/>
              </a:lnSpc>
              <a:spcBef>
                <a:spcPts val="875"/>
              </a:spcBef>
            </a:pPr>
            <a:r>
              <a:rPr lang="en-US" dirty="0">
                <a:latin typeface="Times New Roman"/>
                <a:cs typeface="Times New Roman"/>
              </a:rPr>
              <a:t>The</a:t>
            </a:r>
            <a:r>
              <a:rPr lang="en-US" spc="3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purpose</a:t>
            </a:r>
            <a:r>
              <a:rPr lang="en-US" spc="4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of</a:t>
            </a:r>
            <a:r>
              <a:rPr lang="en-US" spc="4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Backdoor</a:t>
            </a:r>
            <a:r>
              <a:rPr lang="en-US" spc="4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attack</a:t>
            </a:r>
            <a:r>
              <a:rPr lang="en-US" spc="3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is</a:t>
            </a:r>
            <a:r>
              <a:rPr lang="en-US" spc="4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to</a:t>
            </a:r>
            <a:r>
              <a:rPr lang="en-US" spc="40" dirty="0"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plant</a:t>
            </a:r>
            <a:r>
              <a:rPr lang="en-US" b="1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US" b="1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backdoor</a:t>
            </a:r>
            <a:r>
              <a:rPr lang="en-US" b="1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in</a:t>
            </a:r>
            <a:r>
              <a:rPr lang="en-US" spc="4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any</a:t>
            </a:r>
            <a:r>
              <a:rPr lang="en-US" spc="4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model</a:t>
            </a:r>
            <a:r>
              <a:rPr lang="en-US" spc="4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trained</a:t>
            </a:r>
            <a:r>
              <a:rPr lang="en-US" spc="4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on</a:t>
            </a:r>
            <a:r>
              <a:rPr lang="en-US" spc="3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the</a:t>
            </a:r>
            <a:r>
              <a:rPr lang="en-US" spc="40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poisoned</a:t>
            </a:r>
            <a:r>
              <a:rPr lang="en-US" spc="500" dirty="0">
                <a:latin typeface="Times New Roman"/>
                <a:cs typeface="Times New Roman"/>
              </a:rPr>
              <a:t> </a:t>
            </a:r>
          </a:p>
          <a:p>
            <a:pPr marL="276860" marR="43180" algn="just">
              <a:lnSpc>
                <a:spcPts val="950"/>
              </a:lnSpc>
              <a:spcBef>
                <a:spcPts val="875"/>
              </a:spcBef>
            </a:pPr>
            <a:r>
              <a:rPr lang="en-US" dirty="0">
                <a:latin typeface="Times New Roman"/>
                <a:cs typeface="Times New Roman"/>
              </a:rPr>
              <a:t>training</a:t>
            </a:r>
            <a:r>
              <a:rPr lang="en-US" spc="-30" dirty="0">
                <a:latin typeface="Times New Roman"/>
                <a:cs typeface="Times New Roman"/>
              </a:rPr>
              <a:t> </a:t>
            </a:r>
            <a:r>
              <a:rPr lang="en-US" spc="-20" dirty="0">
                <a:latin typeface="Times New Roman"/>
                <a:cs typeface="Times New Roman"/>
              </a:rPr>
              <a:t>set.</a:t>
            </a:r>
            <a:endParaRPr lang="en-US" dirty="0">
              <a:latin typeface="Times New Roman"/>
              <a:cs typeface="Times New Roman"/>
            </a:endParaRPr>
          </a:p>
          <a:p>
            <a:pPr marL="479425" marR="176530" algn="just">
              <a:lnSpc>
                <a:spcPts val="950"/>
              </a:lnSpc>
              <a:spcBef>
                <a:spcPts val="40"/>
              </a:spcBef>
            </a:pPr>
            <a:endParaRPr lang="en-US" b="1" dirty="0">
              <a:solidFill>
                <a:srgbClr val="FF4400"/>
              </a:solidFill>
              <a:latin typeface="Times New Roman"/>
              <a:cs typeface="Times New Roman"/>
            </a:endParaRPr>
          </a:p>
          <a:p>
            <a:pPr marL="479425" marR="176530" algn="just">
              <a:lnSpc>
                <a:spcPts val="950"/>
              </a:lnSpc>
              <a:spcBef>
                <a:spcPts val="40"/>
              </a:spcBef>
            </a:pPr>
            <a:r>
              <a:rPr lang="en-US" b="1" dirty="0">
                <a:solidFill>
                  <a:srgbClr val="FF4400"/>
                </a:solidFill>
                <a:latin typeface="Times New Roman"/>
                <a:cs typeface="Times New Roman"/>
              </a:rPr>
              <a:t>The</a:t>
            </a:r>
            <a:r>
              <a:rPr lang="en-US" b="1" spc="-20" dirty="0">
                <a:solidFill>
                  <a:srgbClr val="FF440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4400"/>
                </a:solidFill>
                <a:latin typeface="Times New Roman"/>
                <a:cs typeface="Times New Roman"/>
              </a:rPr>
              <a:t>backdoor</a:t>
            </a:r>
            <a:r>
              <a:rPr lang="en-US" b="1" spc="-20" dirty="0">
                <a:solidFill>
                  <a:srgbClr val="FF440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4400"/>
                </a:solidFill>
                <a:latin typeface="Times New Roman"/>
                <a:cs typeface="Times New Roman"/>
              </a:rPr>
              <a:t>is</a:t>
            </a:r>
            <a:r>
              <a:rPr lang="en-US" b="1" spc="-20" dirty="0">
                <a:solidFill>
                  <a:srgbClr val="FF4400"/>
                </a:solidFill>
                <a:latin typeface="Times New Roman"/>
                <a:cs typeface="Times New Roman"/>
              </a:rPr>
              <a:t> </a:t>
            </a:r>
            <a:r>
              <a:rPr lang="en-US" b="1" spc="-10" dirty="0">
                <a:solidFill>
                  <a:srgbClr val="FF4400"/>
                </a:solidFill>
                <a:latin typeface="Times New Roman"/>
                <a:cs typeface="Times New Roman"/>
              </a:rPr>
              <a:t>activated</a:t>
            </a:r>
            <a:r>
              <a:rPr lang="en-US" b="1" spc="-15" dirty="0">
                <a:solidFill>
                  <a:srgbClr val="FF440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4400"/>
                </a:solidFill>
                <a:latin typeface="Times New Roman"/>
                <a:cs typeface="Times New Roman"/>
              </a:rPr>
              <a:t>during</a:t>
            </a:r>
            <a:r>
              <a:rPr lang="en-US" b="1" spc="-20" dirty="0">
                <a:solidFill>
                  <a:srgbClr val="FF440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4400"/>
                </a:solidFill>
                <a:latin typeface="Times New Roman"/>
                <a:cs typeface="Times New Roman"/>
              </a:rPr>
              <a:t>inference</a:t>
            </a:r>
            <a:r>
              <a:rPr lang="en-US" b="1" spc="-20" dirty="0">
                <a:solidFill>
                  <a:srgbClr val="FF440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4400"/>
                </a:solidFill>
                <a:latin typeface="Times New Roman"/>
                <a:cs typeface="Times New Roman"/>
              </a:rPr>
              <a:t>by</a:t>
            </a:r>
            <a:r>
              <a:rPr lang="en-US" b="1" spc="-15" dirty="0">
                <a:solidFill>
                  <a:srgbClr val="FF440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4400"/>
                </a:solidFill>
                <a:latin typeface="Times New Roman"/>
                <a:cs typeface="Times New Roman"/>
              </a:rPr>
              <a:t>a</a:t>
            </a:r>
            <a:r>
              <a:rPr lang="en-US" b="1" spc="-20" dirty="0">
                <a:solidFill>
                  <a:srgbClr val="FF440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4400"/>
                </a:solidFill>
                <a:latin typeface="Times New Roman"/>
                <a:cs typeface="Times New Roman"/>
              </a:rPr>
              <a:t>backdoor</a:t>
            </a:r>
            <a:r>
              <a:rPr lang="en-US" b="1" spc="-20" dirty="0">
                <a:solidFill>
                  <a:srgbClr val="FF440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4400"/>
                </a:solidFill>
                <a:latin typeface="Times New Roman"/>
                <a:cs typeface="Times New Roman"/>
              </a:rPr>
              <a:t>trigger</a:t>
            </a:r>
            <a:r>
              <a:rPr lang="en-US" b="1" spc="-15" dirty="0">
                <a:solidFill>
                  <a:srgbClr val="FF4400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which,</a:t>
            </a:r>
            <a:r>
              <a:rPr lang="en-US" spc="-20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whenever</a:t>
            </a:r>
            <a:r>
              <a:rPr lang="en-US" spc="50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present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</a:p>
          <a:p>
            <a:pPr marL="479425" marR="176530" algn="just">
              <a:lnSpc>
                <a:spcPts val="950"/>
              </a:lnSpc>
              <a:spcBef>
                <a:spcPts val="40"/>
              </a:spcBef>
            </a:pPr>
            <a:endParaRPr lang="en-US" spc="-15" dirty="0">
              <a:latin typeface="Times New Roman"/>
              <a:cs typeface="Times New Roman"/>
            </a:endParaRPr>
          </a:p>
          <a:p>
            <a:pPr marL="479425" marR="176530" algn="just">
              <a:lnSpc>
                <a:spcPts val="950"/>
              </a:lnSpc>
              <a:spcBef>
                <a:spcPts val="40"/>
              </a:spcBef>
            </a:pPr>
            <a:r>
              <a:rPr lang="en-US" dirty="0">
                <a:latin typeface="Times New Roman"/>
                <a:cs typeface="Times New Roman"/>
              </a:rPr>
              <a:t>in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given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input,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forces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the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model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to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predict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specific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(likely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incorrect)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b="1" spc="-10" dirty="0">
                <a:latin typeface="Times New Roman"/>
                <a:cs typeface="Times New Roman"/>
              </a:rPr>
              <a:t>target</a:t>
            </a:r>
            <a:r>
              <a:rPr lang="en-US" b="1" spc="500" dirty="0">
                <a:latin typeface="Times New Roman"/>
                <a:cs typeface="Times New Roman"/>
              </a:rPr>
              <a:t> </a:t>
            </a:r>
            <a:r>
              <a:rPr lang="en-US" b="1" spc="-10" dirty="0">
                <a:latin typeface="Times New Roman"/>
                <a:cs typeface="Times New Roman"/>
              </a:rPr>
              <a:t>label</a:t>
            </a:r>
            <a:r>
              <a:rPr lang="en-US" spc="-10" dirty="0">
                <a:latin typeface="Times New Roman"/>
                <a:cs typeface="Times New Roman"/>
              </a:rPr>
              <a:t>.</a:t>
            </a:r>
            <a:endParaRPr lang="en-US" dirty="0">
              <a:latin typeface="Times New Roman"/>
              <a:cs typeface="Times New Roman"/>
            </a:endParaRPr>
          </a:p>
          <a:p>
            <a:pPr marL="479425" algn="just">
              <a:lnSpc>
                <a:spcPts val="905"/>
              </a:lnSpc>
            </a:pPr>
            <a:endParaRPr lang="en-US" dirty="0">
              <a:latin typeface="Times New Roman"/>
              <a:cs typeface="Times New Roman"/>
            </a:endParaRPr>
          </a:p>
          <a:p>
            <a:pPr marL="479425" algn="just">
              <a:lnSpc>
                <a:spcPts val="905"/>
              </a:lnSpc>
            </a:pPr>
            <a:endParaRPr lang="en-US" dirty="0">
              <a:latin typeface="Times New Roman"/>
              <a:cs typeface="Times New Roman"/>
            </a:endParaRPr>
          </a:p>
          <a:p>
            <a:pPr marL="479425" algn="just">
              <a:lnSpc>
                <a:spcPts val="905"/>
              </a:lnSpc>
            </a:pPr>
            <a:r>
              <a:rPr lang="en-US" dirty="0">
                <a:latin typeface="Times New Roman"/>
                <a:cs typeface="Times New Roman"/>
              </a:rPr>
              <a:t>This</a:t>
            </a:r>
            <a:r>
              <a:rPr lang="en-US" spc="-2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vulnerability</a:t>
            </a:r>
            <a:r>
              <a:rPr lang="en-US" spc="-2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is</a:t>
            </a:r>
            <a:r>
              <a:rPr lang="en-US" spc="-2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particularly</a:t>
            </a:r>
            <a:r>
              <a:rPr lang="en-US" spc="-20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insidious</a:t>
            </a:r>
            <a:r>
              <a:rPr lang="en-US" spc="-2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as</a:t>
            </a:r>
            <a:r>
              <a:rPr lang="en-US" spc="-2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it</a:t>
            </a:r>
            <a:r>
              <a:rPr lang="en-US" spc="-2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is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difficult</a:t>
            </a:r>
            <a:r>
              <a:rPr lang="en-US" spc="-2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to</a:t>
            </a:r>
            <a:r>
              <a:rPr lang="en-US" spc="-2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detect</a:t>
            </a:r>
            <a:r>
              <a:rPr lang="en-US" spc="-2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by</a:t>
            </a:r>
            <a:r>
              <a:rPr lang="en-US" spc="-2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evaluating</a:t>
            </a:r>
            <a:r>
              <a:rPr lang="en-US" spc="-20" dirty="0">
                <a:latin typeface="Times New Roman"/>
                <a:cs typeface="Times New Roman"/>
              </a:rPr>
              <a:t> </a:t>
            </a:r>
            <a:r>
              <a:rPr lang="en-US" spc="-25" dirty="0">
                <a:latin typeface="Times New Roman"/>
                <a:cs typeface="Times New Roman"/>
              </a:rPr>
              <a:t>the</a:t>
            </a:r>
            <a:endParaRPr lang="en-US" dirty="0">
              <a:latin typeface="Times New Roman"/>
              <a:cs typeface="Times New Roman"/>
            </a:endParaRPr>
          </a:p>
          <a:p>
            <a:pPr marL="479425" algn="just">
              <a:lnSpc>
                <a:spcPts val="955"/>
              </a:lnSpc>
            </a:pPr>
            <a:endParaRPr lang="en-US" dirty="0">
              <a:latin typeface="Times New Roman"/>
              <a:cs typeface="Times New Roman"/>
            </a:endParaRPr>
          </a:p>
          <a:p>
            <a:pPr marL="479425" algn="just">
              <a:lnSpc>
                <a:spcPts val="955"/>
              </a:lnSpc>
            </a:pPr>
            <a:r>
              <a:rPr lang="en-US" dirty="0">
                <a:latin typeface="Times New Roman"/>
                <a:cs typeface="Times New Roman"/>
              </a:rPr>
              <a:t>model</a:t>
            </a:r>
            <a:r>
              <a:rPr lang="en-US" spc="-2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on</a:t>
            </a:r>
            <a:r>
              <a:rPr lang="en-US" spc="-2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</a:t>
            </a:r>
            <a:r>
              <a:rPr lang="en-US" spc="-2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holdout</a:t>
            </a:r>
            <a:r>
              <a:rPr lang="en-US" spc="-20" dirty="0">
                <a:latin typeface="Times New Roman"/>
                <a:cs typeface="Times New Roman"/>
              </a:rPr>
              <a:t> set.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D95FC07D-51F2-3E4C-A728-9660DC8F6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2" y="36230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800" b="1" spc="-10" dirty="0">
                <a:latin typeface="Arial"/>
                <a:cs typeface="Arial"/>
              </a:rPr>
              <a:t>Poisoning Attacks</a:t>
            </a:r>
            <a:endParaRPr lang="en-US" sz="2800" b="1" dirty="0">
              <a:latin typeface="Arial"/>
              <a:cs typeface="Arial"/>
            </a:endParaRPr>
          </a:p>
        </p:txBody>
      </p:sp>
      <p:pic>
        <p:nvPicPr>
          <p:cNvPr id="8" name="object 68">
            <a:extLst>
              <a:ext uri="{FF2B5EF4-FFF2-40B4-BE49-F238E27FC236}">
                <a16:creationId xmlns:a16="http://schemas.microsoft.com/office/drawing/2014/main" id="{247D1F1C-7285-D44E-808B-ED5971719A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6946" y="4059044"/>
            <a:ext cx="5196468" cy="191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01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14723-2C51-FF43-91D3-71FDE014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9345E-41F0-114C-8BDF-89BB9F01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A8566204-2C99-CF4C-8493-BAC8EB97F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96" y="366846"/>
            <a:ext cx="88191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 b="1" spc="-10" dirty="0">
                <a:latin typeface="Arial"/>
                <a:cs typeface="Arial"/>
              </a:rPr>
              <a:t>Poisoning</a:t>
            </a:r>
            <a:endParaRPr lang="zh-CN" altLang="en-US" sz="28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FBD9E2F3-DB3A-A74B-A808-796CC37C511E}"/>
              </a:ext>
            </a:extLst>
          </p:cNvPr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51">
            <a:extLst>
              <a:ext uri="{FF2B5EF4-FFF2-40B4-BE49-F238E27FC236}">
                <a16:creationId xmlns:a16="http://schemas.microsoft.com/office/drawing/2014/main" id="{5713684A-47BA-3D45-8177-43A6E5DCEE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1756" y="2807105"/>
            <a:ext cx="7270595" cy="27238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FB05FD0-FF60-5E48-BCD3-9889986131CE}"/>
              </a:ext>
            </a:extLst>
          </p:cNvPr>
          <p:cNvSpPr/>
          <p:nvPr/>
        </p:nvSpPr>
        <p:spPr>
          <a:xfrm>
            <a:off x="990600" y="1228557"/>
            <a:ext cx="813109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Adversary inserts emails that contain spam but removes them from the spam folder back to inbox. </a:t>
            </a:r>
          </a:p>
          <a:p>
            <a:r>
              <a:rPr lang="en-US" b="1" dirty="0"/>
              <a:t>Goal</a:t>
            </a:r>
            <a:r>
              <a:rPr lang="en-US" dirty="0"/>
              <a:t>: violation of integrity </a:t>
            </a:r>
          </a:p>
          <a:p>
            <a:r>
              <a:rPr lang="en-US" b="1" dirty="0"/>
              <a:t>Threat model</a:t>
            </a:r>
            <a:r>
              <a:rPr lang="en-US" dirty="0"/>
              <a:t>: the adversary can modify the training set. </a:t>
            </a:r>
          </a:p>
          <a:p>
            <a:r>
              <a:rPr lang="en-US" b="1" dirty="0"/>
              <a:t>Mechanism</a:t>
            </a:r>
            <a:r>
              <a:rPr lang="en-US" dirty="0"/>
              <a:t>: detecting anomaly training data</a:t>
            </a:r>
          </a:p>
        </p:txBody>
      </p:sp>
    </p:spTree>
    <p:extLst>
      <p:ext uri="{BB962C8B-B14F-4D97-AF65-F5344CB8AC3E}">
        <p14:creationId xmlns:p14="http://schemas.microsoft.com/office/powerpoint/2010/main" val="3559712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14723-2C51-FF43-91D3-71FDE014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9345E-41F0-114C-8BDF-89BB9F01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A8566204-2C99-CF4C-8493-BAC8EB97F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96" y="366846"/>
            <a:ext cx="88191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 b="1" spc="-10" dirty="0">
                <a:latin typeface="Arial"/>
                <a:cs typeface="Arial"/>
              </a:rPr>
              <a:t>Poisoning</a:t>
            </a:r>
            <a:endParaRPr lang="zh-CN" altLang="en-US" sz="28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1" name="object 51">
            <a:extLst>
              <a:ext uri="{FF2B5EF4-FFF2-40B4-BE49-F238E27FC236}">
                <a16:creationId xmlns:a16="http://schemas.microsoft.com/office/drawing/2014/main" id="{5713684A-47BA-3D45-8177-43A6E5DCEE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3340" y="3297312"/>
            <a:ext cx="7270595" cy="27238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49ECE6-E89A-0B42-8453-992979595B6F}"/>
              </a:ext>
            </a:extLst>
          </p:cNvPr>
          <p:cNvSpPr/>
          <p:nvPr/>
        </p:nvSpPr>
        <p:spPr>
          <a:xfrm>
            <a:off x="943431" y="1259417"/>
            <a:ext cx="18966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2400" b="1" dirty="0">
                <a:solidFill>
                  <a:srgbClr val="161616"/>
                </a:solidFill>
                <a:latin typeface="IBM Plex Sans"/>
              </a:rPr>
              <a:t>Label flipping</a:t>
            </a:r>
            <a:endParaRPr lang="en-US" sz="2400" b="1" i="0" dirty="0">
              <a:solidFill>
                <a:srgbClr val="161616"/>
              </a:solidFill>
              <a:effectLst/>
              <a:latin typeface="IBM Plex 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A20704-3333-AB4B-975C-2BC25230E7F4}"/>
              </a:ext>
            </a:extLst>
          </p:cNvPr>
          <p:cNvSpPr/>
          <p:nvPr/>
        </p:nvSpPr>
        <p:spPr>
          <a:xfrm>
            <a:off x="918649" y="1972481"/>
            <a:ext cx="19693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2400" b="1" dirty="0">
                <a:solidFill>
                  <a:srgbClr val="161616"/>
                </a:solidFill>
                <a:latin typeface="IBM Plex Sans"/>
              </a:rPr>
              <a:t>Data injection</a:t>
            </a:r>
            <a:endParaRPr lang="en-US" sz="2400" b="1" i="0" dirty="0">
              <a:solidFill>
                <a:srgbClr val="161616"/>
              </a:solidFill>
              <a:effectLst/>
              <a:latin typeface="IBM Plex San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E91CC1-4BA1-DA46-8AFB-FFBE436FD3AF}"/>
              </a:ext>
            </a:extLst>
          </p:cNvPr>
          <p:cNvSpPr/>
          <p:nvPr/>
        </p:nvSpPr>
        <p:spPr>
          <a:xfrm>
            <a:off x="4324938" y="1259417"/>
            <a:ext cx="23585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2400" b="1" dirty="0">
                <a:solidFill>
                  <a:srgbClr val="161616"/>
                </a:solidFill>
                <a:latin typeface="IBM Plex Sans"/>
              </a:rPr>
              <a:t>Backdoor attacks</a:t>
            </a:r>
            <a:endParaRPr lang="en-US" sz="2400" b="1" i="0" dirty="0">
              <a:solidFill>
                <a:srgbClr val="161616"/>
              </a:solidFill>
              <a:effectLst/>
              <a:latin typeface="IBM Plex San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AE68FF-55D0-BF44-BA62-79A8365D01E0}"/>
              </a:ext>
            </a:extLst>
          </p:cNvPr>
          <p:cNvSpPr/>
          <p:nvPr/>
        </p:nvSpPr>
        <p:spPr>
          <a:xfrm>
            <a:off x="4324938" y="1972480"/>
            <a:ext cx="25899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2400" b="1" dirty="0">
                <a:solidFill>
                  <a:srgbClr val="161616"/>
                </a:solidFill>
                <a:latin typeface="IBM Plex Sans"/>
              </a:rPr>
              <a:t>Clean-label attacks</a:t>
            </a:r>
            <a:endParaRPr lang="en-US" sz="2400" b="1" i="0" dirty="0">
              <a:solidFill>
                <a:srgbClr val="161616"/>
              </a:solidFill>
              <a:effectLst/>
              <a:latin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2426995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14723-2C51-FF43-91D3-71FDE014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9345E-41F0-114C-8BDF-89BB9F01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17</a:t>
            </a:fld>
            <a:endParaRPr lang="en-US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A8566204-2C99-CF4C-8493-BAC8EB97F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96" y="366846"/>
            <a:ext cx="88191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 b="1" spc="-10" dirty="0">
                <a:latin typeface="Arial"/>
                <a:cs typeface="Arial"/>
              </a:rPr>
              <a:t>Poisoning</a:t>
            </a:r>
            <a:endParaRPr lang="zh-CN" altLang="en-US" sz="2800" b="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FBD9E2F3-DB3A-A74B-A808-796CC37C511E}"/>
              </a:ext>
            </a:extLst>
          </p:cNvPr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47">
            <a:extLst>
              <a:ext uri="{FF2B5EF4-FFF2-40B4-BE49-F238E27FC236}">
                <a16:creationId xmlns:a16="http://schemas.microsoft.com/office/drawing/2014/main" id="{24367602-04F0-EE41-8DC0-DDF21BED51A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057" y="1425479"/>
            <a:ext cx="6534615" cy="278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540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14723-2C51-FF43-91D3-71FDE014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9345E-41F0-114C-8BDF-89BB9F01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18</a:t>
            </a:fld>
            <a:endParaRPr lang="en-US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A8566204-2C99-CF4C-8493-BAC8EB97F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96" y="366846"/>
            <a:ext cx="88191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 b="1" spc="-10" dirty="0">
                <a:latin typeface="Arial"/>
                <a:cs typeface="Arial"/>
              </a:rPr>
              <a:t>Poisoning</a:t>
            </a:r>
            <a:endParaRPr lang="zh-CN" altLang="en-US" sz="2800" b="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FBD9E2F3-DB3A-A74B-A808-796CC37C511E}"/>
              </a:ext>
            </a:extLst>
          </p:cNvPr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47">
            <a:extLst>
              <a:ext uri="{FF2B5EF4-FFF2-40B4-BE49-F238E27FC236}">
                <a16:creationId xmlns:a16="http://schemas.microsoft.com/office/drawing/2014/main" id="{24367602-04F0-EE41-8DC0-DDF21BED51A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058" y="1425479"/>
            <a:ext cx="6191958" cy="2120609"/>
          </a:xfrm>
          <a:prstGeom prst="rect">
            <a:avLst/>
          </a:prstGeom>
        </p:spPr>
      </p:pic>
      <p:pic>
        <p:nvPicPr>
          <p:cNvPr id="7" name="object 48">
            <a:extLst>
              <a:ext uri="{FF2B5EF4-FFF2-40B4-BE49-F238E27FC236}">
                <a16:creationId xmlns:a16="http://schemas.microsoft.com/office/drawing/2014/main" id="{ECB767EC-E985-784D-8F2F-3EDC6DEF436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9865" y="4081501"/>
            <a:ext cx="5061470" cy="191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789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24323-7686-7D42-8808-488A5146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F8BF1-CC0A-5A40-9A9E-8B1F8CE5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19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2EF5F8-BEB1-894F-A1A7-A34F0500B47E}"/>
              </a:ext>
            </a:extLst>
          </p:cNvPr>
          <p:cNvSpPr/>
          <p:nvPr/>
        </p:nvSpPr>
        <p:spPr>
          <a:xfrm>
            <a:off x="664029" y="1391255"/>
            <a:ext cx="1057002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Inter"/>
              </a:rPr>
              <a:t>In a model extraction attack, an adversary with query access to a ML model can steal the model’s underlying functionality by systematically querying it and using the outputs to build a replica model that mimics the target’s behavior. The attack follows a straightforward pattern:</a:t>
            </a:r>
          </a:p>
          <a:p>
            <a:endParaRPr lang="en-US" dirty="0">
              <a:latin typeface="Inter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Inter"/>
              </a:rPr>
              <a:t>The attacker sends carefully crafted inputs to the target model’s API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Inter"/>
              </a:rPr>
              <a:t>The attacker records the model’s responses to build a dataset of input-output pairs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Inter"/>
              </a:rPr>
              <a:t>The attacker trains their own “stolen” model using this collected data</a:t>
            </a:r>
            <a:endParaRPr lang="en-US" b="0" i="0" dirty="0">
              <a:effectLst/>
              <a:latin typeface="Inte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C06FEC-204C-7948-BE76-B68C7C0DB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643" y="3435350"/>
            <a:ext cx="6654800" cy="2921000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A99C3226-A8D4-B74A-9942-15C4CDF34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2" y="36230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sz="2800" b="1" dirty="0"/>
              <a:t>Model Extraction</a:t>
            </a:r>
          </a:p>
        </p:txBody>
      </p:sp>
    </p:spTree>
    <p:extLst>
      <p:ext uri="{BB962C8B-B14F-4D97-AF65-F5344CB8AC3E}">
        <p14:creationId xmlns:p14="http://schemas.microsoft.com/office/powerpoint/2010/main" val="464304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14723-2C51-FF43-91D3-71FDE014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9345E-41F0-114C-8BDF-89BB9F01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20</a:t>
            </a:fld>
            <a:endParaRPr lang="en-US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A8566204-2C99-CF4C-8493-BAC8EB97F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96" y="366846"/>
            <a:ext cx="88191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800" b="1" dirty="0">
                <a:latin typeface="Arial"/>
                <a:cs typeface="Arial"/>
              </a:rPr>
              <a:t>Model</a:t>
            </a:r>
            <a:r>
              <a:rPr lang="en-US" sz="2800" b="1" spc="-35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extraction</a:t>
            </a:r>
            <a:endParaRPr lang="en-US" sz="2800" b="1" dirty="0">
              <a:latin typeface="Arial"/>
              <a:cs typeface="Arial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FBD9E2F3-DB3A-A74B-A808-796CC37C511E}"/>
              </a:ext>
            </a:extLst>
          </p:cNvPr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52">
            <a:extLst>
              <a:ext uri="{FF2B5EF4-FFF2-40B4-BE49-F238E27FC236}">
                <a16:creationId xmlns:a16="http://schemas.microsoft.com/office/drawing/2014/main" id="{78443C68-F30D-2343-AF1A-A2614EFBD25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2853" y="3370794"/>
            <a:ext cx="6556916" cy="23904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1527621-7F79-274A-B009-61083B5E9D87}"/>
              </a:ext>
            </a:extLst>
          </p:cNvPr>
          <p:cNvSpPr/>
          <p:nvPr/>
        </p:nvSpPr>
        <p:spPr>
          <a:xfrm>
            <a:off x="990600" y="1043753"/>
            <a:ext cx="89562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Adversary observes predictions and reconstructs model locally </a:t>
            </a:r>
          </a:p>
          <a:p>
            <a:r>
              <a:rPr lang="en-US" b="1" dirty="0"/>
              <a:t>Goal</a:t>
            </a:r>
            <a:r>
              <a:rPr lang="en-US" dirty="0"/>
              <a:t>: violation of privacy (confidentiality). </a:t>
            </a:r>
          </a:p>
          <a:p>
            <a:r>
              <a:rPr lang="en-US" b="1" dirty="0"/>
              <a:t>Threat model</a:t>
            </a:r>
            <a:r>
              <a:rPr lang="en-US" dirty="0"/>
              <a:t>: adversary has access to the input and the output of model. </a:t>
            </a:r>
          </a:p>
          <a:p>
            <a:r>
              <a:rPr lang="en-US" b="1" dirty="0"/>
              <a:t>Mechanism</a:t>
            </a:r>
            <a:r>
              <a:rPr lang="en-US" dirty="0"/>
              <a:t>: detecting sample sequences of attack </a:t>
            </a:r>
          </a:p>
        </p:txBody>
      </p:sp>
    </p:spTree>
    <p:extLst>
      <p:ext uri="{BB962C8B-B14F-4D97-AF65-F5344CB8AC3E}">
        <p14:creationId xmlns:p14="http://schemas.microsoft.com/office/powerpoint/2010/main" val="570749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A84B2D-C43B-E242-9C05-166BE2E95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790594-243D-124F-93DC-AD13923E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21</a:t>
            </a:fld>
            <a:endParaRPr lang="en-US"/>
          </a:p>
        </p:txBody>
      </p:sp>
      <p:pic>
        <p:nvPicPr>
          <p:cNvPr id="6" name="object 48">
            <a:extLst>
              <a:ext uri="{FF2B5EF4-FFF2-40B4-BE49-F238E27FC236}">
                <a16:creationId xmlns:a16="http://schemas.microsoft.com/office/drawing/2014/main" id="{BAB65560-DEBD-A441-9713-2124F97128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0746" y="2807338"/>
            <a:ext cx="6109854" cy="29912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B17DD67-7087-2A43-BC44-C6DB36509DAC}"/>
              </a:ext>
            </a:extLst>
          </p:cNvPr>
          <p:cNvSpPr/>
          <p:nvPr/>
        </p:nvSpPr>
        <p:spPr>
          <a:xfrm>
            <a:off x="527823" y="1200099"/>
            <a:ext cx="7233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adversary has </a:t>
            </a:r>
            <a:r>
              <a:rPr lang="en-US" b="1" dirty="0">
                <a:solidFill>
                  <a:srgbClr val="FF0000"/>
                </a:solidFill>
              </a:rPr>
              <a:t>black-box access </a:t>
            </a:r>
            <a:r>
              <a:rPr lang="en-US" dirty="0"/>
              <a:t>to the target model 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68B14E3C-652B-DD4F-8624-4817DD512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2" y="36230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sz="2800" b="1" dirty="0"/>
              <a:t>Model Stealing Threat Model</a:t>
            </a:r>
          </a:p>
        </p:txBody>
      </p:sp>
    </p:spTree>
    <p:extLst>
      <p:ext uri="{BB962C8B-B14F-4D97-AF65-F5344CB8AC3E}">
        <p14:creationId xmlns:p14="http://schemas.microsoft.com/office/powerpoint/2010/main" val="269781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14723-2C51-FF43-91D3-71FDE014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9345E-41F0-114C-8BDF-89BB9F01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A8566204-2C99-CF4C-8493-BAC8EB97F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96" y="366846"/>
            <a:ext cx="88191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800" b="1" dirty="0">
                <a:latin typeface="Arial"/>
                <a:cs typeface="Arial"/>
              </a:rPr>
              <a:t>Model</a:t>
            </a:r>
            <a:r>
              <a:rPr lang="en-US" sz="2800" b="1" spc="-35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extraction</a:t>
            </a:r>
            <a:endParaRPr lang="en-US" sz="2800" b="1" dirty="0">
              <a:latin typeface="Arial"/>
              <a:cs typeface="Arial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FBD9E2F3-DB3A-A74B-A808-796CC37C511E}"/>
              </a:ext>
            </a:extLst>
          </p:cNvPr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47">
            <a:extLst>
              <a:ext uri="{FF2B5EF4-FFF2-40B4-BE49-F238E27FC236}">
                <a16:creationId xmlns:a16="http://schemas.microsoft.com/office/drawing/2014/main" id="{090C71D3-10F9-B74E-A175-7AF901F0846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4059" y="1761894"/>
            <a:ext cx="6735336" cy="292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18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7CD1B-10D8-084D-A3C4-E05D2C945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4B358C-4019-4745-BC37-1D8F0967F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23</a:t>
            </a:fld>
            <a:endParaRPr lang="en-US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ADFD309F-A9DD-B04D-98CF-7448A9625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2" y="36230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sz="2800" b="1" dirty="0"/>
              <a:t>Adversary’s Goal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1CC961-7E3D-F84B-B009-7062A76FFC49}"/>
              </a:ext>
            </a:extLst>
          </p:cNvPr>
          <p:cNvSpPr/>
          <p:nvPr/>
        </p:nvSpPr>
        <p:spPr>
          <a:xfrm>
            <a:off x="1306285" y="1218575"/>
            <a:ext cx="849085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Accuracy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we randomly pick real world examples, how often is the the predication correct?</a:t>
            </a:r>
          </a:p>
          <a:p>
            <a:endParaRPr lang="en-US" dirty="0"/>
          </a:p>
          <a:p>
            <a:r>
              <a:rPr lang="en-US" b="1" dirty="0"/>
              <a:t>Fidelity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my stolen model behave like victim model?</a:t>
            </a:r>
          </a:p>
          <a:p>
            <a:endParaRPr lang="en-US" dirty="0"/>
          </a:p>
          <a:p>
            <a:r>
              <a:rPr lang="en-US" b="1" dirty="0"/>
              <a:t>Functionally Equivalent (Perfect Fidelity)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Extracted model produces identical output, no difference at all</a:t>
            </a:r>
          </a:p>
        </p:txBody>
      </p:sp>
    </p:spTree>
    <p:extLst>
      <p:ext uri="{BB962C8B-B14F-4D97-AF65-F5344CB8AC3E}">
        <p14:creationId xmlns:p14="http://schemas.microsoft.com/office/powerpoint/2010/main" val="1836340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45FF4-C010-654F-9D87-79EC69EFF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9279A-8F0D-7046-875E-94B6E86BE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AABBF8-D272-284E-8315-269E32DC98B1}"/>
              </a:ext>
            </a:extLst>
          </p:cNvPr>
          <p:cNvSpPr txBox="1"/>
          <p:nvPr/>
        </p:nvSpPr>
        <p:spPr>
          <a:xfrm>
            <a:off x="2663687" y="3132038"/>
            <a:ext cx="6864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3"/>
                </a:solidFill>
              </a:rPr>
              <a:t>Privacy Risks in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791059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75D1D5-8D9F-2D40-A398-EB9DE00B0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81098-C725-8A49-89F6-DD0B4AE80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25</a:t>
            </a:fld>
            <a:endParaRPr lang="en-US"/>
          </a:p>
        </p:txBody>
      </p:sp>
      <p:pic>
        <p:nvPicPr>
          <p:cNvPr id="6" name="object 44">
            <a:extLst>
              <a:ext uri="{FF2B5EF4-FFF2-40B4-BE49-F238E27FC236}">
                <a16:creationId xmlns:a16="http://schemas.microsoft.com/office/drawing/2014/main" id="{4DF545E0-36B1-7842-B0A0-45A60F8AC9A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6361" y="1271238"/>
            <a:ext cx="7783551" cy="4505093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CA5D91B4-85CF-E04D-BA6D-9C34EB115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2" y="36230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sz="2800" b="1" dirty="0"/>
              <a:t>Privacy Risks in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878372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E573A2-5696-A547-95C0-D54CFCEC3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4B0CD9-62DD-D648-ACB5-F3EF16251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F4BF62-2446-EB47-85F4-B832A761D09F}"/>
              </a:ext>
            </a:extLst>
          </p:cNvPr>
          <p:cNvSpPr/>
          <p:nvPr/>
        </p:nvSpPr>
        <p:spPr>
          <a:xfrm>
            <a:off x="685800" y="1545952"/>
            <a:ext cx="94379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is training data leakage? Inferring information about members of X, beyond what can be learned about its underlying distribution.</a:t>
            </a:r>
          </a:p>
        </p:txBody>
      </p:sp>
      <p:pic>
        <p:nvPicPr>
          <p:cNvPr id="7" name="object 45">
            <a:extLst>
              <a:ext uri="{FF2B5EF4-FFF2-40B4-BE49-F238E27FC236}">
                <a16:creationId xmlns:a16="http://schemas.microsoft.com/office/drawing/2014/main" id="{1BD8CE11-EFDD-444D-9B2A-70A44C8E8D0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8595" y="3625304"/>
            <a:ext cx="6757639" cy="2173329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662C2A88-FD48-6043-A754-9FD9B66EC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2" y="36230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sz="2800" b="1" dirty="0"/>
              <a:t>Privacy Risks in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0946279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48100-C9DA-1B43-B4BF-92FECB870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70EE5-A16A-AF40-9AAB-146F64D3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27</a:t>
            </a:fld>
            <a:endParaRPr lang="en-US"/>
          </a:p>
        </p:txBody>
      </p:sp>
      <p:pic>
        <p:nvPicPr>
          <p:cNvPr id="6" name="object 45">
            <a:extLst>
              <a:ext uri="{FF2B5EF4-FFF2-40B4-BE49-F238E27FC236}">
                <a16:creationId xmlns:a16="http://schemas.microsoft.com/office/drawing/2014/main" id="{D9600180-C7B3-A646-9DA6-CCE14899627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2546" y="2386360"/>
            <a:ext cx="8259336" cy="3969989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1BE4A810-CF89-9341-9FB0-725E4D846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54" y="34691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sz="2800" b="1" dirty="0"/>
              <a:t>Membership Inference Attack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D17742-F852-0643-8F62-1E74C7664B37}"/>
              </a:ext>
            </a:extLst>
          </p:cNvPr>
          <p:cNvSpPr/>
          <p:nvPr/>
        </p:nvSpPr>
        <p:spPr>
          <a:xfrm>
            <a:off x="483219" y="1174276"/>
            <a:ext cx="98428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Given a model, can an adversary infer whether data point x is part of its training set?</a:t>
            </a:r>
          </a:p>
        </p:txBody>
      </p:sp>
    </p:spTree>
    <p:extLst>
      <p:ext uri="{BB962C8B-B14F-4D97-AF65-F5344CB8AC3E}">
        <p14:creationId xmlns:p14="http://schemas.microsoft.com/office/powerpoint/2010/main" val="2435215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48100-C9DA-1B43-B4BF-92FECB870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70EE5-A16A-AF40-9AAB-146F64D3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28</a:t>
            </a:fld>
            <a:endParaRPr lang="en-US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1BE4A810-CF89-9341-9FB0-725E4D846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54" y="34691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sz="2800" b="1" dirty="0"/>
              <a:t>Membership Inference Attack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D17742-F852-0643-8F62-1E74C7664B37}"/>
              </a:ext>
            </a:extLst>
          </p:cNvPr>
          <p:cNvSpPr/>
          <p:nvPr/>
        </p:nvSpPr>
        <p:spPr>
          <a:xfrm>
            <a:off x="483219" y="1174276"/>
            <a:ext cx="98428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Given a model, can an adversary infer whether data point x is part of its training set?</a:t>
            </a:r>
          </a:p>
        </p:txBody>
      </p:sp>
      <p:pic>
        <p:nvPicPr>
          <p:cNvPr id="9" name="object 45">
            <a:extLst>
              <a:ext uri="{FF2B5EF4-FFF2-40B4-BE49-F238E27FC236}">
                <a16:creationId xmlns:a16="http://schemas.microsoft.com/office/drawing/2014/main" id="{E97892C7-BCAF-2C4A-9F5B-C2A5DA01DDD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288" y="2602847"/>
            <a:ext cx="7315200" cy="241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64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48100-C9DA-1B43-B4BF-92FECB870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70EE5-A16A-AF40-9AAB-146F64D3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29</a:t>
            </a:fld>
            <a:endParaRPr lang="en-US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1BE4A810-CF89-9341-9FB0-725E4D846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54" y="346913"/>
            <a:ext cx="766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sz="2800" b="1" dirty="0"/>
              <a:t>Membership Inference Attack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D17742-F852-0643-8F62-1E74C7664B37}"/>
              </a:ext>
            </a:extLst>
          </p:cNvPr>
          <p:cNvSpPr/>
          <p:nvPr/>
        </p:nvSpPr>
        <p:spPr>
          <a:xfrm>
            <a:off x="483219" y="1174276"/>
            <a:ext cx="98428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Given a model, can an adversary infer whether data point x is part of its training set?</a:t>
            </a:r>
          </a:p>
        </p:txBody>
      </p:sp>
      <p:pic>
        <p:nvPicPr>
          <p:cNvPr id="10" name="object 45">
            <a:extLst>
              <a:ext uri="{FF2B5EF4-FFF2-40B4-BE49-F238E27FC236}">
                <a16:creationId xmlns:a16="http://schemas.microsoft.com/office/drawing/2014/main" id="{F1DFD6B9-BCD4-404B-8745-721505DA095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8951" y="2930236"/>
            <a:ext cx="6480376" cy="219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7523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14723-2C51-FF43-91D3-71FDE014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9345E-41F0-114C-8BDF-89BB9F01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30</a:t>
            </a:fld>
            <a:endParaRPr lang="en-US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A8566204-2C99-CF4C-8493-BAC8EB97F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96" y="366846"/>
            <a:ext cx="88191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Arial"/>
                <a:cs typeface="Arial"/>
              </a:rPr>
              <a:t>Membership</a:t>
            </a:r>
            <a:r>
              <a:rPr lang="en-US" sz="2800" b="1" spc="-35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inference</a:t>
            </a:r>
            <a:r>
              <a:rPr lang="en-US" sz="2800" b="1" spc="-30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attack</a:t>
            </a:r>
            <a:endParaRPr lang="zh-CN" altLang="en-US" sz="28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FBD9E2F3-DB3A-A74B-A808-796CC37C511E}"/>
              </a:ext>
            </a:extLst>
          </p:cNvPr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51">
            <a:extLst>
              <a:ext uri="{FF2B5EF4-FFF2-40B4-BE49-F238E27FC236}">
                <a16:creationId xmlns:a16="http://schemas.microsoft.com/office/drawing/2014/main" id="{95A23EB5-4954-2946-B46C-38D4FA56A0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4365" y="2617823"/>
            <a:ext cx="6008930" cy="22445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F28CBBE-C7B4-424F-9FDD-7FF259D7CBF9}"/>
              </a:ext>
            </a:extLst>
          </p:cNvPr>
          <p:cNvSpPr/>
          <p:nvPr/>
        </p:nvSpPr>
        <p:spPr>
          <a:xfrm>
            <a:off x="990600" y="1290581"/>
            <a:ext cx="88893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Adversary inspects model to test whether an email was used to train it (privacy violation) </a:t>
            </a:r>
          </a:p>
          <a:p>
            <a:r>
              <a:rPr lang="en-US" b="1" dirty="0"/>
              <a:t>Goal</a:t>
            </a:r>
            <a:r>
              <a:rPr lang="en-US" dirty="0"/>
              <a:t>: violation of privacy (confidentiality). </a:t>
            </a:r>
          </a:p>
          <a:p>
            <a:r>
              <a:rPr lang="en-US" b="1" dirty="0"/>
              <a:t>Threat model</a:t>
            </a:r>
            <a:r>
              <a:rPr lang="en-US" dirty="0"/>
              <a:t>: adversary can send a request to the model. </a:t>
            </a:r>
          </a:p>
        </p:txBody>
      </p:sp>
    </p:spTree>
    <p:extLst>
      <p:ext uri="{BB962C8B-B14F-4D97-AF65-F5344CB8AC3E}">
        <p14:creationId xmlns:p14="http://schemas.microsoft.com/office/powerpoint/2010/main" val="24047107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0B40E-7A9A-AA4D-9DD0-51E1D46FD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FA62D-E923-5548-89A5-1368AFC1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31</a:t>
            </a:fld>
            <a:endParaRPr 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535E7A25-B47B-7440-BA20-4092D0C0C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96" y="366846"/>
            <a:ext cx="88191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Arial"/>
                <a:cs typeface="Arial"/>
              </a:rPr>
              <a:t>Membership</a:t>
            </a:r>
            <a:r>
              <a:rPr lang="en-US" sz="2800" b="1" spc="-35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inference</a:t>
            </a:r>
            <a:r>
              <a:rPr lang="en-US" sz="2800" b="1" spc="-30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attack</a:t>
            </a:r>
            <a:endParaRPr lang="zh-CN" altLang="en-US" sz="28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" name="object 47">
            <a:extLst>
              <a:ext uri="{FF2B5EF4-FFF2-40B4-BE49-F238E27FC236}">
                <a16:creationId xmlns:a16="http://schemas.microsoft.com/office/drawing/2014/main" id="{A064517B-0EC5-DC4C-B80B-05C4F34451F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1888" y="2488741"/>
            <a:ext cx="4963596" cy="265576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C6C1F7F-B091-F647-8195-7B14282AFC6E}"/>
              </a:ext>
            </a:extLst>
          </p:cNvPr>
          <p:cNvSpPr/>
          <p:nvPr/>
        </p:nvSpPr>
        <p:spPr>
          <a:xfrm>
            <a:off x="905371" y="5144506"/>
            <a:ext cx="882831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Approach</a:t>
            </a:r>
          </a:p>
          <a:p>
            <a:r>
              <a:rPr lang="en-US" dirty="0"/>
              <a:t>Train an inference model to recognize differences in the target model’s predictions on the inputs that it trained on versus the inputs that it did not train 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C7E22D-19F8-F342-AE68-0295C6559A66}"/>
              </a:ext>
            </a:extLst>
          </p:cNvPr>
          <p:cNvSpPr/>
          <p:nvPr/>
        </p:nvSpPr>
        <p:spPr>
          <a:xfrm>
            <a:off x="905371" y="1281805"/>
            <a:ext cx="94052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The objective of the attacker is</a:t>
            </a:r>
          </a:p>
          <a:p>
            <a:r>
              <a:rPr lang="en-US" dirty="0"/>
              <a:t>Construct an attack model that can recognize such differences in the target model’s behavior and use them to distinguish members from non-members of the target model’s training dataset based solely on the target model’s output</a:t>
            </a:r>
          </a:p>
        </p:txBody>
      </p:sp>
    </p:spTree>
    <p:extLst>
      <p:ext uri="{BB962C8B-B14F-4D97-AF65-F5344CB8AC3E}">
        <p14:creationId xmlns:p14="http://schemas.microsoft.com/office/powerpoint/2010/main" val="1756681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B5A5FE-37FD-EE4F-B4DA-E2267836A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0FEE0D-7B85-CA40-A40F-694A8E2C9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32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5B9350-0DCD-6F41-BE2A-2B23D65F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58" y="1426030"/>
            <a:ext cx="5379142" cy="446075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C0D0D4-5618-E642-B20D-F7F2BA56E817}"/>
              </a:ext>
            </a:extLst>
          </p:cNvPr>
          <p:cNvSpPr/>
          <p:nvPr/>
        </p:nvSpPr>
        <p:spPr>
          <a:xfrm>
            <a:off x="435429" y="142603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Override safety instructions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Manipulate the model’s reasoning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Exploit weaknesses in alignment training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C46565-C16B-6F43-959B-06D088161CF4}"/>
              </a:ext>
            </a:extLst>
          </p:cNvPr>
          <p:cNvSpPr/>
          <p:nvPr/>
        </p:nvSpPr>
        <p:spPr>
          <a:xfrm>
            <a:off x="519377" y="2841563"/>
            <a:ext cx="25608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Attacker</a:t>
            </a:r>
            <a:r>
              <a:rPr lang="en-US" sz="2400" b="1" dirty="0"/>
              <a:t> ka Goal??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EADA7E-D94C-8B4A-AA08-EFB94207EEF7}"/>
              </a:ext>
            </a:extLst>
          </p:cNvPr>
          <p:cNvSpPr/>
          <p:nvPr/>
        </p:nvSpPr>
        <p:spPr>
          <a:xfrm>
            <a:off x="145692" y="472162"/>
            <a:ext cx="23003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LLM Jailbreaking</a:t>
            </a:r>
          </a:p>
        </p:txBody>
      </p:sp>
    </p:spTree>
    <p:extLst>
      <p:ext uri="{BB962C8B-B14F-4D97-AF65-F5344CB8AC3E}">
        <p14:creationId xmlns:p14="http://schemas.microsoft.com/office/powerpoint/2010/main" val="23501296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0B40E-7A9A-AA4D-9DD0-51E1D46FD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FA62D-E923-5548-89A5-1368AFC1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33</a:t>
            </a:fld>
            <a:endParaRPr 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535E7A25-B47B-7440-BA20-4092D0C0C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96" y="366846"/>
            <a:ext cx="88191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800" b="1" dirty="0">
                <a:latin typeface="Arial"/>
                <a:cs typeface="Arial"/>
              </a:rPr>
              <a:t>Threat</a:t>
            </a:r>
            <a:r>
              <a:rPr lang="en-US" sz="2800" b="1" spc="-15" dirty="0">
                <a:latin typeface="Arial"/>
                <a:cs typeface="Arial"/>
              </a:rPr>
              <a:t> </a:t>
            </a:r>
            <a:r>
              <a:rPr lang="en-US" sz="2800" b="1" dirty="0">
                <a:latin typeface="Arial"/>
                <a:cs typeface="Arial"/>
              </a:rPr>
              <a:t>Model</a:t>
            </a:r>
            <a:r>
              <a:rPr lang="en-US" sz="2800" b="1" spc="-15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(Adversarial</a:t>
            </a:r>
            <a:r>
              <a:rPr lang="en-US" sz="2800" b="1" spc="-15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Capabilities)</a:t>
            </a:r>
            <a:endParaRPr lang="en-US" sz="2800" b="1" dirty="0">
              <a:latin typeface="Arial"/>
              <a:cs typeface="Arial"/>
            </a:endParaRPr>
          </a:p>
        </p:txBody>
      </p:sp>
      <p:pic>
        <p:nvPicPr>
          <p:cNvPr id="6" name="object 47">
            <a:extLst>
              <a:ext uri="{FF2B5EF4-FFF2-40B4-BE49-F238E27FC236}">
                <a16:creationId xmlns:a16="http://schemas.microsoft.com/office/drawing/2014/main" id="{4E930DEA-B26D-C041-AFCA-C2597810E34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0693" y="1382751"/>
            <a:ext cx="5343242" cy="44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676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0B40E-7A9A-AA4D-9DD0-51E1D46FD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FA62D-E923-5548-89A5-1368AFC1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34</a:t>
            </a:fld>
            <a:endParaRPr 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535E7A25-B47B-7440-BA20-4092D0C0C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96" y="366846"/>
            <a:ext cx="88191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sz="2800" b="1" dirty="0"/>
              <a:t>Ethics and fairness </a:t>
            </a:r>
          </a:p>
        </p:txBody>
      </p:sp>
      <p:pic>
        <p:nvPicPr>
          <p:cNvPr id="8" name="object 48">
            <a:extLst>
              <a:ext uri="{FF2B5EF4-FFF2-40B4-BE49-F238E27FC236}">
                <a16:creationId xmlns:a16="http://schemas.microsoft.com/office/drawing/2014/main" id="{866B0F6A-3928-824D-B9E6-918734F0FA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1756" y="3256157"/>
            <a:ext cx="6958361" cy="22971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B7AE5A5-1446-D446-8B56-44142242085B}"/>
              </a:ext>
            </a:extLst>
          </p:cNvPr>
          <p:cNvSpPr/>
          <p:nvPr/>
        </p:nvSpPr>
        <p:spPr>
          <a:xfrm>
            <a:off x="639337" y="1252785"/>
            <a:ext cx="78406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training data does not contain enough faces from a minority, accuracy at inference suffers (model does not build relevant features)</a:t>
            </a:r>
          </a:p>
        </p:txBody>
      </p:sp>
    </p:spTree>
    <p:extLst>
      <p:ext uri="{BB962C8B-B14F-4D97-AF65-F5344CB8AC3E}">
        <p14:creationId xmlns:p14="http://schemas.microsoft.com/office/powerpoint/2010/main" val="1315966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0B40E-7A9A-AA4D-9DD0-51E1D46FD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FA62D-E923-5548-89A5-1368AFC1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35</a:t>
            </a:fld>
            <a:endParaRPr 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535E7A25-B47B-7440-BA20-4092D0C0C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96" y="366846"/>
            <a:ext cx="88191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800" b="1" dirty="0">
                <a:latin typeface="Arial"/>
                <a:cs typeface="Arial"/>
              </a:rPr>
              <a:t>Ethical</a:t>
            </a:r>
            <a:r>
              <a:rPr lang="en-US" sz="2800" b="1" spc="-50" dirty="0">
                <a:latin typeface="Arial"/>
                <a:cs typeface="Arial"/>
              </a:rPr>
              <a:t> </a:t>
            </a:r>
            <a:r>
              <a:rPr lang="en-US" sz="2800" b="1" dirty="0">
                <a:latin typeface="Arial"/>
                <a:cs typeface="Arial"/>
              </a:rPr>
              <a:t>and</a:t>
            </a:r>
            <a:r>
              <a:rPr lang="en-US" sz="2800" b="1" spc="-45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Responsible</a:t>
            </a:r>
            <a:r>
              <a:rPr lang="en-US" sz="2800" b="1" spc="-45" dirty="0">
                <a:latin typeface="Arial"/>
                <a:cs typeface="Arial"/>
              </a:rPr>
              <a:t> </a:t>
            </a:r>
            <a:r>
              <a:rPr lang="en-US" sz="2800" b="1" spc="-25" dirty="0">
                <a:latin typeface="Arial"/>
                <a:cs typeface="Arial"/>
              </a:rPr>
              <a:t>AI</a:t>
            </a:r>
            <a:endParaRPr lang="en-US" sz="2800" b="1" dirty="0">
              <a:latin typeface="Arial"/>
              <a:cs typeface="Arial"/>
            </a:endParaRPr>
          </a:p>
        </p:txBody>
      </p:sp>
      <p:pic>
        <p:nvPicPr>
          <p:cNvPr id="7" name="object 47">
            <a:extLst>
              <a:ext uri="{FF2B5EF4-FFF2-40B4-BE49-F238E27FC236}">
                <a16:creationId xmlns:a16="http://schemas.microsoft.com/office/drawing/2014/main" id="{48E49640-9D52-1A4C-A2DB-C79167D7BE2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1794" y="1204333"/>
            <a:ext cx="5307981" cy="454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7247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ED09D-EEFC-694F-9AEC-165A9CA32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DD2C4-ECDF-FF45-B571-16717C7D6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36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1987E5-C456-A24E-A786-E4D9D4931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129" y="1239084"/>
            <a:ext cx="9778214" cy="511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4601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5BF78B-5FC2-D745-8A19-67B827B89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B23137-CBFB-6942-A0AA-258E5D747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55F8-2492-1846-8425-4B01E38DDB0C}" type="slidenum">
              <a:rPr lang="en-US" smtClean="0"/>
              <a:t>37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25DFFF-5C97-3F4B-AF8F-C2363B6D4E7D}"/>
              </a:ext>
            </a:extLst>
          </p:cNvPr>
          <p:cNvSpPr txBox="1"/>
          <p:nvPr/>
        </p:nvSpPr>
        <p:spPr>
          <a:xfrm>
            <a:off x="4896678" y="2955235"/>
            <a:ext cx="2663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3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083749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5443</TotalTime>
  <Words>1124</Words>
  <Application>Microsoft Macintosh PowerPoint</Application>
  <PresentationFormat>Widescreen</PresentationFormat>
  <Paragraphs>204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9" baseType="lpstr">
      <vt:lpstr>等线</vt:lpstr>
      <vt:lpstr>等线</vt:lpstr>
      <vt:lpstr>DM Sans</vt:lpstr>
      <vt:lpstr>IBM Plex Sans</vt:lpstr>
      <vt:lpstr>Inter</vt:lpstr>
      <vt:lpstr>SimSun</vt:lpstr>
      <vt:lpstr>Source Serif 4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65</cp:revision>
  <dcterms:created xsi:type="dcterms:W3CDTF">2025-09-02T04:25:50Z</dcterms:created>
  <dcterms:modified xsi:type="dcterms:W3CDTF">2026-04-01T10:17:50Z</dcterms:modified>
</cp:coreProperties>
</file>