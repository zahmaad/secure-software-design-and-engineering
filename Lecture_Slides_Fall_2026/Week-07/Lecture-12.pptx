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80" r:id="rId2"/>
    <p:sldId id="633" r:id="rId3"/>
    <p:sldId id="634" r:id="rId4"/>
    <p:sldId id="635" r:id="rId5"/>
    <p:sldId id="636" r:id="rId6"/>
    <p:sldId id="403" r:id="rId7"/>
    <p:sldId id="639" r:id="rId8"/>
    <p:sldId id="640" r:id="rId9"/>
    <p:sldId id="641" r:id="rId10"/>
    <p:sldId id="583" r:id="rId11"/>
    <p:sldId id="614" r:id="rId12"/>
    <p:sldId id="616" r:id="rId13"/>
    <p:sldId id="619" r:id="rId14"/>
    <p:sldId id="621" r:id="rId15"/>
    <p:sldId id="620" r:id="rId16"/>
    <p:sldId id="622" r:id="rId17"/>
    <p:sldId id="623" r:id="rId18"/>
    <p:sldId id="625" r:id="rId19"/>
    <p:sldId id="624" r:id="rId20"/>
    <p:sldId id="626" r:id="rId21"/>
    <p:sldId id="627" r:id="rId22"/>
    <p:sldId id="628" r:id="rId23"/>
    <p:sldId id="629" r:id="rId24"/>
    <p:sldId id="615" r:id="rId25"/>
    <p:sldId id="637" r:id="rId26"/>
    <p:sldId id="638" r:id="rId27"/>
    <p:sldId id="372" r:id="rId28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33"/>
            <p14:sldId id="634"/>
            <p14:sldId id="635"/>
            <p14:sldId id="636"/>
            <p14:sldId id="403"/>
            <p14:sldId id="639"/>
            <p14:sldId id="640"/>
            <p14:sldId id="641"/>
            <p14:sldId id="583"/>
            <p14:sldId id="614"/>
            <p14:sldId id="616"/>
            <p14:sldId id="619"/>
            <p14:sldId id="621"/>
            <p14:sldId id="620"/>
            <p14:sldId id="622"/>
            <p14:sldId id="623"/>
            <p14:sldId id="625"/>
            <p14:sldId id="624"/>
            <p14:sldId id="626"/>
            <p14:sldId id="627"/>
            <p14:sldId id="628"/>
            <p14:sldId id="629"/>
            <p14:sldId id="615"/>
            <p14:sldId id="637"/>
            <p14:sldId id="638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17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Input Validation 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394957" y="1198781"/>
            <a:ext cx="5116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DDF537-E9B1-FB4D-A12E-5B5CFE38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1DBD5E-0883-2F4A-A125-4CFD931743FA}"/>
              </a:ext>
            </a:extLst>
          </p:cNvPr>
          <p:cNvSpPr/>
          <p:nvPr/>
        </p:nvSpPr>
        <p:spPr>
          <a:xfrm>
            <a:off x="1093746" y="3830609"/>
            <a:ext cx="62214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Ken Thompson invented Unix together with Dennis Richie.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784CAB-57E8-3B4D-962F-758164EB8D96}"/>
              </a:ext>
            </a:extLst>
          </p:cNvPr>
          <p:cNvSpPr/>
          <p:nvPr/>
        </p:nvSpPr>
        <p:spPr>
          <a:xfrm>
            <a:off x="1205260" y="4487857"/>
            <a:ext cx="5998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this achievement, he was awarded the ACM Turing Award in 1984.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108A7-F6AD-F44F-AA5C-84CE322831F4}"/>
              </a:ext>
            </a:extLst>
          </p:cNvPr>
          <p:cNvSpPr/>
          <p:nvPr/>
        </p:nvSpPr>
        <p:spPr>
          <a:xfrm>
            <a:off x="1205260" y="5422104"/>
            <a:ext cx="66005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his award lecture, he outlined how he modified the Unix C compiler so that he got access to any Unix system.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923EF-DF09-3545-B2A2-86E86557C7CA}"/>
              </a:ext>
            </a:extLst>
          </p:cNvPr>
          <p:cNvSpPr/>
          <p:nvPr/>
        </p:nvSpPr>
        <p:spPr>
          <a:xfrm>
            <a:off x="0" y="389622"/>
            <a:ext cx="6534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Why is Trust Management So Difficult?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BB1942-C6ED-2640-937C-DB90D0A57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521" y="1248251"/>
            <a:ext cx="37719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1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7B78DA-C2BA-E442-97F8-35A1B8FC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A5672A-11EA-4046-B114-AD6C360EB412}"/>
              </a:ext>
            </a:extLst>
          </p:cNvPr>
          <p:cNvSpPr/>
          <p:nvPr/>
        </p:nvSpPr>
        <p:spPr>
          <a:xfrm>
            <a:off x="0" y="486186"/>
            <a:ext cx="4878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Reflections on Trusting Trust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12241-63E5-8F48-BA8C-FCC8F7197229}"/>
              </a:ext>
            </a:extLst>
          </p:cNvPr>
          <p:cNvSpPr/>
          <p:nvPr/>
        </p:nvSpPr>
        <p:spPr>
          <a:xfrm>
            <a:off x="848422" y="1517677"/>
            <a:ext cx="7581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 modified the system such that the compiler source code was free of any trace of malicious activity.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60240F-91D2-0A46-A1D3-C6B76CA15799}"/>
              </a:ext>
            </a:extLst>
          </p:cNvPr>
          <p:cNvSpPr/>
          <p:nvPr/>
        </p:nvSpPr>
        <p:spPr>
          <a:xfrm>
            <a:off x="1261447" y="2672279"/>
            <a:ext cx="77857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 C compiler detected that the login program was compiled, it compiled in a back door that would allow Thompson access with a special user name/password combination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BC805-AE65-2849-94B0-6A13D795773E}"/>
              </a:ext>
            </a:extLst>
          </p:cNvPr>
          <p:cNvSpPr/>
          <p:nvPr/>
        </p:nvSpPr>
        <p:spPr>
          <a:xfrm>
            <a:off x="848422" y="4924750"/>
            <a:ext cx="77380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Now, this modification is pretty obvious, because you can see it in the C compiler source code.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9D4178-11D8-AD41-9BAC-9A1BE7BA692A}"/>
              </a:ext>
            </a:extLst>
          </p:cNvPr>
          <p:cNvSpPr/>
          <p:nvPr/>
        </p:nvSpPr>
        <p:spPr>
          <a:xfrm>
            <a:off x="1261446" y="3968999"/>
            <a:ext cx="77857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 C compiler detected that it was compiling itself, it would compile in code that would create the above back door.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4990A8-67B1-3648-AF15-6F477C0EC402}"/>
              </a:ext>
            </a:extLst>
          </p:cNvPr>
          <p:cNvSpPr/>
          <p:nvPr/>
        </p:nvSpPr>
        <p:spPr>
          <a:xfrm>
            <a:off x="848422" y="5728925"/>
            <a:ext cx="31277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What did Thompson do next?</a:t>
            </a:r>
          </a:p>
        </p:txBody>
      </p:sp>
    </p:spTree>
    <p:extLst>
      <p:ext uri="{BB962C8B-B14F-4D97-AF65-F5344CB8AC3E}">
        <p14:creationId xmlns:p14="http://schemas.microsoft.com/office/powerpoint/2010/main" val="47260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8A967-9EF3-BF47-B65C-FE6A93821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2827BA-EF38-7248-B8B3-7860BDB3F394}"/>
              </a:ext>
            </a:extLst>
          </p:cNvPr>
          <p:cNvSpPr/>
          <p:nvPr/>
        </p:nvSpPr>
        <p:spPr>
          <a:xfrm>
            <a:off x="1842604" y="1504743"/>
            <a:ext cx="56893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1. He compiled the C compiler with itself;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6C14C8-369B-8944-9C89-52F5551E524A}"/>
              </a:ext>
            </a:extLst>
          </p:cNvPr>
          <p:cNvSpPr/>
          <p:nvPr/>
        </p:nvSpPr>
        <p:spPr>
          <a:xfrm>
            <a:off x="1842602" y="2242275"/>
            <a:ext cx="73823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2. He removed the modifications from the C compiler;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A47E95-B210-1A47-8178-93D176035A6B}"/>
              </a:ext>
            </a:extLst>
          </p:cNvPr>
          <p:cNvSpPr/>
          <p:nvPr/>
        </p:nvSpPr>
        <p:spPr>
          <a:xfrm>
            <a:off x="1842602" y="2938858"/>
            <a:ext cx="8063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3. He recompiled the C compiler with itself one more time.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BE185A-16DB-6241-B80D-8516BB1ED768}"/>
              </a:ext>
            </a:extLst>
          </p:cNvPr>
          <p:cNvSpPr/>
          <p:nvPr/>
        </p:nvSpPr>
        <p:spPr>
          <a:xfrm>
            <a:off x="1517493" y="4501519"/>
            <a:ext cx="7291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That way, all traces in the source code were gone and literally no amount of source code analysis would find any problems with the compiler.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F56BEE-170E-3C4F-ACA1-E0C4EF4A5F1B}"/>
              </a:ext>
            </a:extLst>
          </p:cNvPr>
          <p:cNvSpPr/>
          <p:nvPr/>
        </p:nvSpPr>
        <p:spPr>
          <a:xfrm>
            <a:off x="0" y="501135"/>
            <a:ext cx="4878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Reflections on Trusting Trust</a:t>
            </a:r>
          </a:p>
        </p:txBody>
      </p:sp>
    </p:spTree>
    <p:extLst>
      <p:ext uri="{BB962C8B-B14F-4D97-AF65-F5344CB8AC3E}">
        <p14:creationId xmlns:p14="http://schemas.microsoft.com/office/powerpoint/2010/main" val="367559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53C03-E44A-E84E-9FFF-3A21877A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E2EEA8-AAD5-394F-8839-D9E189319872}"/>
              </a:ext>
            </a:extLst>
          </p:cNvPr>
          <p:cNvSpPr/>
          <p:nvPr/>
        </p:nvSpPr>
        <p:spPr>
          <a:xfrm>
            <a:off x="1315844" y="2653990"/>
            <a:ext cx="76051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“The moral is obvious. You cant trust code that you did not totally create yourself. (Especially code from companies that employ people like me.)” </a:t>
            </a:r>
          </a:p>
          <a:p>
            <a:endParaRPr lang="en-US" sz="2400" dirty="0"/>
          </a:p>
          <a:p>
            <a:r>
              <a:rPr lang="en-US" sz="2400" dirty="0"/>
              <a:t>                                                             —Ken Thompson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B5819F-76E1-534E-8C16-59AD6D4814CA}"/>
              </a:ext>
            </a:extLst>
          </p:cNvPr>
          <p:cNvSpPr/>
          <p:nvPr/>
        </p:nvSpPr>
        <p:spPr>
          <a:xfrm>
            <a:off x="0" y="486186"/>
            <a:ext cx="4878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Reflections on Trusting Trust</a:t>
            </a:r>
          </a:p>
        </p:txBody>
      </p:sp>
    </p:spTree>
    <p:extLst>
      <p:ext uri="{BB962C8B-B14F-4D97-AF65-F5344CB8AC3E}">
        <p14:creationId xmlns:p14="http://schemas.microsoft.com/office/powerpoint/2010/main" val="402832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ADF67A-095B-9C45-8305-95DE9BD5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AF69AE-729F-9049-9025-CBC80810D76E}"/>
              </a:ext>
            </a:extLst>
          </p:cNvPr>
          <p:cNvSpPr/>
          <p:nvPr/>
        </p:nvSpPr>
        <p:spPr>
          <a:xfrm>
            <a:off x="690730" y="1252862"/>
            <a:ext cx="8334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trust relationship is a relationship among the different participants in a software system and concerns the assumptions that those participants make about security properties of the other part.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5A07E3-AF27-244F-8866-B6DF1AA9844C}"/>
              </a:ext>
            </a:extLst>
          </p:cNvPr>
          <p:cNvSpPr/>
          <p:nvPr/>
        </p:nvSpPr>
        <p:spPr>
          <a:xfrm>
            <a:off x="787548" y="2591255"/>
            <a:ext cx="78078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example, a function might assume that its inputs are shorter than some maximum length; or it might assume that its input is a valid user name.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CFC753-9FA7-EF42-8FB5-F1A6D50B5B14}"/>
              </a:ext>
            </a:extLst>
          </p:cNvPr>
          <p:cNvSpPr/>
          <p:nvPr/>
        </p:nvSpPr>
        <p:spPr>
          <a:xfrm>
            <a:off x="97507" y="491333"/>
            <a:ext cx="56188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Why is Trust Management So Difficult?</a:t>
            </a:r>
          </a:p>
        </p:txBody>
      </p:sp>
    </p:spTree>
    <p:extLst>
      <p:ext uri="{BB962C8B-B14F-4D97-AF65-F5344CB8AC3E}">
        <p14:creationId xmlns:p14="http://schemas.microsoft.com/office/powerpoint/2010/main" val="5902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09E532-293D-804E-AD6F-AC32C8A14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CEB5AB-8E86-BA4C-A0B2-F77C9B60C1E9}"/>
              </a:ext>
            </a:extLst>
          </p:cNvPr>
          <p:cNvSpPr/>
          <p:nvPr/>
        </p:nvSpPr>
        <p:spPr>
          <a:xfrm>
            <a:off x="371644" y="1125120"/>
            <a:ext cx="66244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Traditionally, the responsibility of making sure that the functions assumptions are met lay with the caller of the function.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41CAC-1A29-BB47-8D0B-8CECDEFF43C2}"/>
              </a:ext>
            </a:extLst>
          </p:cNvPr>
          <p:cNvSpPr/>
          <p:nvPr/>
        </p:nvSpPr>
        <p:spPr>
          <a:xfrm>
            <a:off x="1464553" y="2067743"/>
            <a:ext cx="74212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“The </a:t>
            </a:r>
            <a:r>
              <a:rPr lang="en-US" dirty="0" err="1"/>
              <a:t>strcpy</a:t>
            </a:r>
            <a:r>
              <a:rPr lang="en-US" dirty="0"/>
              <a:t>() function copies the string pointed to by </a:t>
            </a:r>
            <a:r>
              <a:rPr lang="en-US" dirty="0" err="1"/>
              <a:t>src</a:t>
            </a:r>
            <a:r>
              <a:rPr lang="en-US" dirty="0"/>
              <a:t> (including the terminating ‘\0’character) to the array pointed to by </a:t>
            </a:r>
            <a:r>
              <a:rPr lang="en-US" dirty="0" err="1"/>
              <a:t>dest</a:t>
            </a:r>
            <a:r>
              <a:rPr lang="en-US" dirty="0"/>
              <a:t>. The strings may not overlap, and the destination string </a:t>
            </a:r>
            <a:r>
              <a:rPr lang="en-US" dirty="0" err="1"/>
              <a:t>dest</a:t>
            </a:r>
            <a:r>
              <a:rPr lang="en-US" dirty="0"/>
              <a:t> must be large enough to receive the copy.” —</a:t>
            </a:r>
            <a:r>
              <a:rPr lang="en-US" dirty="0" err="1"/>
              <a:t>strcpy</a:t>
            </a:r>
            <a:r>
              <a:rPr lang="en-US" dirty="0"/>
              <a:t>(3) manual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0C11E-8A3C-2249-8DE1-63DCFD10893A}"/>
              </a:ext>
            </a:extLst>
          </p:cNvPr>
          <p:cNvSpPr/>
          <p:nvPr/>
        </p:nvSpPr>
        <p:spPr>
          <a:xfrm>
            <a:off x="486334" y="3935048"/>
            <a:ext cx="88513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can then say that the library routine trusts its caller to provide legal arguments.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B817F0-0AE9-A84D-9CFA-7C3C152B795A}"/>
              </a:ext>
            </a:extLst>
          </p:cNvPr>
          <p:cNvSpPr/>
          <p:nvPr/>
        </p:nvSpPr>
        <p:spPr>
          <a:xfrm>
            <a:off x="486333" y="4831504"/>
            <a:ext cx="86146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 attacker is often interested in violating the assumptions that parts of a program make, because “interesting” things often happen if they are violated.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8DA29C-1304-3F48-8BC5-10DD611FF444}"/>
              </a:ext>
            </a:extLst>
          </p:cNvPr>
          <p:cNvSpPr/>
          <p:nvPr/>
        </p:nvSpPr>
        <p:spPr>
          <a:xfrm>
            <a:off x="129780" y="515309"/>
            <a:ext cx="56188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Why is Trust Management So Difficult?</a:t>
            </a:r>
          </a:p>
        </p:txBody>
      </p:sp>
    </p:spTree>
    <p:extLst>
      <p:ext uri="{BB962C8B-B14F-4D97-AF65-F5344CB8AC3E}">
        <p14:creationId xmlns:p14="http://schemas.microsoft.com/office/powerpoint/2010/main" val="365399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54F8DC-CF66-BC47-B2A1-844D7D70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E2C241-BEEC-0C4A-B896-448B76131F33}"/>
              </a:ext>
            </a:extLst>
          </p:cNvPr>
          <p:cNvSpPr/>
          <p:nvPr/>
        </p:nvSpPr>
        <p:spPr>
          <a:xfrm>
            <a:off x="497091" y="4428830"/>
            <a:ext cx="92170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But when they do that, they lose sight of the system as a whole and forget to make their assumptions explicit. (That happens especially with routines that are deep in the guts of a system, because the assumption is that user input will only get this far after extensive validations in the upper layers.)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DA41F1-2137-494E-B2C0-F9722F765360}"/>
              </a:ext>
            </a:extLst>
          </p:cNvPr>
          <p:cNvSpPr/>
          <p:nvPr/>
        </p:nvSpPr>
        <p:spPr>
          <a:xfrm>
            <a:off x="497091" y="1379456"/>
            <a:ext cx="90019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Often, programmers extend trust to other parts of a program without realizing it.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E1EF8-6E26-CE42-9B4C-0425ECB7AF9F}"/>
              </a:ext>
            </a:extLst>
          </p:cNvPr>
          <p:cNvSpPr/>
          <p:nvPr/>
        </p:nvSpPr>
        <p:spPr>
          <a:xfrm>
            <a:off x="497093" y="2158550"/>
            <a:ext cx="87278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Assumptions are easy to make: Object-Oriented programming has taught us that we must decompose a system into small, largely independent objects and that it is OK to forget about the big picture when we are coding individual objects.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52381C-50C7-B54D-B1EC-CE0B4188BDED}"/>
              </a:ext>
            </a:extLst>
          </p:cNvPr>
          <p:cNvSpPr/>
          <p:nvPr/>
        </p:nvSpPr>
        <p:spPr>
          <a:xfrm>
            <a:off x="497091" y="3332307"/>
            <a:ext cx="87278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Therefore, programmers are encouraged to think about software development in small steps.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F316D1-3839-A449-956D-C811B9C3F593}"/>
              </a:ext>
            </a:extLst>
          </p:cNvPr>
          <p:cNvSpPr/>
          <p:nvPr/>
        </p:nvSpPr>
        <p:spPr>
          <a:xfrm>
            <a:off x="97507" y="491333"/>
            <a:ext cx="56188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Why is Trust Management So Difficult?</a:t>
            </a:r>
          </a:p>
        </p:txBody>
      </p:sp>
    </p:spTree>
    <p:extLst>
      <p:ext uri="{BB962C8B-B14F-4D97-AF65-F5344CB8AC3E}">
        <p14:creationId xmlns:p14="http://schemas.microsoft.com/office/powerpoint/2010/main" val="335978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745903-21EF-FE46-99D4-6A7AF779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F43FC2-E766-2543-9031-497EA5BEAC43}"/>
              </a:ext>
            </a:extLst>
          </p:cNvPr>
          <p:cNvSpPr/>
          <p:nvPr/>
        </p:nvSpPr>
        <p:spPr>
          <a:xfrm>
            <a:off x="1196338" y="4557304"/>
            <a:ext cx="83887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 err="1">
                <a:solidFill>
                  <a:schemeClr val="accent6"/>
                </a:solidFill>
              </a:rPr>
              <a:t>callee</a:t>
            </a:r>
            <a:r>
              <a:rPr lang="en-US" dirty="0"/>
              <a:t> can set a global variable to the detailed error description and return an error value in-band. This is prone to error on multithreaded systems, besides being confusing in certain circumstances.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A0C91-DF3F-DF4E-94EF-1E6ACC49958B}"/>
              </a:ext>
            </a:extLst>
          </p:cNvPr>
          <p:cNvSpPr/>
          <p:nvPr/>
        </p:nvSpPr>
        <p:spPr>
          <a:xfrm>
            <a:off x="518609" y="1215189"/>
            <a:ext cx="87063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Its often easier to put the burden of validation on the </a:t>
            </a:r>
            <a:r>
              <a:rPr lang="en-US" b="1" dirty="0">
                <a:solidFill>
                  <a:schemeClr val="accent1"/>
                </a:solidFill>
              </a:rPr>
              <a:t>caller</a:t>
            </a:r>
            <a:r>
              <a:rPr lang="en-US" dirty="0"/>
              <a:t> instead of validating input in the </a:t>
            </a:r>
            <a:r>
              <a:rPr lang="en-US" b="1" dirty="0" err="1">
                <a:solidFill>
                  <a:schemeClr val="accent6"/>
                </a:solidFill>
              </a:rPr>
              <a:t>callee</a:t>
            </a:r>
            <a:r>
              <a:rPr lang="en-US" dirty="0"/>
              <a:t> because there is often no standard way to signal an error to the </a:t>
            </a:r>
            <a:r>
              <a:rPr lang="en-US" b="1" dirty="0">
                <a:solidFill>
                  <a:schemeClr val="accent1"/>
                </a:solidFill>
              </a:rPr>
              <a:t>caller</a:t>
            </a:r>
            <a:r>
              <a:rPr lang="en-US" dirty="0"/>
              <a:t>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1F527-310A-FD47-B442-C437AD9F9ADC}"/>
              </a:ext>
            </a:extLst>
          </p:cNvPr>
          <p:cNvSpPr/>
          <p:nvPr/>
        </p:nvSpPr>
        <p:spPr>
          <a:xfrm>
            <a:off x="1196339" y="2204259"/>
            <a:ext cx="80286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 err="1">
                <a:solidFill>
                  <a:schemeClr val="accent6"/>
                </a:solidFill>
              </a:rPr>
              <a:t>callee</a:t>
            </a:r>
            <a:r>
              <a:rPr lang="en-US" dirty="0"/>
              <a:t> can throw an exception. This changes the control flow in a nonlinear way and often introduces objects that are not compatible with the rest of the application;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4A2EB8-5249-3749-ABD0-96456241A1BD}"/>
              </a:ext>
            </a:extLst>
          </p:cNvPr>
          <p:cNvSpPr/>
          <p:nvPr/>
        </p:nvSpPr>
        <p:spPr>
          <a:xfrm>
            <a:off x="1196338" y="3356975"/>
            <a:ext cx="82488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 err="1">
                <a:solidFill>
                  <a:schemeClr val="accent6"/>
                </a:solidFill>
              </a:rPr>
              <a:t>callee</a:t>
            </a:r>
            <a:r>
              <a:rPr lang="en-US" dirty="0"/>
              <a:t> can return an error code. Error codes are often not appropriate for returning detailed information about the error; or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19B12D-CA09-6D46-BF85-6B9047117C8D}"/>
              </a:ext>
            </a:extLst>
          </p:cNvPr>
          <p:cNvSpPr/>
          <p:nvPr/>
        </p:nvSpPr>
        <p:spPr>
          <a:xfrm>
            <a:off x="97507" y="491333"/>
            <a:ext cx="56188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Why is Trust Management So Difficult?</a:t>
            </a:r>
          </a:p>
        </p:txBody>
      </p:sp>
    </p:spTree>
    <p:extLst>
      <p:ext uri="{BB962C8B-B14F-4D97-AF65-F5344CB8AC3E}">
        <p14:creationId xmlns:p14="http://schemas.microsoft.com/office/powerpoint/2010/main" val="276137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9774C9-94D3-BA44-9265-F764399D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AAA01C-ECE8-0148-BF23-0C960C82D2EB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64CA5-CBD9-7C48-87DD-242B8F25509A}"/>
              </a:ext>
            </a:extLst>
          </p:cNvPr>
          <p:cNvSpPr/>
          <p:nvPr/>
        </p:nvSpPr>
        <p:spPr>
          <a:xfrm>
            <a:off x="893027" y="1230036"/>
            <a:ext cx="76711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Trust in input is often not warranted and sometimes downright </a:t>
            </a:r>
            <a:r>
              <a:rPr lang="en-US" sz="2400" dirty="0">
                <a:solidFill>
                  <a:srgbClr val="C00000"/>
                </a:solidFill>
              </a:rPr>
              <a:t>dangerous</a:t>
            </a:r>
            <a:r>
              <a:rPr lang="en-US" sz="2400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6A5A48-B45B-9045-86A5-B2974AF78BB0}"/>
              </a:ext>
            </a:extLst>
          </p:cNvPr>
          <p:cNvSpPr/>
          <p:nvPr/>
        </p:nvSpPr>
        <p:spPr>
          <a:xfrm>
            <a:off x="2043113" y="5146591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value of a is undefined, and therefore could be anything.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F8D9B-C021-7449-9BA6-37A53673F9C4}"/>
              </a:ext>
            </a:extLst>
          </p:cNvPr>
          <p:cNvSpPr/>
          <p:nvPr/>
        </p:nvSpPr>
        <p:spPr>
          <a:xfrm>
            <a:off x="1476039" y="2449650"/>
            <a:ext cx="4953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("%d", &amp;a);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("%d\n", a);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EECA0F-0194-3F46-AC67-BD8297693DAD}"/>
              </a:ext>
            </a:extLst>
          </p:cNvPr>
          <p:cNvSpPr/>
          <p:nvPr/>
        </p:nvSpPr>
        <p:spPr>
          <a:xfrm>
            <a:off x="6274893" y="3428788"/>
            <a:ext cx="32438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What happens if the user enters something that is not a number?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04A32F5-C901-7846-A5BC-F4BD1CB14E9C}"/>
              </a:ext>
            </a:extLst>
          </p:cNvPr>
          <p:cNvSpPr/>
          <p:nvPr/>
        </p:nvSpPr>
        <p:spPr>
          <a:xfrm>
            <a:off x="1873232" y="3603812"/>
            <a:ext cx="2646381" cy="634702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9226E92-011B-6D4E-8E0B-2FABB81FB682}"/>
              </a:ext>
            </a:extLst>
          </p:cNvPr>
          <p:cNvSpPr/>
          <p:nvPr/>
        </p:nvSpPr>
        <p:spPr>
          <a:xfrm>
            <a:off x="4859370" y="3706009"/>
            <a:ext cx="1075765" cy="4303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32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4" grpId="0"/>
      <p:bldP spid="7" grpId="0"/>
      <p:bldP spid="3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EC86FC-A0D6-2141-B0F0-CF3F3F4B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69A312-DCC5-BF46-9508-820FD157BE65}"/>
              </a:ext>
            </a:extLst>
          </p:cNvPr>
          <p:cNvSpPr/>
          <p:nvPr/>
        </p:nvSpPr>
        <p:spPr>
          <a:xfrm>
            <a:off x="1629007" y="1050646"/>
            <a:ext cx="4953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string.h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char filename[1024];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char command[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(filename) + 4];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fgets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(filename), stdin);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filename[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(filename) - 1] = '\0';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(command, "cat ");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(command, filename);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system(command); 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EBFBA1-CF02-7641-B709-51C4A905A786}"/>
              </a:ext>
            </a:extLst>
          </p:cNvPr>
          <p:cNvSpPr/>
          <p:nvPr/>
        </p:nvSpPr>
        <p:spPr>
          <a:xfrm>
            <a:off x="938470" y="5677650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What happens if a user enters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*”</a:t>
            </a:r>
            <a:r>
              <a:rPr lang="en-US" b="1" dirty="0"/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7A336-556E-9B41-B9AF-597C1DAD9C52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F86A0-0F51-5243-8719-5860DAFACF66}"/>
              </a:ext>
            </a:extLst>
          </p:cNvPr>
          <p:cNvSpPr/>
          <p:nvPr/>
        </p:nvSpPr>
        <p:spPr>
          <a:xfrm>
            <a:off x="1022431" y="5133863"/>
            <a:ext cx="2576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That is more interesting,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FF5DAE-2116-264E-9F85-9772AC4C2A93}"/>
              </a:ext>
            </a:extLst>
          </p:cNvPr>
          <p:cNvSpPr/>
          <p:nvPr/>
        </p:nvSpPr>
        <p:spPr>
          <a:xfrm>
            <a:off x="3598777" y="5133863"/>
            <a:ext cx="2824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 there a buffer overflow?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CD70C-94CB-6047-82E4-5D248EAB3869}"/>
              </a:ext>
            </a:extLst>
          </p:cNvPr>
          <p:cNvSpPr/>
          <p:nvPr/>
        </p:nvSpPr>
        <p:spPr>
          <a:xfrm>
            <a:off x="6282085" y="5133863"/>
            <a:ext cx="619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No.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4279BC-CA31-1E4C-BB81-44B303A307E3}"/>
              </a:ext>
            </a:extLst>
          </p:cNvPr>
          <p:cNvSpPr/>
          <p:nvPr/>
        </p:nvSpPr>
        <p:spPr>
          <a:xfrm>
            <a:off x="5891470" y="3467554"/>
            <a:ext cx="4001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What other problems might there be?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DE261E0-E3B2-A942-BA4B-2D3364C23A85}"/>
              </a:ext>
            </a:extLst>
          </p:cNvPr>
          <p:cNvSpPr/>
          <p:nvPr/>
        </p:nvSpPr>
        <p:spPr>
          <a:xfrm>
            <a:off x="1813103" y="3112064"/>
            <a:ext cx="2892221" cy="1043493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C4B2FCFE-039E-594C-9BFD-E1785E15053E}"/>
              </a:ext>
            </a:extLst>
          </p:cNvPr>
          <p:cNvSpPr/>
          <p:nvPr/>
        </p:nvSpPr>
        <p:spPr>
          <a:xfrm>
            <a:off x="4760515" y="3437067"/>
            <a:ext cx="1075765" cy="4303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F6FD1B-96D2-9748-86B6-C7D7C579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4F5EE-EB49-4E4C-B43E-E07A9A813A68}"/>
              </a:ext>
            </a:extLst>
          </p:cNvPr>
          <p:cNvSpPr/>
          <p:nvPr/>
        </p:nvSpPr>
        <p:spPr>
          <a:xfrm>
            <a:off x="485510" y="1300658"/>
            <a:ext cx="4953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sqlite3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n_rows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(table,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query_start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"SELECT COUNT(*) FROM 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query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query_start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table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cursor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db_connection.cursor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cursor.execute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(query)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result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cursor.fetchone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result[0] if result else 0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C0F6B-BEEC-944E-B5ED-4FA0FB449004}"/>
              </a:ext>
            </a:extLst>
          </p:cNvPr>
          <p:cNvSpPr/>
          <p:nvPr/>
        </p:nvSpPr>
        <p:spPr>
          <a:xfrm>
            <a:off x="3623565" y="5547975"/>
            <a:ext cx="6282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if the argument </a:t>
            </a:r>
            <a:r>
              <a:rPr lang="en-US" dirty="0" err="1"/>
              <a:t>isnt</a:t>
            </a:r>
            <a:r>
              <a:rPr lang="en-US" dirty="0"/>
              <a:t> checked and the user can somehow enter “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customers; DROP TABLE customers</a:t>
            </a:r>
            <a:r>
              <a:rPr lang="en-US" dirty="0"/>
              <a:t>”?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EBE1AE-C4A0-E94C-BC2F-13E927B8A2C8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7E6D9F-F80D-6049-8A70-ADAB1091D901}"/>
              </a:ext>
            </a:extLst>
          </p:cNvPr>
          <p:cNvSpPr/>
          <p:nvPr/>
        </p:nvSpPr>
        <p:spPr>
          <a:xfrm>
            <a:off x="2598755" y="476175"/>
            <a:ext cx="2427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(SQL Injection) </a:t>
            </a: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2B2F13-A15B-A349-A125-413B83A6AECE}"/>
              </a:ext>
            </a:extLst>
          </p:cNvPr>
          <p:cNvSpPr/>
          <p:nvPr/>
        </p:nvSpPr>
        <p:spPr>
          <a:xfrm>
            <a:off x="6109830" y="3044955"/>
            <a:ext cx="4001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What other problems might there be?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331F9D-8216-4644-B59F-E8219FB64FE9}"/>
              </a:ext>
            </a:extLst>
          </p:cNvPr>
          <p:cNvSpPr/>
          <p:nvPr/>
        </p:nvSpPr>
        <p:spPr>
          <a:xfrm>
            <a:off x="809026" y="2880815"/>
            <a:ext cx="4216997" cy="712239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81BC6C4-4FF2-3A42-B28E-FF2D79BF1187}"/>
              </a:ext>
            </a:extLst>
          </p:cNvPr>
          <p:cNvSpPr/>
          <p:nvPr/>
        </p:nvSpPr>
        <p:spPr>
          <a:xfrm>
            <a:off x="5106871" y="2998060"/>
            <a:ext cx="1075765" cy="4303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1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9" grpId="0"/>
      <p:bldP spid="8" grpId="0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F6FD1B-96D2-9748-86B6-C7D7C579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8F29DD-CA69-7E4E-A706-752F10F120CB}"/>
              </a:ext>
            </a:extLst>
          </p:cNvPr>
          <p:cNvSpPr/>
          <p:nvPr/>
        </p:nvSpPr>
        <p:spPr>
          <a:xfrm>
            <a:off x="241859" y="1246912"/>
            <a:ext cx="58913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sqlite3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get_user_data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(username,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"""Retrieve user data based on the username."""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query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f"SELECT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FROM users WHERE username = '{username}'"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cursor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db_connection.cursor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cursor.execute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(query)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cursor.fetchall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7EDDDCBD-3648-A742-A790-CD64FF6E129E}"/>
              </a:ext>
            </a:extLst>
          </p:cNvPr>
          <p:cNvSpPr/>
          <p:nvPr/>
        </p:nvSpPr>
        <p:spPr>
          <a:xfrm>
            <a:off x="5464099" y="3997789"/>
            <a:ext cx="3166946" cy="2046172"/>
          </a:xfrm>
          <a:prstGeom prst="cloudCallout">
            <a:avLst>
              <a:gd name="adj1" fmla="val -61012"/>
              <a:gd name="adj2" fmla="val -544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'1'='1' always evaluates to TRUE, meaning </a:t>
            </a:r>
            <a:r>
              <a:rPr lang="en-US" b="1" dirty="0"/>
              <a:t>all user data</a:t>
            </a:r>
            <a:r>
              <a:rPr lang="en-US" dirty="0"/>
              <a:t> will be returned.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34B601-BFD7-084C-A9BE-5BE17CBF577B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A75E9E-54B7-DB41-92DF-24A60A8BD558}"/>
              </a:ext>
            </a:extLst>
          </p:cNvPr>
          <p:cNvSpPr/>
          <p:nvPr/>
        </p:nvSpPr>
        <p:spPr>
          <a:xfrm>
            <a:off x="2598755" y="476175"/>
            <a:ext cx="2427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(SQL Injection) </a:t>
            </a:r>
            <a:endParaRPr lang="en-US" sz="28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C439A4-0E0E-5B4E-8C8B-763390CB7FF0}"/>
              </a:ext>
            </a:extLst>
          </p:cNvPr>
          <p:cNvSpPr/>
          <p:nvPr/>
        </p:nvSpPr>
        <p:spPr>
          <a:xfrm>
            <a:off x="580912" y="3410174"/>
            <a:ext cx="4249272" cy="699247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60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F6FD1B-96D2-9748-86B6-C7D7C579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50C956-F2CA-5442-8662-D179F946370D}"/>
              </a:ext>
            </a:extLst>
          </p:cNvPr>
          <p:cNvSpPr/>
          <p:nvPr/>
        </p:nvSpPr>
        <p:spPr>
          <a:xfrm>
            <a:off x="324249" y="1278682"/>
            <a:ext cx="59204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get_user_data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(username,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"""Retrieve user data safely."""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query = "SELECT * FROM users WHERE username = ?"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cursor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db_connection.cursor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cursor.execute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(query, (username,))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cursor.fetchall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8" name="Cloud Callout 7">
            <a:extLst>
              <a:ext uri="{FF2B5EF4-FFF2-40B4-BE49-F238E27FC236}">
                <a16:creationId xmlns:a16="http://schemas.microsoft.com/office/drawing/2014/main" id="{9B359CAA-431B-8D4D-86C4-6BE932032D00}"/>
              </a:ext>
            </a:extLst>
          </p:cNvPr>
          <p:cNvSpPr/>
          <p:nvPr/>
        </p:nvSpPr>
        <p:spPr>
          <a:xfrm>
            <a:off x="5403301" y="4283900"/>
            <a:ext cx="1936952" cy="1086099"/>
          </a:xfrm>
          <a:prstGeom prst="cloudCallout">
            <a:avLst>
              <a:gd name="adj1" fmla="val -77742"/>
              <a:gd name="adj2" fmla="val -1220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Fixed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B2B48-98C5-3B45-80DB-2AF04F52A81B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</p:spTree>
    <p:extLst>
      <p:ext uri="{BB962C8B-B14F-4D97-AF65-F5344CB8AC3E}">
        <p14:creationId xmlns:p14="http://schemas.microsoft.com/office/powerpoint/2010/main" val="358104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F6FD1B-96D2-9748-86B6-C7D7C579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6ACE39-D14D-9C46-BC7D-915CF81A2E6C}"/>
              </a:ext>
            </a:extLst>
          </p:cNvPr>
          <p:cNvSpPr/>
          <p:nvPr/>
        </p:nvSpPr>
        <p:spPr>
          <a:xfrm>
            <a:off x="241858" y="1230954"/>
            <a:ext cx="564598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get_balance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account_id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query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f"SELECT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balance FROM accounts 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account_id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account_id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cursor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db_connection.cursor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cursor.execute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(query)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cursor.fetchall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5B7A3A38-5CEB-764C-9CE7-4962E5292CB0}"/>
              </a:ext>
            </a:extLst>
          </p:cNvPr>
          <p:cNvSpPr/>
          <p:nvPr/>
        </p:nvSpPr>
        <p:spPr>
          <a:xfrm>
            <a:off x="3858322" y="4048170"/>
            <a:ext cx="3612994" cy="2046172"/>
          </a:xfrm>
          <a:prstGeom prst="cloudCallout">
            <a:avLst>
              <a:gd name="adj1" fmla="val -11883"/>
              <a:gd name="adj2" fmla="val -1233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What If an attacker passes </a:t>
            </a:r>
            <a:r>
              <a:rPr lang="en-US" b="1" dirty="0"/>
              <a:t>123 UNION SELECT </a:t>
            </a:r>
            <a:r>
              <a:rPr lang="en-US" b="1" dirty="0" err="1"/>
              <a:t>credit_card_number</a:t>
            </a:r>
            <a:r>
              <a:rPr lang="en-US" b="1" dirty="0"/>
              <a:t> FROM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F3E0FC-D390-9A47-AD65-F68225135DDF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6B5BCE-5182-CB4E-AFE2-7A0CAF9287A3}"/>
              </a:ext>
            </a:extLst>
          </p:cNvPr>
          <p:cNvSpPr/>
          <p:nvPr/>
        </p:nvSpPr>
        <p:spPr>
          <a:xfrm>
            <a:off x="2598755" y="476175"/>
            <a:ext cx="2427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(SQL Injection) </a:t>
            </a:r>
            <a:endParaRPr lang="en-US" sz="28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B21356-3E2D-9F4E-BB38-CF5C800F4F01}"/>
              </a:ext>
            </a:extLst>
          </p:cNvPr>
          <p:cNvSpPr/>
          <p:nvPr/>
        </p:nvSpPr>
        <p:spPr>
          <a:xfrm>
            <a:off x="60874" y="1581374"/>
            <a:ext cx="5565376" cy="634701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41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F6FD1B-96D2-9748-86B6-C7D7C579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8461D-3708-144C-B542-2EC6178B4FB3}"/>
              </a:ext>
            </a:extLst>
          </p:cNvPr>
          <p:cNvSpPr/>
          <p:nvPr/>
        </p:nvSpPr>
        <p:spPr>
          <a:xfrm>
            <a:off x="781515" y="1578778"/>
            <a:ext cx="557468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get_balance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account_id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"""Retrieve account balance safely."""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query = "SELECT balance FROM accounts 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account_id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?"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cursor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db_connection.cursor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cursor.execute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(query,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account_id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,))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cursor.fetchall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7" name="Cloud Callout 6">
            <a:extLst>
              <a:ext uri="{FF2B5EF4-FFF2-40B4-BE49-F238E27FC236}">
                <a16:creationId xmlns:a16="http://schemas.microsoft.com/office/drawing/2014/main" id="{F9E3B015-38ED-DA4F-8FB9-5835DCAA07E4}"/>
              </a:ext>
            </a:extLst>
          </p:cNvPr>
          <p:cNvSpPr/>
          <p:nvPr/>
        </p:nvSpPr>
        <p:spPr>
          <a:xfrm>
            <a:off x="5804134" y="4785432"/>
            <a:ext cx="1936952" cy="1086099"/>
          </a:xfrm>
          <a:prstGeom prst="cloudCallout">
            <a:avLst>
              <a:gd name="adj1" fmla="val -77742"/>
              <a:gd name="adj2" fmla="val -1220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Fixed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C2FAA3-918A-DB4D-8AD6-0C4420B69B67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</p:spTree>
    <p:extLst>
      <p:ext uri="{BB962C8B-B14F-4D97-AF65-F5344CB8AC3E}">
        <p14:creationId xmlns:p14="http://schemas.microsoft.com/office/powerpoint/2010/main" val="207708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FD57D5-FAA5-3343-918E-7A3728F3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AC3C9-185B-7A48-AFAF-6BE6ECD4DB4C}"/>
              </a:ext>
            </a:extLst>
          </p:cNvPr>
          <p:cNvSpPr/>
          <p:nvPr/>
        </p:nvSpPr>
        <p:spPr>
          <a:xfrm>
            <a:off x="848422" y="1346384"/>
            <a:ext cx="56415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delete_file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(filename):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"""Deletes a file given its name."""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command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f"rm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{filename}"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os.system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(command)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delete_file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important.txt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")  </a:t>
            </a:r>
          </a:p>
        </p:txBody>
      </p:sp>
      <p:sp>
        <p:nvSpPr>
          <p:cNvPr id="5" name="Cloud Callout 4">
            <a:extLst>
              <a:ext uri="{FF2B5EF4-FFF2-40B4-BE49-F238E27FC236}">
                <a16:creationId xmlns:a16="http://schemas.microsoft.com/office/drawing/2014/main" id="{1C3E64F7-8BB4-5445-B07F-B527AA5B604B}"/>
              </a:ext>
            </a:extLst>
          </p:cNvPr>
          <p:cNvSpPr/>
          <p:nvPr/>
        </p:nvSpPr>
        <p:spPr>
          <a:xfrm>
            <a:off x="6066265" y="3931707"/>
            <a:ext cx="2877014" cy="1315844"/>
          </a:xfrm>
          <a:prstGeom prst="cloudCallout">
            <a:avLst>
              <a:gd name="adj1" fmla="val -62797"/>
              <a:gd name="adj2" fmla="val -1171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How an Attacker Exploits This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6ACA2D-DD8F-2946-A716-59998931F6F0}"/>
              </a:ext>
            </a:extLst>
          </p:cNvPr>
          <p:cNvSpPr/>
          <p:nvPr/>
        </p:nvSpPr>
        <p:spPr>
          <a:xfrm>
            <a:off x="848422" y="4589629"/>
            <a:ext cx="5250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delete_file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important.txt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CBCB9-25CB-0D42-976D-218DD464C8D0}"/>
              </a:ext>
            </a:extLst>
          </p:cNvPr>
          <p:cNvSpPr/>
          <p:nvPr/>
        </p:nvSpPr>
        <p:spPr>
          <a:xfrm>
            <a:off x="848422" y="5432217"/>
            <a:ext cx="3983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important.txt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92B6D5-A8A8-CB47-A115-2A701FB25DDA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8723DE-46C0-4449-AC17-118768AD59F1}"/>
              </a:ext>
            </a:extLst>
          </p:cNvPr>
          <p:cNvSpPr/>
          <p:nvPr/>
        </p:nvSpPr>
        <p:spPr>
          <a:xfrm>
            <a:off x="2598755" y="476175"/>
            <a:ext cx="3873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(OS Command Injection) </a:t>
            </a:r>
            <a:endParaRPr lang="en-US" sz="28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EEE72B0-FCA3-F448-99B1-110B0CD32CCF}"/>
              </a:ext>
            </a:extLst>
          </p:cNvPr>
          <p:cNvSpPr/>
          <p:nvPr/>
        </p:nvSpPr>
        <p:spPr>
          <a:xfrm>
            <a:off x="1120950" y="2500546"/>
            <a:ext cx="4483783" cy="705233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8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300F86-1D16-BB48-BAB5-8CC1CB76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E36D87-A4ED-4947-AB5D-096036F87113}"/>
              </a:ext>
            </a:extLst>
          </p:cNvPr>
          <p:cNvSpPr/>
          <p:nvPr/>
        </p:nvSpPr>
        <p:spPr>
          <a:xfrm>
            <a:off x="335466" y="1113990"/>
            <a:ext cx="4953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shlex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delete_file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(filename):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safe_filename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shlex.quote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(filename)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os.system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f"rm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safe_filename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delete_file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important.txt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sp>
        <p:nvSpPr>
          <p:cNvPr id="4" name="Cloud Callout 3">
            <a:extLst>
              <a:ext uri="{FF2B5EF4-FFF2-40B4-BE49-F238E27FC236}">
                <a16:creationId xmlns:a16="http://schemas.microsoft.com/office/drawing/2014/main" id="{AF953000-143D-3148-BA01-E1009F8FE3C2}"/>
              </a:ext>
            </a:extLst>
          </p:cNvPr>
          <p:cNvSpPr/>
          <p:nvPr/>
        </p:nvSpPr>
        <p:spPr>
          <a:xfrm>
            <a:off x="6088566" y="3724507"/>
            <a:ext cx="3817434" cy="2096430"/>
          </a:xfrm>
          <a:prstGeom prst="cloudCallout">
            <a:avLst>
              <a:gd name="adj1" fmla="val -69455"/>
              <a:gd name="adj2" fmla="val -818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shlex.quote</a:t>
            </a:r>
            <a:r>
              <a:rPr lang="en-US" b="1" dirty="0"/>
              <a:t>(filename)</a:t>
            </a:r>
            <a:r>
              <a:rPr lang="en-US" dirty="0"/>
              <a:t> properly escapes shell metacharacters, preventing command injection.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9CA9B-8886-B04C-8889-2DD6D7D71E88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DDD2216-6CF4-8D41-B5BC-71EA29D61EAF}"/>
              </a:ext>
            </a:extLst>
          </p:cNvPr>
          <p:cNvSpPr/>
          <p:nvPr/>
        </p:nvSpPr>
        <p:spPr>
          <a:xfrm>
            <a:off x="185035" y="2268152"/>
            <a:ext cx="4967878" cy="335199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7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F7A3E2-3445-2B4F-A572-09A6B354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383BE1-ED12-3843-9DB0-CB0CBE61149C}"/>
              </a:ext>
            </a:extLst>
          </p:cNvPr>
          <p:cNvSpPr/>
          <p:nvPr/>
        </p:nvSpPr>
        <p:spPr>
          <a:xfrm>
            <a:off x="268558" y="1457896"/>
            <a:ext cx="4953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subprocess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ping_host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(host):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command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f"ping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-c 4 {host}"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subprocess.Popen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(command, shell=True)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ping_host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sp>
        <p:nvSpPr>
          <p:cNvPr id="4" name="Cloud Callout 3">
            <a:extLst>
              <a:ext uri="{FF2B5EF4-FFF2-40B4-BE49-F238E27FC236}">
                <a16:creationId xmlns:a16="http://schemas.microsoft.com/office/drawing/2014/main" id="{3E5B6C40-3728-FB46-803D-35B378113E9E}"/>
              </a:ext>
            </a:extLst>
          </p:cNvPr>
          <p:cNvSpPr/>
          <p:nvPr/>
        </p:nvSpPr>
        <p:spPr>
          <a:xfrm>
            <a:off x="6066265" y="3931707"/>
            <a:ext cx="2877014" cy="1315844"/>
          </a:xfrm>
          <a:prstGeom prst="cloudCallout">
            <a:avLst>
              <a:gd name="adj1" fmla="val -62797"/>
              <a:gd name="adj2" fmla="val -1171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How an Attacker Exploits This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B87EA-DA98-DC4F-B63F-C8D57337F418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E16D4-ED84-7E45-B123-8CD592F29C87}"/>
              </a:ext>
            </a:extLst>
          </p:cNvPr>
          <p:cNvSpPr/>
          <p:nvPr/>
        </p:nvSpPr>
        <p:spPr>
          <a:xfrm>
            <a:off x="436198" y="4871186"/>
            <a:ext cx="5630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ping_host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cat /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passwd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C7DFB6-FAE7-8941-AF62-B5CF3AE13C18}"/>
              </a:ext>
            </a:extLst>
          </p:cNvPr>
          <p:cNvSpPr/>
          <p:nvPr/>
        </p:nvSpPr>
        <p:spPr>
          <a:xfrm>
            <a:off x="494281" y="5518678"/>
            <a:ext cx="5250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ping -c 4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cat /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etc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passwd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A03936-BE66-C24C-957D-3C4CCE13199A}"/>
              </a:ext>
            </a:extLst>
          </p:cNvPr>
          <p:cNvSpPr/>
          <p:nvPr/>
        </p:nvSpPr>
        <p:spPr>
          <a:xfrm>
            <a:off x="2598755" y="476175"/>
            <a:ext cx="3873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(OS Command Injection)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363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F1EBCF-DEAB-EE43-867F-E510049C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169791-D00D-F947-9D4C-A0BA4098F4C2}"/>
              </a:ext>
            </a:extLst>
          </p:cNvPr>
          <p:cNvSpPr/>
          <p:nvPr/>
        </p:nvSpPr>
        <p:spPr>
          <a:xfrm>
            <a:off x="201650" y="1306464"/>
            <a:ext cx="64221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subprocess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ping_host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(host):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subprocess.run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(["ping", "-c", "4", host], check=True)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ping_host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5E90B3-CBAF-7F46-A7AE-C4EFFE7AA0C5}"/>
              </a:ext>
            </a:extLst>
          </p:cNvPr>
          <p:cNvSpPr/>
          <p:nvPr/>
        </p:nvSpPr>
        <p:spPr>
          <a:xfrm>
            <a:off x="2110483" y="4912332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Uses a </a:t>
            </a:r>
            <a:r>
              <a:rPr lang="en-US" sz="2400" b="1" dirty="0"/>
              <a:t>list of arguments</a:t>
            </a:r>
            <a:r>
              <a:rPr lang="en-US" sz="2400" dirty="0"/>
              <a:t> instead of </a:t>
            </a:r>
            <a:r>
              <a:rPr lang="en-US" sz="2400" b="1" dirty="0"/>
              <a:t>shell=True</a:t>
            </a:r>
            <a:r>
              <a:rPr lang="en-US" sz="2400" dirty="0"/>
              <a:t>, preventing command injection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1ABD6D-924C-4844-9A60-C87212CC45D0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</p:spTree>
    <p:extLst>
      <p:ext uri="{BB962C8B-B14F-4D97-AF65-F5344CB8AC3E}">
        <p14:creationId xmlns:p14="http://schemas.microsoft.com/office/powerpoint/2010/main" val="24764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9B78D9-1608-FF4A-985F-60D0999D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0EB90-F02A-9D42-B2A2-33FEFBA5CEC5}"/>
              </a:ext>
            </a:extLst>
          </p:cNvPr>
          <p:cNvSpPr/>
          <p:nvPr/>
        </p:nvSpPr>
        <p:spPr>
          <a:xfrm>
            <a:off x="446978" y="1085022"/>
            <a:ext cx="4953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ldap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username = input("Enter username: ")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password = input("Enter password: ")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# LDAP connection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conn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ldap.initialize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ldap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://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conn.simple_bind_s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admin,dc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example,dc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=com", "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adminpassword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search_filter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f"(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={username})"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result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conn.search_s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("dc=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example,dc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=com",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ldap.SCOPE_SUBTREE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search_filter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if result: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print("Authentication successful")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else: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print("Authentication failed")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9EEC5AB-5361-BE48-8243-6D254527BA04}"/>
              </a:ext>
            </a:extLst>
          </p:cNvPr>
          <p:cNvSpPr/>
          <p:nvPr/>
        </p:nvSpPr>
        <p:spPr>
          <a:xfrm>
            <a:off x="5561207" y="3412273"/>
            <a:ext cx="3211551" cy="7805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Restrict permissions in LDAP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E21B09-42E6-AF45-9880-D775E8CD24BB}"/>
              </a:ext>
            </a:extLst>
          </p:cNvPr>
          <p:cNvSpPr/>
          <p:nvPr/>
        </p:nvSpPr>
        <p:spPr>
          <a:xfrm>
            <a:off x="5680269" y="4958472"/>
            <a:ext cx="3909780" cy="632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Implement role-based access control (RBAC)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C2CF9F-BC3F-B14D-BBFC-9123FEBCB6E8}"/>
              </a:ext>
            </a:extLst>
          </p:cNvPr>
          <p:cNvSpPr/>
          <p:nvPr/>
        </p:nvSpPr>
        <p:spPr>
          <a:xfrm>
            <a:off x="5561207" y="1691009"/>
            <a:ext cx="3746810" cy="1279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Use LDAP escaping functions </a:t>
            </a:r>
            <a:r>
              <a:rPr lang="en-US" b="1" dirty="0"/>
              <a:t>(</a:t>
            </a:r>
            <a:r>
              <a:rPr lang="en-US" b="1" dirty="0" err="1"/>
              <a:t>ldap.filter.escape_filter_chars</a:t>
            </a:r>
            <a:r>
              <a:rPr lang="en-US" b="1" dirty="0"/>
              <a:t>())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8D1FB8-4729-5548-B14F-BCDCE61DDFA2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31B6FA-AB03-E542-9D0F-E328BFE33D0C}"/>
              </a:ext>
            </a:extLst>
          </p:cNvPr>
          <p:cNvSpPr/>
          <p:nvPr/>
        </p:nvSpPr>
        <p:spPr>
          <a:xfrm>
            <a:off x="2502608" y="476082"/>
            <a:ext cx="26454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(LDAP Injection) </a:t>
            </a:r>
            <a:endParaRPr lang="en-US" sz="2800" dirty="0">
              <a:effectLst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3A8462-FF48-A548-BBF2-D0B265B4BCC2}"/>
              </a:ext>
            </a:extLst>
          </p:cNvPr>
          <p:cNvSpPr/>
          <p:nvPr/>
        </p:nvSpPr>
        <p:spPr>
          <a:xfrm>
            <a:off x="166687" y="3802566"/>
            <a:ext cx="4967878" cy="335199"/>
          </a:xfrm>
          <a:prstGeom prst="round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1" grpId="0" animBg="1"/>
      <p:bldP spid="13" grpId="0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8209FB-D838-2F4D-B1D5-E65AF470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E0929E-7743-2649-B992-BCCEA8903E9D}"/>
              </a:ext>
            </a:extLst>
          </p:cNvPr>
          <p:cNvSpPr/>
          <p:nvPr/>
        </p:nvSpPr>
        <p:spPr>
          <a:xfrm>
            <a:off x="5308910" y="1343671"/>
            <a:ext cx="4953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600" dirty="0"/>
          </a:p>
          <a:p>
            <a:r>
              <a:rPr lang="en-US" sz="1600" dirty="0"/>
              <a:t># Load XML Data</a:t>
            </a:r>
          </a:p>
          <a:p>
            <a:r>
              <a:rPr lang="en-US" sz="1600" dirty="0"/>
              <a:t>tree = </a:t>
            </a:r>
            <a:r>
              <a:rPr lang="en-US" sz="1600" dirty="0" err="1"/>
              <a:t>etree.XML</a:t>
            </a:r>
            <a:r>
              <a:rPr lang="en-US" sz="1600" dirty="0"/>
              <a:t>(</a:t>
            </a:r>
            <a:r>
              <a:rPr lang="en-US" sz="1600" dirty="0" err="1"/>
              <a:t>xml_data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# Attacker input</a:t>
            </a:r>
          </a:p>
          <a:p>
            <a:r>
              <a:rPr lang="en-US" sz="1600" dirty="0"/>
              <a:t>username = input("Enter username: ")</a:t>
            </a:r>
          </a:p>
          <a:p>
            <a:endParaRPr lang="en-US" sz="1600" dirty="0"/>
          </a:p>
          <a:p>
            <a:r>
              <a:rPr lang="en-US" sz="1600" dirty="0"/>
              <a:t># Vulnerable XQuery-like search</a:t>
            </a:r>
          </a:p>
          <a:p>
            <a:r>
              <a:rPr lang="en-US" sz="1600" dirty="0"/>
              <a:t>query = f"//user[username='{username}']/email"</a:t>
            </a:r>
          </a:p>
          <a:p>
            <a:r>
              <a:rPr lang="en-US" sz="1600" dirty="0"/>
              <a:t>result = </a:t>
            </a:r>
            <a:r>
              <a:rPr lang="en-US" sz="1600" dirty="0" err="1"/>
              <a:t>tree.xpath</a:t>
            </a:r>
            <a:r>
              <a:rPr lang="en-US" sz="1600" dirty="0"/>
              <a:t>(query)</a:t>
            </a:r>
          </a:p>
          <a:p>
            <a:endParaRPr lang="en-US" sz="1600" dirty="0"/>
          </a:p>
          <a:p>
            <a:r>
              <a:rPr lang="en-US" sz="1600" dirty="0"/>
              <a:t>if result:</a:t>
            </a:r>
          </a:p>
          <a:p>
            <a:r>
              <a:rPr lang="en-US" sz="1600" dirty="0"/>
              <a:t>    print("Extracted Email:", result[0].text)</a:t>
            </a:r>
          </a:p>
          <a:p>
            <a:r>
              <a:rPr lang="en-US" sz="1600" dirty="0"/>
              <a:t>else:</a:t>
            </a:r>
          </a:p>
          <a:p>
            <a:r>
              <a:rPr lang="en-US" sz="1600" dirty="0"/>
              <a:t>    print("User not found")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6C2657-2548-7D40-A97F-B3733BDAED49}"/>
              </a:ext>
            </a:extLst>
          </p:cNvPr>
          <p:cNvSpPr/>
          <p:nvPr/>
        </p:nvSpPr>
        <p:spPr>
          <a:xfrm>
            <a:off x="355910" y="1555037"/>
            <a:ext cx="4953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lxml</a:t>
            </a:r>
            <a:r>
              <a:rPr lang="en-US" dirty="0"/>
              <a:t> import </a:t>
            </a:r>
            <a:r>
              <a:rPr lang="en-US" dirty="0" err="1"/>
              <a:t>etree</a:t>
            </a:r>
            <a:endParaRPr lang="en-US" dirty="0"/>
          </a:p>
          <a:p>
            <a:endParaRPr lang="en-US" dirty="0"/>
          </a:p>
          <a:p>
            <a:r>
              <a:rPr lang="en-US" dirty="0"/>
              <a:t># XML Database</a:t>
            </a:r>
          </a:p>
          <a:p>
            <a:r>
              <a:rPr lang="en-US" dirty="0" err="1"/>
              <a:t>xml_data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= """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&lt;users&gt;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&lt;user&gt;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  &lt;username&gt;admin&lt;/username&gt;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  &lt;password&gt;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supersecret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&lt;/password&gt;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  &lt;email&gt;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admin@example.com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&lt;/email&gt;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&lt;/user&gt;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&lt;user&gt;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  &lt;username&gt;john&lt;/username&gt;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  &lt;password&gt;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mypassword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&lt;/password&gt;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  &lt;email&gt;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john@example.com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&lt;/email&gt;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&lt;/user&gt;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&lt;/users&gt;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"""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AD74A-A8BE-7A43-89FA-F00DFA6DB72C}"/>
              </a:ext>
            </a:extLst>
          </p:cNvPr>
          <p:cNvSpPr txBox="1"/>
          <p:nvPr/>
        </p:nvSpPr>
        <p:spPr>
          <a:xfrm>
            <a:off x="535259" y="1070517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41A76-25B6-444A-A24D-9A0777CA387A}"/>
              </a:ext>
            </a:extLst>
          </p:cNvPr>
          <p:cNvSpPr txBox="1"/>
          <p:nvPr/>
        </p:nvSpPr>
        <p:spPr>
          <a:xfrm>
            <a:off x="5861825" y="1070516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Part-2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1DEA7-A05C-0B46-8843-BEBD0BEB4A59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00F05C-0B16-A04D-956A-E68E1C9009EA}"/>
              </a:ext>
            </a:extLst>
          </p:cNvPr>
          <p:cNvSpPr/>
          <p:nvPr/>
        </p:nvSpPr>
        <p:spPr>
          <a:xfrm>
            <a:off x="2502608" y="476082"/>
            <a:ext cx="2528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(XML Injection) 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861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DE6A41-DBA9-C44A-8EB0-A47D0D3D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8AA3B4-AEDA-224A-8845-30706D5A9878}"/>
              </a:ext>
            </a:extLst>
          </p:cNvPr>
          <p:cNvSpPr/>
          <p:nvPr/>
        </p:nvSpPr>
        <p:spPr>
          <a:xfrm>
            <a:off x="1650779" y="2323506"/>
            <a:ext cx="6009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Consolas" panose="020B0609020204030204" pitchFamily="49" charset="0"/>
                <a:cs typeface="Consolas" panose="020B0609020204030204" pitchFamily="49" charset="0"/>
              </a:rPr>
              <a:t>query = f"//user[username='{username}']/email"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8B51C-9DEF-CD4E-A945-D96113E55DC1}"/>
              </a:ext>
            </a:extLst>
          </p:cNvPr>
          <p:cNvSpPr/>
          <p:nvPr/>
        </p:nvSpPr>
        <p:spPr>
          <a:xfrm>
            <a:off x="234574" y="4052981"/>
            <a:ext cx="10013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query = "//user[username='admin' or contains(email, '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')]/email"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F669A-57EC-4141-91F5-33BC7A1955AD}"/>
              </a:ext>
            </a:extLst>
          </p:cNvPr>
          <p:cNvSpPr txBox="1"/>
          <p:nvPr/>
        </p:nvSpPr>
        <p:spPr>
          <a:xfrm>
            <a:off x="390691" y="3250131"/>
            <a:ext cx="252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With Attacker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5935BF-98B1-0F4F-BFEC-D3204849D4D6}"/>
              </a:ext>
            </a:extLst>
          </p:cNvPr>
          <p:cNvSpPr/>
          <p:nvPr/>
        </p:nvSpPr>
        <p:spPr>
          <a:xfrm>
            <a:off x="0" y="476082"/>
            <a:ext cx="2502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Trusting 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42618-F05F-3C47-B8FF-FBA293623F20}"/>
              </a:ext>
            </a:extLst>
          </p:cNvPr>
          <p:cNvSpPr/>
          <p:nvPr/>
        </p:nvSpPr>
        <p:spPr>
          <a:xfrm>
            <a:off x="2502608" y="476082"/>
            <a:ext cx="2528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>
                <a:latin typeface="MyriadPro"/>
              </a:rPr>
              <a:t>(XML Injection) 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437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315821-77A5-FD4F-9AF7-9935793F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99ADE-478F-4E49-8751-1870958351BB}"/>
              </a:ext>
            </a:extLst>
          </p:cNvPr>
          <p:cNvSpPr/>
          <p:nvPr/>
        </p:nvSpPr>
        <p:spPr>
          <a:xfrm>
            <a:off x="937631" y="1410850"/>
            <a:ext cx="7871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Consider all input to be untrusted and validate all user input </a:t>
            </a:r>
            <a:endParaRPr lang="en-US" sz="2400" dirty="0">
              <a:latin typeface="Arial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D85C0-727A-C348-A51A-12804D141636}"/>
              </a:ext>
            </a:extLst>
          </p:cNvPr>
          <p:cNvSpPr/>
          <p:nvPr/>
        </p:nvSpPr>
        <p:spPr>
          <a:xfrm>
            <a:off x="937631" y="2302947"/>
            <a:ext cx="78718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Encode output using the appropriate character set, escape special characters and quote input </a:t>
            </a:r>
            <a:endParaRPr lang="en-US" sz="2400" dirty="0">
              <a:latin typeface="Arial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535B9B-63B8-BE4B-A73A-76F24F5DB039}"/>
              </a:ext>
            </a:extLst>
          </p:cNvPr>
          <p:cNvSpPr/>
          <p:nvPr/>
        </p:nvSpPr>
        <p:spPr>
          <a:xfrm>
            <a:off x="937631" y="3564376"/>
            <a:ext cx="77157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Use structured mechanisms to separate data from code </a:t>
            </a:r>
            <a:endParaRPr lang="en-US" sz="2400" dirty="0">
              <a:latin typeface="Arial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67AF90-B145-8348-ADE7-489696904058}"/>
              </a:ext>
            </a:extLst>
          </p:cNvPr>
          <p:cNvSpPr/>
          <p:nvPr/>
        </p:nvSpPr>
        <p:spPr>
          <a:xfrm>
            <a:off x="937631" y="4606940"/>
            <a:ext cx="75372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Display generic error messages that yield minimal to no additional information. </a:t>
            </a:r>
            <a:endParaRPr lang="en-US" sz="2400" dirty="0">
              <a:latin typeface="ArialM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3D2075-23E3-B047-88D6-6A75BEBB4BFC}"/>
              </a:ext>
            </a:extLst>
          </p:cNvPr>
          <p:cNvSpPr/>
          <p:nvPr/>
        </p:nvSpPr>
        <p:spPr>
          <a:xfrm>
            <a:off x="138444" y="492436"/>
            <a:ext cx="4657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Some Hard-And-Fast Rules</a:t>
            </a:r>
          </a:p>
        </p:txBody>
      </p:sp>
    </p:spTree>
    <p:extLst>
      <p:ext uri="{BB962C8B-B14F-4D97-AF65-F5344CB8AC3E}">
        <p14:creationId xmlns:p14="http://schemas.microsoft.com/office/powerpoint/2010/main" val="33073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C1601A-39DF-F844-8175-D97DBEAF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46287C-ED70-1942-8398-2DCC54DAFADB}"/>
              </a:ext>
            </a:extLst>
          </p:cNvPr>
          <p:cNvSpPr/>
          <p:nvPr/>
        </p:nvSpPr>
        <p:spPr>
          <a:xfrm>
            <a:off x="1205260" y="1477757"/>
            <a:ext cx="76265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Implement fail safe by redirecting all errors to a generic error page and logging it for later review </a:t>
            </a:r>
            <a:endParaRPr lang="en-US" sz="2400" dirty="0">
              <a:latin typeface="ArialM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D7B737-9053-FD41-BB93-1DDCA48BE18F}"/>
              </a:ext>
            </a:extLst>
          </p:cNvPr>
          <p:cNvSpPr/>
          <p:nvPr/>
        </p:nvSpPr>
        <p:spPr>
          <a:xfrm>
            <a:off x="1205259" y="2771298"/>
            <a:ext cx="73811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Remove any unused functions or procedures from the database server if not needed </a:t>
            </a:r>
            <a:endParaRPr lang="en-US" sz="2400" dirty="0">
              <a:latin typeface="Arial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A467A-1214-3442-B8D5-D4A8D849921A}"/>
              </a:ext>
            </a:extLst>
          </p:cNvPr>
          <p:cNvSpPr/>
          <p:nvPr/>
        </p:nvSpPr>
        <p:spPr>
          <a:xfrm>
            <a:off x="1205259" y="4064839"/>
            <a:ext cx="762650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To mitigate OS command injection, run the code in a </a:t>
            </a:r>
            <a:r>
              <a:rPr lang="en-US" sz="2400" b="1" dirty="0">
                <a:latin typeface="AGaramondPro"/>
              </a:rPr>
              <a:t>sandbox</a:t>
            </a:r>
            <a:r>
              <a:rPr lang="en-US" sz="2400" dirty="0">
                <a:latin typeface="AGaramondPro"/>
              </a:rPr>
              <a:t> environment that enforces strict boundaries between the processes being executed and the Operating System </a:t>
            </a:r>
            <a:endParaRPr lang="en-US" sz="2400" dirty="0">
              <a:latin typeface="Arial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252344-0504-4B4D-AFA9-CE3CC6811E9F}"/>
              </a:ext>
            </a:extLst>
          </p:cNvPr>
          <p:cNvSpPr/>
          <p:nvPr/>
        </p:nvSpPr>
        <p:spPr>
          <a:xfrm>
            <a:off x="238804" y="494295"/>
            <a:ext cx="4657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Some Hard-And-Fast Rules</a:t>
            </a:r>
          </a:p>
        </p:txBody>
      </p:sp>
    </p:spTree>
    <p:extLst>
      <p:ext uri="{BB962C8B-B14F-4D97-AF65-F5344CB8AC3E}">
        <p14:creationId xmlns:p14="http://schemas.microsoft.com/office/powerpoint/2010/main" val="250678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0B5A12-1CD8-1645-98E5-7ADEC0F1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7DC993-75CC-B543-9F7C-7E71749D0758}"/>
              </a:ext>
            </a:extLst>
          </p:cNvPr>
          <p:cNvSpPr/>
          <p:nvPr/>
        </p:nvSpPr>
        <p:spPr>
          <a:xfrm>
            <a:off x="1428285" y="1339257"/>
            <a:ext cx="73811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Audit and log the queries that are executed along with their response times to detect injection attacks </a:t>
            </a:r>
            <a:endParaRPr lang="en-US" sz="2400" dirty="0">
              <a:latin typeface="ArialM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5B91B7-1272-574C-B2CC-B84035910576}"/>
              </a:ext>
            </a:extLst>
          </p:cNvPr>
          <p:cNvSpPr/>
          <p:nvPr/>
        </p:nvSpPr>
        <p:spPr>
          <a:xfrm>
            <a:off x="1428285" y="2462809"/>
            <a:ext cx="77966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Implement least privilege by using views, and restricting tables, queries and procedures to only the authorized set of users and/or accounts. </a:t>
            </a:r>
            <a:endParaRPr lang="en-US" sz="2400" dirty="0">
              <a:latin typeface="Arial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F303C2-52AA-9641-A536-BD9F7A8C4F25}"/>
              </a:ext>
            </a:extLst>
          </p:cNvPr>
          <p:cNvSpPr/>
          <p:nvPr/>
        </p:nvSpPr>
        <p:spPr>
          <a:xfrm>
            <a:off x="1428285" y="4086414"/>
            <a:ext cx="77966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GaramondPro"/>
              </a:rPr>
              <a:t>Use runtime policy enforcement to create the list of allowable commands (whitelist) and reject any command that does not match the whitelist. </a:t>
            </a:r>
            <a:endParaRPr lang="en-US" sz="2400" dirty="0">
              <a:latin typeface="Arial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9916E5-7EF6-864B-9854-A7EF809C4A1D}"/>
              </a:ext>
            </a:extLst>
          </p:cNvPr>
          <p:cNvSpPr/>
          <p:nvPr/>
        </p:nvSpPr>
        <p:spPr>
          <a:xfrm>
            <a:off x="171044" y="523482"/>
            <a:ext cx="4657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Some Hard-And-Fast Rules</a:t>
            </a:r>
          </a:p>
        </p:txBody>
      </p:sp>
    </p:spTree>
    <p:extLst>
      <p:ext uri="{BB962C8B-B14F-4D97-AF65-F5344CB8AC3E}">
        <p14:creationId xmlns:p14="http://schemas.microsoft.com/office/powerpoint/2010/main" val="300719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27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3345062</TotalTime>
  <Words>2157</Words>
  <Application>Microsoft Macintosh PowerPoint</Application>
  <PresentationFormat>A4 Paper (210x297 mm)</PresentationFormat>
  <Paragraphs>284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Adobe Gothic Std B</vt:lpstr>
      <vt:lpstr>AGaramondPro</vt:lpstr>
      <vt:lpstr>ArialMT</vt:lpstr>
      <vt:lpstr>DengXian</vt:lpstr>
      <vt:lpstr>DengXian</vt:lpstr>
      <vt:lpstr>等线 Light</vt:lpstr>
      <vt:lpstr>MyriadPro</vt:lpstr>
      <vt:lpstr>SimSun</vt:lpstr>
      <vt:lpstr>Arial</vt:lpstr>
      <vt:lpstr>Calibri</vt:lpstr>
      <vt:lpstr>Consolas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809</cp:revision>
  <cp:lastPrinted>2025-01-23T10:52:12Z</cp:lastPrinted>
  <dcterms:created xsi:type="dcterms:W3CDTF">2018-07-17T04:46:00Z</dcterms:created>
  <dcterms:modified xsi:type="dcterms:W3CDTF">2026-03-04T09:58:10Z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