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80" r:id="rId2"/>
    <p:sldId id="447" r:id="rId3"/>
    <p:sldId id="439" r:id="rId4"/>
    <p:sldId id="444" r:id="rId5"/>
    <p:sldId id="445" r:id="rId6"/>
    <p:sldId id="457" r:id="rId7"/>
    <p:sldId id="446" r:id="rId8"/>
    <p:sldId id="448" r:id="rId9"/>
    <p:sldId id="463" r:id="rId10"/>
    <p:sldId id="449" r:id="rId11"/>
    <p:sldId id="464" r:id="rId12"/>
    <p:sldId id="450" r:id="rId13"/>
    <p:sldId id="456" r:id="rId14"/>
    <p:sldId id="451" r:id="rId15"/>
    <p:sldId id="455" r:id="rId16"/>
    <p:sldId id="458" r:id="rId17"/>
    <p:sldId id="459" r:id="rId18"/>
    <p:sldId id="460" r:id="rId19"/>
    <p:sldId id="461" r:id="rId20"/>
    <p:sldId id="462" r:id="rId21"/>
    <p:sldId id="372" r:id="rId22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447"/>
            <p14:sldId id="439"/>
            <p14:sldId id="444"/>
            <p14:sldId id="445"/>
            <p14:sldId id="457"/>
            <p14:sldId id="446"/>
            <p14:sldId id="448"/>
            <p14:sldId id="463"/>
            <p14:sldId id="449"/>
            <p14:sldId id="464"/>
            <p14:sldId id="450"/>
            <p14:sldId id="456"/>
            <p14:sldId id="451"/>
            <p14:sldId id="455"/>
            <p14:sldId id="458"/>
            <p14:sldId id="459"/>
            <p14:sldId id="460"/>
            <p14:sldId id="461"/>
            <p14:sldId id="462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72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505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589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090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183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912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12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757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59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Security </a:t>
            </a:r>
            <a:r>
              <a:rPr lang="en-US" b="1" dirty="0"/>
              <a:t>Needs Elicitation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Engineering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3E48D-21C9-D649-BFF9-1F01B480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" name="Picture 1" descr="page124image50443680">
            <a:extLst>
              <a:ext uri="{FF2B5EF4-FFF2-40B4-BE49-F238E27FC236}">
                <a16:creationId xmlns:a16="http://schemas.microsoft.com/office/drawing/2014/main" id="{D2A763FD-3DEE-784B-9E2A-28D466D9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753" y="1494263"/>
            <a:ext cx="8484414" cy="451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5F672AC3-4BC0-3B46-899E-2F1E535924F0}"/>
              </a:ext>
            </a:extLst>
          </p:cNvPr>
          <p:cNvSpPr/>
          <p:nvPr/>
        </p:nvSpPr>
        <p:spPr>
          <a:xfrm>
            <a:off x="154744" y="374973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693B1-9022-824A-B0B8-6399975E544C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</p:spTree>
    <p:extLst>
      <p:ext uri="{BB962C8B-B14F-4D97-AF65-F5344CB8AC3E}">
        <p14:creationId xmlns:p14="http://schemas.microsoft.com/office/powerpoint/2010/main" val="167368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53" y="2143853"/>
            <a:ext cx="4394125" cy="233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B07AE2CB-5FF6-154A-A012-8B511036CE73}"/>
              </a:ext>
            </a:extLst>
          </p:cNvPr>
          <p:cNvSpPr/>
          <p:nvPr/>
        </p:nvSpPr>
        <p:spPr>
          <a:xfrm>
            <a:off x="1512893" y="3361170"/>
            <a:ext cx="1007283" cy="318731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30DCBC-254C-5643-A2B7-00516E2E1FA9}"/>
              </a:ext>
            </a:extLst>
          </p:cNvPr>
          <p:cNvSpPr/>
          <p:nvPr/>
        </p:nvSpPr>
        <p:spPr>
          <a:xfrm>
            <a:off x="233262" y="1305009"/>
            <a:ext cx="4805320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1" dirty="0">
                <a:latin typeface="MyriadPro"/>
              </a:rPr>
              <a:t>Session Management Requirements </a:t>
            </a:r>
            <a:endParaRPr lang="en-US" sz="2400" dirty="0"/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062B4A0C-B91F-E946-A718-E3AA981D2CD4}"/>
              </a:ext>
            </a:extLst>
          </p:cNvPr>
          <p:cNvSpPr/>
          <p:nvPr/>
        </p:nvSpPr>
        <p:spPr>
          <a:xfrm>
            <a:off x="7553674" y="2207940"/>
            <a:ext cx="1784196" cy="1471961"/>
          </a:xfrm>
          <a:prstGeom prst="wedgeRectCallout">
            <a:avLst>
              <a:gd name="adj1" fmla="val -164009"/>
              <a:gd name="adj2" fmla="val -562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Why we need session?</a:t>
            </a: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0547D1CC-208A-2445-A5BC-46D4B92B4B48}"/>
              </a:ext>
            </a:extLst>
          </p:cNvPr>
          <p:cNvSpPr/>
          <p:nvPr/>
        </p:nvSpPr>
        <p:spPr>
          <a:xfrm>
            <a:off x="735980" y="4897218"/>
            <a:ext cx="1784196" cy="1471961"/>
          </a:xfrm>
          <a:prstGeom prst="wedgeRectCallout">
            <a:avLst>
              <a:gd name="adj1" fmla="val 34167"/>
              <a:gd name="adj2" fmla="val -1253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Related to which Secure Design concepts?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439DCB-6E3D-E24C-B2AE-C24FB82D9532}"/>
              </a:ext>
            </a:extLst>
          </p:cNvPr>
          <p:cNvSpPr txBox="1"/>
          <p:nvPr/>
        </p:nvSpPr>
        <p:spPr>
          <a:xfrm>
            <a:off x="2635922" y="5033033"/>
            <a:ext cx="1906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Complete Mediation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psychological acceptability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C753F1-32C4-5943-90BC-8A363F0CC877}"/>
              </a:ext>
            </a:extLst>
          </p:cNvPr>
          <p:cNvSpPr/>
          <p:nvPr/>
        </p:nvSpPr>
        <p:spPr>
          <a:xfrm>
            <a:off x="4541923" y="4571368"/>
            <a:ext cx="57307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Since valid sessions can be potentially hijacked where an attacker takes control over an established session, it is necessary to plan for secure session management.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544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1888150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64F9E9E-C3EE-924C-B16A-B5717E8546F4}"/>
              </a:ext>
            </a:extLst>
          </p:cNvPr>
          <p:cNvSpPr/>
          <p:nvPr/>
        </p:nvSpPr>
        <p:spPr>
          <a:xfrm>
            <a:off x="1705451" y="2712621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926875-C13C-1C48-89FA-C6D02198A747}"/>
              </a:ext>
            </a:extLst>
          </p:cNvPr>
          <p:cNvSpPr/>
          <p:nvPr/>
        </p:nvSpPr>
        <p:spPr>
          <a:xfrm>
            <a:off x="154744" y="1076824"/>
            <a:ext cx="5978769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/>
              <a:t>Errors &amp; Exception Management Requirements 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7DEDE-0D25-F449-B481-34C6B8A867E2}"/>
              </a:ext>
            </a:extLst>
          </p:cNvPr>
          <p:cNvSpPr txBox="1"/>
          <p:nvPr/>
        </p:nvSpPr>
        <p:spPr>
          <a:xfrm>
            <a:off x="4010797" y="2271153"/>
            <a:ext cx="4136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All about how you handle and structure the errors and exception</a:t>
            </a:r>
          </a:p>
        </p:txBody>
      </p:sp>
      <p:sp>
        <p:nvSpPr>
          <p:cNvPr id="9" name="Cloud Callout 8">
            <a:extLst>
              <a:ext uri="{FF2B5EF4-FFF2-40B4-BE49-F238E27FC236}">
                <a16:creationId xmlns:a16="http://schemas.microsoft.com/office/drawing/2014/main" id="{1A9A779B-6AC7-D84D-82AF-746C1E2C3679}"/>
              </a:ext>
            </a:extLst>
          </p:cNvPr>
          <p:cNvSpPr/>
          <p:nvPr/>
        </p:nvSpPr>
        <p:spPr>
          <a:xfrm>
            <a:off x="669072" y="4155190"/>
            <a:ext cx="3724508" cy="166883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Can Errors &amp; exceptions are potential sources of information disclosure?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79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3" y="1847965"/>
            <a:ext cx="4074809" cy="216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838BAB0-800E-E747-915E-A19CC8569F43}"/>
              </a:ext>
            </a:extLst>
          </p:cNvPr>
          <p:cNvSpPr/>
          <p:nvPr/>
        </p:nvSpPr>
        <p:spPr>
          <a:xfrm>
            <a:off x="3241039" y="2931202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D3E06E-E31A-3649-90D9-F9747228FE02}"/>
              </a:ext>
            </a:extLst>
          </p:cNvPr>
          <p:cNvSpPr/>
          <p:nvPr/>
        </p:nvSpPr>
        <p:spPr>
          <a:xfrm>
            <a:off x="154744" y="1117009"/>
            <a:ext cx="6968656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/>
              <a:t>Configuration Parameters Management Requirements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0628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3E48D-21C9-D649-BFF9-1F01B480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3" name="Picture 1" descr="page124image50443680">
            <a:extLst>
              <a:ext uri="{FF2B5EF4-FFF2-40B4-BE49-F238E27FC236}">
                <a16:creationId xmlns:a16="http://schemas.microsoft.com/office/drawing/2014/main" id="{D2A763FD-3DEE-784B-9E2A-28D466D9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753" y="1494263"/>
            <a:ext cx="8484414" cy="451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5F672AC3-4BC0-3B46-899E-2F1E535924F0}"/>
              </a:ext>
            </a:extLst>
          </p:cNvPr>
          <p:cNvSpPr/>
          <p:nvPr/>
        </p:nvSpPr>
        <p:spPr>
          <a:xfrm>
            <a:off x="0" y="462110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693B1-9022-824A-B0B8-6399975E544C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</p:spTree>
    <p:extLst>
      <p:ext uri="{BB962C8B-B14F-4D97-AF65-F5344CB8AC3E}">
        <p14:creationId xmlns:p14="http://schemas.microsoft.com/office/powerpoint/2010/main" val="140050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26" y="2213424"/>
            <a:ext cx="3101412" cy="16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1145497" y="3276022"/>
            <a:ext cx="694060" cy="274002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264F0EA-04D6-3F48-9A57-2580168AF124}"/>
              </a:ext>
            </a:extLst>
          </p:cNvPr>
          <p:cNvSpPr/>
          <p:nvPr/>
        </p:nvSpPr>
        <p:spPr>
          <a:xfrm>
            <a:off x="405217" y="1331757"/>
            <a:ext cx="3010830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Operational Requirements </a:t>
            </a:r>
            <a:endParaRPr lang="en-US" sz="20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336075-7E8F-A84D-87C1-8F7E5428F7AD}"/>
              </a:ext>
            </a:extLst>
          </p:cNvPr>
          <p:cNvSpPr/>
          <p:nvPr/>
        </p:nvSpPr>
        <p:spPr>
          <a:xfrm>
            <a:off x="1839557" y="4924965"/>
            <a:ext cx="5314486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we need for Operational Requirements?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803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4" y="2188755"/>
            <a:ext cx="3926601" cy="20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1201447" y="3605739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1C2E3D-BEC3-4049-98FF-D1827A5F4B96}"/>
              </a:ext>
            </a:extLst>
          </p:cNvPr>
          <p:cNvSpPr/>
          <p:nvPr/>
        </p:nvSpPr>
        <p:spPr>
          <a:xfrm>
            <a:off x="177517" y="1157578"/>
            <a:ext cx="4565148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Deployment Environment Requirements </a:t>
            </a:r>
            <a:endParaRPr lang="en-US" dirty="0"/>
          </a:p>
        </p:txBody>
      </p: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3A2DA1CC-032D-734E-AC16-0088C712E1A7}"/>
              </a:ext>
            </a:extLst>
          </p:cNvPr>
          <p:cNvSpPr/>
          <p:nvPr/>
        </p:nvSpPr>
        <p:spPr>
          <a:xfrm>
            <a:off x="6177775" y="2587083"/>
            <a:ext cx="3479181" cy="1471961"/>
          </a:xfrm>
          <a:prstGeom prst="wedgeEllipseCallout">
            <a:avLst>
              <a:gd name="adj1" fmla="val -74552"/>
              <a:gd name="adj2" fmla="val -950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Requirements about the environment in which the software will be deployed </a:t>
            </a:r>
          </a:p>
        </p:txBody>
      </p:sp>
    </p:spTree>
    <p:extLst>
      <p:ext uri="{BB962C8B-B14F-4D97-AF65-F5344CB8AC3E}">
        <p14:creationId xmlns:p14="http://schemas.microsoft.com/office/powerpoint/2010/main" val="287371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F6CB2E-1864-5741-9E8D-9CE7F32D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9DB08A-9D3A-154B-9143-4BDF1F9D47F3}"/>
              </a:ext>
            </a:extLst>
          </p:cNvPr>
          <p:cNvSpPr/>
          <p:nvPr/>
        </p:nvSpPr>
        <p:spPr>
          <a:xfrm>
            <a:off x="19378" y="224208"/>
            <a:ext cx="4565148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Deployment Environment Requirements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A4252B-C50B-1B49-B47B-3FEC7172E74D}"/>
              </a:ext>
            </a:extLst>
          </p:cNvPr>
          <p:cNvSpPr/>
          <p:nvPr/>
        </p:nvSpPr>
        <p:spPr>
          <a:xfrm>
            <a:off x="200720" y="2684072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Can we leverage existing operating system event logging for auditing purposes? </a:t>
            </a:r>
            <a:endParaRPr lang="en-US" dirty="0">
              <a:latin typeface="Arial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E1599-1AE9-6A4D-8488-92CFBB335325}"/>
              </a:ext>
            </a:extLst>
          </p:cNvPr>
          <p:cNvSpPr/>
          <p:nvPr/>
        </p:nvSpPr>
        <p:spPr>
          <a:xfrm>
            <a:off x="200720" y="1958042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Will the software be deployed in an Internet, Extranet or intranet environment? </a:t>
            </a:r>
            <a:endParaRPr lang="en-US" dirty="0">
              <a:latin typeface="ArialM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4F8696-F4D0-344B-A1C3-B2FB09E542EB}"/>
              </a:ext>
            </a:extLst>
          </p:cNvPr>
          <p:cNvSpPr/>
          <p:nvPr/>
        </p:nvSpPr>
        <p:spPr>
          <a:xfrm>
            <a:off x="5736592" y="1929285"/>
            <a:ext cx="4169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Will the software be hosted in a Demilitarized Zone (DMZ)? </a:t>
            </a:r>
            <a:endParaRPr lang="en-US" dirty="0">
              <a:latin typeface="ArialM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F8D620-66D9-A441-B3E9-369DDC0693D8}"/>
              </a:ext>
            </a:extLst>
          </p:cNvPr>
          <p:cNvSpPr/>
          <p:nvPr/>
        </p:nvSpPr>
        <p:spPr>
          <a:xfrm>
            <a:off x="5736592" y="3708126"/>
            <a:ext cx="38207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What ports and protocols are available for use? </a:t>
            </a:r>
            <a:endParaRPr lang="en-US" dirty="0">
              <a:latin typeface="ArialM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B1DA8E-9170-5641-A74C-4512D11B8A42}"/>
              </a:ext>
            </a:extLst>
          </p:cNvPr>
          <p:cNvSpPr/>
          <p:nvPr/>
        </p:nvSpPr>
        <p:spPr>
          <a:xfrm>
            <a:off x="200720" y="440322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What privileges will be allowed in the production environment? </a:t>
            </a:r>
            <a:endParaRPr lang="en-US" dirty="0">
              <a:latin typeface="ArialM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FCB2BD-92E1-6648-9B4D-DB59763DE366}"/>
              </a:ext>
            </a:extLst>
          </p:cNvPr>
          <p:cNvSpPr/>
          <p:nvPr/>
        </p:nvSpPr>
        <p:spPr>
          <a:xfrm>
            <a:off x="200720" y="531873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Will the software be transmitting sensitive or confidential information? </a:t>
            </a:r>
            <a:endParaRPr lang="en-US" dirty="0">
              <a:latin typeface="Arial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A478E-08FA-9844-A49F-7410376455E1}"/>
              </a:ext>
            </a:extLst>
          </p:cNvPr>
          <p:cNvSpPr/>
          <p:nvPr/>
        </p:nvSpPr>
        <p:spPr>
          <a:xfrm>
            <a:off x="200720" y="352830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Will the software be load balanced and how is clustering architected? </a:t>
            </a:r>
            <a:endParaRPr lang="en-US" dirty="0">
              <a:latin typeface="ArialM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41900-41E7-4C40-9999-CA8710E6DABE}"/>
              </a:ext>
            </a:extLst>
          </p:cNvPr>
          <p:cNvSpPr/>
          <p:nvPr/>
        </p:nvSpPr>
        <p:spPr>
          <a:xfrm>
            <a:off x="5736592" y="4672403"/>
            <a:ext cx="4169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Will the software be deployed in a web farm environment? </a:t>
            </a:r>
            <a:endParaRPr lang="en-US" dirty="0">
              <a:latin typeface="ArialM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4071D5-4A78-8A44-98F5-4821282130CC}"/>
              </a:ext>
            </a:extLst>
          </p:cNvPr>
          <p:cNvSpPr/>
          <p:nvPr/>
        </p:nvSpPr>
        <p:spPr>
          <a:xfrm>
            <a:off x="5736592" y="2809532"/>
            <a:ext cx="38207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Will the software need to support single sign-on (SSO) authentication? </a:t>
            </a:r>
            <a:endParaRPr lang="en-US" dirty="0">
              <a:latin typeface="ArialMT"/>
            </a:endParaRPr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465D3EAF-15E5-F749-BB44-447AA529FEF7}"/>
              </a:ext>
            </a:extLst>
          </p:cNvPr>
          <p:cNvSpPr/>
          <p:nvPr/>
        </p:nvSpPr>
        <p:spPr>
          <a:xfrm>
            <a:off x="4584526" y="1958042"/>
            <a:ext cx="300625" cy="4007023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83ACB29A-B4A2-3943-A56D-862472326D03}"/>
              </a:ext>
            </a:extLst>
          </p:cNvPr>
          <p:cNvSpPr/>
          <p:nvPr/>
        </p:nvSpPr>
        <p:spPr>
          <a:xfrm>
            <a:off x="5374887" y="1929285"/>
            <a:ext cx="361705" cy="392037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4D17C1FE-0533-3C4E-9C82-8F88B2FEC284}"/>
              </a:ext>
            </a:extLst>
          </p:cNvPr>
          <p:cNvSpPr/>
          <p:nvPr/>
        </p:nvSpPr>
        <p:spPr>
          <a:xfrm>
            <a:off x="9317428" y="1847962"/>
            <a:ext cx="300625" cy="4007023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EE7D7FEC-7387-3F4D-9A08-446ED37CDEBC}"/>
              </a:ext>
            </a:extLst>
          </p:cNvPr>
          <p:cNvSpPr/>
          <p:nvPr/>
        </p:nvSpPr>
        <p:spPr>
          <a:xfrm>
            <a:off x="200720" y="1747941"/>
            <a:ext cx="361705" cy="421712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AF248D-5197-7C42-8D30-E9AECD12A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526" y="927723"/>
            <a:ext cx="1001562" cy="100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4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05" y="2154618"/>
            <a:ext cx="3581937" cy="190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2124573" y="3418481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9D2B2C-FB4C-7241-B5E0-A2EFDBC3D1A9}"/>
              </a:ext>
            </a:extLst>
          </p:cNvPr>
          <p:cNvSpPr/>
          <p:nvPr/>
        </p:nvSpPr>
        <p:spPr>
          <a:xfrm>
            <a:off x="490652" y="1288082"/>
            <a:ext cx="2854713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Archiving Requirements </a:t>
            </a:r>
            <a:endParaRPr lang="en-US" dirty="0"/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67C91855-D4D9-1F40-B632-7A24C083B60E}"/>
              </a:ext>
            </a:extLst>
          </p:cNvPr>
          <p:cNvSpPr/>
          <p:nvPr/>
        </p:nvSpPr>
        <p:spPr>
          <a:xfrm>
            <a:off x="6177775" y="2455101"/>
            <a:ext cx="3504844" cy="1603943"/>
          </a:xfrm>
          <a:prstGeom prst="wedgeEllipseCallout">
            <a:avLst>
              <a:gd name="adj1" fmla="val -111939"/>
              <a:gd name="adj2" fmla="val -795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conflict between the organizational policy and a regulatory requirement, then follow?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934CF0-7CB1-E043-A460-9B38360DC345}"/>
              </a:ext>
            </a:extLst>
          </p:cNvPr>
          <p:cNvSpPr/>
          <p:nvPr/>
        </p:nvSpPr>
        <p:spPr>
          <a:xfrm>
            <a:off x="333606" y="4338043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GaramondPro"/>
              </a:rPr>
              <a:t>the </a:t>
            </a:r>
            <a:r>
              <a:rPr lang="en-US" sz="2400" i="1" dirty="0">
                <a:latin typeface="AGaramondPro"/>
              </a:rPr>
              <a:t>location, duration </a:t>
            </a:r>
            <a:r>
              <a:rPr lang="en-US" sz="2400" dirty="0">
                <a:latin typeface="AGaramondPro"/>
              </a:rPr>
              <a:t>and </a:t>
            </a:r>
            <a:r>
              <a:rPr lang="en-US" sz="2400" i="1" dirty="0">
                <a:latin typeface="AGaramondPro"/>
              </a:rPr>
              <a:t>format </a:t>
            </a:r>
            <a:r>
              <a:rPr lang="en-US" sz="2400" dirty="0">
                <a:latin typeface="AGaramondPro"/>
              </a:rPr>
              <a:t>of archiving information must be determined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919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9D1E8-23C7-1A4A-BD27-CE1D29991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88700EF-2865-DC40-B03E-661A99A28B2D}"/>
              </a:ext>
            </a:extLst>
          </p:cNvPr>
          <p:cNvSpPr txBox="1">
            <a:spLocks/>
          </p:cNvSpPr>
          <p:nvPr/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758AAF-F958-4141-BDE8-5609689A4508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AD744B-46E1-E646-9BF8-BDBEE7BE08CD}"/>
              </a:ext>
            </a:extLst>
          </p:cNvPr>
          <p:cNvSpPr/>
          <p:nvPr/>
        </p:nvSpPr>
        <p:spPr>
          <a:xfrm>
            <a:off x="112138" y="192981"/>
            <a:ext cx="2898387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Archiving Requirements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A39443-71B3-7B40-9AE0-2DD436AFC152}"/>
              </a:ext>
            </a:extLst>
          </p:cNvPr>
          <p:cNvSpPr/>
          <p:nvPr/>
        </p:nvSpPr>
        <p:spPr>
          <a:xfrm>
            <a:off x="200720" y="2684072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How do we ensure that the media is not re-writable?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FCDF6-7ED4-C14F-84C6-BE7C1A119D3D}"/>
              </a:ext>
            </a:extLst>
          </p:cNvPr>
          <p:cNvSpPr/>
          <p:nvPr/>
        </p:nvSpPr>
        <p:spPr>
          <a:xfrm>
            <a:off x="200720" y="1958042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Where will the data or information be stored?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0113BF-1CFE-1945-B72D-356C26A958D7}"/>
              </a:ext>
            </a:extLst>
          </p:cNvPr>
          <p:cNvSpPr/>
          <p:nvPr/>
        </p:nvSpPr>
        <p:spPr>
          <a:xfrm>
            <a:off x="5736592" y="1929285"/>
            <a:ext cx="4169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what format will the data or information be stored? Clear text or cipher text?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0FD9DA-9962-4341-905D-4F465147C2FD}"/>
              </a:ext>
            </a:extLst>
          </p:cNvPr>
          <p:cNvSpPr/>
          <p:nvPr/>
        </p:nvSpPr>
        <p:spPr>
          <a:xfrm>
            <a:off x="200720" y="440322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Is there a regulatory requirement to store the data for a set period of time?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4D434-E628-A34A-9316-7F1067BDA954}"/>
              </a:ext>
            </a:extLst>
          </p:cNvPr>
          <p:cNvSpPr/>
          <p:nvPr/>
        </p:nvSpPr>
        <p:spPr>
          <a:xfrm>
            <a:off x="200720" y="531873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Is our archival retention policy contradictory to any compliance or regulatory requirements?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21FC6-324E-4B48-9A8B-16EF2FDDF0FA}"/>
              </a:ext>
            </a:extLst>
          </p:cNvPr>
          <p:cNvSpPr/>
          <p:nvPr/>
        </p:nvSpPr>
        <p:spPr>
          <a:xfrm>
            <a:off x="200720" y="3540503"/>
            <a:ext cx="4383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How long will we need to store the archives for?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CCA52E-C470-3E47-8845-919CF79CBD73}"/>
              </a:ext>
            </a:extLst>
          </p:cNvPr>
          <p:cNvSpPr/>
          <p:nvPr/>
        </p:nvSpPr>
        <p:spPr>
          <a:xfrm>
            <a:off x="5736592" y="4672403"/>
            <a:ext cx="4169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How will these archives themselves be protected?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3C1061-730E-BA4F-8CBF-128037AC1C98}"/>
              </a:ext>
            </a:extLst>
          </p:cNvPr>
          <p:cNvSpPr/>
          <p:nvPr/>
        </p:nvSpPr>
        <p:spPr>
          <a:xfrm>
            <a:off x="5710454" y="2972079"/>
            <a:ext cx="38207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data or information is stored in cipher text, how is this accomplish and are there management processes in place that will ensure proper retrieval? </a:t>
            </a:r>
          </a:p>
        </p:txBody>
      </p:sp>
      <p:sp>
        <p:nvSpPr>
          <p:cNvPr id="14" name="Right Bracket 13">
            <a:extLst>
              <a:ext uri="{FF2B5EF4-FFF2-40B4-BE49-F238E27FC236}">
                <a16:creationId xmlns:a16="http://schemas.microsoft.com/office/drawing/2014/main" id="{141803E8-35C2-DF40-8D97-6108C1D41122}"/>
              </a:ext>
            </a:extLst>
          </p:cNvPr>
          <p:cNvSpPr/>
          <p:nvPr/>
        </p:nvSpPr>
        <p:spPr>
          <a:xfrm>
            <a:off x="4584526" y="1958042"/>
            <a:ext cx="300625" cy="4007023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D0C3BE6C-0BD6-4747-A520-FFAA91EED7C4}"/>
              </a:ext>
            </a:extLst>
          </p:cNvPr>
          <p:cNvSpPr/>
          <p:nvPr/>
        </p:nvSpPr>
        <p:spPr>
          <a:xfrm>
            <a:off x="5374887" y="1929285"/>
            <a:ext cx="361705" cy="392037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651A827E-FFB8-1B45-92B7-8A438F0B032E}"/>
              </a:ext>
            </a:extLst>
          </p:cNvPr>
          <p:cNvSpPr/>
          <p:nvPr/>
        </p:nvSpPr>
        <p:spPr>
          <a:xfrm>
            <a:off x="9317428" y="1847962"/>
            <a:ext cx="300625" cy="4007023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5A635EAD-1B8F-0B4A-B90D-845D67DCB294}"/>
              </a:ext>
            </a:extLst>
          </p:cNvPr>
          <p:cNvSpPr/>
          <p:nvPr/>
        </p:nvSpPr>
        <p:spPr>
          <a:xfrm>
            <a:off x="200720" y="1747941"/>
            <a:ext cx="361705" cy="421712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C85E60-DC22-1243-A8FF-8AD8C0FB6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526" y="927723"/>
            <a:ext cx="1001562" cy="100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5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5" y="2453788"/>
            <a:ext cx="4060416" cy="215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3419095" y="3922517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67C7A3-4409-BF4F-9C20-60EAEDBC2636}"/>
              </a:ext>
            </a:extLst>
          </p:cNvPr>
          <p:cNvSpPr/>
          <p:nvPr/>
        </p:nvSpPr>
        <p:spPr>
          <a:xfrm>
            <a:off x="229845" y="1373304"/>
            <a:ext cx="3189250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Anti-Piracy Requirements </a:t>
            </a:r>
            <a:endParaRPr lang="en-US" dirty="0"/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A4DB5B9C-4953-4B42-8B1F-BE90FBE2D5E1}"/>
              </a:ext>
            </a:extLst>
          </p:cNvPr>
          <p:cNvSpPr/>
          <p:nvPr/>
        </p:nvSpPr>
        <p:spPr>
          <a:xfrm>
            <a:off x="6177775" y="2587083"/>
            <a:ext cx="3479181" cy="1962615"/>
          </a:xfrm>
          <a:prstGeom prst="wedgeEllipseCallout">
            <a:avLst>
              <a:gd name="adj1" fmla="val -117501"/>
              <a:gd name="adj2" fmla="val -768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Code obfuscation, anti-tampering, licensing and IP protection mechanisms should be included </a:t>
            </a:r>
          </a:p>
        </p:txBody>
      </p:sp>
    </p:spTree>
    <p:extLst>
      <p:ext uri="{BB962C8B-B14F-4D97-AF65-F5344CB8AC3E}">
        <p14:creationId xmlns:p14="http://schemas.microsoft.com/office/powerpoint/2010/main" val="3318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3E48D-21C9-D649-BFF9-1F01B480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3" name="Picture 1" descr="page124image50443680">
            <a:extLst>
              <a:ext uri="{FF2B5EF4-FFF2-40B4-BE49-F238E27FC236}">
                <a16:creationId xmlns:a16="http://schemas.microsoft.com/office/drawing/2014/main" id="{D2A763FD-3DEE-784B-9E2A-28D466D9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753" y="1494263"/>
            <a:ext cx="8484414" cy="451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5F672AC3-4BC0-3B46-899E-2F1E535924F0}"/>
              </a:ext>
            </a:extLst>
          </p:cNvPr>
          <p:cNvSpPr/>
          <p:nvPr/>
        </p:nvSpPr>
        <p:spPr>
          <a:xfrm>
            <a:off x="283345" y="53526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693B1-9022-824A-B0B8-6399975E544C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</p:spTree>
    <p:extLst>
      <p:ext uri="{BB962C8B-B14F-4D97-AF65-F5344CB8AC3E}">
        <p14:creationId xmlns:p14="http://schemas.microsoft.com/office/powerpoint/2010/main" val="22906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01" y="1958580"/>
            <a:ext cx="3499102" cy="186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1398686" y="3523785"/>
            <a:ext cx="796066" cy="269624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225EC9-FD77-3F40-AA49-14DC553FD93B}"/>
              </a:ext>
            </a:extLst>
          </p:cNvPr>
          <p:cNvSpPr/>
          <p:nvPr/>
        </p:nvSpPr>
        <p:spPr>
          <a:xfrm>
            <a:off x="445201" y="1266340"/>
            <a:ext cx="4415883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Sequencing and Timing Requirements </a:t>
            </a:r>
            <a:endParaRPr lang="en-US" dirty="0">
              <a:effectLst/>
            </a:endParaRP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4C03898B-0ED9-4445-BE0E-F2218D1C41D8}"/>
              </a:ext>
            </a:extLst>
          </p:cNvPr>
          <p:cNvSpPr/>
          <p:nvPr/>
        </p:nvSpPr>
        <p:spPr>
          <a:xfrm>
            <a:off x="6177776" y="2587083"/>
            <a:ext cx="3047188" cy="1873405"/>
          </a:xfrm>
          <a:prstGeom prst="wedgeEllipseCallout">
            <a:avLst>
              <a:gd name="adj1" fmla="val -77757"/>
              <a:gd name="adj2" fmla="val -78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race conditions or Time of Check/Time of Use (TOC/TOU) attacks.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4830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79" y="2056810"/>
            <a:ext cx="4202102" cy="223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5E1A41F-DC30-BB48-83D6-45ABA37EEFDF}"/>
              </a:ext>
            </a:extLst>
          </p:cNvPr>
          <p:cNvSpPr/>
          <p:nvPr/>
        </p:nvSpPr>
        <p:spPr>
          <a:xfrm>
            <a:off x="2481606" y="3888662"/>
            <a:ext cx="820991" cy="301215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270AE4-7D16-6747-BEA9-A0919359BDD0}"/>
              </a:ext>
            </a:extLst>
          </p:cNvPr>
          <p:cNvSpPr/>
          <p:nvPr/>
        </p:nvSpPr>
        <p:spPr>
          <a:xfrm>
            <a:off x="753167" y="1263485"/>
            <a:ext cx="3456878" cy="692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/>
              <a:t>International Requirements </a:t>
            </a:r>
            <a:endParaRPr lang="en-US" sz="2000" dirty="0"/>
          </a:p>
        </p:txBody>
      </p:sp>
      <p:sp>
        <p:nvSpPr>
          <p:cNvPr id="10" name="Oval Callout 9">
            <a:extLst>
              <a:ext uri="{FF2B5EF4-FFF2-40B4-BE49-F238E27FC236}">
                <a16:creationId xmlns:a16="http://schemas.microsoft.com/office/drawing/2014/main" id="{2B965364-3B8E-4D42-98DB-01080E02E76C}"/>
              </a:ext>
            </a:extLst>
          </p:cNvPr>
          <p:cNvSpPr/>
          <p:nvPr/>
        </p:nvSpPr>
        <p:spPr>
          <a:xfrm>
            <a:off x="6177776" y="2587084"/>
            <a:ext cx="2252546" cy="1301578"/>
          </a:xfrm>
          <a:prstGeom prst="wedgeEllipseCallout">
            <a:avLst>
              <a:gd name="adj1" fmla="val -87658"/>
              <a:gd name="adj2" fmla="val -797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legal </a:t>
            </a:r>
            <a:r>
              <a:rPr lang="en-US" dirty="0"/>
              <a:t>and </a:t>
            </a:r>
            <a:r>
              <a:rPr lang="en-US" i="1" dirty="0"/>
              <a:t>technological</a:t>
            </a:r>
            <a:r>
              <a:rPr lang="en-US" dirty="0"/>
              <a:t>.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1692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B041A-9D92-C145-AE64-1F6B9447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ound Same Side Corner Rectangle 2">
            <a:extLst>
              <a:ext uri="{FF2B5EF4-FFF2-40B4-BE49-F238E27FC236}">
                <a16:creationId xmlns:a16="http://schemas.microsoft.com/office/drawing/2014/main" id="{DBCC1F29-E401-9742-9353-DC2A55E22189}"/>
              </a:ext>
            </a:extLst>
          </p:cNvPr>
          <p:cNvSpPr/>
          <p:nvPr/>
        </p:nvSpPr>
        <p:spPr>
          <a:xfrm>
            <a:off x="691376" y="1271239"/>
            <a:ext cx="7605131" cy="423746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Good question is How you </a:t>
            </a:r>
            <a:r>
              <a:rPr lang="en-US" sz="2000" b="1" dirty="0" err="1"/>
              <a:t>gonna</a:t>
            </a:r>
            <a:r>
              <a:rPr lang="en-US" sz="2000" b="1" dirty="0"/>
              <a:t> do it?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7821FE7A-3CBB-E240-96E6-9DB5D7051925}"/>
              </a:ext>
            </a:extLst>
          </p:cNvPr>
          <p:cNvSpPr/>
          <p:nvPr/>
        </p:nvSpPr>
        <p:spPr>
          <a:xfrm>
            <a:off x="3788872" y="3365416"/>
            <a:ext cx="1540856" cy="743698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PNE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D248EFF8-F077-6D4B-879A-2D1E3C4E6CC1}"/>
              </a:ext>
            </a:extLst>
          </p:cNvPr>
          <p:cNvSpPr/>
          <p:nvPr/>
        </p:nvSpPr>
        <p:spPr>
          <a:xfrm>
            <a:off x="3886344" y="1929514"/>
            <a:ext cx="1768746" cy="972015"/>
          </a:xfrm>
          <a:prstGeom prst="wedgeRoundRectCallout">
            <a:avLst>
              <a:gd name="adj1" fmla="val -19572"/>
              <a:gd name="adj2" fmla="val 900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Use Case &amp; Misuse Case Modeling </a:t>
            </a:r>
            <a:endParaRPr lang="en-US" dirty="0">
              <a:latin typeface="ArialMT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CC783C71-9362-4A48-AABC-58FB6835FD3C}"/>
              </a:ext>
            </a:extLst>
          </p:cNvPr>
          <p:cNvSpPr/>
          <p:nvPr/>
        </p:nvSpPr>
        <p:spPr>
          <a:xfrm>
            <a:off x="4143349" y="4815640"/>
            <a:ext cx="1768746" cy="972015"/>
          </a:xfrm>
          <a:prstGeom prst="wedgeRoundRectCallout">
            <a:avLst>
              <a:gd name="adj1" fmla="val -15790"/>
              <a:gd name="adj2" fmla="val -1072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Subject-Object Matrix </a:t>
            </a:r>
            <a:endParaRPr lang="en-US" dirty="0">
              <a:latin typeface="ArialMT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77B83F07-E36B-9C49-A541-EFB3C300C37C}"/>
              </a:ext>
            </a:extLst>
          </p:cNvPr>
          <p:cNvSpPr/>
          <p:nvPr/>
        </p:nvSpPr>
        <p:spPr>
          <a:xfrm>
            <a:off x="7411612" y="4762358"/>
            <a:ext cx="1768746" cy="972015"/>
          </a:xfrm>
          <a:prstGeom prst="wedgeRoundRectCallout">
            <a:avLst>
              <a:gd name="adj1" fmla="val -160795"/>
              <a:gd name="adj2" fmla="val -1210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Data Classification </a:t>
            </a:r>
            <a:endParaRPr lang="en-US" dirty="0">
              <a:latin typeface="ArialMT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8A56ED59-B41C-C048-9125-63BBC4A6D7AB}"/>
              </a:ext>
            </a:extLst>
          </p:cNvPr>
          <p:cNvSpPr/>
          <p:nvPr/>
        </p:nvSpPr>
        <p:spPr>
          <a:xfrm>
            <a:off x="6996113" y="1830955"/>
            <a:ext cx="1768746" cy="972015"/>
          </a:xfrm>
          <a:prstGeom prst="wedgeRoundRectCallout">
            <a:avLst>
              <a:gd name="adj1" fmla="val -138099"/>
              <a:gd name="adj2" fmla="val 1175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Policy Decomposition </a:t>
            </a:r>
            <a:endParaRPr lang="en-US" dirty="0">
              <a:latin typeface="ArialMT"/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87558F7F-39AD-A043-82E6-8798580B9245}"/>
              </a:ext>
            </a:extLst>
          </p:cNvPr>
          <p:cNvSpPr/>
          <p:nvPr/>
        </p:nvSpPr>
        <p:spPr>
          <a:xfrm>
            <a:off x="510904" y="1904230"/>
            <a:ext cx="1768746" cy="972015"/>
          </a:xfrm>
          <a:prstGeom prst="wedgeRoundRectCallout">
            <a:avLst>
              <a:gd name="adj1" fmla="val 116607"/>
              <a:gd name="adj2" fmla="val 1060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Surveys (Questionnaires and Interviews) </a:t>
            </a:r>
            <a:endParaRPr lang="en-US" dirty="0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7006BD6B-290F-E345-924F-498CDECA8DCC}"/>
              </a:ext>
            </a:extLst>
          </p:cNvPr>
          <p:cNvSpPr/>
          <p:nvPr/>
        </p:nvSpPr>
        <p:spPr>
          <a:xfrm>
            <a:off x="510904" y="4698411"/>
            <a:ext cx="1768746" cy="972015"/>
          </a:xfrm>
          <a:prstGeom prst="wedgeRoundRectCallout">
            <a:avLst>
              <a:gd name="adj1" fmla="val 130477"/>
              <a:gd name="adj2" fmla="val -866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Brainstorming </a:t>
            </a:r>
            <a:endParaRPr lang="en-US" dirty="0">
              <a:latin typeface="ArialM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6DAA4A-E2C8-994C-B915-BC6A90696A46}"/>
              </a:ext>
            </a:extLst>
          </p:cNvPr>
          <p:cNvSpPr/>
          <p:nvPr/>
        </p:nvSpPr>
        <p:spPr>
          <a:xfrm>
            <a:off x="0" y="456529"/>
            <a:ext cx="5287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solidFill>
                  <a:srgbClr val="5B5B5B"/>
                </a:solidFill>
                <a:latin typeface="MyriadPro"/>
              </a:rPr>
              <a:t>Protection Needs Elicitation (PNE)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493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52283D-E5F4-0049-9EC9-E4ACB99A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20176F-437E-9144-B4D6-C16F4400A886}"/>
              </a:ext>
            </a:extLst>
          </p:cNvPr>
          <p:cNvSpPr/>
          <p:nvPr/>
        </p:nvSpPr>
        <p:spPr>
          <a:xfrm>
            <a:off x="0" y="456529"/>
            <a:ext cx="5287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solidFill>
                  <a:srgbClr val="5B5B5B"/>
                </a:solidFill>
                <a:latin typeface="MyriadPro"/>
              </a:rPr>
              <a:t>Protection Needs Elicitation (PNE) 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72A027-3E17-F14D-A8D7-BF15BB8BF0CE}"/>
              </a:ext>
            </a:extLst>
          </p:cNvPr>
          <p:cNvSpPr/>
          <p:nvPr/>
        </p:nvSpPr>
        <p:spPr>
          <a:xfrm>
            <a:off x="334666" y="1635386"/>
            <a:ext cx="30043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D2D2D"/>
                </a:solidFill>
                <a:latin typeface="MyriadPro"/>
              </a:rPr>
              <a:t>Policy Decomposition 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44044D-A246-0D48-9A4B-E0084043FE94}"/>
              </a:ext>
            </a:extLst>
          </p:cNvPr>
          <p:cNvSpPr/>
          <p:nvPr/>
        </p:nvSpPr>
        <p:spPr>
          <a:xfrm>
            <a:off x="334666" y="2752689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One of the sources for security requirements is internal organizational policies that the organization need to comply with </a:t>
            </a:r>
            <a:endParaRPr lang="en-US" dirty="0"/>
          </a:p>
        </p:txBody>
      </p:sp>
      <p:sp>
        <p:nvSpPr>
          <p:cNvPr id="6" name="Cloud Callout 5">
            <a:extLst>
              <a:ext uri="{FF2B5EF4-FFF2-40B4-BE49-F238E27FC236}">
                <a16:creationId xmlns:a16="http://schemas.microsoft.com/office/drawing/2014/main" id="{CCBA4168-DD8A-AD44-9A7C-0BBF3B96F686}"/>
              </a:ext>
            </a:extLst>
          </p:cNvPr>
          <p:cNvSpPr/>
          <p:nvPr/>
        </p:nvSpPr>
        <p:spPr>
          <a:xfrm>
            <a:off x="5642517" y="1531958"/>
            <a:ext cx="3582446" cy="183571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is the meaning of incorporating information security through the SDLC?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7D0FF-757E-434D-994B-F751B8FA3AFE}"/>
              </a:ext>
            </a:extLst>
          </p:cNvPr>
          <p:cNvSpPr/>
          <p:nvPr/>
        </p:nvSpPr>
        <p:spPr>
          <a:xfrm>
            <a:off x="334666" y="404177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decomposition process is objective and compliant with the security policy, and not merely someone’s opinion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9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6A04BB-FD38-FC43-A3C5-FA46CB3C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3" name="Picture 1" descr="page158image12828672">
            <a:extLst>
              <a:ext uri="{FF2B5EF4-FFF2-40B4-BE49-F238E27FC236}">
                <a16:creationId xmlns:a16="http://schemas.microsoft.com/office/drawing/2014/main" id="{770EDE7C-4FA1-5F43-AF68-E20C6972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717" y="1988583"/>
            <a:ext cx="7552563" cy="307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89B1B4-8FD0-1241-A47E-62F6485C617D}"/>
              </a:ext>
            </a:extLst>
          </p:cNvPr>
          <p:cNvSpPr/>
          <p:nvPr/>
        </p:nvSpPr>
        <p:spPr>
          <a:xfrm>
            <a:off x="0" y="1127160"/>
            <a:ext cx="3476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Policy Decomposition 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40D7A-6C77-DC44-8F64-899F5D600B16}"/>
              </a:ext>
            </a:extLst>
          </p:cNvPr>
          <p:cNvSpPr/>
          <p:nvPr/>
        </p:nvSpPr>
        <p:spPr>
          <a:xfrm>
            <a:off x="0" y="456529"/>
            <a:ext cx="5287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solidFill>
                  <a:srgbClr val="5B5B5B"/>
                </a:solidFill>
                <a:latin typeface="MyriadPro"/>
              </a:rPr>
              <a:t>Protection Needs Elicitation (PNE)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381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C8D19-7539-674B-B10D-B5069C61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3" name="Picture 3" descr="page162image13417920">
            <a:extLst>
              <a:ext uri="{FF2B5EF4-FFF2-40B4-BE49-F238E27FC236}">
                <a16:creationId xmlns:a16="http://schemas.microsoft.com/office/drawing/2014/main" id="{F66B6169-2AF6-904A-95CA-C79EFF442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965" y="2076914"/>
            <a:ext cx="7503801" cy="392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9CCA10-6FC3-E644-8DCD-7181E34D6905}"/>
              </a:ext>
            </a:extLst>
          </p:cNvPr>
          <p:cNvSpPr/>
          <p:nvPr/>
        </p:nvSpPr>
        <p:spPr>
          <a:xfrm>
            <a:off x="0" y="1045149"/>
            <a:ext cx="3001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Data Classification </a:t>
            </a:r>
            <a:endParaRPr lang="en-US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8AFA71-0611-004B-BB17-06D30D7AD551}"/>
              </a:ext>
            </a:extLst>
          </p:cNvPr>
          <p:cNvSpPr/>
          <p:nvPr/>
        </p:nvSpPr>
        <p:spPr>
          <a:xfrm>
            <a:off x="0" y="456529"/>
            <a:ext cx="5287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solidFill>
                  <a:srgbClr val="5B5B5B"/>
                </a:solidFill>
                <a:latin typeface="MyriadPro"/>
              </a:rPr>
              <a:t>Protection Needs Elicitation (PNE)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142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7B401-7B96-1A41-9EA9-A5019ACE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D11AE3-EBC0-4B4E-A239-5D1F7A4973B4}"/>
              </a:ext>
            </a:extLst>
          </p:cNvPr>
          <p:cNvSpPr/>
          <p:nvPr/>
        </p:nvSpPr>
        <p:spPr>
          <a:xfrm>
            <a:off x="0" y="1014701"/>
            <a:ext cx="5338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Use Case &amp; Misuse Case Modeling </a:t>
            </a:r>
            <a:endParaRPr lang="en-US" sz="2800" dirty="0"/>
          </a:p>
        </p:txBody>
      </p:sp>
      <p:pic>
        <p:nvPicPr>
          <p:cNvPr id="4" name="Picture 1" descr="page166image13531568">
            <a:extLst>
              <a:ext uri="{FF2B5EF4-FFF2-40B4-BE49-F238E27FC236}">
                <a16:creationId xmlns:a16="http://schemas.microsoft.com/office/drawing/2014/main" id="{A7ECAEB1-5876-8E4E-A53E-1A977AD37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4" y="1963176"/>
            <a:ext cx="8514756" cy="301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A467A0-F54A-EE40-8FFC-F3C8267DF184}"/>
              </a:ext>
            </a:extLst>
          </p:cNvPr>
          <p:cNvSpPr/>
          <p:nvPr/>
        </p:nvSpPr>
        <p:spPr>
          <a:xfrm>
            <a:off x="0" y="456529"/>
            <a:ext cx="52876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solidFill>
                  <a:srgbClr val="5B5B5B"/>
                </a:solidFill>
                <a:latin typeface="MyriadPro"/>
              </a:rPr>
              <a:t>Protection Needs Elicitation (PNE)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423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1110052</TotalTime>
  <Words>613</Words>
  <Application>Microsoft Macintosh PowerPoint</Application>
  <PresentationFormat>A4 Paper (210x297 mm)</PresentationFormat>
  <Paragraphs>112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Adobe Gothic Std B</vt:lpstr>
      <vt:lpstr>AGaramondPro</vt:lpstr>
      <vt:lpstr>ArialMT</vt:lpstr>
      <vt:lpstr>DengXian</vt:lpstr>
      <vt:lpstr>DengXian</vt:lpstr>
      <vt:lpstr>等线 Light</vt:lpstr>
      <vt:lpstr>MyriadPro</vt:lpstr>
      <vt:lpstr>SimSun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678</cp:revision>
  <cp:lastPrinted>2025-01-23T10:52:12Z</cp:lastPrinted>
  <dcterms:created xsi:type="dcterms:W3CDTF">2018-07-17T04:46:00Z</dcterms:created>
  <dcterms:modified xsi:type="dcterms:W3CDTF">2026-01-28T10:18:44Z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