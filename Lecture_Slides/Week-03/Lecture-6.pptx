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0" r:id="rId2"/>
    <p:sldId id="461" r:id="rId3"/>
    <p:sldId id="493" r:id="rId4"/>
    <p:sldId id="494" r:id="rId5"/>
    <p:sldId id="495" r:id="rId6"/>
    <p:sldId id="496" r:id="rId7"/>
    <p:sldId id="471" r:id="rId8"/>
    <p:sldId id="487" r:id="rId9"/>
    <p:sldId id="462" r:id="rId10"/>
    <p:sldId id="497" r:id="rId11"/>
    <p:sldId id="498" r:id="rId12"/>
    <p:sldId id="499" r:id="rId13"/>
    <p:sldId id="500" r:id="rId14"/>
    <p:sldId id="501" r:id="rId15"/>
    <p:sldId id="372" r:id="rId16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461"/>
            <p14:sldId id="493"/>
            <p14:sldId id="494"/>
            <p14:sldId id="495"/>
            <p14:sldId id="496"/>
            <p14:sldId id="471"/>
            <p14:sldId id="487"/>
            <p14:sldId id="462"/>
            <p14:sldId id="497"/>
            <p14:sldId id="498"/>
            <p14:sldId id="499"/>
            <p14:sldId id="500"/>
            <p14:sldId id="501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5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2026/2/3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Risk Management for Software (2)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572458" y="1188025"/>
            <a:ext cx="4761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A0090-2C57-8644-8958-4483A56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C79FC-BAA5-F045-893A-CD453DE11BE5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37852-3004-1445-BC05-37E07DD07881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Cloud Callout 10">
            <a:extLst>
              <a:ext uri="{FF2B5EF4-FFF2-40B4-BE49-F238E27FC236}">
                <a16:creationId xmlns:a16="http://schemas.microsoft.com/office/drawing/2014/main" id="{704832E2-E4F5-0C4C-81F7-D9507FDD5E15}"/>
              </a:ext>
            </a:extLst>
          </p:cNvPr>
          <p:cNvSpPr/>
          <p:nvPr/>
        </p:nvSpPr>
        <p:spPr>
          <a:xfrm>
            <a:off x="6996112" y="2531480"/>
            <a:ext cx="24004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Ignore the risk </a:t>
            </a:r>
            <a:endParaRPr lang="en-US" b="1" i="1" dirty="0">
              <a:latin typeface="Myriad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8015BB-A4F1-D449-80DD-12B32FD5CAD4}"/>
              </a:ext>
            </a:extLst>
          </p:cNvPr>
          <p:cNvSpPr/>
          <p:nvPr/>
        </p:nvSpPr>
        <p:spPr>
          <a:xfrm>
            <a:off x="671082" y="1549349"/>
            <a:ext cx="2631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The risk is left unhandled </a:t>
            </a:r>
            <a:endParaRPr lang="en-US" b="1" i="1" dirty="0">
              <a:latin typeface="MyriadPr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F07EE-8B29-A845-A20C-1AE65599D69A}"/>
              </a:ext>
            </a:extLst>
          </p:cNvPr>
          <p:cNvSpPr/>
          <p:nvPr/>
        </p:nvSpPr>
        <p:spPr>
          <a:xfrm>
            <a:off x="671082" y="2162148"/>
            <a:ext cx="24881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This is highly ill-advised </a:t>
            </a:r>
            <a:endParaRPr lang="en-US" b="1" i="1" dirty="0">
              <a:latin typeface="MyriadPr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E7B5E-5A20-604C-AACF-CC9A030C5158}"/>
              </a:ext>
            </a:extLst>
          </p:cNvPr>
          <p:cNvSpPr/>
          <p:nvPr/>
        </p:nvSpPr>
        <p:spPr>
          <a:xfrm>
            <a:off x="682764" y="4745272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AGaramondPro"/>
              </a:rPr>
              <a:t>The organization can find itself at the end of a class action law suit and regulatory oversight for not protecting the data that its customers have entrusted to it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849700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4" grpId="0"/>
      <p:bldP spid="5" grpId="0"/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DA0090-2C57-8644-8958-4483A56E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7C79FC-BAA5-F045-893A-CD453DE11BE5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637852-3004-1445-BC05-37E07DD07881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4" name="Cloud Callout 13">
            <a:extLst>
              <a:ext uri="{FF2B5EF4-FFF2-40B4-BE49-F238E27FC236}">
                <a16:creationId xmlns:a16="http://schemas.microsoft.com/office/drawing/2014/main" id="{ABBE4412-B6D2-8C4F-B003-3D9173B9EBD1}"/>
              </a:ext>
            </a:extLst>
          </p:cNvPr>
          <p:cNvSpPr/>
          <p:nvPr/>
        </p:nvSpPr>
        <p:spPr>
          <a:xfrm>
            <a:off x="5795904" y="4505247"/>
            <a:ext cx="24004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Avoid the risk </a:t>
            </a:r>
            <a:endParaRPr lang="en-US" b="1" i="1" dirty="0">
              <a:latin typeface="MyriadPro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49D03-8B63-EF43-8EFE-6E3E5345B1DC}"/>
              </a:ext>
            </a:extLst>
          </p:cNvPr>
          <p:cNvSpPr/>
          <p:nvPr/>
        </p:nvSpPr>
        <p:spPr>
          <a:xfrm>
            <a:off x="388777" y="5553462"/>
            <a:ext cx="4953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AGaramondPro"/>
              </a:rPr>
              <a:t>Risk may be avoided but it must never be ignored. </a:t>
            </a:r>
            <a:endParaRPr lang="en-US" b="1" i="1" dirty="0">
              <a:latin typeface="MyriadPro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6F2C3-0B07-0548-B535-906D86E46BFB}"/>
              </a:ext>
            </a:extLst>
          </p:cNvPr>
          <p:cNvSpPr/>
          <p:nvPr/>
        </p:nvSpPr>
        <p:spPr>
          <a:xfrm>
            <a:off x="489753" y="1832143"/>
            <a:ext cx="32858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Discontinue the service/product </a:t>
            </a:r>
            <a:endParaRPr lang="en-US" b="1" i="1" dirty="0">
              <a:latin typeface="MyriadPro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CA076A-F6C6-BC42-BFBE-504D4CA94485}"/>
              </a:ext>
            </a:extLst>
          </p:cNvPr>
          <p:cNvSpPr/>
          <p:nvPr/>
        </p:nvSpPr>
        <p:spPr>
          <a:xfrm>
            <a:off x="489753" y="2409521"/>
            <a:ext cx="3013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Replaced by a newer product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2054872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27B7B-2D14-E242-B1CB-DF2D6942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7D748-6504-1444-9B66-90A7800E2EE1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79705-990F-384B-8856-4ABE503628AE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Cloud Callout 9">
            <a:extLst>
              <a:ext uri="{FF2B5EF4-FFF2-40B4-BE49-F238E27FC236}">
                <a16:creationId xmlns:a16="http://schemas.microsoft.com/office/drawing/2014/main" id="{F65EF86D-E610-1A40-9497-4357FF075F8D}"/>
              </a:ext>
            </a:extLst>
          </p:cNvPr>
          <p:cNvSpPr/>
          <p:nvPr/>
        </p:nvSpPr>
        <p:spPr>
          <a:xfrm>
            <a:off x="3975406" y="1441773"/>
            <a:ext cx="2791523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Mitigate the risk </a:t>
            </a:r>
            <a:endParaRPr lang="en-US" b="1" i="1" dirty="0">
              <a:latin typeface="MyriadP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A4BB03-1352-2D48-987D-A131B6D84114}"/>
              </a:ext>
            </a:extLst>
          </p:cNvPr>
          <p:cNvSpPr/>
          <p:nvPr/>
        </p:nvSpPr>
        <p:spPr>
          <a:xfrm>
            <a:off x="692305" y="4512979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AGaramondPro"/>
              </a:rPr>
              <a:t>To implement security controls (safeguards and countermeasures) to reduce the risk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3823206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27B7B-2D14-E242-B1CB-DF2D6942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7D748-6504-1444-9B66-90A7800E2EE1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79705-990F-384B-8856-4ABE503628AE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Cloud Callout 6">
            <a:extLst>
              <a:ext uri="{FF2B5EF4-FFF2-40B4-BE49-F238E27FC236}">
                <a16:creationId xmlns:a16="http://schemas.microsoft.com/office/drawing/2014/main" id="{73F704A9-8A75-F344-BEE4-63DFEA1DD02B}"/>
              </a:ext>
            </a:extLst>
          </p:cNvPr>
          <p:cNvSpPr/>
          <p:nvPr/>
        </p:nvSpPr>
        <p:spPr>
          <a:xfrm>
            <a:off x="388777" y="2222436"/>
            <a:ext cx="2630817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Accept the risk </a:t>
            </a:r>
            <a:endParaRPr lang="en-US" b="1" i="1" dirty="0">
              <a:latin typeface="Myriad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ED4172-F90E-1C44-8BEF-7DC0DC810485}"/>
              </a:ext>
            </a:extLst>
          </p:cNvPr>
          <p:cNvSpPr/>
          <p:nvPr/>
        </p:nvSpPr>
        <p:spPr>
          <a:xfrm>
            <a:off x="4953000" y="1576105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AGaramondPro"/>
              </a:rPr>
              <a:t>Choose to this accept the residual risk that remains and continue business operations </a:t>
            </a:r>
            <a:endParaRPr lang="en-US" b="1" i="1" dirty="0">
              <a:latin typeface="MyriadPro"/>
            </a:endParaRPr>
          </a:p>
          <a:p>
            <a:endParaRPr lang="en-US" b="1" i="1" dirty="0">
              <a:latin typeface="MyriadP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EE1C3A-F0AA-C74E-BD38-2598B207CB8E}"/>
              </a:ext>
            </a:extLst>
          </p:cNvPr>
          <p:cNvSpPr/>
          <p:nvPr/>
        </p:nvSpPr>
        <p:spPr>
          <a:xfrm>
            <a:off x="4581448" y="4961621"/>
            <a:ext cx="4465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Or they can choose to continue to mitigate it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186482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27B7B-2D14-E242-B1CB-DF2D6942B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B7D748-6504-1444-9B66-90A7800E2EE1}"/>
              </a:ext>
            </a:extLst>
          </p:cNvPr>
          <p:cNvSpPr/>
          <p:nvPr/>
        </p:nvSpPr>
        <p:spPr>
          <a:xfrm>
            <a:off x="388777" y="456529"/>
            <a:ext cx="19944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i="1" dirty="0">
                <a:solidFill>
                  <a:srgbClr val="5B5B5B"/>
                </a:solidFill>
                <a:latin typeface="MyriadPro"/>
              </a:rPr>
              <a:t>Handling Risk 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C679705-990F-384B-8856-4ABE503628AE}"/>
              </a:ext>
            </a:extLst>
          </p:cNvPr>
          <p:cNvSpPr/>
          <p:nvPr/>
        </p:nvSpPr>
        <p:spPr>
          <a:xfrm>
            <a:off x="4094307" y="3270651"/>
            <a:ext cx="13484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What If?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9" name="Cloud Callout 8">
            <a:extLst>
              <a:ext uri="{FF2B5EF4-FFF2-40B4-BE49-F238E27FC236}">
                <a16:creationId xmlns:a16="http://schemas.microsoft.com/office/drawing/2014/main" id="{73DF2319-1FEE-3042-ADEE-1304BD14EDD8}"/>
              </a:ext>
            </a:extLst>
          </p:cNvPr>
          <p:cNvSpPr/>
          <p:nvPr/>
        </p:nvSpPr>
        <p:spPr>
          <a:xfrm>
            <a:off x="388778" y="4339721"/>
            <a:ext cx="2929294" cy="1048215"/>
          </a:xfrm>
          <a:prstGeom prst="cloud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GaramondPro"/>
              </a:rPr>
              <a:t>Transfer the risk </a:t>
            </a:r>
            <a:endParaRPr lang="en-US" b="1" i="1" dirty="0">
              <a:latin typeface="MyriadPro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2D0F42-877F-7447-AAA9-F9CBC10DC0C4}"/>
              </a:ext>
            </a:extLst>
          </p:cNvPr>
          <p:cNvSpPr/>
          <p:nvPr/>
        </p:nvSpPr>
        <p:spPr>
          <a:xfrm>
            <a:off x="4519613" y="141085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1" dirty="0">
                <a:latin typeface="AGaramondPro"/>
              </a:rPr>
              <a:t>The liability that is transferred and not necessarily the </a:t>
            </a:r>
            <a:r>
              <a:rPr lang="en-US" b="1" i="1" dirty="0">
                <a:solidFill>
                  <a:srgbClr val="FF0000"/>
                </a:solidFill>
                <a:latin typeface="AGaramondPro"/>
              </a:rPr>
              <a:t>risk</a:t>
            </a:r>
            <a:r>
              <a:rPr lang="en-US" b="1" i="1" dirty="0">
                <a:latin typeface="AGaramondPro"/>
              </a:rPr>
              <a:t> itself </a:t>
            </a:r>
            <a:endParaRPr lang="en-US" b="1" i="1" dirty="0">
              <a:latin typeface="MyriadP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317141-35FD-6D40-ADAB-730414AB19BB}"/>
              </a:ext>
            </a:extLst>
          </p:cNvPr>
          <p:cNvSpPr/>
          <p:nvPr/>
        </p:nvSpPr>
        <p:spPr>
          <a:xfrm>
            <a:off x="4519613" y="2294584"/>
            <a:ext cx="42566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By buying insurance and using disclaimers </a:t>
            </a:r>
            <a:endParaRPr lang="en-US" b="1" i="1" dirty="0">
              <a:latin typeface="MyriadPr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0EC304-3F78-6A41-A0B8-104BF6EF9220}"/>
              </a:ext>
            </a:extLst>
          </p:cNvPr>
          <p:cNvSpPr/>
          <p:nvPr/>
        </p:nvSpPr>
        <p:spPr>
          <a:xfrm>
            <a:off x="4565176" y="4880775"/>
            <a:ext cx="3255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Transfer the risk to the end user </a:t>
            </a:r>
            <a:endParaRPr lang="en-US" b="1" i="1" dirty="0">
              <a:latin typeface="MyriadPro"/>
            </a:endParaRPr>
          </a:p>
        </p:txBody>
      </p:sp>
    </p:spTree>
    <p:extLst>
      <p:ext uri="{BB962C8B-B14F-4D97-AF65-F5344CB8AC3E}">
        <p14:creationId xmlns:p14="http://schemas.microsoft.com/office/powerpoint/2010/main" val="32712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" grpId="0"/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360F7-AADD-0F41-BFA0-86C272B5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E9512B-30E2-CA46-9FDA-616CBF3C20BB}"/>
              </a:ext>
            </a:extLst>
          </p:cNvPr>
          <p:cNvSpPr/>
          <p:nvPr/>
        </p:nvSpPr>
        <p:spPr>
          <a:xfrm>
            <a:off x="28139" y="210691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the likelihood of the occurrence of an unwanted, unintended or harmful event 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E46D3-37E0-A74C-859D-9BFFAE98FD13}"/>
              </a:ext>
            </a:extLst>
          </p:cNvPr>
          <p:cNvSpPr/>
          <p:nvPr/>
        </p:nvSpPr>
        <p:spPr>
          <a:xfrm>
            <a:off x="28139" y="298407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This is the overall risk of the system, before any security controls are applied 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223FDB-D619-394F-95BF-DD1679FEAB87}"/>
              </a:ext>
            </a:extLst>
          </p:cNvPr>
          <p:cNvSpPr/>
          <p:nvPr/>
        </p:nvSpPr>
        <p:spPr>
          <a:xfrm>
            <a:off x="28139" y="3861236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latin typeface="AGaramondPro"/>
              </a:rPr>
              <a:t>This may be expressed </a:t>
            </a:r>
            <a:r>
              <a:rPr lang="en-US" b="1" dirty="0">
                <a:latin typeface="AGaramondPro"/>
              </a:rPr>
              <a:t>qualitatively</a:t>
            </a:r>
            <a:r>
              <a:rPr lang="en-US" dirty="0">
                <a:latin typeface="AGaramondPro"/>
              </a:rPr>
              <a:t> (e.g., High, Medium or Low) or </a:t>
            </a:r>
            <a:r>
              <a:rPr lang="en-US" b="1" dirty="0">
                <a:latin typeface="AGaramondPro"/>
              </a:rPr>
              <a:t>quantitatively</a:t>
            </a:r>
            <a:r>
              <a:rPr lang="en-US" dirty="0">
                <a:latin typeface="AGaramondPro"/>
              </a:rPr>
              <a:t> (using numbers or percentiles) </a:t>
            </a:r>
            <a:endParaRPr lang="en-US" dirty="0"/>
          </a:p>
        </p:txBody>
      </p:sp>
      <p:sp>
        <p:nvSpPr>
          <p:cNvPr id="15" name="Alternate Process 14">
            <a:extLst>
              <a:ext uri="{FF2B5EF4-FFF2-40B4-BE49-F238E27FC236}">
                <a16:creationId xmlns:a16="http://schemas.microsoft.com/office/drawing/2014/main" id="{B3E1467F-FBCA-A14D-89E9-01D3FBE2EF89}"/>
              </a:ext>
            </a:extLst>
          </p:cNvPr>
          <p:cNvSpPr/>
          <p:nvPr/>
        </p:nvSpPr>
        <p:spPr>
          <a:xfrm>
            <a:off x="1025913" y="1291193"/>
            <a:ext cx="1984917" cy="60283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MyriadPro"/>
              </a:rPr>
              <a:t>Quantitative </a:t>
            </a:r>
            <a:endParaRPr lang="en-US" dirty="0"/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77A9B6D2-F02B-7349-A55E-507FB51872DA}"/>
              </a:ext>
            </a:extLst>
          </p:cNvPr>
          <p:cNvSpPr/>
          <p:nvPr/>
        </p:nvSpPr>
        <p:spPr>
          <a:xfrm>
            <a:off x="6550897" y="1291192"/>
            <a:ext cx="1984917" cy="60283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 dirty="0">
                <a:latin typeface="MyriadPro"/>
              </a:rPr>
              <a:t>Qualitative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CD2D5C9-55D5-C843-9623-05EE39618075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</a:t>
            </a:r>
          </a:p>
        </p:txBody>
      </p:sp>
    </p:spTree>
    <p:extLst>
      <p:ext uri="{BB962C8B-B14F-4D97-AF65-F5344CB8AC3E}">
        <p14:creationId xmlns:p14="http://schemas.microsoft.com/office/powerpoint/2010/main" val="2808672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13" grpId="0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0B360F7-AADD-0F41-BFA0-86C272B50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B4290-3D37-0740-AEF1-8E9CA56EEA05}"/>
              </a:ext>
            </a:extLst>
          </p:cNvPr>
          <p:cNvSpPr/>
          <p:nvPr/>
        </p:nvSpPr>
        <p:spPr>
          <a:xfrm>
            <a:off x="953843" y="1637168"/>
            <a:ext cx="29102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Single Loss Expectancy (SLE) 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311DF6-579F-4243-9BA6-6C7E609516BA}"/>
              </a:ext>
            </a:extLst>
          </p:cNvPr>
          <p:cNvSpPr/>
          <p:nvPr/>
        </p:nvSpPr>
        <p:spPr>
          <a:xfrm>
            <a:off x="953843" y="2248090"/>
            <a:ext cx="3405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Annual Rate of Occurrence (ARO) 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EAE6-BB85-AD41-A419-DF305CBB47DB}"/>
              </a:ext>
            </a:extLst>
          </p:cNvPr>
          <p:cNvSpPr/>
          <p:nvPr/>
        </p:nvSpPr>
        <p:spPr>
          <a:xfrm>
            <a:off x="953843" y="2859012"/>
            <a:ext cx="30481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>
                <a:latin typeface="AGaramondPro"/>
              </a:rPr>
              <a:t>Annual Loss Expectancy (ALE)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57F326-A755-574A-97D7-365BB5E5C5EC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latin typeface="MyriadPro"/>
              </a:rPr>
              <a:t>Calculation of Risk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6685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672A8-2338-7B48-BF9C-98502923E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3073" name="Picture 1" descr="page62image23942224">
            <a:extLst>
              <a:ext uri="{FF2B5EF4-FFF2-40B4-BE49-F238E27FC236}">
                <a16:creationId xmlns:a16="http://schemas.microsoft.com/office/drawing/2014/main" id="{1A59DE5D-FC6F-9248-9E37-F6192CC55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75" y="1526067"/>
            <a:ext cx="4504999" cy="2198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8BA26D-890F-2440-88EF-48FE838E5A53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Risk Management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7469CD-F30B-064D-9509-1A1405FFE617}"/>
              </a:ext>
            </a:extLst>
          </p:cNvPr>
          <p:cNvSpPr/>
          <p:nvPr/>
        </p:nvSpPr>
        <p:spPr>
          <a:xfrm>
            <a:off x="689275" y="4108323"/>
            <a:ext cx="79863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err="1"/>
              <a:t>KillerAppCo</a:t>
            </a:r>
            <a:r>
              <a:rPr lang="en-US" dirty="0"/>
              <a:t> has launched </a:t>
            </a:r>
            <a:r>
              <a:rPr lang="en-US" dirty="0" err="1"/>
              <a:t>iWare</a:t>
            </a:r>
            <a:r>
              <a:rPr lang="en-US" dirty="0"/>
              <a:t> 1.0, a web-based software for managing user accounts, payments, and confidential business data. The </a:t>
            </a:r>
            <a:r>
              <a:rPr lang="en-US" dirty="0" err="1"/>
              <a:t>iWare</a:t>
            </a:r>
            <a:r>
              <a:rPr lang="en-US" dirty="0"/>
              <a:t> server runs on Linux, is accessible over the internet, and stores sensitive user information including emails, passwords, and payment details.</a:t>
            </a:r>
          </a:p>
        </p:txBody>
      </p:sp>
    </p:spTree>
    <p:extLst>
      <p:ext uri="{BB962C8B-B14F-4D97-AF65-F5344CB8AC3E}">
        <p14:creationId xmlns:p14="http://schemas.microsoft.com/office/powerpoint/2010/main" val="3908811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4278-9D2D-2C41-ABA4-895E65F1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B8069-25AF-914F-B910-05ED8D2C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06044"/>
              </p:ext>
            </p:extLst>
          </p:nvPr>
        </p:nvGraphicFramePr>
        <p:xfrm>
          <a:off x="1629485" y="1430767"/>
          <a:ext cx="7051935" cy="4366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645">
                  <a:extLst>
                    <a:ext uri="{9D8B030D-6E8A-4147-A177-3AD203B41FA5}">
                      <a16:colId xmlns:a16="http://schemas.microsoft.com/office/drawing/2014/main" val="1063463528"/>
                    </a:ext>
                  </a:extLst>
                </a:gridCol>
                <a:gridCol w="2350645">
                  <a:extLst>
                    <a:ext uri="{9D8B030D-6E8A-4147-A177-3AD203B41FA5}">
                      <a16:colId xmlns:a16="http://schemas.microsoft.com/office/drawing/2014/main" val="2318162368"/>
                    </a:ext>
                  </a:extLst>
                </a:gridCol>
                <a:gridCol w="2350645">
                  <a:extLst>
                    <a:ext uri="{9D8B030D-6E8A-4147-A177-3AD203B41FA5}">
                      <a16:colId xmlns:a16="http://schemas.microsoft.com/office/drawing/2014/main" val="2342688518"/>
                    </a:ext>
                  </a:extLst>
                </a:gridCol>
              </a:tblGrid>
              <a:tr h="4733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9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iWare</a:t>
                      </a:r>
                      <a:r>
                        <a:rPr lang="en-US" dirty="0"/>
                        <a:t> 1.0 Server must be released on Jan 1, 2027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KillerAppCO</a:t>
                      </a:r>
                      <a:r>
                        <a:rPr lang="en-US" dirty="0"/>
                        <a:t> desires to release </a:t>
                      </a:r>
                      <a:r>
                        <a:rPr lang="en-US" dirty="0" err="1"/>
                        <a:t>iWare</a:t>
                      </a:r>
                      <a:r>
                        <a:rPr lang="en-US" dirty="0"/>
                        <a:t> 1.0 on Jan 1, 2027, to achieve first-to-market status, which will enable </a:t>
                      </a:r>
                      <a:r>
                        <a:rPr lang="en-US" dirty="0" err="1"/>
                        <a:t>KillerAppCo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tosecure</a:t>
                      </a:r>
                      <a:r>
                        <a:rPr lang="en-US" dirty="0"/>
                        <a:t> 25% of the market prior to competitor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8229"/>
                  </a:ext>
                </a:extLst>
              </a:tr>
              <a:tr h="5294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80765"/>
                  </a:ext>
                </a:extLst>
              </a:tr>
              <a:tr h="52949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4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500DD-8406-7E49-8938-1EE9C230E91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Understand the Business Context</a:t>
            </a:r>
          </a:p>
        </p:txBody>
      </p:sp>
    </p:spTree>
    <p:extLst>
      <p:ext uri="{BB962C8B-B14F-4D97-AF65-F5344CB8AC3E}">
        <p14:creationId xmlns:p14="http://schemas.microsoft.com/office/powerpoint/2010/main" val="1112057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4278-9D2D-2C41-ABA4-895E65F1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B8069-25AF-914F-B910-05ED8D2C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660206"/>
              </p:ext>
            </p:extLst>
          </p:nvPr>
        </p:nvGraphicFramePr>
        <p:xfrm>
          <a:off x="1629484" y="1430767"/>
          <a:ext cx="6546328" cy="28722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164">
                  <a:extLst>
                    <a:ext uri="{9D8B030D-6E8A-4147-A177-3AD203B41FA5}">
                      <a16:colId xmlns:a16="http://schemas.microsoft.com/office/drawing/2014/main" val="1063463528"/>
                    </a:ext>
                  </a:extLst>
                </a:gridCol>
                <a:gridCol w="3273164">
                  <a:extLst>
                    <a:ext uri="{9D8B030D-6E8A-4147-A177-3AD203B41FA5}">
                      <a16:colId xmlns:a16="http://schemas.microsoft.com/office/drawing/2014/main" val="2318162368"/>
                    </a:ext>
                  </a:extLst>
                </a:gridCol>
              </a:tblGrid>
              <a:tr h="49964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9885"/>
                  </a:ext>
                </a:extLst>
              </a:tr>
              <a:tr h="125479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High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8229"/>
                  </a:ext>
                </a:extLst>
              </a:tr>
              <a:tr h="5589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80765"/>
                  </a:ext>
                </a:extLst>
              </a:tr>
              <a:tr h="5589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4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500DD-8406-7E49-8938-1EE9C230E91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Understand the Business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538DB-B717-8748-9823-E5B0DF19FF79}"/>
              </a:ext>
            </a:extLst>
          </p:cNvPr>
          <p:cNvSpPr txBox="1"/>
          <p:nvPr/>
        </p:nvSpPr>
        <p:spPr>
          <a:xfrm>
            <a:off x="2495774" y="4730520"/>
            <a:ext cx="544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Guidelines for Business Goals Ranking</a:t>
            </a:r>
          </a:p>
        </p:txBody>
      </p:sp>
    </p:spTree>
    <p:extLst>
      <p:ext uri="{BB962C8B-B14F-4D97-AF65-F5344CB8AC3E}">
        <p14:creationId xmlns:p14="http://schemas.microsoft.com/office/powerpoint/2010/main" val="131835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4278-9D2D-2C41-ABA4-895E65F1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B8069-25AF-914F-B910-05ED8D2C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281985"/>
              </p:ext>
            </p:extLst>
          </p:nvPr>
        </p:nvGraphicFramePr>
        <p:xfrm>
          <a:off x="645459" y="1430766"/>
          <a:ext cx="8315658" cy="3818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5943">
                  <a:extLst>
                    <a:ext uri="{9D8B030D-6E8A-4147-A177-3AD203B41FA5}">
                      <a16:colId xmlns:a16="http://schemas.microsoft.com/office/drawing/2014/main" val="1063463528"/>
                    </a:ext>
                  </a:extLst>
                </a:gridCol>
                <a:gridCol w="1385943">
                  <a:extLst>
                    <a:ext uri="{9D8B030D-6E8A-4147-A177-3AD203B41FA5}">
                      <a16:colId xmlns:a16="http://schemas.microsoft.com/office/drawing/2014/main" val="2318162368"/>
                    </a:ext>
                  </a:extLst>
                </a:gridCol>
                <a:gridCol w="1385943">
                  <a:extLst>
                    <a:ext uri="{9D8B030D-6E8A-4147-A177-3AD203B41FA5}">
                      <a16:colId xmlns:a16="http://schemas.microsoft.com/office/drawing/2014/main" val="4210322085"/>
                    </a:ext>
                  </a:extLst>
                </a:gridCol>
                <a:gridCol w="1385943">
                  <a:extLst>
                    <a:ext uri="{9D8B030D-6E8A-4147-A177-3AD203B41FA5}">
                      <a16:colId xmlns:a16="http://schemas.microsoft.com/office/drawing/2014/main" val="2720851093"/>
                    </a:ext>
                  </a:extLst>
                </a:gridCol>
                <a:gridCol w="1385943">
                  <a:extLst>
                    <a:ext uri="{9D8B030D-6E8A-4147-A177-3AD203B41FA5}">
                      <a16:colId xmlns:a16="http://schemas.microsoft.com/office/drawing/2014/main" val="3820319392"/>
                    </a:ext>
                  </a:extLst>
                </a:gridCol>
                <a:gridCol w="1385943">
                  <a:extLst>
                    <a:ext uri="{9D8B030D-6E8A-4147-A177-3AD203B41FA5}">
                      <a16:colId xmlns:a16="http://schemas.microsoft.com/office/drawing/2014/main" val="33926316"/>
                    </a:ext>
                  </a:extLst>
                </a:gridCol>
              </a:tblGrid>
              <a:tr h="124630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Risk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Estimated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9885"/>
                  </a:ext>
                </a:extLst>
              </a:tr>
              <a:tr h="1315580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dirty="0"/>
                        <a:t>High (H)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8229"/>
                  </a:ext>
                </a:extLst>
              </a:tr>
              <a:tr h="67108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Medium (M)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80765"/>
                  </a:ext>
                </a:extLst>
              </a:tr>
              <a:tr h="58599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Low (L)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4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500DD-8406-7E49-8938-1EE9C230E91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Business and Technical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538DB-B717-8748-9823-E5B0DF19FF79}"/>
              </a:ext>
            </a:extLst>
          </p:cNvPr>
          <p:cNvSpPr txBox="1"/>
          <p:nvPr/>
        </p:nvSpPr>
        <p:spPr>
          <a:xfrm>
            <a:off x="2180964" y="5500748"/>
            <a:ext cx="544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Business Risks</a:t>
            </a:r>
          </a:p>
        </p:txBody>
      </p:sp>
    </p:spTree>
    <p:extLst>
      <p:ext uri="{BB962C8B-B14F-4D97-AF65-F5344CB8AC3E}">
        <p14:creationId xmlns:p14="http://schemas.microsoft.com/office/powerpoint/2010/main" val="1974701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4278-9D2D-2C41-ABA4-895E65F1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B8069-25AF-914F-B910-05ED8D2C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748256"/>
              </p:ext>
            </p:extLst>
          </p:nvPr>
        </p:nvGraphicFramePr>
        <p:xfrm>
          <a:off x="645459" y="1398492"/>
          <a:ext cx="8111268" cy="3894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7817">
                  <a:extLst>
                    <a:ext uri="{9D8B030D-6E8A-4147-A177-3AD203B41FA5}">
                      <a16:colId xmlns:a16="http://schemas.microsoft.com/office/drawing/2014/main" val="1063463528"/>
                    </a:ext>
                  </a:extLst>
                </a:gridCol>
                <a:gridCol w="2027817">
                  <a:extLst>
                    <a:ext uri="{9D8B030D-6E8A-4147-A177-3AD203B41FA5}">
                      <a16:colId xmlns:a16="http://schemas.microsoft.com/office/drawing/2014/main" val="2318162368"/>
                    </a:ext>
                  </a:extLst>
                </a:gridCol>
                <a:gridCol w="2027817">
                  <a:extLst>
                    <a:ext uri="{9D8B030D-6E8A-4147-A177-3AD203B41FA5}">
                      <a16:colId xmlns:a16="http://schemas.microsoft.com/office/drawing/2014/main" val="4210322085"/>
                    </a:ext>
                  </a:extLst>
                </a:gridCol>
                <a:gridCol w="2027817">
                  <a:extLst>
                    <a:ext uri="{9D8B030D-6E8A-4147-A177-3AD203B41FA5}">
                      <a16:colId xmlns:a16="http://schemas.microsoft.com/office/drawing/2014/main" val="2720851093"/>
                    </a:ext>
                  </a:extLst>
                </a:gridCol>
              </a:tblGrid>
              <a:tr h="127087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Business Risks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Technical Risk Indicators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Likelihood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Impact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9885"/>
                  </a:ext>
                </a:extLst>
              </a:tr>
              <a:tr h="134152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8229"/>
                  </a:ext>
                </a:extLst>
              </a:tr>
              <a:tr h="68431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80765"/>
                  </a:ext>
                </a:extLst>
              </a:tr>
              <a:tr h="597553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4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500DD-8406-7E49-8938-1EE9C230E91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Business and Technical Risks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9538DB-B717-8748-9823-E5B0DF19FF79}"/>
              </a:ext>
            </a:extLst>
          </p:cNvPr>
          <p:cNvSpPr txBox="1"/>
          <p:nvPr/>
        </p:nvSpPr>
        <p:spPr>
          <a:xfrm>
            <a:off x="2180964" y="5500748"/>
            <a:ext cx="5443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Technical Risks</a:t>
            </a:r>
          </a:p>
        </p:txBody>
      </p:sp>
    </p:spTree>
    <p:extLst>
      <p:ext uri="{BB962C8B-B14F-4D97-AF65-F5344CB8AC3E}">
        <p14:creationId xmlns:p14="http://schemas.microsoft.com/office/powerpoint/2010/main" val="400811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F74278-9D2D-2C41-ABA4-895E65F1F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AB8069-25AF-914F-B910-05ED8D2C0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04805"/>
              </p:ext>
            </p:extLst>
          </p:nvPr>
        </p:nvGraphicFramePr>
        <p:xfrm>
          <a:off x="645459" y="1398492"/>
          <a:ext cx="7842324" cy="4102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4108">
                  <a:extLst>
                    <a:ext uri="{9D8B030D-6E8A-4147-A177-3AD203B41FA5}">
                      <a16:colId xmlns:a16="http://schemas.microsoft.com/office/drawing/2014/main" val="1063463528"/>
                    </a:ext>
                  </a:extLst>
                </a:gridCol>
                <a:gridCol w="2614108">
                  <a:extLst>
                    <a:ext uri="{9D8B030D-6E8A-4147-A177-3AD203B41FA5}">
                      <a16:colId xmlns:a16="http://schemas.microsoft.com/office/drawing/2014/main" val="2318162368"/>
                    </a:ext>
                  </a:extLst>
                </a:gridCol>
                <a:gridCol w="2614108">
                  <a:extLst>
                    <a:ext uri="{9D8B030D-6E8A-4147-A177-3AD203B41FA5}">
                      <a16:colId xmlns:a16="http://schemas.microsoft.com/office/drawing/2014/main" val="4210322085"/>
                    </a:ext>
                  </a:extLst>
                </a:gridCol>
              </a:tblGrid>
              <a:tr h="1338752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Business Goals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Business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  <a:p>
                      <a:pPr algn="ctr"/>
                      <a:r>
                        <a:rPr lang="en-US" dirty="0"/>
                        <a:t>Technical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49885"/>
                  </a:ext>
                </a:extLst>
              </a:tr>
              <a:tr h="141317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68229"/>
                  </a:ext>
                </a:extLst>
              </a:tr>
              <a:tr h="72086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7780765"/>
                  </a:ext>
                </a:extLst>
              </a:tr>
              <a:tr h="629467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01498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1500DD-8406-7E49-8938-1EE9C230E91B}"/>
              </a:ext>
            </a:extLst>
          </p:cNvPr>
          <p:cNvSpPr txBox="1"/>
          <p:nvPr/>
        </p:nvSpPr>
        <p:spPr>
          <a:xfrm>
            <a:off x="154744" y="295421"/>
            <a:ext cx="59787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Goal to Risks Relationship Table</a:t>
            </a:r>
          </a:p>
        </p:txBody>
      </p:sp>
    </p:spTree>
    <p:extLst>
      <p:ext uri="{BB962C8B-B14F-4D97-AF65-F5344CB8AC3E}">
        <p14:creationId xmlns:p14="http://schemas.microsoft.com/office/powerpoint/2010/main" val="358234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15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1110590</TotalTime>
  <Words>465</Words>
  <Application>Microsoft Macintosh PowerPoint</Application>
  <PresentationFormat>A4 Paper (210x297 mm)</PresentationFormat>
  <Paragraphs>117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Adobe Gothic Std B</vt:lpstr>
      <vt:lpstr>AGaramondPro</vt:lpstr>
      <vt:lpstr>DengXian</vt:lpstr>
      <vt:lpstr>DengXian</vt:lpstr>
      <vt:lpstr>等线 Light</vt:lpstr>
      <vt:lpstr>MyriadPro</vt:lpstr>
      <vt:lpstr>SimSun</vt:lpstr>
      <vt:lpstr>Arial</vt:lpstr>
      <vt:lpstr>Calibri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707</cp:revision>
  <cp:lastPrinted>2025-01-23T10:52:12Z</cp:lastPrinted>
  <dcterms:created xsi:type="dcterms:W3CDTF">2018-07-17T04:46:00Z</dcterms:created>
  <dcterms:modified xsi:type="dcterms:W3CDTF">2026-02-03T10:23:57Z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