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80" r:id="rId2"/>
    <p:sldId id="441" r:id="rId3"/>
    <p:sldId id="447" r:id="rId4"/>
    <p:sldId id="439" r:id="rId5"/>
    <p:sldId id="444" r:id="rId6"/>
    <p:sldId id="445" r:id="rId7"/>
    <p:sldId id="446" r:id="rId8"/>
    <p:sldId id="448" r:id="rId9"/>
    <p:sldId id="449" r:id="rId10"/>
    <p:sldId id="450" r:id="rId11"/>
    <p:sldId id="451" r:id="rId12"/>
    <p:sldId id="452" r:id="rId13"/>
    <p:sldId id="457" r:id="rId14"/>
    <p:sldId id="456" r:id="rId15"/>
    <p:sldId id="453" r:id="rId16"/>
    <p:sldId id="454" r:id="rId17"/>
    <p:sldId id="455" r:id="rId18"/>
    <p:sldId id="372" r:id="rId19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441"/>
            <p14:sldId id="447"/>
            <p14:sldId id="439"/>
            <p14:sldId id="444"/>
            <p14:sldId id="445"/>
            <p14:sldId id="446"/>
            <p14:sldId id="448"/>
            <p14:sldId id="449"/>
            <p14:sldId id="450"/>
            <p14:sldId id="451"/>
            <p14:sldId id="452"/>
            <p14:sldId id="457"/>
            <p14:sldId id="456"/>
            <p14:sldId id="453"/>
            <p14:sldId id="454"/>
            <p14:sldId id="455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17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572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505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589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090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183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912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012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757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332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471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259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559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Security </a:t>
            </a:r>
            <a:r>
              <a:rPr lang="en-US" b="1" dirty="0"/>
              <a:t>Requirements in SDLC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Engineering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59575A-8D37-8A4C-AF75-959E17A1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9482B8B4-C143-4B41-822F-2065983178CC}"/>
              </a:ext>
            </a:extLst>
          </p:cNvPr>
          <p:cNvSpPr txBox="1">
            <a:spLocks/>
          </p:cNvSpPr>
          <p:nvPr/>
        </p:nvSpPr>
        <p:spPr>
          <a:xfrm>
            <a:off x="185709" y="340867"/>
            <a:ext cx="6049063" cy="559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lang="en-US" sz="2800" spc="-45">
                <a:latin typeface="Trebuchet MS"/>
                <a:cs typeface="Trebuchet MS"/>
              </a:rPr>
              <a:t>Schedule</a:t>
            </a:r>
            <a:endParaRPr lang="en-US" sz="280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9AA5467-B012-0647-A2BC-77FE4718F8D2}"/>
              </a:ext>
            </a:extLst>
          </p:cNvPr>
          <p:cNvSpPr txBox="1"/>
          <p:nvPr/>
        </p:nvSpPr>
        <p:spPr>
          <a:xfrm>
            <a:off x="753988" y="1483867"/>
            <a:ext cx="3294379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When?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321945">
              <a:lnSpc>
                <a:spcPct val="100000"/>
              </a:lnSpc>
            </a:pPr>
            <a:r>
              <a:rPr sz="1800" spc="-155" dirty="0">
                <a:latin typeface="Lucida Sans Unicode"/>
                <a:cs typeface="Lucida Sans Unicode"/>
              </a:rPr>
              <a:t>-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lang="en-US" spc="-80" dirty="0">
                <a:latin typeface="Lucida Sans Unicode"/>
                <a:cs typeface="Lucida Sans Unicode"/>
              </a:rPr>
              <a:t>Check your class schedule 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291C6896-23F7-0E40-980B-6206DE4C40B8}"/>
              </a:ext>
            </a:extLst>
          </p:cNvPr>
          <p:cNvSpPr txBox="1"/>
          <p:nvPr/>
        </p:nvSpPr>
        <p:spPr>
          <a:xfrm>
            <a:off x="5832425" y="1483867"/>
            <a:ext cx="152336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Where?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633730" lvl="1" indent="-176530">
              <a:lnSpc>
                <a:spcPct val="100000"/>
              </a:lnSpc>
              <a:buChar char="-"/>
              <a:tabLst>
                <a:tab pos="633730" algn="l"/>
              </a:tabLst>
            </a:pPr>
            <a:r>
              <a:rPr sz="1800" spc="-10" dirty="0">
                <a:latin typeface="Lucida Sans Unicode"/>
                <a:cs typeface="Lucida Sans Unicode"/>
              </a:rPr>
              <a:t>Here!</a:t>
            </a:r>
            <a:endParaRPr sz="1800" dirty="0">
              <a:latin typeface="Lucida Sans Unicode"/>
              <a:cs typeface="Lucida Sans Unicode"/>
            </a:endParaRPr>
          </a:p>
          <a:p>
            <a:pPr marL="622300" lvl="1" indent="-176530">
              <a:lnSpc>
                <a:spcPct val="100000"/>
              </a:lnSpc>
              <a:spcBef>
                <a:spcPts val="45"/>
              </a:spcBef>
              <a:buChar char="-"/>
              <a:tabLst>
                <a:tab pos="622300" algn="l"/>
              </a:tabLst>
            </a:pPr>
            <a:r>
              <a:rPr sz="1800" spc="-145" dirty="0">
                <a:latin typeface="Lucida Sans Unicode"/>
                <a:cs typeface="Lucida Sans Unicode"/>
              </a:rPr>
              <a:t>LH</a:t>
            </a:r>
            <a:r>
              <a:rPr lang="en-US" sz="1800" spc="-145" dirty="0">
                <a:latin typeface="Lucida Sans Unicode"/>
                <a:cs typeface="Lucida Sans Unicode"/>
              </a:rPr>
              <a:t>9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-25" dirty="0" err="1">
                <a:latin typeface="Lucida Sans Unicode"/>
                <a:cs typeface="Lucida Sans Unicode"/>
              </a:rPr>
              <a:t>A</a:t>
            </a:r>
            <a:r>
              <a:rPr lang="en-US" sz="1800" spc="-25" dirty="0" err="1">
                <a:latin typeface="Lucida Sans Unicode"/>
                <a:cs typeface="Lucida Sans Unicode"/>
              </a:rPr>
              <a:t>c</a:t>
            </a:r>
            <a:r>
              <a:rPr sz="1800" spc="-25" dirty="0" err="1">
                <a:latin typeface="Lucida Sans Unicode"/>
                <a:cs typeface="Lucida Sans Unicode"/>
              </a:rPr>
              <a:t>B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114F9B2-645B-D142-A522-FABB29941DF6}"/>
              </a:ext>
            </a:extLst>
          </p:cNvPr>
          <p:cNvSpPr txBox="1"/>
          <p:nvPr/>
        </p:nvSpPr>
        <p:spPr>
          <a:xfrm>
            <a:off x="610967" y="3273044"/>
            <a:ext cx="3529965" cy="139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What?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498475" lvl="1" indent="-176530">
              <a:lnSpc>
                <a:spcPct val="100000"/>
              </a:lnSpc>
              <a:buChar char="-"/>
              <a:tabLst>
                <a:tab pos="498475" algn="l"/>
              </a:tabLst>
            </a:pPr>
            <a:r>
              <a:rPr sz="1800" spc="-130">
                <a:latin typeface="Lucida Sans Unicode"/>
                <a:cs typeface="Lucida Sans Unicode"/>
              </a:rPr>
              <a:t>Lecture</a:t>
            </a:r>
            <a:r>
              <a:rPr lang="en-US" sz="1800" spc="-130">
                <a:latin typeface="Lucida Sans Unicode"/>
                <a:cs typeface="Lucida Sans Unicode"/>
              </a:rPr>
              <a:t>s</a:t>
            </a:r>
            <a:endParaRPr sz="1800" dirty="0">
              <a:latin typeface="Lucida Sans Unicode"/>
              <a:cs typeface="Lucida Sans Unicode"/>
            </a:endParaRPr>
          </a:p>
          <a:p>
            <a:pPr marL="498475" lvl="1" indent="-176530">
              <a:lnSpc>
                <a:spcPts val="2135"/>
              </a:lnSpc>
              <a:spcBef>
                <a:spcPts val="25"/>
              </a:spcBef>
              <a:buChar char="-"/>
              <a:tabLst>
                <a:tab pos="498475" algn="l"/>
              </a:tabLst>
            </a:pPr>
            <a:r>
              <a:rPr sz="1800" spc="-160" dirty="0">
                <a:latin typeface="Lucida Sans Unicode"/>
                <a:cs typeface="Lucida Sans Unicode"/>
              </a:rPr>
              <a:t>Quizzes/</a:t>
            </a:r>
            <a:r>
              <a:rPr sz="1800" spc="-80" dirty="0">
                <a:latin typeface="Lucida Sans Unicode"/>
                <a:cs typeface="Lucida Sans Unicode"/>
              </a:rPr>
              <a:t>Project</a:t>
            </a:r>
            <a:endParaRPr sz="1800" dirty="0">
              <a:latin typeface="Lucida Sans Unicode"/>
              <a:cs typeface="Lucida Sans Unicode"/>
            </a:endParaRPr>
          </a:p>
          <a:p>
            <a:pPr marL="498475" lvl="1" indent="-176530">
              <a:lnSpc>
                <a:spcPts val="2135"/>
              </a:lnSpc>
              <a:buChar char="-"/>
              <a:tabLst>
                <a:tab pos="498475" algn="l"/>
              </a:tabLst>
            </a:pPr>
            <a:r>
              <a:rPr sz="1800" spc="-125" dirty="0">
                <a:latin typeface="Lucida Sans Unicode"/>
                <a:cs typeface="Lucida Sans Unicode"/>
              </a:rPr>
              <a:t>Mid/Final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Exams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736A45C9-5083-B64F-8FB0-5FA49304D2F3}"/>
              </a:ext>
            </a:extLst>
          </p:cNvPr>
          <p:cNvSpPr txBox="1"/>
          <p:nvPr/>
        </p:nvSpPr>
        <p:spPr>
          <a:xfrm>
            <a:off x="6043442" y="3273044"/>
            <a:ext cx="3127375" cy="25109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Attendance?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560705" lvl="1" indent="-176530">
              <a:lnSpc>
                <a:spcPct val="100000"/>
              </a:lnSpc>
              <a:buChar char="-"/>
              <a:tabLst>
                <a:tab pos="560705" algn="l"/>
              </a:tabLst>
            </a:pPr>
            <a:r>
              <a:rPr sz="1800" spc="-114" dirty="0">
                <a:latin typeface="Lucida Sans Unicode"/>
                <a:cs typeface="Lucida Sans Unicode"/>
              </a:rPr>
              <a:t>Active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Attendance</a:t>
            </a:r>
            <a:endParaRPr sz="1800" dirty="0">
              <a:latin typeface="Lucida Sans Unicode"/>
              <a:cs typeface="Lucida Sans Unicode"/>
            </a:endParaRPr>
          </a:p>
          <a:p>
            <a:pPr marL="560705" lvl="1" indent="-176530">
              <a:lnSpc>
                <a:spcPts val="2135"/>
              </a:lnSpc>
              <a:spcBef>
                <a:spcPts val="25"/>
              </a:spcBef>
              <a:buClr>
                <a:srgbClr val="000000"/>
              </a:buClr>
              <a:buFont typeface="Lucida Sans Unicode"/>
              <a:buChar char="-"/>
              <a:tabLst>
                <a:tab pos="560705" algn="l"/>
              </a:tabLst>
            </a:pPr>
            <a:r>
              <a:rPr sz="1800" b="1" dirty="0">
                <a:solidFill>
                  <a:srgbClr val="FF0000"/>
                </a:solidFill>
                <a:latin typeface="Trebuchet MS"/>
                <a:cs typeface="Trebuchet MS"/>
              </a:rPr>
              <a:t>Dead </a:t>
            </a:r>
            <a:r>
              <a:rPr sz="1800" b="1" spc="-10" dirty="0">
                <a:solidFill>
                  <a:srgbClr val="FF0000"/>
                </a:solidFill>
                <a:latin typeface="Trebuchet MS"/>
                <a:cs typeface="Trebuchet MS"/>
              </a:rPr>
              <a:t>Bodies.</a:t>
            </a:r>
            <a:endParaRPr sz="1800" dirty="0">
              <a:latin typeface="Trebuchet MS"/>
              <a:cs typeface="Trebuchet MS"/>
            </a:endParaRPr>
          </a:p>
          <a:p>
            <a:pPr marL="560705" lvl="1" indent="-176530">
              <a:lnSpc>
                <a:spcPts val="2135"/>
              </a:lnSpc>
              <a:buClr>
                <a:srgbClr val="000000"/>
              </a:buClr>
              <a:buFont typeface="Lucida Sans Unicode"/>
              <a:buChar char="-"/>
              <a:tabLst>
                <a:tab pos="560705" algn="l"/>
              </a:tabLst>
            </a:pPr>
            <a:r>
              <a:rPr sz="1800" b="1" spc="-40" dirty="0">
                <a:solidFill>
                  <a:srgbClr val="548235"/>
                </a:solidFill>
                <a:latin typeface="Trebuchet MS"/>
                <a:cs typeface="Trebuchet MS"/>
              </a:rPr>
              <a:t>Active</a:t>
            </a:r>
            <a:r>
              <a:rPr sz="1800" b="1" spc="-85" dirty="0">
                <a:solidFill>
                  <a:srgbClr val="548235"/>
                </a:solidFill>
                <a:latin typeface="Trebuchet MS"/>
                <a:cs typeface="Trebuchet MS"/>
              </a:rPr>
              <a:t> </a:t>
            </a:r>
            <a:r>
              <a:rPr sz="1800" b="1" spc="40" dirty="0">
                <a:solidFill>
                  <a:srgbClr val="548235"/>
                </a:solidFill>
                <a:latin typeface="Trebuchet MS"/>
                <a:cs typeface="Trebuchet MS"/>
              </a:rPr>
              <a:t>Minds</a:t>
            </a:r>
            <a:endParaRPr sz="1800" dirty="0">
              <a:latin typeface="Trebuchet MS"/>
              <a:cs typeface="Trebuchet MS"/>
            </a:endParaRPr>
          </a:p>
          <a:p>
            <a:pPr marL="12700" marR="5080" lvl="1" indent="548005">
              <a:lnSpc>
                <a:spcPts val="2090"/>
              </a:lnSpc>
              <a:spcBef>
                <a:spcPts val="175"/>
              </a:spcBef>
              <a:buChar char="-"/>
              <a:tabLst>
                <a:tab pos="560705" algn="l"/>
              </a:tabLst>
            </a:pPr>
            <a:r>
              <a:rPr sz="1800" spc="-110" dirty="0">
                <a:latin typeface="Lucida Sans Unicode"/>
                <a:cs typeface="Lucida Sans Unicode"/>
              </a:rPr>
              <a:t>Mobiles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35" dirty="0">
                <a:latin typeface="Lucida Sans Unicode"/>
                <a:cs typeface="Lucida Sans Unicode"/>
              </a:rPr>
              <a:t>in</a:t>
            </a:r>
            <a:r>
              <a:rPr sz="1800" spc="-55" dirty="0">
                <a:latin typeface="Lucida Sans Unicode"/>
                <a:cs typeface="Lucida Sans Unicode"/>
              </a:rPr>
              <a:t> </a:t>
            </a:r>
            <a:r>
              <a:rPr sz="1800" spc="-140" dirty="0">
                <a:latin typeface="Lucida Sans Unicode"/>
                <a:cs typeface="Lucida Sans Unicode"/>
              </a:rPr>
              <a:t>hands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55" dirty="0">
                <a:latin typeface="Lucida Sans Unicode"/>
                <a:cs typeface="Lucida Sans Unicode"/>
              </a:rPr>
              <a:t>-</a:t>
            </a:r>
            <a:r>
              <a:rPr sz="1800" spc="-235" dirty="0">
                <a:latin typeface="Lucida Sans Unicode"/>
                <a:cs typeface="Lucida Sans Unicode"/>
              </a:rPr>
              <a:t>&gt;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05" dirty="0">
                <a:latin typeface="Lucida Sans Unicode"/>
                <a:cs typeface="Lucida Sans Unicode"/>
              </a:rPr>
              <a:t>Mark </a:t>
            </a:r>
            <a:r>
              <a:rPr lang="en-US" sz="1800" spc="-105" dirty="0">
                <a:latin typeface="Lucida Sans Unicode"/>
                <a:cs typeface="Lucida Sans Unicode"/>
              </a:rPr>
              <a:t>  </a:t>
            </a:r>
            <a:r>
              <a:rPr sz="1800" spc="-150" dirty="0">
                <a:latin typeface="Lucida Sans Unicode"/>
                <a:cs typeface="Lucida Sans Unicode"/>
              </a:rPr>
              <a:t>as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absent</a:t>
            </a:r>
            <a:endParaRPr sz="1800" dirty="0">
              <a:latin typeface="Lucida Sans Unicode"/>
              <a:cs typeface="Lucida Sans Unicode"/>
            </a:endParaRPr>
          </a:p>
          <a:p>
            <a:pPr marL="560705" lvl="1" indent="-176530">
              <a:lnSpc>
                <a:spcPts val="2150"/>
              </a:lnSpc>
              <a:buChar char="-"/>
              <a:tabLst>
                <a:tab pos="560705" algn="l"/>
              </a:tabLst>
            </a:pPr>
            <a:r>
              <a:rPr sz="1800" spc="-235" dirty="0">
                <a:latin typeface="Lucida Sans Unicode"/>
                <a:cs typeface="Lucida Sans Unicode"/>
              </a:rPr>
              <a:t>80%</a:t>
            </a:r>
            <a:r>
              <a:rPr sz="1800" spc="-7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mandatory</a:t>
            </a:r>
            <a:endParaRPr lang="en-US" sz="1800" spc="-10" dirty="0">
              <a:latin typeface="Lucida Sans Unicode"/>
              <a:cs typeface="Lucida Sans Unicode"/>
            </a:endParaRPr>
          </a:p>
          <a:p>
            <a:pPr marL="560705" lvl="1" indent="-176530">
              <a:lnSpc>
                <a:spcPts val="2150"/>
              </a:lnSpc>
              <a:buChar char="-"/>
              <a:tabLst>
                <a:tab pos="56070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5 minutes threshold</a:t>
            </a:r>
            <a:endParaRPr sz="1800" b="1" dirty="0">
              <a:solidFill>
                <a:srgbClr val="FF0000"/>
              </a:solidFill>
              <a:latin typeface="Lucida Sans Unicode"/>
              <a:cs typeface="Lucida Sans Unicode"/>
            </a:endParaRP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94C639B8-6A11-854C-90C0-CA6FAD0AC035}"/>
              </a:ext>
            </a:extLst>
          </p:cNvPr>
          <p:cNvSpPr txBox="1">
            <a:spLocks/>
          </p:cNvSpPr>
          <p:nvPr/>
        </p:nvSpPr>
        <p:spPr>
          <a:xfrm>
            <a:off x="9301321" y="6411430"/>
            <a:ext cx="346709" cy="33591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370">
              <a:spcBef>
                <a:spcPts val="5"/>
              </a:spcBef>
            </a:pPr>
            <a:fld id="{81D60167-4931-47E6-BA6A-407CBD079E47}" type="slidenum">
              <a:rPr lang="en-US" spc="-50" smtClean="0"/>
              <a:pPr marL="166370">
                <a:spcBef>
                  <a:spcPts val="5"/>
                </a:spcBef>
              </a:pPr>
              <a:t>2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72708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D3E48D-21C9-D649-BFF9-1F01B480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3" name="Picture 1" descr="page124image50443680">
            <a:extLst>
              <a:ext uri="{FF2B5EF4-FFF2-40B4-BE49-F238E27FC236}">
                <a16:creationId xmlns:a16="http://schemas.microsoft.com/office/drawing/2014/main" id="{D2A763FD-3DEE-784B-9E2A-28D466D99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753" y="1494263"/>
            <a:ext cx="8484414" cy="451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5F672AC3-4BC0-3B46-899E-2F1E535924F0}"/>
              </a:ext>
            </a:extLst>
          </p:cNvPr>
          <p:cNvSpPr/>
          <p:nvPr/>
        </p:nvSpPr>
        <p:spPr>
          <a:xfrm>
            <a:off x="154744" y="27432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693B1-9022-824A-B0B8-6399975E544C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</p:spTree>
    <p:extLst>
      <p:ext uri="{BB962C8B-B14F-4D97-AF65-F5344CB8AC3E}">
        <p14:creationId xmlns:p14="http://schemas.microsoft.com/office/powerpoint/2010/main" val="167368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53" y="2143853"/>
            <a:ext cx="4394125" cy="233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4231067-2EE5-C64C-B5C7-CB0C8032FBC3}"/>
              </a:ext>
            </a:extLst>
          </p:cNvPr>
          <p:cNvSpPr/>
          <p:nvPr/>
        </p:nvSpPr>
        <p:spPr>
          <a:xfrm>
            <a:off x="4741478" y="2062579"/>
            <a:ext cx="4867418" cy="11027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Address protection against the unauthorized disclosure of data or information that are either private or sensitive in nature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9D6321-4C33-2B48-99C0-BF85EFE1B71D}"/>
              </a:ext>
            </a:extLst>
          </p:cNvPr>
          <p:cNvSpPr/>
          <p:nvPr/>
        </p:nvSpPr>
        <p:spPr>
          <a:xfrm>
            <a:off x="5038582" y="3458580"/>
            <a:ext cx="48674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</a:t>
            </a:r>
            <a:r>
              <a:rPr lang="en-US" sz="2000" dirty="0"/>
              <a:t> can be broadly classified into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public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C00000"/>
                </a:solidFill>
              </a:rPr>
              <a:t>non-public data </a:t>
            </a:r>
            <a:r>
              <a:rPr lang="en-US" sz="2000" dirty="0"/>
              <a:t>or information.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EC68D2-5EDF-4346-ACBF-93DB29E93E04}"/>
              </a:ext>
            </a:extLst>
          </p:cNvPr>
          <p:cNvSpPr/>
          <p:nvPr/>
        </p:nvSpPr>
        <p:spPr>
          <a:xfrm>
            <a:off x="268941" y="1204856"/>
            <a:ext cx="2022438" cy="505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Confidentiality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7AE2CB-5FF6-154A-A012-8B511036CE73}"/>
              </a:ext>
            </a:extLst>
          </p:cNvPr>
          <p:cNvSpPr/>
          <p:nvPr/>
        </p:nvSpPr>
        <p:spPr>
          <a:xfrm>
            <a:off x="1624405" y="2614108"/>
            <a:ext cx="806823" cy="236668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5" y="1888150"/>
            <a:ext cx="3101412" cy="164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" descr="page126image50611216">
            <a:extLst>
              <a:ext uri="{FF2B5EF4-FFF2-40B4-BE49-F238E27FC236}">
                <a16:creationId xmlns:a16="http://schemas.microsoft.com/office/drawing/2014/main" id="{2D1AE767-24F2-5849-B403-6922E8538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856" y="1067231"/>
            <a:ext cx="5910146" cy="269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CB6534C-EA91-C04B-A9A3-CD183053BCD7}"/>
              </a:ext>
            </a:extLst>
          </p:cNvPr>
          <p:cNvSpPr/>
          <p:nvPr/>
        </p:nvSpPr>
        <p:spPr>
          <a:xfrm>
            <a:off x="154744" y="1053433"/>
            <a:ext cx="2022438" cy="505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Confidentiality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4F9E9E-C3EE-924C-B16A-B5717E8546F4}"/>
              </a:ext>
            </a:extLst>
          </p:cNvPr>
          <p:cNvSpPr/>
          <p:nvPr/>
        </p:nvSpPr>
        <p:spPr>
          <a:xfrm>
            <a:off x="909385" y="2146333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9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4" y="1847965"/>
            <a:ext cx="3101412" cy="164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" descr="page126image50611216">
            <a:extLst>
              <a:ext uri="{FF2B5EF4-FFF2-40B4-BE49-F238E27FC236}">
                <a16:creationId xmlns:a16="http://schemas.microsoft.com/office/drawing/2014/main" id="{2D1AE767-24F2-5849-B403-6922E8538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157" y="3496908"/>
            <a:ext cx="5910146" cy="269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CE94AA-3FEA-5D49-B1D7-FB0A941A079E}"/>
              </a:ext>
            </a:extLst>
          </p:cNvPr>
          <p:cNvSpPr/>
          <p:nvPr/>
        </p:nvSpPr>
        <p:spPr>
          <a:xfrm>
            <a:off x="3880626" y="1235182"/>
            <a:ext cx="2074126" cy="5713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</a:t>
            </a:r>
            <a:r>
              <a:rPr lang="en-US" b="1" i="1" dirty="0"/>
              <a:t>Transit</a:t>
            </a:r>
            <a:r>
              <a:rPr lang="en-US" dirty="0"/>
              <a:t>: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759E161-33B2-024F-9DD5-B81D732D8D40}"/>
              </a:ext>
            </a:extLst>
          </p:cNvPr>
          <p:cNvSpPr/>
          <p:nvPr/>
        </p:nvSpPr>
        <p:spPr>
          <a:xfrm>
            <a:off x="3880626" y="2186297"/>
            <a:ext cx="2228910" cy="6455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</a:t>
            </a:r>
            <a:r>
              <a:rPr lang="en-US" b="1" i="1" dirty="0"/>
              <a:t>Processing</a:t>
            </a:r>
            <a:r>
              <a:rPr lang="en-US" i="1" dirty="0"/>
              <a:t>: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A971AE-0338-B94B-9813-8D13FA3DDF22}"/>
              </a:ext>
            </a:extLst>
          </p:cNvPr>
          <p:cNvSpPr/>
          <p:nvPr/>
        </p:nvSpPr>
        <p:spPr>
          <a:xfrm>
            <a:off x="3880626" y="3129506"/>
            <a:ext cx="2053196" cy="624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</a:t>
            </a:r>
            <a:r>
              <a:rPr lang="en-US" b="1" i="1" dirty="0"/>
              <a:t>Storage</a:t>
            </a:r>
            <a:r>
              <a:rPr lang="en-US" dirty="0"/>
              <a:t>: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C585FC-5477-7847-9E44-0C309986DACF}"/>
              </a:ext>
            </a:extLst>
          </p:cNvPr>
          <p:cNvSpPr/>
          <p:nvPr/>
        </p:nvSpPr>
        <p:spPr>
          <a:xfrm>
            <a:off x="154744" y="1053433"/>
            <a:ext cx="2022438" cy="505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Confidentiality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38BAB0-800E-E747-915E-A19CC8569F43}"/>
              </a:ext>
            </a:extLst>
          </p:cNvPr>
          <p:cNvSpPr/>
          <p:nvPr/>
        </p:nvSpPr>
        <p:spPr>
          <a:xfrm>
            <a:off x="909385" y="2146333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8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5" y="1583474"/>
            <a:ext cx="3101412" cy="164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BA7422-A071-534C-9306-D908432B1D35}"/>
              </a:ext>
            </a:extLst>
          </p:cNvPr>
          <p:cNvSpPr/>
          <p:nvPr/>
        </p:nvSpPr>
        <p:spPr>
          <a:xfrm>
            <a:off x="330592" y="5404434"/>
            <a:ext cx="3579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GaramondPro"/>
              </a:rPr>
              <a:t>Reliability assurance and protection </a:t>
            </a:r>
            <a:endParaRPr lang="en-US" dirty="0"/>
          </a:p>
        </p:txBody>
      </p:sp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F45C730C-4345-0C4D-AC4F-180314D81E70}"/>
              </a:ext>
            </a:extLst>
          </p:cNvPr>
          <p:cNvSpPr/>
          <p:nvPr/>
        </p:nvSpPr>
        <p:spPr>
          <a:xfrm>
            <a:off x="1586561" y="4086461"/>
            <a:ext cx="2115644" cy="883190"/>
          </a:xfrm>
          <a:prstGeom prst="wedgeRectCallout">
            <a:avLst>
              <a:gd name="adj1" fmla="val -51376"/>
              <a:gd name="adj2" fmla="val 1003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System Integrity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20465D-64A5-3C44-AF02-DAE95A4946B5}"/>
              </a:ext>
            </a:extLst>
          </p:cNvPr>
          <p:cNvSpPr/>
          <p:nvPr/>
        </p:nvSpPr>
        <p:spPr>
          <a:xfrm>
            <a:off x="4378939" y="5382132"/>
            <a:ext cx="46099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GaramondPro"/>
              </a:rPr>
              <a:t>Prevention against unauthorized modifications </a:t>
            </a:r>
            <a:endParaRPr lang="en-US" dirty="0"/>
          </a:p>
        </p:txBody>
      </p:sp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2B55F46B-35B2-3E46-B825-86D9D4729132}"/>
              </a:ext>
            </a:extLst>
          </p:cNvPr>
          <p:cNvSpPr/>
          <p:nvPr/>
        </p:nvSpPr>
        <p:spPr>
          <a:xfrm>
            <a:off x="6321883" y="3888838"/>
            <a:ext cx="2115644" cy="883190"/>
          </a:xfrm>
          <a:prstGeom prst="wedgeRectCallout">
            <a:avLst>
              <a:gd name="adj1" fmla="val -51376"/>
              <a:gd name="adj2" fmla="val 1003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 Integrity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1699880" y="1866634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C231407-1BED-9447-90C2-A08B64C8A48E}"/>
              </a:ext>
            </a:extLst>
          </p:cNvPr>
          <p:cNvSpPr/>
          <p:nvPr/>
        </p:nvSpPr>
        <p:spPr>
          <a:xfrm>
            <a:off x="154744" y="1101801"/>
            <a:ext cx="1663298" cy="4572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Integrity</a:t>
            </a:r>
          </a:p>
        </p:txBody>
      </p:sp>
    </p:spTree>
    <p:extLst>
      <p:ext uri="{BB962C8B-B14F-4D97-AF65-F5344CB8AC3E}">
        <p14:creationId xmlns:p14="http://schemas.microsoft.com/office/powerpoint/2010/main" val="192803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5" y="1583474"/>
            <a:ext cx="3101412" cy="164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2460091" y="1830727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020F5A-06E4-B845-9ED3-CA2CC51C0485}"/>
              </a:ext>
            </a:extLst>
          </p:cNvPr>
          <p:cNvSpPr/>
          <p:nvPr/>
        </p:nvSpPr>
        <p:spPr>
          <a:xfrm>
            <a:off x="323577" y="5249214"/>
            <a:ext cx="61124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Adverse effects of software downtime through </a:t>
            </a:r>
            <a:r>
              <a:rPr lang="en-US" b="1" dirty="0"/>
              <a:t>Business Impact Analysis (BIA</a:t>
            </a:r>
            <a:r>
              <a:rPr lang="en-US" dirty="0"/>
              <a:t>)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BC39D-408D-064F-9F7F-D27BF2AF23B1}"/>
              </a:ext>
            </a:extLst>
          </p:cNvPr>
          <p:cNvSpPr/>
          <p:nvPr/>
        </p:nvSpPr>
        <p:spPr>
          <a:xfrm>
            <a:off x="3237377" y="2624988"/>
            <a:ext cx="31446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Measure of the maximum amount of time that the software can be in a state of not providing expected service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95E981-CAC5-0F43-B9B9-A40A32472414}"/>
              </a:ext>
            </a:extLst>
          </p:cNvPr>
          <p:cNvSpPr/>
          <p:nvPr/>
        </p:nvSpPr>
        <p:spPr>
          <a:xfrm>
            <a:off x="6756908" y="2765008"/>
            <a:ext cx="34975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Amount of time by which the system or software needs to be restored back to the expected state of business operations </a:t>
            </a:r>
          </a:p>
        </p:txBody>
      </p:sp>
      <p:sp>
        <p:nvSpPr>
          <p:cNvPr id="17" name="Rectangular Callout 16">
            <a:extLst>
              <a:ext uri="{FF2B5EF4-FFF2-40B4-BE49-F238E27FC236}">
                <a16:creationId xmlns:a16="http://schemas.microsoft.com/office/drawing/2014/main" id="{3DFDFD5A-76BE-9A41-BF49-A922B52316F5}"/>
              </a:ext>
            </a:extLst>
          </p:cNvPr>
          <p:cNvSpPr/>
          <p:nvPr/>
        </p:nvSpPr>
        <p:spPr>
          <a:xfrm>
            <a:off x="4641264" y="1319728"/>
            <a:ext cx="2115644" cy="883190"/>
          </a:xfrm>
          <a:prstGeom prst="wedgeRectCallout">
            <a:avLst>
              <a:gd name="adj1" fmla="val -51376"/>
              <a:gd name="adj2" fmla="val 1003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Maximum Tolerable Downtime (MTD)</a:t>
            </a:r>
            <a:endParaRPr lang="en-US" b="1" dirty="0"/>
          </a:p>
        </p:txBody>
      </p:sp>
      <p:sp>
        <p:nvSpPr>
          <p:cNvPr id="18" name="Rectangular Callout 17">
            <a:extLst>
              <a:ext uri="{FF2B5EF4-FFF2-40B4-BE49-F238E27FC236}">
                <a16:creationId xmlns:a16="http://schemas.microsoft.com/office/drawing/2014/main" id="{E0E914F2-D4DB-DC44-9DE4-98A06DC3F211}"/>
              </a:ext>
            </a:extLst>
          </p:cNvPr>
          <p:cNvSpPr/>
          <p:nvPr/>
        </p:nvSpPr>
        <p:spPr>
          <a:xfrm>
            <a:off x="7536478" y="1319728"/>
            <a:ext cx="2115644" cy="883190"/>
          </a:xfrm>
          <a:prstGeom prst="wedgeRectCallout">
            <a:avLst>
              <a:gd name="adj1" fmla="val -51376"/>
              <a:gd name="adj2" fmla="val 1003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Recovery Time Objective (RTO)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104FA7-ED8D-1140-8B6B-7152698879CF}"/>
              </a:ext>
            </a:extLst>
          </p:cNvPr>
          <p:cNvSpPr/>
          <p:nvPr/>
        </p:nvSpPr>
        <p:spPr>
          <a:xfrm>
            <a:off x="323577" y="4102316"/>
            <a:ext cx="44861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MTD are sometimes are referred to as Maximum Tolerable Period of Disruption (MTPD) 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EFEB947-BEC9-7D4C-8A71-C03E471A4291}"/>
              </a:ext>
            </a:extLst>
          </p:cNvPr>
          <p:cNvSpPr/>
          <p:nvPr/>
        </p:nvSpPr>
        <p:spPr>
          <a:xfrm>
            <a:off x="154744" y="1101801"/>
            <a:ext cx="1663298" cy="4572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Availability</a:t>
            </a:r>
          </a:p>
        </p:txBody>
      </p:sp>
    </p:spTree>
    <p:extLst>
      <p:ext uri="{BB962C8B-B14F-4D97-AF65-F5344CB8AC3E}">
        <p14:creationId xmlns:p14="http://schemas.microsoft.com/office/powerpoint/2010/main" val="287371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17" grpId="0" animBg="1"/>
      <p:bldP spid="18" grpId="0" animBg="1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5" y="1583474"/>
            <a:ext cx="3101412" cy="164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909385" y="2138321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F897253-F784-444C-891B-A110CBB90468}"/>
              </a:ext>
            </a:extLst>
          </p:cNvPr>
          <p:cNvSpPr/>
          <p:nvPr/>
        </p:nvSpPr>
        <p:spPr>
          <a:xfrm>
            <a:off x="3805685" y="1965539"/>
            <a:ext cx="4655656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The process of validating an entity claim </a:t>
            </a:r>
            <a:endParaRPr lang="en-US" b="1" dirty="0">
              <a:effectLst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91C67CD-52D9-5447-99BD-BF65A959D79A}"/>
              </a:ext>
            </a:extLst>
          </p:cNvPr>
          <p:cNvSpPr/>
          <p:nvPr/>
        </p:nvSpPr>
        <p:spPr>
          <a:xfrm>
            <a:off x="154744" y="1101801"/>
            <a:ext cx="1856936" cy="4572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33919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5" y="1583474"/>
            <a:ext cx="3101412" cy="164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1705451" y="2138321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7A99B42-D019-9A49-A45A-23A7109F7B78}"/>
              </a:ext>
            </a:extLst>
          </p:cNvPr>
          <p:cNvSpPr/>
          <p:nvPr/>
        </p:nvSpPr>
        <p:spPr>
          <a:xfrm>
            <a:off x="3256157" y="1674451"/>
            <a:ext cx="6447241" cy="14669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Layered upon </a:t>
            </a:r>
            <a:r>
              <a:rPr lang="en-US" b="1" dirty="0"/>
              <a:t>authentication</a:t>
            </a:r>
            <a:r>
              <a:rPr lang="en-US" dirty="0"/>
              <a:t>, authorization requirements are those that confirm that an authenticated entity has the needed rights and privileges to access and perform actions on a requested resource </a:t>
            </a:r>
            <a:endParaRPr lang="en-US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4146D6-05AF-3A44-A198-DFB3D03152D9}"/>
              </a:ext>
            </a:extLst>
          </p:cNvPr>
          <p:cNvSpPr/>
          <p:nvPr/>
        </p:nvSpPr>
        <p:spPr>
          <a:xfrm>
            <a:off x="1055676" y="3536311"/>
            <a:ext cx="69787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CRUD operations, which stand for </a:t>
            </a:r>
            <a:r>
              <a:rPr lang="en-US" b="1" dirty="0"/>
              <a:t>Create, Read, Update or Delete </a:t>
            </a:r>
            <a:r>
              <a:rPr lang="en-US" dirty="0"/>
              <a:t>data </a:t>
            </a:r>
            <a:endParaRPr lang="en-US" dirty="0">
              <a:effectLst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C953C58-CF5B-3C47-9079-A2C7E26CE807}"/>
              </a:ext>
            </a:extLst>
          </p:cNvPr>
          <p:cNvSpPr/>
          <p:nvPr/>
        </p:nvSpPr>
        <p:spPr>
          <a:xfrm>
            <a:off x="580792" y="4933955"/>
            <a:ext cx="4270060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Impersonation and Delegation Model </a:t>
            </a:r>
            <a:endParaRPr lang="en-US" sz="2400" dirty="0">
              <a:effectLst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BA34C4-E793-0B4B-8DB3-B4C3DB366F71}"/>
              </a:ext>
            </a:extLst>
          </p:cNvPr>
          <p:cNvSpPr/>
          <p:nvPr/>
        </p:nvSpPr>
        <p:spPr>
          <a:xfrm>
            <a:off x="5717716" y="4933955"/>
            <a:ext cx="3069446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Trusted Subsystem Model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8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5" y="1583474"/>
            <a:ext cx="3101412" cy="164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1705451" y="2138321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C21E02-A766-924F-9149-20A47288614D}"/>
              </a:ext>
            </a:extLst>
          </p:cNvPr>
          <p:cNvSpPr/>
          <p:nvPr/>
        </p:nvSpPr>
        <p:spPr>
          <a:xfrm>
            <a:off x="2610192" y="3587999"/>
            <a:ext cx="704664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Discretionary Access Control (DAC)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Non-Discretionary Access Control (NDAC)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Mandatory Access Control (MAC)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Role-Based Access Control (RBAC)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Resource-Based Access Control </a:t>
            </a:r>
          </a:p>
        </p:txBody>
      </p:sp>
    </p:spTree>
    <p:extLst>
      <p:ext uri="{BB962C8B-B14F-4D97-AF65-F5344CB8AC3E}">
        <p14:creationId xmlns:p14="http://schemas.microsoft.com/office/powerpoint/2010/main" val="154830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C21E02-A766-924F-9149-20A47288614D}"/>
              </a:ext>
            </a:extLst>
          </p:cNvPr>
          <p:cNvSpPr/>
          <p:nvPr/>
        </p:nvSpPr>
        <p:spPr>
          <a:xfrm>
            <a:off x="0" y="1580779"/>
            <a:ext cx="7046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Discretionary Access Control (DAC) </a:t>
            </a:r>
          </a:p>
        </p:txBody>
      </p:sp>
      <p:pic>
        <p:nvPicPr>
          <p:cNvPr id="6" name="Picture 1" descr="page139image51008592">
            <a:extLst>
              <a:ext uri="{FF2B5EF4-FFF2-40B4-BE49-F238E27FC236}">
                <a16:creationId xmlns:a16="http://schemas.microsoft.com/office/drawing/2014/main" id="{34612DEF-0239-6F4C-8C1C-605AB0F08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133" y="3165275"/>
            <a:ext cx="6621861" cy="2495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3E36E9-210B-864A-B0CB-23E407819D6A}"/>
              </a:ext>
            </a:extLst>
          </p:cNvPr>
          <p:cNvSpPr/>
          <p:nvPr/>
        </p:nvSpPr>
        <p:spPr>
          <a:xfrm>
            <a:off x="938664" y="2164096"/>
            <a:ext cx="6711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GaramondPro"/>
              </a:rPr>
              <a:t>Subject with a certain access permission is capable of passing that permission (perhaps indirectly) on to any other subject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76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C21E02-A766-924F-9149-20A47288614D}"/>
              </a:ext>
            </a:extLst>
          </p:cNvPr>
          <p:cNvSpPr/>
          <p:nvPr/>
        </p:nvSpPr>
        <p:spPr>
          <a:xfrm>
            <a:off x="0" y="1580779"/>
            <a:ext cx="7046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Non-Discretionary Access Control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96E9CD-4A22-2E40-83B7-83FE80E510E2}"/>
              </a:ext>
            </a:extLst>
          </p:cNvPr>
          <p:cNvSpPr/>
          <p:nvPr/>
        </p:nvSpPr>
        <p:spPr>
          <a:xfrm>
            <a:off x="1027875" y="2113589"/>
            <a:ext cx="69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enforcing the security policies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CA9833-A257-B24E-AB87-AEDEEBEAEC02}"/>
              </a:ext>
            </a:extLst>
          </p:cNvPr>
          <p:cNvSpPr/>
          <p:nvPr/>
        </p:nvSpPr>
        <p:spPr>
          <a:xfrm>
            <a:off x="1027874" y="2833158"/>
            <a:ext cx="6711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not rely on the subject compliance with security policies. it is unavoidably imposed on all subjects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867A3-C334-C745-B944-40B50CB42958}"/>
              </a:ext>
            </a:extLst>
          </p:cNvPr>
          <p:cNvSpPr/>
          <p:nvPr/>
        </p:nvSpPr>
        <p:spPr>
          <a:xfrm>
            <a:off x="1104194" y="3947037"/>
            <a:ext cx="68260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GaramondPro"/>
              </a:rPr>
              <a:t>The system security policies and mechanisms configured by the systems or security administrators are enforced and tamperproof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25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0B7772-58B9-074C-8A94-13A92197668E}"/>
              </a:ext>
            </a:extLst>
          </p:cNvPr>
          <p:cNvSpPr/>
          <p:nvPr/>
        </p:nvSpPr>
        <p:spPr>
          <a:xfrm>
            <a:off x="524963" y="1281578"/>
            <a:ext cx="5608549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Mandatory Access Control (MAC) </a:t>
            </a: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328A47-C357-2D4F-B682-1CAE4AB700A6}"/>
              </a:ext>
            </a:extLst>
          </p:cNvPr>
          <p:cNvSpPr/>
          <p:nvPr/>
        </p:nvSpPr>
        <p:spPr>
          <a:xfrm>
            <a:off x="1027875" y="2113589"/>
            <a:ext cx="69787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to objects is restricted to subjects based on the sensitivity of the information contained in the object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9EAAB-7932-4047-B182-38327649AF28}"/>
              </a:ext>
            </a:extLst>
          </p:cNvPr>
          <p:cNvSpPr/>
          <p:nvPr/>
        </p:nvSpPr>
        <p:spPr>
          <a:xfrm>
            <a:off x="1027874" y="2833158"/>
            <a:ext cx="67110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sensitivity is represented by a</a:t>
            </a:r>
            <a:r>
              <a:rPr lang="en-US" b="1" dirty="0">
                <a:solidFill>
                  <a:srgbClr val="FF0000"/>
                </a:solidFill>
              </a:rPr>
              <a:t> label </a:t>
            </a:r>
          </a:p>
        </p:txBody>
      </p:sp>
    </p:spTree>
    <p:extLst>
      <p:ext uri="{BB962C8B-B14F-4D97-AF65-F5344CB8AC3E}">
        <p14:creationId xmlns:p14="http://schemas.microsoft.com/office/powerpoint/2010/main" val="424094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9A55BB-5CD2-3E4D-B9FE-2B9EC03D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D282D7-1E68-134D-A3B2-E7A542C867A9}"/>
              </a:ext>
            </a:extLst>
          </p:cNvPr>
          <p:cNvSpPr/>
          <p:nvPr/>
        </p:nvSpPr>
        <p:spPr>
          <a:xfrm>
            <a:off x="524963" y="1281578"/>
            <a:ext cx="5608549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Role-Based Access Control (RBAC) </a:t>
            </a:r>
            <a:endParaRPr lang="en-US" sz="2400" dirty="0"/>
          </a:p>
        </p:txBody>
      </p:sp>
      <p:pic>
        <p:nvPicPr>
          <p:cNvPr id="4" name="Picture 1" descr="page141image50613296">
            <a:extLst>
              <a:ext uri="{FF2B5EF4-FFF2-40B4-BE49-F238E27FC236}">
                <a16:creationId xmlns:a16="http://schemas.microsoft.com/office/drawing/2014/main" id="{DF8A2A64-FCF8-0E4D-9831-85109DE0F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41" y="2339936"/>
            <a:ext cx="4552075" cy="2027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E21C50-F97D-E549-A1F3-558299484A61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4A1334-FD6D-E645-B827-D17935997A5F}"/>
              </a:ext>
            </a:extLst>
          </p:cNvPr>
          <p:cNvSpPr/>
          <p:nvPr/>
        </p:nvSpPr>
        <p:spPr>
          <a:xfrm>
            <a:off x="1071072" y="4733723"/>
            <a:ext cx="6534059" cy="7044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RBAC in Relation to Least Privilege and Separation of Duties 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5FC0DD-A8E2-234B-83FA-3BED15A95BDE}"/>
              </a:ext>
            </a:extLst>
          </p:cNvPr>
          <p:cNvSpPr/>
          <p:nvPr/>
        </p:nvSpPr>
        <p:spPr>
          <a:xfrm>
            <a:off x="1071072" y="5616157"/>
            <a:ext cx="75620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GaramondPro"/>
              </a:rPr>
              <a:t>No individual can be assigned to two roles that are mutually exclusive in their permissions to perform operations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85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9A55BB-5CD2-3E4D-B9FE-2B9EC03D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21C50-F97D-E549-A1F3-558299484A61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8267E2-A1E4-C445-8652-FB804F005C92}"/>
              </a:ext>
            </a:extLst>
          </p:cNvPr>
          <p:cNvSpPr/>
          <p:nvPr/>
        </p:nvSpPr>
        <p:spPr>
          <a:xfrm>
            <a:off x="524964" y="1281578"/>
            <a:ext cx="2976520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Role Hierarchies </a:t>
            </a:r>
            <a:endParaRPr lang="en-US" sz="2400" dirty="0">
              <a:effectLst/>
            </a:endParaRPr>
          </a:p>
        </p:txBody>
      </p:sp>
      <p:pic>
        <p:nvPicPr>
          <p:cNvPr id="7" name="Picture 1" descr="page143image50764912">
            <a:extLst>
              <a:ext uri="{FF2B5EF4-FFF2-40B4-BE49-F238E27FC236}">
                <a16:creationId xmlns:a16="http://schemas.microsoft.com/office/drawing/2014/main" id="{56B06191-202B-2B43-98EB-A705A6514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541" y="2240575"/>
            <a:ext cx="6200079" cy="363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98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5" y="1583474"/>
            <a:ext cx="3642704" cy="193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2976458" y="2250626"/>
            <a:ext cx="820991" cy="301215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3D9A05F-19A7-8045-91EE-84D1CFD5E580}"/>
              </a:ext>
            </a:extLst>
          </p:cNvPr>
          <p:cNvSpPr/>
          <p:nvPr/>
        </p:nvSpPr>
        <p:spPr>
          <a:xfrm>
            <a:off x="283837" y="1048576"/>
            <a:ext cx="2136634" cy="534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Accountability </a:t>
            </a:r>
            <a:endParaRPr lang="en-US" sz="20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37ACC7B-86EF-F548-A3E5-7A81CDAD5036}"/>
              </a:ext>
            </a:extLst>
          </p:cNvPr>
          <p:cNvSpPr/>
          <p:nvPr/>
        </p:nvSpPr>
        <p:spPr>
          <a:xfrm>
            <a:off x="3065929" y="3520208"/>
            <a:ext cx="6524643" cy="2755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The identity of the subject (user or process) performing an action (</a:t>
            </a:r>
            <a:r>
              <a:rPr lang="en-US" sz="2400" b="1" dirty="0">
                <a:latin typeface="AGaramondPro"/>
              </a:rPr>
              <a:t>who</a:t>
            </a:r>
            <a:r>
              <a:rPr lang="en-US" sz="2400" dirty="0">
                <a:latin typeface="AGaramondPro"/>
              </a:rPr>
              <a:t>) </a:t>
            </a:r>
            <a:endParaRPr lang="en-US" sz="2400" dirty="0">
              <a:latin typeface="ArialM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The action (</a:t>
            </a:r>
            <a:r>
              <a:rPr lang="en-US" sz="2400" b="1" dirty="0">
                <a:latin typeface="AGaramondPro"/>
              </a:rPr>
              <a:t>what</a:t>
            </a:r>
            <a:r>
              <a:rPr lang="en-US" sz="2400" dirty="0">
                <a:latin typeface="AGaramondPro"/>
              </a:rPr>
              <a:t>) </a:t>
            </a:r>
            <a:endParaRPr lang="en-US" sz="2400" dirty="0">
              <a:latin typeface="ArialM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The object on which the action was performed (</a:t>
            </a:r>
            <a:r>
              <a:rPr lang="en-US" sz="2400" b="1" dirty="0">
                <a:latin typeface="AGaramondPro"/>
              </a:rPr>
              <a:t>where</a:t>
            </a:r>
            <a:r>
              <a:rPr lang="en-US" sz="2400" dirty="0">
                <a:latin typeface="AGaramondPro"/>
              </a:rPr>
              <a:t>) </a:t>
            </a:r>
            <a:endParaRPr lang="en-US" sz="2400" dirty="0">
              <a:latin typeface="ArialM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The timestamp of the action (</a:t>
            </a:r>
            <a:r>
              <a:rPr lang="en-US" sz="2400" b="1" dirty="0">
                <a:latin typeface="AGaramondPro"/>
              </a:rPr>
              <a:t>when</a:t>
            </a:r>
            <a:r>
              <a:rPr lang="en-US" sz="2400" dirty="0">
                <a:latin typeface="AGaramondPro"/>
              </a:rPr>
              <a:t>) </a:t>
            </a:r>
            <a:endParaRPr lang="en-US" sz="24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61692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18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1109902</TotalTime>
  <Words>564</Words>
  <Application>Microsoft Macintosh PowerPoint</Application>
  <PresentationFormat>A4 Paper (210x297 mm)</PresentationFormat>
  <Paragraphs>120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Adobe Gothic Std B</vt:lpstr>
      <vt:lpstr>AGaramondPro</vt:lpstr>
      <vt:lpstr>Arial MT</vt:lpstr>
      <vt:lpstr>ArialMT</vt:lpstr>
      <vt:lpstr>DengXian</vt:lpstr>
      <vt:lpstr>DengXian</vt:lpstr>
      <vt:lpstr>等线 Light</vt:lpstr>
      <vt:lpstr>SimSun</vt:lpstr>
      <vt:lpstr>Arial</vt:lpstr>
      <vt:lpstr>Calibri</vt:lpstr>
      <vt:lpstr>Lucida Sans Unicode</vt:lpstr>
      <vt:lpstr>Times New Roman</vt:lpstr>
      <vt:lpstr>Trebuchet MS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669</cp:revision>
  <cp:lastPrinted>2025-01-23T10:52:12Z</cp:lastPrinted>
  <dcterms:created xsi:type="dcterms:W3CDTF">2018-07-17T04:46:00Z</dcterms:created>
  <dcterms:modified xsi:type="dcterms:W3CDTF">2026-01-26T10:30:40Z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